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377" r:id="rId3"/>
    <p:sldId id="376" r:id="rId4"/>
    <p:sldId id="375" r:id="rId5"/>
    <p:sldId id="374" r:id="rId6"/>
    <p:sldId id="373" r:id="rId7"/>
    <p:sldId id="372" r:id="rId8"/>
    <p:sldId id="371" r:id="rId9"/>
    <p:sldId id="370" r:id="rId10"/>
    <p:sldId id="369" r:id="rId11"/>
    <p:sldId id="368" r:id="rId12"/>
    <p:sldId id="367" r:id="rId13"/>
    <p:sldId id="366" r:id="rId14"/>
    <p:sldId id="365" r:id="rId15"/>
    <p:sldId id="364" r:id="rId16"/>
    <p:sldId id="363" r:id="rId17"/>
    <p:sldId id="362" r:id="rId18"/>
    <p:sldId id="361" r:id="rId19"/>
    <p:sldId id="360" r:id="rId20"/>
    <p:sldId id="359" r:id="rId21"/>
    <p:sldId id="358" r:id="rId22"/>
    <p:sldId id="357" r:id="rId23"/>
    <p:sldId id="356" r:id="rId24"/>
    <p:sldId id="355" r:id="rId25"/>
    <p:sldId id="354" r:id="rId26"/>
    <p:sldId id="353" r:id="rId27"/>
    <p:sldId id="352" r:id="rId28"/>
    <p:sldId id="351" r:id="rId29"/>
    <p:sldId id="350" r:id="rId30"/>
    <p:sldId id="349" r:id="rId31"/>
    <p:sldId id="348" r:id="rId32"/>
    <p:sldId id="347" r:id="rId33"/>
    <p:sldId id="346" r:id="rId34"/>
    <p:sldId id="345" r:id="rId35"/>
    <p:sldId id="344" r:id="rId36"/>
    <p:sldId id="343" r:id="rId37"/>
    <p:sldId id="342" r:id="rId38"/>
    <p:sldId id="341" r:id="rId39"/>
    <p:sldId id="340" r:id="rId40"/>
    <p:sldId id="339" r:id="rId41"/>
    <p:sldId id="338" r:id="rId42"/>
    <p:sldId id="337" r:id="rId43"/>
    <p:sldId id="336" r:id="rId44"/>
    <p:sldId id="335" r:id="rId45"/>
    <p:sldId id="334" r:id="rId46"/>
    <p:sldId id="333" r:id="rId47"/>
    <p:sldId id="332" r:id="rId48"/>
    <p:sldId id="331" r:id="rId49"/>
    <p:sldId id="330" r:id="rId50"/>
    <p:sldId id="329" r:id="rId51"/>
    <p:sldId id="328" r:id="rId52"/>
    <p:sldId id="327" r:id="rId53"/>
    <p:sldId id="326" r:id="rId54"/>
    <p:sldId id="325" r:id="rId55"/>
    <p:sldId id="324" r:id="rId56"/>
    <p:sldId id="323" r:id="rId57"/>
    <p:sldId id="322" r:id="rId58"/>
    <p:sldId id="321" r:id="rId59"/>
    <p:sldId id="320" r:id="rId60"/>
    <p:sldId id="319" r:id="rId61"/>
    <p:sldId id="318" r:id="rId62"/>
    <p:sldId id="317" r:id="rId63"/>
    <p:sldId id="316" r:id="rId64"/>
    <p:sldId id="315" r:id="rId65"/>
    <p:sldId id="314" r:id="rId66"/>
    <p:sldId id="313" r:id="rId67"/>
    <p:sldId id="312" r:id="rId68"/>
    <p:sldId id="311" r:id="rId69"/>
    <p:sldId id="310" r:id="rId70"/>
    <p:sldId id="309" r:id="rId71"/>
    <p:sldId id="308" r:id="rId72"/>
    <p:sldId id="307" r:id="rId73"/>
    <p:sldId id="306" r:id="rId74"/>
    <p:sldId id="305" r:id="rId75"/>
    <p:sldId id="304" r:id="rId76"/>
    <p:sldId id="303" r:id="rId77"/>
    <p:sldId id="302" r:id="rId78"/>
    <p:sldId id="301" r:id="rId79"/>
    <p:sldId id="300" r:id="rId80"/>
    <p:sldId id="299" r:id="rId81"/>
    <p:sldId id="298" r:id="rId82"/>
    <p:sldId id="297" r:id="rId83"/>
    <p:sldId id="296" r:id="rId84"/>
    <p:sldId id="295" r:id="rId85"/>
    <p:sldId id="294" r:id="rId86"/>
    <p:sldId id="293" r:id="rId87"/>
    <p:sldId id="292" r:id="rId88"/>
    <p:sldId id="291" r:id="rId89"/>
    <p:sldId id="290" r:id="rId90"/>
    <p:sldId id="289" r:id="rId91"/>
    <p:sldId id="288" r:id="rId92"/>
    <p:sldId id="287" r:id="rId93"/>
    <p:sldId id="286" r:id="rId94"/>
    <p:sldId id="285" r:id="rId95"/>
    <p:sldId id="284" r:id="rId96"/>
    <p:sldId id="283" r:id="rId97"/>
    <p:sldId id="282" r:id="rId98"/>
    <p:sldId id="281" r:id="rId99"/>
    <p:sldId id="280" r:id="rId100"/>
    <p:sldId id="279" r:id="rId101"/>
    <p:sldId id="278" r:id="rId102"/>
    <p:sldId id="277" r:id="rId103"/>
    <p:sldId id="276" r:id="rId104"/>
    <p:sldId id="275" r:id="rId105"/>
    <p:sldId id="274" r:id="rId106"/>
    <p:sldId id="273" r:id="rId107"/>
    <p:sldId id="272" r:id="rId108"/>
    <p:sldId id="271" r:id="rId109"/>
    <p:sldId id="270" r:id="rId110"/>
    <p:sldId id="269" r:id="rId111"/>
    <p:sldId id="268" r:id="rId112"/>
    <p:sldId id="267" r:id="rId113"/>
    <p:sldId id="266" r:id="rId114"/>
    <p:sldId id="265" r:id="rId115"/>
    <p:sldId id="264" r:id="rId116"/>
    <p:sldId id="263" r:id="rId117"/>
    <p:sldId id="262" r:id="rId118"/>
    <p:sldId id="261" r:id="rId119"/>
    <p:sldId id="260" r:id="rId120"/>
    <p:sldId id="259" r:id="rId121"/>
    <p:sldId id="258" r:id="rId122"/>
    <p:sldId id="257" r:id="rId1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11C66A-B0C1-7866-3D26-29AECA7A6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7513622-0E25-D27C-B56E-5F02BBA3D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E2AB8D-2E87-1D80-7E8E-3DE87022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2B23E6-7AFC-4519-0F56-4D06D921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63B3F3-8769-6F7B-FEC4-E10F0FE3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739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521C64-FA1E-8945-57BB-EBC9F3E1D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CB6B06-E4BA-9CD5-43D5-284D5EDD0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5CF074-0183-72A1-EE86-ABF95923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E18A0C-6FEE-0DF4-2E3A-F5D511F7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3F2827-C529-23AA-BC3A-F718C734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0994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51AFE0-CE1F-1BBB-A8FE-5E1A6C7E5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741322-2136-BE73-F3C9-0284E9DAF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DD83E5-9853-A50D-DDB7-885BB5BF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AF9313-012B-2107-BDB1-0747BBFD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328B51-437C-79F8-8CFB-E006BB22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0634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C9E0E-AECB-76B4-49AE-55C0CA0D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0DFC74-D8BF-9633-822B-5F67DF39F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FDC73C3-2A05-3BA7-ED76-8C3A440C6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BABA24-DFE1-C1D0-9FD3-E5DF735A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FBD9E49-CECE-11E5-EFC3-DDAF5BAF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BBD9B3-F778-65E1-B3FA-7CE80C14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516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ACB617-15AE-8FD2-B0E4-E7070FEA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19AF32-390E-819A-1ECC-D7674C291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B382BC5-E1AD-497C-F3C2-9D4C28310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652B836-AF71-CDB6-F5B1-C1E212BD5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1442CC-FB1A-9FDF-6250-16AA25952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0F8DA9-22EC-0D6F-3B5B-177D038C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1F7D1D5-6548-F064-1853-A99AC1A5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B1C4147-34A9-F254-CD97-8B0B0D46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00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B8F660-5FAB-0706-57FD-238F9379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7EF1B78-C137-31EE-411A-63CA9B68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720C33A-D9F8-230E-80BC-6070D64D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A75A252-4F7E-A574-BBD5-74949925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2966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D6BC536-F4B2-4D94-2664-04549F9E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A31F2EE-89F2-DD90-BB32-DCE5120D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C5E6F0-EECD-8109-1050-8565F07B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2102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385FD8-40B9-A7D3-9A94-AFB291AF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8B5F0B-1124-87FF-8AA1-C8DA6AF4F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2A423BB-4ABB-EEB4-698A-0F64E9E7E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B0BC1E-CFE1-A594-B10A-A4217C7B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87E49F-C309-4CE2-0983-EC9545D5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B5A6BA-A572-8243-E1E5-45059927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486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D464F7-D228-FD5C-2FF0-6DC6C574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92E35FA-4ADB-04E9-A265-7A03C96AE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B6AE28-8F09-9536-754B-E5A67D4FE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38B1BA-3048-6D75-DE88-45D778AB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A8DA03E-2831-51FC-E3B4-1F2FABF2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1DB1B3F-6E85-61CC-CA1A-FCA9E822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4891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57F892-C827-07B1-CD90-33732AC5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E4A31C-2935-1092-90D0-A666786B7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1052BA-2199-CFA1-5130-310ACF2B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50635D-C1B0-8120-0835-CED8BEA0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FD6E55-EF4D-9828-E631-F28B200A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8302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6BF5F9E-C47B-428B-8A8E-B7622BF35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479440-E149-2460-5D3F-E36BEF0D7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DAA5A2-B373-F6DA-51E6-235FDB47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22361F-5C91-3E41-62FD-1C2ED7A1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A796F5-AFC0-B29F-0C3D-0AF29CAD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632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CB31383-5659-2940-236C-F9346E91B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7A1E06-4FB4-3F20-564F-4FA29D5A1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BC1E01-19BC-CF30-A5B1-1974D7E58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271AC-57B9-42F6-A82F-430D47D1FB54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1BCDDF-DD4D-D38B-E8DE-90714829F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5B9393-E55B-8C2C-7636-1010066DE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42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mysq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oreilly.com/library/view/mysql-cookbook/0596001452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w3schools.com/mysql/" TargetMode="External"/><Relationship Id="rId4" Type="http://schemas.openxmlformats.org/officeDocument/2006/relationships/hyperlink" Target="https://www.oreilly.com/library/view/mysql-cookbook/0596001452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oursera.org/learn/analytics-mysql" TargetMode="External"/><Relationship Id="rId5" Type="http://schemas.openxmlformats.org/officeDocument/2006/relationships/hyperlink" Target="https://www.w3schools.com/mysql/" TargetMode="External"/><Relationship Id="rId4" Type="http://schemas.openxmlformats.org/officeDocument/2006/relationships/hyperlink" Target="https://www.oreilly.com/library/view/mysql-cookbook/0596001452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7" Type="http://schemas.openxmlformats.org/officeDocument/2006/relationships/hyperlink" Target="https://www.linkedin.com/learning/mysql-essential-training-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oursera.org/learn/analytics-mysql" TargetMode="External"/><Relationship Id="rId5" Type="http://schemas.openxmlformats.org/officeDocument/2006/relationships/hyperlink" Target="https://www.w3schools.com/mysql/" TargetMode="External"/><Relationship Id="rId4" Type="http://schemas.openxmlformats.org/officeDocument/2006/relationships/hyperlink" Target="https://www.oreilly.com/library/view/mysql-cookbook/0596001452/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s://forums.mysql.com/" TargetMode="External"/><Relationship Id="rId3" Type="http://schemas.openxmlformats.org/officeDocument/2006/relationships/hyperlink" Target="https://dev.mysql.com/doc/" TargetMode="External"/><Relationship Id="rId7" Type="http://schemas.openxmlformats.org/officeDocument/2006/relationships/hyperlink" Target="https://www.linkedin.com/learning/mysql-essential-training-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oursera.org/learn/analytics-mysql" TargetMode="External"/><Relationship Id="rId5" Type="http://schemas.openxmlformats.org/officeDocument/2006/relationships/hyperlink" Target="https://www.w3schools.com/mysql/" TargetMode="External"/><Relationship Id="rId4" Type="http://schemas.openxmlformats.org/officeDocument/2006/relationships/hyperlink" Target="https://www.oreilly.com/library/view/mysql-cookbook/0596001452/" TargetMode="Externa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hyperlink" Target="https://forums.mysql.com/" TargetMode="External"/><Relationship Id="rId3" Type="http://schemas.openxmlformats.org/officeDocument/2006/relationships/hyperlink" Target="https://dev.mysql.com/doc/" TargetMode="External"/><Relationship Id="rId7" Type="http://schemas.openxmlformats.org/officeDocument/2006/relationships/hyperlink" Target="https://www.linkedin.com/learning/mysql-essential-training-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oursera.org/learn/analytics-mysql" TargetMode="External"/><Relationship Id="rId5" Type="http://schemas.openxmlformats.org/officeDocument/2006/relationships/hyperlink" Target="https://www.w3schools.com/mysql/" TargetMode="External"/><Relationship Id="rId4" Type="http://schemas.openxmlformats.org/officeDocument/2006/relationships/hyperlink" Target="https://www.oreilly.com/library/view/mysql-cookbook/0596001452/" TargetMode="External"/><Relationship Id="rId9" Type="http://schemas.openxmlformats.org/officeDocument/2006/relationships/hyperlink" Target="https://stackoverflow.com/questions/tagged/mysql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connector/j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connector/j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connector/j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connector/j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connector/j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connector/j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wnloads/connector/j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800" dirty="0"/>
              <a:t>DATABASE</a:t>
            </a:r>
            <a:endParaRPr lang="it-IT" kern="0" dirty="0">
              <a:solidFill>
                <a:srgbClr val="37415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Java Logo, symbol, meaning, history, PNG, brand">
            <a:extLst>
              <a:ext uri="{FF2B5EF4-FFF2-40B4-BE49-F238E27FC236}">
                <a16:creationId xmlns:a16="http://schemas.microsoft.com/office/drawing/2014/main" id="{D46019AA-70FE-F8F5-93CF-35CACE4F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597" y="1464293"/>
            <a:ext cx="4693388" cy="262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51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246464" y="1841913"/>
            <a:ext cx="81593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Un database DBMS (Database Management System) è un sistema software che consente la gestione di un insieme di dati organizzati in modo strutturato. Il database può essere utilizzato per memorizzare e gestire dati di diverso tipo, come ad esempio informazioni relative ad un'azienda, dati di contabilità, dati di inventario, informazioni personali, e così via.</a:t>
            </a:r>
          </a:p>
        </p:txBody>
      </p:sp>
    </p:spTree>
    <p:extLst>
      <p:ext uri="{BB962C8B-B14F-4D97-AF65-F5344CB8AC3E}">
        <p14:creationId xmlns:p14="http://schemas.microsoft.com/office/powerpoint/2010/main" val="318581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42947" y="1419573"/>
            <a:ext cx="81593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374151"/>
                </a:solidFill>
                <a:effectLst/>
                <a:latin typeface="Söhne"/>
              </a:rPr>
              <a:t>Il funzionamento di un DBMS è basato su un sistema di gestione dei dati che prevede la creazione di tabelle (o relazioni) e l'organizzazione degli elementi all'interno di queste tabelle in righe e colonne. I dati possono essere aggiunti, modificati e cancellati attraverso l'uso di un linguaggio di interrogazione specifico, come SQL (</a:t>
            </a:r>
            <a:r>
              <a:rPr lang="it-IT" sz="3200" b="0" i="0" dirty="0" err="1">
                <a:solidFill>
                  <a:srgbClr val="374151"/>
                </a:solidFill>
                <a:effectLst/>
                <a:latin typeface="Söhne"/>
              </a:rPr>
              <a:t>Structured</a:t>
            </a:r>
            <a:r>
              <a:rPr lang="it-IT" sz="3200" b="0" i="0" dirty="0">
                <a:solidFill>
                  <a:srgbClr val="374151"/>
                </a:solidFill>
                <a:effectLst/>
                <a:latin typeface="Söhne"/>
              </a:rPr>
              <a:t> Query Language).</a:t>
            </a:r>
          </a:p>
        </p:txBody>
      </p:sp>
    </p:spTree>
    <p:extLst>
      <p:ext uri="{BB962C8B-B14F-4D97-AF65-F5344CB8AC3E}">
        <p14:creationId xmlns:p14="http://schemas.microsoft.com/office/powerpoint/2010/main" val="3392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42947" y="1419573"/>
            <a:ext cx="81593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32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3200" b="0" i="0" dirty="0">
                <a:solidFill>
                  <a:srgbClr val="374151"/>
                </a:solidFill>
                <a:effectLst/>
                <a:latin typeface="Söhne"/>
              </a:rPr>
              <a:t>Il sistema JDBC (Java Database Connectivity) è una API (Application Programming Interface) di Java che fornisce un set di classi e interfacce per connettersi a un database DBMS, eseguire query e gestire i dati. Il JDBC consente a un'applicazione Java di comunicare con un database DBMS utilizzando il linguaggio SQL.</a:t>
            </a:r>
          </a:p>
        </p:txBody>
      </p:sp>
    </p:spTree>
    <p:extLst>
      <p:ext uri="{BB962C8B-B14F-4D97-AF65-F5344CB8AC3E}">
        <p14:creationId xmlns:p14="http://schemas.microsoft.com/office/powerpoint/2010/main" val="422708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42947" y="1419573"/>
            <a:ext cx="81593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374151"/>
                </a:solidFill>
                <a:effectLst/>
                <a:latin typeface="Söhne"/>
              </a:rPr>
              <a:t>Per utilizzare il sistema JDBC, è necessario innanzitutto stabilire una connessione al database utilizzando una delle classi fornite dall'API. Successivamente, è possibile eseguire query SQL per recuperare dati dal database o per modificarli. I risultati delle query possono essere restituiti come oggetti </a:t>
            </a:r>
            <a:r>
              <a:rPr lang="it-IT" sz="3200" b="0" i="0" dirty="0" err="1">
                <a:solidFill>
                  <a:srgbClr val="374151"/>
                </a:solidFill>
                <a:effectLst/>
                <a:latin typeface="Söhne"/>
              </a:rPr>
              <a:t>ResultSet</a:t>
            </a:r>
            <a:r>
              <a:rPr lang="it-IT" sz="3200" b="0" i="0" dirty="0">
                <a:solidFill>
                  <a:srgbClr val="374151"/>
                </a:solidFill>
                <a:effectLst/>
                <a:latin typeface="Söhne"/>
              </a:rPr>
              <a:t>, che possono essere elaborati all'interno dell'applicazione Java.</a:t>
            </a:r>
          </a:p>
        </p:txBody>
      </p:sp>
    </p:spTree>
    <p:extLst>
      <p:ext uri="{BB962C8B-B14F-4D97-AF65-F5344CB8AC3E}">
        <p14:creationId xmlns:p14="http://schemas.microsoft.com/office/powerpoint/2010/main" val="44317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374151"/>
                </a:solidFill>
                <a:effectLst/>
                <a:latin typeface="Söhne"/>
              </a:rPr>
              <a:t>Il JDBC supporta diversi tipi di database DBMS, come ad esempio MySQL, Oracle, Microsoft SQL Server e </a:t>
            </a:r>
            <a:r>
              <a:rPr lang="it-IT" sz="32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r>
              <a:rPr lang="it-IT" sz="3200" b="0" i="0" dirty="0">
                <a:solidFill>
                  <a:srgbClr val="374151"/>
                </a:solidFill>
                <a:effectLst/>
                <a:latin typeface="Söhne"/>
              </a:rPr>
              <a:t>. Grazie a questa flessibilità, il JDBC è una scelta comune per lo sviluppo di applicazioni Java che richiedono l'accesso a un database.</a:t>
            </a:r>
          </a:p>
        </p:txBody>
      </p:sp>
    </p:spTree>
    <p:extLst>
      <p:ext uri="{BB962C8B-B14F-4D97-AF65-F5344CB8AC3E}">
        <p14:creationId xmlns:p14="http://schemas.microsoft.com/office/powerpoint/2010/main" val="621900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</p:txBody>
      </p:sp>
    </p:spTree>
    <p:extLst>
      <p:ext uri="{BB962C8B-B14F-4D97-AF65-F5344CB8AC3E}">
        <p14:creationId xmlns:p14="http://schemas.microsoft.com/office/powerpoint/2010/main" val="375282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</p:txBody>
      </p:sp>
    </p:spTree>
    <p:extLst>
      <p:ext uri="{BB962C8B-B14F-4D97-AF65-F5344CB8AC3E}">
        <p14:creationId xmlns:p14="http://schemas.microsoft.com/office/powerpoint/2010/main" val="396490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141399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</p:txBody>
      </p:sp>
    </p:spTree>
    <p:extLst>
      <p:ext uri="{BB962C8B-B14F-4D97-AF65-F5344CB8AC3E}">
        <p14:creationId xmlns:p14="http://schemas.microsoft.com/office/powerpoint/2010/main" val="3965660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75890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233481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</p:txBody>
      </p:sp>
    </p:spTree>
    <p:extLst>
      <p:ext uri="{BB962C8B-B14F-4D97-AF65-F5344CB8AC3E}">
        <p14:creationId xmlns:p14="http://schemas.microsoft.com/office/powerpoint/2010/main" val="2439825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869872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SQLite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427383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SQLite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Redis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776755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SQLite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Redis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Cassandra</a:t>
            </a:r>
          </a:p>
        </p:txBody>
      </p:sp>
    </p:spTree>
    <p:extLst>
      <p:ext uri="{BB962C8B-B14F-4D97-AF65-F5344CB8AC3E}">
        <p14:creationId xmlns:p14="http://schemas.microsoft.com/office/powerpoint/2010/main" val="2630228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Una lista dei DBMS più utilizzati: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SQLite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Redis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Cassandra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Questa è una lista non esaustiva e ci sono molti altri DBMS utilizzati. La scelta del DBMS dipende dalle esigenze specifiche di ogni progetto.</a:t>
            </a:r>
          </a:p>
        </p:txBody>
      </p:sp>
    </p:spTree>
    <p:extLst>
      <p:ext uri="{BB962C8B-B14F-4D97-AF65-F5344CB8AC3E}">
        <p14:creationId xmlns:p14="http://schemas.microsoft.com/office/powerpoint/2010/main" val="3733166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560738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979755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677725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418930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989393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074626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830965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SQLite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10136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questi, i DBMS relazionali sono: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Oracle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MySQL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Microsoft SQL Server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PostgreSQL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IBM DB2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SQLite</a:t>
            </a:r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Mentre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MongoDB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Redis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e Cassandra sono DBMS non relazionali, anche noti come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NoSQL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668019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In generale, i database relazionali sono stati utilizzati per molto tempo e sono ancora molto diffusi, soprattutto nelle applicazioni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enterprise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. Tuttavia, negli ultimi anni, i database non relazionali hanno guadagnato molta popolarità, soprattutto in ambito web e mobile, grazie alla loro scalabilità, flessibilità e velocità di accesso ai dati. Quindi, non si può dire che uno sia più utilizzato dell'altro in assoluto, ma dipende dalle esigenze specifiche del progetto e dell'ambiente in cui viene utilizzato il database.</a:t>
            </a:r>
          </a:p>
        </p:txBody>
      </p:sp>
    </p:spTree>
    <p:extLst>
      <p:ext uri="{BB962C8B-B14F-4D97-AF65-F5344CB8AC3E}">
        <p14:creationId xmlns:p14="http://schemas.microsoft.com/office/powerpoint/2010/main" val="2402616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Tuttavia per le applicazioni d’uso corrente e più diffuse i database relazionali restano, tutt’oggi, quelli più diffusi.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Inoltre imparare a programmare i database relazionali è sicuramente uno dei passi più importanti nel corso di un percorso formativo.</a:t>
            </a:r>
          </a:p>
        </p:txBody>
      </p:sp>
    </p:spTree>
    <p:extLst>
      <p:ext uri="{BB962C8B-B14F-4D97-AF65-F5344CB8AC3E}">
        <p14:creationId xmlns:p14="http://schemas.microsoft.com/office/powerpoint/2010/main" val="759395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quelli elencati, sicuramente,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MySql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è uno dei più importanti da imparare, anzi forse il più importante.</a:t>
            </a:r>
          </a:p>
          <a:p>
            <a:pPr algn="l"/>
            <a:r>
              <a:rPr lang="it-IT" sz="2000" dirty="0">
                <a:solidFill>
                  <a:srgbClr val="374151"/>
                </a:solidFill>
                <a:latin typeface="Söhne"/>
              </a:rPr>
              <a:t>E </a:t>
            </a:r>
            <a:r>
              <a:rPr lang="it-IT" sz="2000" dirty="0" err="1">
                <a:solidFill>
                  <a:srgbClr val="374151"/>
                </a:solidFill>
                <a:latin typeface="Söhne"/>
              </a:rPr>
              <a:t>MariaDB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, che abbiamo menzionato, essenzialmente quasi coincide con esso:</a:t>
            </a:r>
          </a:p>
        </p:txBody>
      </p:sp>
    </p:spTree>
    <p:extLst>
      <p:ext uri="{BB962C8B-B14F-4D97-AF65-F5344CB8AC3E}">
        <p14:creationId xmlns:p14="http://schemas.microsoft.com/office/powerpoint/2010/main" val="1209502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DBMS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quelli elencati, sicuramente,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MySql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è uno dei più importanti da imparare, anzi forse il più importante.</a:t>
            </a:r>
          </a:p>
          <a:p>
            <a:pPr algn="l"/>
            <a:r>
              <a:rPr lang="it-IT" sz="2000" dirty="0">
                <a:solidFill>
                  <a:srgbClr val="374151"/>
                </a:solidFill>
                <a:latin typeface="Söhne"/>
              </a:rPr>
              <a:t>E </a:t>
            </a:r>
            <a:r>
              <a:rPr lang="it-IT" sz="2000" dirty="0" err="1">
                <a:solidFill>
                  <a:srgbClr val="374151"/>
                </a:solidFill>
                <a:latin typeface="Söhne"/>
              </a:rPr>
              <a:t>MariaDB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, che abbiamo menzionato, essenzialmente quasi coincide con esso: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è un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fork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di MySQL, che è stato creato dopo l'acquisizione di MySQL da parte di Oracle Corporation.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offre molte delle stesse funzionalità di MySQL e utilizza lo stesso motore di archiviazione per i dati. Tuttavia,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ha alcune caratteristiche uniche, migliora le prestazioni su alcune query e ha una gestione migliore delle risorse di sistema rispetto a MySQL.</a:t>
            </a:r>
          </a:p>
        </p:txBody>
      </p:sp>
    </p:spTree>
    <p:extLst>
      <p:ext uri="{BB962C8B-B14F-4D97-AF65-F5344CB8AC3E}">
        <p14:creationId xmlns:p14="http://schemas.microsoft.com/office/powerpoint/2010/main" val="4279507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primo DBMS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902735" y="373682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</p:txBody>
      </p:sp>
      <p:pic>
        <p:nvPicPr>
          <p:cNvPr id="3" name="Picture 2" descr="Java Logo, symbol, meaning, history, PNG, brand">
            <a:extLst>
              <a:ext uri="{FF2B5EF4-FFF2-40B4-BE49-F238E27FC236}">
                <a16:creationId xmlns:a16="http://schemas.microsoft.com/office/drawing/2014/main" id="{D46019AA-70FE-F8F5-93CF-35CACE4F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597" y="1464293"/>
            <a:ext cx="4693388" cy="262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625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Tra quelli elencati, sicuramente,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MySql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è uno dei più importanti da imparare, anzi forse il più importante.</a:t>
            </a:r>
          </a:p>
          <a:p>
            <a:pPr algn="l"/>
            <a:r>
              <a:rPr lang="it-IT" sz="2000" dirty="0">
                <a:solidFill>
                  <a:srgbClr val="374151"/>
                </a:solidFill>
                <a:latin typeface="Söhne"/>
              </a:rPr>
              <a:t>E </a:t>
            </a:r>
            <a:r>
              <a:rPr lang="it-IT" sz="2000" dirty="0" err="1">
                <a:solidFill>
                  <a:srgbClr val="374151"/>
                </a:solidFill>
                <a:latin typeface="Söhne"/>
              </a:rPr>
              <a:t>MariaDB</a:t>
            </a:r>
            <a:r>
              <a:rPr lang="it-IT" sz="2000" dirty="0">
                <a:solidFill>
                  <a:srgbClr val="374151"/>
                </a:solidFill>
                <a:latin typeface="Söhne"/>
              </a:rPr>
              <a:t>, che abbiamo menzionato, essenzialmente quasi coincide con esso:</a:t>
            </a:r>
          </a:p>
          <a:p>
            <a:pPr algn="l"/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è un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fork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di MySQL, che è stato creato dopo l'acquisizione di MySQL da parte di Oracle Corporation.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offre molte delle stesse funzionalità di MySQL e utilizza lo stesso motore di archiviazione per i dati. Tuttavia,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ha alcune caratteristiche uniche, migliora le prestazioni su alcune query e ha una gestione migliore delle risorse di sistema rispetto a MySQL.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Inoltre,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è un database open source, che è completamente gratuito e ha una comunità di sviluppatori attivi, mentre MySQL ha un'edizione gratuita e alcune edizioni a pagamento. Infine, alcune funzionalità avanzate di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non sono presenti in MySQL, come la crittografia di storage a livello di colonna.</a:t>
            </a:r>
          </a:p>
        </p:txBody>
      </p:sp>
    </p:spTree>
    <p:extLst>
      <p:ext uri="{BB962C8B-B14F-4D97-AF65-F5344CB8AC3E}">
        <p14:creationId xmlns:p14="http://schemas.microsoft.com/office/powerpoint/2010/main" val="2846611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programmare MySQL con JAVA, prima, devi installarlo sul tuo pc.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installare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sul tuo computer, segui questi passaggi:</a:t>
            </a:r>
          </a:p>
        </p:txBody>
      </p:sp>
    </p:spTree>
    <p:extLst>
      <p:ext uri="{BB962C8B-B14F-4D97-AF65-F5344CB8AC3E}">
        <p14:creationId xmlns:p14="http://schemas.microsoft.com/office/powerpoint/2010/main" val="1853837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programmare MySQL con JAVA, prima, devi installarlo sul tuo pc.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installare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sul tuo computer, segui questi passaggi: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Scarica l'installer dal sito ufficiale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, in base alla versione che vuoi installare e al sistema operativo che stai utilizzando.</a:t>
            </a:r>
          </a:p>
        </p:txBody>
      </p:sp>
    </p:spTree>
    <p:extLst>
      <p:ext uri="{BB962C8B-B14F-4D97-AF65-F5344CB8AC3E}">
        <p14:creationId xmlns:p14="http://schemas.microsoft.com/office/powerpoint/2010/main" val="3236220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programmare MySQL con JAVA, prima, devi installarlo sul tuo pc.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installare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sul tuo computer, segui questi passaggi: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Scarica l'installer dal sito ufficiale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, in base alla versione che vuoi installare e al sistema operativo che stai utilizzando.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Esegui l'installer e segui le istruzioni a schermo per installare il DBMS.</a:t>
            </a:r>
          </a:p>
        </p:txBody>
      </p:sp>
    </p:spTree>
    <p:extLst>
      <p:ext uri="{BB962C8B-B14F-4D97-AF65-F5344CB8AC3E}">
        <p14:creationId xmlns:p14="http://schemas.microsoft.com/office/powerpoint/2010/main" val="465942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programmare MySQL con JAVA, prima, devi installarlo sul tuo pc.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installare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sul tuo computer, segui questi passaggi: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Scarica l'installer dal sito ufficiale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, in base alla versione che vuoi installare e al sistema operativo che stai utilizzando.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Esegui l'installer e segui le istruzioni a schermo per installare il DBMS.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Durante l'installazione, potrebbe esserti richiesto di impostare una password per l'account root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. Assicurati di scegliere una password sicura e di ricordarla.</a:t>
            </a:r>
          </a:p>
        </p:txBody>
      </p:sp>
    </p:spTree>
    <p:extLst>
      <p:ext uri="{BB962C8B-B14F-4D97-AF65-F5344CB8AC3E}">
        <p14:creationId xmlns:p14="http://schemas.microsoft.com/office/powerpoint/2010/main" val="4229685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programmare MySQL con JAVA, prima, devi installarlo sul tuo pc.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installare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sul tuo computer, segui questi passaggi: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Scarica l'installer dal sito ufficiale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, in base alla versione che vuoi installare e al sistema operativo che stai utilizzando.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Esegui l'installer e segui le istruzioni a schermo per installare il DBMS.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Durante l'installazione, potrebbe esserti richiesto di impostare una password per l'account root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. Assicurati di scegliere una password sicura e di ricordarla.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Dopo aver completato l'installazione, avvia il servizio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386338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programmare MySQL con JAVA, prima, devi installarlo sul tuo pc.</a:t>
            </a:r>
          </a:p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installare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sul tuo computer, segui questi passaggi: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Scarica l'installer dal sito ufficiale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, in base alla versione che vuoi installare e al sistema operativo che stai utilizzando.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Esegui l'installer e segui le istruzioni a schermo per installare il DBMS.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Durante l'installazione, potrebbe esserti richiesto di impostare una password per l'account root di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. Assicurati di scegliere una password sicura e di ricordarla.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Dopo aver completato l'installazione, avvia il servizio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Ora sei pronto per programmare con Java e interagire con il tuo database MySQL o </a:t>
            </a:r>
            <a:r>
              <a:rPr lang="it-IT" sz="2000" b="0" i="0" dirty="0" err="1">
                <a:solidFill>
                  <a:srgbClr val="374151"/>
                </a:solidFill>
                <a:effectLst/>
                <a:latin typeface="Söhne"/>
              </a:rPr>
              <a:t>MariaDB</a:t>
            </a:r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 utilizzando JDBC.</a:t>
            </a:r>
          </a:p>
          <a:p>
            <a:pPr algn="l"/>
            <a:endParaRPr lang="it-IT" sz="2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2724253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473309" y="1387788"/>
            <a:ext cx="81593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Entriamo maggiormente nel dettaglio per l’installazione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A1E025A-37D5-4B8B-DDAD-297B3E4418AB}"/>
              </a:ext>
            </a:extLst>
          </p:cNvPr>
          <p:cNvSpPr txBox="1"/>
          <p:nvPr/>
        </p:nvSpPr>
        <p:spPr>
          <a:xfrm>
            <a:off x="2605178" y="1861059"/>
            <a:ext cx="91181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Visita il sito web di MySQL: </a:t>
            </a:r>
            <a:r>
              <a:rPr lang="it-IT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https://dev.mysql.com/downloads/mysql/</a:t>
            </a:r>
            <a:endParaRPr lang="it-IT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Scorri verso il basso fino a "MySQL Community (GPL) Downloads" e cerca la versione appropriata per il tuo sistema operativo.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Scegli la versione di MySQL appropriata per il tuo sistema operativo e fai clic sul pulsante "Download".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Nella pagina successiva, accetta i termini e le condizioni e fai clic sul pulsante "Download".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Dopo aver scaricato il file, apri l'installer e segui le istruzioni per installare MySQL sul tuo computer.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Durante l'installazione, verrà richiesto di scegliere un'opzione per la configurazione. Scegli "Server MySQL" se vuoi installare il server MySQL sul tuo computer.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Configura le opzioni per la password dell'utente "root" durante l'installazione.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Completa l'installazione seguendo le istruzioni dell'installer.</a:t>
            </a:r>
          </a:p>
          <a:p>
            <a:pPr algn="l"/>
            <a:r>
              <a:rPr lang="it-IT" b="0" i="0" dirty="0">
                <a:solidFill>
                  <a:srgbClr val="374151"/>
                </a:solidFill>
                <a:effectLst/>
                <a:latin typeface="Söhne"/>
              </a:rPr>
              <a:t>Dopo aver completato l'installazione, puoi accedere al database MySQL utilizzando la riga di comando di MySQL.</a:t>
            </a:r>
          </a:p>
        </p:txBody>
      </p:sp>
    </p:spTree>
    <p:extLst>
      <p:ext uri="{BB962C8B-B14F-4D97-AF65-F5344CB8AC3E}">
        <p14:creationId xmlns:p14="http://schemas.microsoft.com/office/powerpoint/2010/main" val="2219158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Avvia il server: una volta installato, devi avviare il server MySQL. Questo può essere fatto in diversi modi, a seconda del sistema operativo. Ad esempio, su Windows puoi utilizzare il Pannello di controllo per avviare il servizio, mentre su Linux puoi utilizzare il comando sudo service </a:t>
            </a:r>
            <a:r>
              <a:rPr lang="it-IT" sz="3000" dirty="0" err="1"/>
              <a:t>mysql</a:t>
            </a:r>
            <a:r>
              <a:rPr lang="it-IT" sz="3000" dirty="0"/>
              <a:t> start.</a:t>
            </a:r>
          </a:p>
        </p:txBody>
      </p:sp>
    </p:spTree>
    <p:extLst>
      <p:ext uri="{BB962C8B-B14F-4D97-AF65-F5344CB8AC3E}">
        <p14:creationId xmlns:p14="http://schemas.microsoft.com/office/powerpoint/2010/main" val="3804119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Accedi al server: una volta che il server è in esecuzione, puoi accedere alla riga di comando di MySQL utilizzando il comando </a:t>
            </a:r>
            <a:r>
              <a:rPr lang="it-IT" sz="3200" dirty="0" err="1"/>
              <a:t>mysql</a:t>
            </a:r>
            <a:r>
              <a:rPr lang="it-IT" sz="3200" dirty="0"/>
              <a:t> -u root -p. Questo aprirà una shell interattiva dove puoi inserire i comandi di MySQL.</a:t>
            </a:r>
          </a:p>
        </p:txBody>
      </p:sp>
    </p:spTree>
    <p:extLst>
      <p:ext uri="{BB962C8B-B14F-4D97-AF65-F5344CB8AC3E}">
        <p14:creationId xmlns:p14="http://schemas.microsoft.com/office/powerpoint/2010/main" val="12522474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Crea un database: per iniziare, puoi creare un nuovo database utilizzando il comando CREATE DATABASE </a:t>
            </a:r>
            <a:r>
              <a:rPr lang="it-IT" sz="3200" dirty="0" err="1"/>
              <a:t>nome_database</a:t>
            </a:r>
            <a:r>
              <a:rPr lang="it-IT" sz="3200" dirty="0"/>
              <a:t>;. Assicurati di sostituire </a:t>
            </a:r>
            <a:r>
              <a:rPr lang="it-IT" sz="3200" dirty="0" err="1"/>
              <a:t>nome_database</a:t>
            </a:r>
            <a:r>
              <a:rPr lang="it-IT" sz="3200" dirty="0"/>
              <a:t> con il nome che desideri utilizzare per il tuo database.</a:t>
            </a:r>
          </a:p>
        </p:txBody>
      </p:sp>
    </p:spTree>
    <p:extLst>
      <p:ext uri="{BB962C8B-B14F-4D97-AF65-F5344CB8AC3E}">
        <p14:creationId xmlns:p14="http://schemas.microsoft.com/office/powerpoint/2010/main" val="3077492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Usa il database: una volta creato il database, puoi iniziare a utilizzarlo utilizzando il comando USE </a:t>
            </a:r>
            <a:r>
              <a:rPr lang="it-IT" sz="3200" dirty="0" err="1"/>
              <a:t>nome_database</a:t>
            </a:r>
            <a:r>
              <a:rPr lang="it-IT" sz="3200" dirty="0"/>
              <a:t>;.</a:t>
            </a:r>
          </a:p>
        </p:txBody>
      </p:sp>
    </p:spTree>
    <p:extLst>
      <p:ext uri="{BB962C8B-B14F-4D97-AF65-F5344CB8AC3E}">
        <p14:creationId xmlns:p14="http://schemas.microsoft.com/office/powerpoint/2010/main" val="22224301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Crea tabelle: per memorizzare i dati, dovrai creare tabelle all'interno del tuo database. Ciò può essere fatto utilizzando il comando CREATE TABLE </a:t>
            </a:r>
            <a:r>
              <a:rPr lang="it-IT" sz="3200" dirty="0" err="1"/>
              <a:t>nome_tabella</a:t>
            </a:r>
            <a:r>
              <a:rPr lang="it-IT" sz="3200" dirty="0"/>
              <a:t> (colonna1 tipo1, colonna2 tipo2, ...);.</a:t>
            </a:r>
          </a:p>
        </p:txBody>
      </p:sp>
    </p:spTree>
    <p:extLst>
      <p:ext uri="{BB962C8B-B14F-4D97-AF65-F5344CB8AC3E}">
        <p14:creationId xmlns:p14="http://schemas.microsoft.com/office/powerpoint/2010/main" val="40862311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Inserisci dati: una volta che hai creato le tabelle, puoi inserire dati utilizzando il comando INSERT INTO </a:t>
            </a:r>
            <a:r>
              <a:rPr lang="it-IT" sz="3200" dirty="0" err="1"/>
              <a:t>nome_tabella</a:t>
            </a:r>
            <a:r>
              <a:rPr lang="it-IT" sz="3200" dirty="0"/>
              <a:t> (colonna1, colonna2, ...) VALUES (valore1, valore2, ...);.</a:t>
            </a:r>
          </a:p>
        </p:txBody>
      </p:sp>
    </p:spTree>
    <p:extLst>
      <p:ext uri="{BB962C8B-B14F-4D97-AF65-F5344CB8AC3E}">
        <p14:creationId xmlns:p14="http://schemas.microsoft.com/office/powerpoint/2010/main" val="460064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Interroga il database: infine, puoi interrogare il database per recuperare i dati utilizzando il comando SELECT colonna1, colonna2, ... FROM </a:t>
            </a:r>
            <a:r>
              <a:rPr lang="it-IT" sz="3200" dirty="0" err="1"/>
              <a:t>nome_tabella</a:t>
            </a:r>
            <a:r>
              <a:rPr lang="it-IT" sz="3200" dirty="0"/>
              <a:t> WHERE condizione;.</a:t>
            </a:r>
          </a:p>
        </p:txBody>
      </p:sp>
    </p:spTree>
    <p:extLst>
      <p:ext uri="{BB962C8B-B14F-4D97-AF65-F5344CB8AC3E}">
        <p14:creationId xmlns:p14="http://schemas.microsoft.com/office/powerpoint/2010/main" val="1059772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2538323" y="1906768"/>
            <a:ext cx="60945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/>
              <a:t>Questi sono solo i comandi di base per iniziare con MySQL dalla riga di comando. Ci sono molte altre funzionalità e comandi avanzati che puoi utilizzare per creare database complessi e performanti.</a:t>
            </a:r>
          </a:p>
        </p:txBody>
      </p:sp>
    </p:spTree>
    <p:extLst>
      <p:ext uri="{BB962C8B-B14F-4D97-AF65-F5344CB8AC3E}">
        <p14:creationId xmlns:p14="http://schemas.microsoft.com/office/powerpoint/2010/main" val="4363322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</p:spTree>
    <p:extLst>
      <p:ext uri="{BB962C8B-B14F-4D97-AF65-F5344CB8AC3E}">
        <p14:creationId xmlns:p14="http://schemas.microsoft.com/office/powerpoint/2010/main" val="24803052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</p:txBody>
      </p:sp>
    </p:spTree>
    <p:extLst>
      <p:ext uri="{BB962C8B-B14F-4D97-AF65-F5344CB8AC3E}">
        <p14:creationId xmlns:p14="http://schemas.microsoft.com/office/powerpoint/2010/main" val="1725606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documentazione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https://dev.mysql.com/doc/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648244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documentazione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https://dev.mysql.com/doc/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libro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Cookbook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" di Paul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DuBois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https://www.oreilly.com/library/view/mysql-cookbook/0596001452/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9319901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documentazione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https://dev.mysql.com/doc/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libro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Cookbook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" di Paul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DuBois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https://www.oreilly.com/library/view/mysql-cookbook/0596001452/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Tutorial" su W3Schools: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5"/>
              </a:rPr>
              <a:t>https://www.w3schools.com/mysql/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35004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documentazione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https://dev.mysql.com/doc/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libro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Cookbook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" di Paul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DuBois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https://www.oreilly.com/library/view/mysql-cookbook/0596001452/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Tutorial" su W3Schools: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5"/>
              </a:rPr>
              <a:t>https://www.w3schools.com/mysql/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for Data Analysis" su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Coursera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6"/>
              </a:rPr>
              <a:t>https://www.coursera.org/learn/analytics-mysql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1251878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documentazione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https://dev.mysql.com/doc/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libro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Cookbook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" di Paul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DuBois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https://www.oreilly.com/library/view/mysql-cookbook/0596001452/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Tutorial" su W3Schools: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5"/>
              </a:rPr>
              <a:t>https://www.w3schools.com/mysql/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for Data Analysis" su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Coursera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6"/>
              </a:rPr>
              <a:t>https://www.coursera.org/learn/analytics-mysql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Essential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 Training" su LinkedIn Learning: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7"/>
              </a:rPr>
              <a:t>https://www.linkedin.com/learning/mysql-essential-training-2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532219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documentazione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https://dev.mysql.com/doc/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libro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Cookbook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" di Paul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DuBois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https://www.oreilly.com/library/view/mysql-cookbook/0596001452/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Tutorial" su W3Schools: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5"/>
              </a:rPr>
              <a:t>https://www.w3schools.com/mysql/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for Data Analysis" su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Coursera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6"/>
              </a:rPr>
              <a:t>https://www.coursera.org/learn/analytics-mysql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Essential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 Training" su LinkedIn Learning: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7"/>
              </a:rPr>
              <a:t>https://www.linkedin.com/learning/mysql-essential-training-2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forum di supporto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8"/>
              </a:rPr>
              <a:t>https://forums.mysql.com/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755311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20896" y="431243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F4AEA6-FBA6-E494-8C2B-4DFACD303891}"/>
              </a:ext>
            </a:extLst>
          </p:cNvPr>
          <p:cNvSpPr txBox="1"/>
          <p:nvPr/>
        </p:nvSpPr>
        <p:spPr>
          <a:xfrm>
            <a:off x="3820896" y="909986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Ovviamente, sarebbe necessario approfondire MYSQL, prima di iniziare un corso di programmazione con JAVA su MYSQL. Queste slide, tuttavia, sono per JAVA e si concentrano sull’insegnamento della programmazione JAVA.</a:t>
            </a:r>
          </a:p>
          <a:p>
            <a:r>
              <a:rPr lang="it-IT" dirty="0"/>
              <a:t>Per questo motivo, forniremo dei riferimenti utili.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D6FD2E9-5799-FC3E-A4BE-A36A8BABA230}"/>
              </a:ext>
            </a:extLst>
          </p:cNvPr>
          <p:cNvSpPr txBox="1"/>
          <p:nvPr/>
        </p:nvSpPr>
        <p:spPr>
          <a:xfrm>
            <a:off x="3820896" y="2491043"/>
            <a:ext cx="60945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Ecco alcuni riferimenti utili per approfondire le tue conoscenze su MySQL: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documentazione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https://dev.mysql.com/doc/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libro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Cookbook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" di Paul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DuBois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4"/>
              </a:rPr>
              <a:t>https://www.oreilly.com/library/view/mysql-cookbook/0596001452/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Tutorial" su W3Schools: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5"/>
              </a:rPr>
              <a:t>https://www.w3schools.com/mysql/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for Data Analysis" su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Coursera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6"/>
              </a:rPr>
              <a:t>https://www.coursera.org/learn/analytics-mysql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corso "MySQL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Essential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 Training" su LinkedIn Learning: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7"/>
              </a:rPr>
              <a:t>https://www.linkedin.com/learning/mysql-essential-training-2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Il forum di supporto ufficiale di MySQL: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8"/>
              </a:rPr>
              <a:t>https://forums.mysql.com/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La comunità di sviluppatori MySQL su </a:t>
            </a:r>
            <a:r>
              <a:rPr lang="it-IT" sz="1600" b="0" i="0" dirty="0" err="1">
                <a:solidFill>
                  <a:srgbClr val="374151"/>
                </a:solidFill>
                <a:effectLst/>
                <a:latin typeface="Söhne"/>
              </a:rPr>
              <a:t>Stack</a:t>
            </a:r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 Overflow: </a:t>
            </a:r>
            <a:r>
              <a:rPr lang="it-IT" sz="1600" b="0" i="0" u="sng" dirty="0">
                <a:solidFill>
                  <a:srgbClr val="374151"/>
                </a:solidFill>
                <a:effectLst/>
                <a:latin typeface="Söhne"/>
                <a:hlinkClick r:id="rId9"/>
              </a:rPr>
              <a:t>https://stackoverflow.com/questions/tagged/mysql</a:t>
            </a:r>
            <a:endParaRPr lang="it-IT" sz="16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it-IT" sz="1600" b="0" i="0" dirty="0">
                <a:solidFill>
                  <a:srgbClr val="374151"/>
                </a:solidFill>
                <a:effectLst/>
                <a:latin typeface="Söhne"/>
              </a:rPr>
              <a:t>Spero che questi riferimenti ti siano utili!</a:t>
            </a:r>
          </a:p>
        </p:txBody>
      </p:sp>
    </p:spTree>
    <p:extLst>
      <p:ext uri="{BB962C8B-B14F-4D97-AF65-F5344CB8AC3E}">
        <p14:creationId xmlns:p14="http://schemas.microsoft.com/office/powerpoint/2010/main" val="4863778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125694" y="1905506"/>
            <a:ext cx="8159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374151"/>
                </a:solidFill>
                <a:effectLst/>
                <a:latin typeface="Söhne"/>
              </a:rPr>
              <a:t>per programmare con Java e interagire con un database MySQL è necessario utilizzare il JDBC (Java Database Connectivity), che è una API che fornisce un insieme di classi per accedere e gestire i database relazionali.</a:t>
            </a:r>
          </a:p>
        </p:txBody>
      </p:sp>
    </p:spTree>
    <p:extLst>
      <p:ext uri="{BB962C8B-B14F-4D97-AF65-F5344CB8AC3E}">
        <p14:creationId xmlns:p14="http://schemas.microsoft.com/office/powerpoint/2010/main" val="2654611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82039" y="1419573"/>
            <a:ext cx="5169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Per ottenere il JDBC driver per MySQL, puoi scaricare il file JAR dal sito web di MySQL. Ecco i passi da seguire: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Vai al sito web di MySQL all'indirizzo </a:t>
            </a:r>
            <a:r>
              <a:rPr lang="it-IT" sz="15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https://dev.mysql.com/downloads/connector/j/</a:t>
            </a:r>
            <a:endParaRPr lang="it-IT" sz="15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0882AE-FE5D-DC7B-5B57-A5C6FEE55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141" y="1482897"/>
            <a:ext cx="5043944" cy="356271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71488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82039" y="1419573"/>
            <a:ext cx="51698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Per ottenere il JDBC driver per MySQL, puoi scaricare il file JAR dal sito web di MySQL. Ecco i passi da seguire: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Vai al sito web di MySQL all'indirizzo </a:t>
            </a:r>
            <a:r>
              <a:rPr lang="it-IT" sz="15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https://dev.mysql.com/downloads/connector/j/</a:t>
            </a:r>
            <a:endParaRPr lang="it-IT" sz="15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Seleziona la versione del driver JDBC da scaricare (ad esempio, "Platform Independent")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D636E6-F710-AD0E-E2A6-5CE8FAE5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247" y="1419573"/>
            <a:ext cx="5294328" cy="34716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4661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82039" y="1419573"/>
            <a:ext cx="51698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Per ottenere il JDBC driver per MySQL, puoi scaricare il file JAR dal sito web di MySQL. Ecco i passi da seguire: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Vai al sito web di MySQL all'indirizzo </a:t>
            </a:r>
            <a:r>
              <a:rPr lang="it-IT" sz="15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https://dev.mysql.com/downloads/connector/j/</a:t>
            </a:r>
            <a:endParaRPr lang="it-IT" sz="15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Seleziona la versione del driver JDBC da scaricare (ad esempio, "Platform Independent")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Accetta i termini e le condizioni e scarica il file ZIP contenente il driver JDBC per MySQL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D636E6-F710-AD0E-E2A6-5CE8FAE5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247" y="1419573"/>
            <a:ext cx="5294328" cy="34716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85628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82039" y="1419573"/>
            <a:ext cx="5169855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Per ottenere il JDBC driver per MySQL, puoi scaricare il file JAR dal sito web di MySQL. Ecco i passi da seguire: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Vai al sito web di MySQL all'indirizzo </a:t>
            </a:r>
            <a:r>
              <a:rPr lang="it-IT" sz="15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https://dev.mysql.com/downloads/connector/j/</a:t>
            </a:r>
            <a:endParaRPr lang="it-IT" sz="15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Seleziona la versione del driver JDBC da scaricare (ad esempio, "Platform Independent")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Accetta i termini e le condizioni e scarica il file ZIP contenente il driver JDBC per MySQL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Estrai il file ZIP in una cartella del tuo computer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D636E6-F710-AD0E-E2A6-5CE8FAE5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247" y="1419573"/>
            <a:ext cx="5294328" cy="34716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25570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82039" y="1419573"/>
            <a:ext cx="5169855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Per ottenere il JDBC driver per MySQL, puoi scaricare il file JAR dal sito web di MySQL. Ecco i passi da seguire: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Vai al sito web di MySQL all'indirizzo </a:t>
            </a:r>
            <a:r>
              <a:rPr lang="it-IT" sz="15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https://dev.mysql.com/downloads/connector/j/</a:t>
            </a:r>
            <a:endParaRPr lang="it-IT" sz="15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Seleziona la versione del driver JDBC da scaricare (ad esempio, "Platform Independent")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Accetta i termini e le condizioni e scarica il file ZIP contenente il driver JDBC per MySQL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Estrai il file ZIP in una cartella del tuo computer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Trova il file JAR JDBC (ad esempio, "mysql-connector-java-x.x.xx.jar") all'interno della cartella estratta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D636E6-F710-AD0E-E2A6-5CE8FAE5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247" y="1419573"/>
            <a:ext cx="5294328" cy="34716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16872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82039" y="1419573"/>
            <a:ext cx="516985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Per ottenere il JDBC driver per MySQL, puoi scaricare il file JAR dal sito web di MySQL. Ecco i passi da seguire: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Vai al sito web di MySQL all'indirizzo </a:t>
            </a:r>
            <a:r>
              <a:rPr lang="it-IT" sz="15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https://dev.mysql.com/downloads/connector/j/</a:t>
            </a:r>
            <a:endParaRPr lang="it-IT" sz="15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Seleziona la versione del driver JDBC da scaricare (ad esempio, "Platform Independent")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Accetta i termini e le condizioni e scarica il file ZIP contenente il driver JDBC per MySQL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Estrai il file ZIP in una cartella del tuo computer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Trova il file JAR JDBC (ad esempio, "mysql-connector-java-x.x.xx.jar") all'interno della cartella estratta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Aggiungi il file JAR alla tua applicazione Java come dipendenza, ad esempio aggiungendolo al </a:t>
            </a:r>
            <a:r>
              <a:rPr lang="it-IT" sz="15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 del tuo progetto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D636E6-F710-AD0E-E2A6-5CE8FAE5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247" y="1419573"/>
            <a:ext cx="5294328" cy="34716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57900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D634CC-09B6-11CF-6619-779029B001E2}"/>
              </a:ext>
            </a:extLst>
          </p:cNvPr>
          <p:cNvSpPr txBox="1"/>
          <p:nvPr/>
        </p:nvSpPr>
        <p:spPr>
          <a:xfrm>
            <a:off x="282039" y="1419573"/>
            <a:ext cx="5169855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Per ottenere il JDBC driver per MySQL, puoi scaricare il file JAR dal sito web di MySQL. Ecco i passi da seguire: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Vai al sito web di MySQL all'indirizzo </a:t>
            </a:r>
            <a:r>
              <a:rPr lang="it-IT" sz="1500" b="0" i="0" u="sng" dirty="0">
                <a:solidFill>
                  <a:srgbClr val="374151"/>
                </a:solidFill>
                <a:effectLst/>
                <a:latin typeface="Söhne"/>
                <a:hlinkClick r:id="rId3"/>
              </a:rPr>
              <a:t>https://dev.mysql.com/downloads/connector/j/</a:t>
            </a:r>
            <a:endParaRPr lang="it-IT" sz="1500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Seleziona la versione del driver JDBC da scaricare (ad esempio, "Platform Independent")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Accetta i termini e le condizioni e scarica il file ZIP contenente il driver JDBC per MySQL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Estrai il file ZIP in una cartella del tuo computer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Trova il file JAR JDBC (ad esempio, "mysql-connector-java-x.x.xx.jar") all'interno della cartella estratta</a:t>
            </a:r>
          </a:p>
          <a:p>
            <a:pPr algn="l">
              <a:buFont typeface="+mj-lt"/>
              <a:buAutoNum type="arabicPeriod"/>
            </a:pP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Aggiungi il file JAR alla tua applicazione Java come dipendenza, ad esempio aggiungendolo al </a:t>
            </a:r>
            <a:r>
              <a:rPr lang="it-IT" sz="15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1500" b="0" i="0" dirty="0">
                <a:solidFill>
                  <a:srgbClr val="374151"/>
                </a:solidFill>
                <a:effectLst/>
                <a:latin typeface="Söhne"/>
              </a:rPr>
              <a:t> del tuo progetto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D636E6-F710-AD0E-E2A6-5CE8FAE5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247" y="1419573"/>
            <a:ext cx="5294328" cy="34716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282039" y="5607018"/>
            <a:ext cx="11108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800" b="0" i="0" dirty="0">
                <a:solidFill>
                  <a:srgbClr val="374151"/>
                </a:solidFill>
                <a:effectLst/>
                <a:latin typeface="Söhne"/>
              </a:rPr>
              <a:t>Una volta che hai aggiunto il driver JDBC alla tua applicazione Java, puoi iniziare a utilizzare le classi del JDBC per interagire con il database MySQL dal tuo codice Java.</a:t>
            </a:r>
          </a:p>
        </p:txBody>
      </p:sp>
    </p:spTree>
    <p:extLst>
      <p:ext uri="{BB962C8B-B14F-4D97-AF65-F5344CB8AC3E}">
        <p14:creationId xmlns:p14="http://schemas.microsoft.com/office/powerpoint/2010/main" val="19658238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500" b="0" i="0" dirty="0">
                <a:solidFill>
                  <a:srgbClr val="374151"/>
                </a:solidFill>
                <a:effectLst/>
                <a:latin typeface="Söhne"/>
              </a:rPr>
              <a:t>Una volta che hai aggiunto il driver JDBC alla tua applicazione Java, puoi iniziare a utilizzare le classi del JDBC per interagire con il database MySQL dal tuo codice Java.</a:t>
            </a:r>
          </a:p>
        </p:txBody>
      </p:sp>
    </p:spTree>
    <p:extLst>
      <p:ext uri="{BB962C8B-B14F-4D97-AF65-F5344CB8AC3E}">
        <p14:creationId xmlns:p14="http://schemas.microsoft.com/office/powerpoint/2010/main" val="9329708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500" b="0" i="0" dirty="0">
                <a:solidFill>
                  <a:srgbClr val="374151"/>
                </a:solidFill>
                <a:effectLst/>
                <a:latin typeface="Söhne"/>
              </a:rPr>
              <a:t>Una volta che hai aggiunto il driver JDBC alla tua applicazione Java, puoi iniziare a utilizzare le classi del JDBC per interagire con il database MySQL dal tuo codice Java.</a:t>
            </a:r>
          </a:p>
          <a:p>
            <a:pPr algn="l"/>
            <a:r>
              <a:rPr lang="it-IT" sz="2500" dirty="0">
                <a:solidFill>
                  <a:srgbClr val="374151"/>
                </a:solidFill>
                <a:latin typeface="Söhne"/>
              </a:rPr>
              <a:t>Concettualmente un linguaggio che utilizzi MYSQL deve:</a:t>
            </a:r>
          </a:p>
        </p:txBody>
      </p:sp>
    </p:spTree>
    <p:extLst>
      <p:ext uri="{BB962C8B-B14F-4D97-AF65-F5344CB8AC3E}">
        <p14:creationId xmlns:p14="http://schemas.microsoft.com/office/powerpoint/2010/main" val="8023726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500" b="0" i="0" dirty="0">
                <a:solidFill>
                  <a:srgbClr val="374151"/>
                </a:solidFill>
                <a:effectLst/>
                <a:latin typeface="Söhne"/>
              </a:rPr>
              <a:t>Una volta che hai aggiunto il driver JDBC alla tua applicazione Java, puoi iniziare a utilizzare le classi del JDBC per interagire con il database MySQL dal tuo codice Java.</a:t>
            </a:r>
          </a:p>
          <a:p>
            <a:pPr algn="l"/>
            <a:r>
              <a:rPr lang="it-IT" sz="2500" dirty="0">
                <a:solidFill>
                  <a:srgbClr val="374151"/>
                </a:solidFill>
                <a:latin typeface="Söhne"/>
              </a:rPr>
              <a:t>Concettualmente un linguaggio che utilizzi MYSQL deve: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Effettuare la connessione al DATABASE (fornendo le credenziali ed ottenendo il puntatore che mette in collegamento con MYSQL</a:t>
            </a:r>
          </a:p>
        </p:txBody>
      </p:sp>
    </p:spTree>
    <p:extLst>
      <p:ext uri="{BB962C8B-B14F-4D97-AF65-F5344CB8AC3E}">
        <p14:creationId xmlns:p14="http://schemas.microsoft.com/office/powerpoint/2010/main" val="23937956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500" b="0" i="0" dirty="0">
                <a:solidFill>
                  <a:srgbClr val="374151"/>
                </a:solidFill>
                <a:effectLst/>
                <a:latin typeface="Söhne"/>
              </a:rPr>
              <a:t>Una volta che hai aggiunto il driver JDBC alla tua applicazione Java, puoi iniziare a utilizzare le classi del JDBC per interagire con il database MySQL dal tuo codice Java.</a:t>
            </a:r>
          </a:p>
          <a:p>
            <a:pPr algn="l"/>
            <a:r>
              <a:rPr lang="it-IT" sz="2500" dirty="0">
                <a:solidFill>
                  <a:srgbClr val="374151"/>
                </a:solidFill>
                <a:latin typeface="Söhne"/>
              </a:rPr>
              <a:t>Concettualmente un linguaggio che utilizzi MYSQL deve: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Effettuare la connessione al DATABASE (fornendo le credenziali ed ottenendo il puntatore che mette in collegamento con MYSQL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Preparare delle richieste per il server database, anche dette QUERY</a:t>
            </a:r>
          </a:p>
        </p:txBody>
      </p:sp>
    </p:spTree>
    <p:extLst>
      <p:ext uri="{BB962C8B-B14F-4D97-AF65-F5344CB8AC3E}">
        <p14:creationId xmlns:p14="http://schemas.microsoft.com/office/powerpoint/2010/main" val="41217581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500" b="0" i="0" dirty="0">
                <a:solidFill>
                  <a:srgbClr val="374151"/>
                </a:solidFill>
                <a:effectLst/>
                <a:latin typeface="Söhne"/>
              </a:rPr>
              <a:t>Una volta che hai aggiunto il driver JDBC alla tua applicazione Java, puoi iniziare a utilizzare le classi del JDBC per interagire con il database MySQL dal tuo codice Java.</a:t>
            </a:r>
          </a:p>
          <a:p>
            <a:pPr algn="l"/>
            <a:r>
              <a:rPr lang="it-IT" sz="2500" dirty="0">
                <a:solidFill>
                  <a:srgbClr val="374151"/>
                </a:solidFill>
                <a:latin typeface="Söhne"/>
              </a:rPr>
              <a:t>Concettualmente un linguaggio che utilizzi MYSQL deve: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Effettuare la connessione al DATABASE (fornendo le credenziali ed ottenendo il puntatore che mette in collegamento con MYSQL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Preparare delle richieste per il server database, anche dette QUERY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Inviare la richiesta (che può corrispondere alla richiesta di ottenere dei dati presenti del DATABASE o di inserire dati o modificare/cancellare quelli esistenti)</a:t>
            </a:r>
          </a:p>
        </p:txBody>
      </p:sp>
    </p:spTree>
    <p:extLst>
      <p:ext uri="{BB962C8B-B14F-4D97-AF65-F5344CB8AC3E}">
        <p14:creationId xmlns:p14="http://schemas.microsoft.com/office/powerpoint/2010/main" val="17614354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500" b="0" i="0" dirty="0">
                <a:solidFill>
                  <a:srgbClr val="374151"/>
                </a:solidFill>
                <a:effectLst/>
                <a:latin typeface="Söhne"/>
              </a:rPr>
              <a:t>Una volta che hai aggiunto il driver JDBC alla tua applicazione Java, puoi iniziare a utilizzare le classi del JDBC per interagire con il database MySQL dal tuo codice Java.</a:t>
            </a:r>
          </a:p>
          <a:p>
            <a:pPr algn="l"/>
            <a:r>
              <a:rPr lang="it-IT" sz="2500" dirty="0">
                <a:solidFill>
                  <a:srgbClr val="374151"/>
                </a:solidFill>
                <a:latin typeface="Söhne"/>
              </a:rPr>
              <a:t>Concettualmente un linguaggio che utilizzi MYSQL deve: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Effettuare la connessione al DATABASE (fornendo le credenziali ed ottenendo il puntatore che mette in collegamento con MYSQL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Preparare delle richieste per il server database, anche dette QUERY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Inviare la richiesta (che può corrispondere alla richiesta di ottenere dei dati presenti del DATABASE o di inserire dati o modificare/cancellare quelli esistenti)</a:t>
            </a:r>
          </a:p>
          <a:p>
            <a:pPr marL="285750" indent="-285750" algn="l">
              <a:buFontTx/>
              <a:buChar char="-"/>
            </a:pPr>
            <a:r>
              <a:rPr lang="it-IT" sz="2500" dirty="0">
                <a:solidFill>
                  <a:srgbClr val="374151"/>
                </a:solidFill>
                <a:latin typeface="Söhne"/>
              </a:rPr>
              <a:t>Ricevere risposta, cosa che fornisce informazioni sull’esito della richiesta e degli eventuali dati ottenuti</a:t>
            </a:r>
          </a:p>
        </p:txBody>
      </p:sp>
    </p:spTree>
    <p:extLst>
      <p:ext uri="{BB962C8B-B14F-4D97-AF65-F5344CB8AC3E}">
        <p14:creationId xmlns:p14="http://schemas.microsoft.com/office/powerpoint/2010/main" val="15799916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</p:txBody>
      </p:sp>
    </p:spTree>
    <p:extLst>
      <p:ext uri="{BB962C8B-B14F-4D97-AF65-F5344CB8AC3E}">
        <p14:creationId xmlns:p14="http://schemas.microsoft.com/office/powerpoint/2010/main" val="8757195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Prima di tutto, assicurati di avere il driver JDBC MySQL nel tuo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. Puoi scaricarlo dal sito ufficiale di MySQL o da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Central se stai utilizzando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come gestore delle dipendenze.</a:t>
            </a:r>
            <a:b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Io ti ho mostrato come scaricarlo dal sito ufficiale, almeno per ora.</a:t>
            </a:r>
          </a:p>
        </p:txBody>
      </p:sp>
    </p:spTree>
    <p:extLst>
      <p:ext uri="{BB962C8B-B14F-4D97-AF65-F5344CB8AC3E}">
        <p14:creationId xmlns:p14="http://schemas.microsoft.com/office/powerpoint/2010/main" val="29994732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Prima di tutto, assicurati di avere il driver JDBC MySQL nel tuo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. Puoi scaricarlo dal sito ufficiale di MySQL o da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Central se stai utilizzando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come gestore delle dipendenze.</a:t>
            </a:r>
            <a:b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Io ti ho mostrato come scaricarlo dal sito ufficiale, almeno per ora.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Importa le classi necessarie per utilizzare JDBC nel tuo codice Java:</a:t>
            </a:r>
          </a:p>
        </p:txBody>
      </p:sp>
    </p:spTree>
    <p:extLst>
      <p:ext uri="{BB962C8B-B14F-4D97-AF65-F5344CB8AC3E}">
        <p14:creationId xmlns:p14="http://schemas.microsoft.com/office/powerpoint/2010/main" val="25692027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Prima di tutto, assicurati di avere il driver JDBC MySQL nel tuo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. Puoi scaricarlo dal sito ufficiale di MySQL o da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Central se stai utilizzando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come gestore delle dipendenze.</a:t>
            </a:r>
            <a:b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Io ti ho mostrato come scaricarlo dal sito ufficiale, almeno per ora.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Importa le classi necessarie per utilizzare JDBC nel tuo codice Java: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4830040"/>
            <a:ext cx="10932300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6264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Prima di tutto, assicurati di avere il driver JDBC MySQL nel tuo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. Puoi scaricarlo dal sito ufficiale di MySQL o da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Central se stai utilizzando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come gestore delle dipendenze.</a:t>
            </a:r>
            <a:b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Io ti ho mostrato come scaricarlo dal sito ufficiale, almeno per ora.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Importa le classi necessarie per utilizzare JDBC nel tuo codice Java: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02809" y="4809223"/>
            <a:ext cx="10932300" cy="6463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0612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Prima di tutto, assicurati di avere il driver JDBC MySQL nel tuo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. Puoi scaricarlo dal sito ufficiale di MySQL o da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Central se stai utilizzando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come gestore delle dipendenze.</a:t>
            </a:r>
            <a:b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Io ti ho mostrato come scaricarlo dal sito ufficiale, almeno per ora.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Importa le classi necessarie per utilizzare JDBC nel tuo codice Java: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4847203"/>
            <a:ext cx="10932300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5809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Prima di tutto, assicurati di avere il driver JDBC MySQL nel tuo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. Puoi scaricarlo dal sito ufficiale di MySQL o da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Central se stai utilizzando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come gestore delle dipendenze.</a:t>
            </a:r>
            <a:b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Io ti ho mostrato come scaricarlo dal sito ufficiale, almeno per ora.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Importa le classi necessarie per utilizzare JDBC nel tuo codice Java: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4828383"/>
            <a:ext cx="109323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4528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Vediamo, passo-passo, come utilizzare JDBC per accedere a un database MySQL in un progetto Java: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Prima di tutto, assicurati di avere il driver JDBC MySQL nel tuo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classpath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. Puoi scaricarlo dal sito ufficiale di MySQL o da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Central se stai utilizzando </a:t>
            </a:r>
            <a:r>
              <a:rPr lang="it-IT" sz="2800" b="0" i="0" dirty="0" err="1">
                <a:solidFill>
                  <a:srgbClr val="374151"/>
                </a:solidFill>
                <a:effectLst/>
                <a:latin typeface="Söhne"/>
              </a:rPr>
              <a:t>Maven</a:t>
            </a: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 come gestore delle dipendenze.</a:t>
            </a:r>
            <a:b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Io ti ho mostrato come scaricarlo dal sito ufficiale, almeno per ora.</a:t>
            </a:r>
          </a:p>
          <a:p>
            <a:pPr algn="l">
              <a:buFont typeface="+mj-lt"/>
              <a:buAutoNum type="arabicPeriod"/>
            </a:pPr>
            <a:r>
              <a:rPr lang="it-IT" sz="2800" b="0" i="0" dirty="0">
                <a:solidFill>
                  <a:srgbClr val="374151"/>
                </a:solidFill>
                <a:effectLst/>
                <a:latin typeface="Söhne"/>
              </a:rPr>
              <a:t>Importa le classi necessarie per utilizzare JDBC nel tuo codice Java: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4830040"/>
            <a:ext cx="10932300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6840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3. Crea una connessione al tuo database MySQL utilizzando la classe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DriverManager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 e il metodo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getConnection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68144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3. Crea una connessione al tuo database MySQL utilizzando la classe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DriverManager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 e il metodo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getConnection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02809" y="2828835"/>
            <a:ext cx="10932300" cy="4001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"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//localhost:3306/</a:t>
            </a:r>
            <a:r>
              <a:rPr lang="it-IT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26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3. Crea una connessione al tuo database MySQL utilizzando la classe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DriverManager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 e il metodo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getConnection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02809" y="2828835"/>
            <a:ext cx="10932300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"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//localhost:3306/</a:t>
            </a:r>
            <a:r>
              <a:rPr lang="it-IT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"username"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147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3. Crea una connessione al tuo database MySQL utilizzando la classe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DriverManager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 e il metodo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getConnection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02809" y="2828835"/>
            <a:ext cx="1093230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"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//localhost:3306/</a:t>
            </a:r>
            <a:r>
              <a:rPr lang="it-IT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"username"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"password"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3671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3. Crea una connessione al tuo database MySQL utilizzando la classe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DriverManager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 e il metodo </a:t>
            </a:r>
            <a:r>
              <a:rPr lang="it-IT" sz="3000" b="0" i="0" dirty="0" err="1">
                <a:solidFill>
                  <a:srgbClr val="374151"/>
                </a:solidFill>
                <a:effectLst/>
                <a:latin typeface="Söhne"/>
              </a:rPr>
              <a:t>getConnection</a:t>
            </a:r>
            <a:r>
              <a:rPr lang="it-IT" sz="3000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02809" y="2828835"/>
            <a:ext cx="10932300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"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//localhost:3306/</a:t>
            </a:r>
            <a:r>
              <a:rPr lang="it-IT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"username"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"password"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Connection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AA3F5D2-85FF-6AD1-FA73-35ECE38503E5}"/>
              </a:ext>
            </a:extLst>
          </p:cNvPr>
          <p:cNvSpPr txBox="1"/>
          <p:nvPr/>
        </p:nvSpPr>
        <p:spPr>
          <a:xfrm>
            <a:off x="402808" y="4243949"/>
            <a:ext cx="109322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4. Una volta che hai creato una connessione al database, puoi eseguire query SQL utilizzando la classe Statement. </a:t>
            </a:r>
          </a:p>
        </p:txBody>
      </p:sp>
    </p:spTree>
    <p:extLst>
      <p:ext uri="{BB962C8B-B14F-4D97-AF65-F5344CB8AC3E}">
        <p14:creationId xmlns:p14="http://schemas.microsoft.com/office/powerpoint/2010/main" val="28665972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3067452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4001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0950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"SELECT * FROM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3726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"SELECT * FROM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782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193899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"SELECT * FROM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}</a:t>
            </a:r>
          </a:p>
        </p:txBody>
      </p:sp>
    </p:spTree>
    <p:extLst>
      <p:ext uri="{BB962C8B-B14F-4D97-AF65-F5344CB8AC3E}">
        <p14:creationId xmlns:p14="http://schemas.microsoft.com/office/powerpoint/2010/main" val="31840660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22467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"SELECT * FROM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id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("id")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}</a:t>
            </a:r>
          </a:p>
        </p:txBody>
      </p:sp>
    </p:spTree>
    <p:extLst>
      <p:ext uri="{BB962C8B-B14F-4D97-AF65-F5344CB8AC3E}">
        <p14:creationId xmlns:p14="http://schemas.microsoft.com/office/powerpoint/2010/main" val="36956409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25545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"SELECT * FROM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id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("id")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("name")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}</a:t>
            </a:r>
          </a:p>
        </p:txBody>
      </p:sp>
    </p:spTree>
    <p:extLst>
      <p:ext uri="{BB962C8B-B14F-4D97-AF65-F5344CB8AC3E}">
        <p14:creationId xmlns:p14="http://schemas.microsoft.com/office/powerpoint/2010/main" val="18728066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"SELECT * FROM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id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("id")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("name")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("age")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}</a:t>
            </a:r>
          </a:p>
        </p:txBody>
      </p:sp>
    </p:spTree>
    <p:extLst>
      <p:ext uri="{BB962C8B-B14F-4D97-AF65-F5344CB8AC3E}">
        <p14:creationId xmlns:p14="http://schemas.microsoft.com/office/powerpoint/2010/main" val="2815012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per eseguire una query SELECT: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247225"/>
            <a:ext cx="10932300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"SELECT * FROM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id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("id")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("name")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("age")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("ID: " + id + 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Name: " + name + 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Age: " + age)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161285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Se invece devi eseguire una query INSERT, UPDATE o DELETE, utilizza il metodo </a:t>
            </a:r>
            <a:r>
              <a:rPr lang="it-IT" sz="3000" dirty="0" err="1"/>
              <a:t>executeUpdate</a:t>
            </a:r>
            <a:r>
              <a:rPr lang="it-IT" sz="3000" dirty="0"/>
              <a:t> della classe Statement: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5576109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Se invece devi eseguire una query INSERT, UPDATE o DELETE, utilizza il metodo </a:t>
            </a:r>
            <a:r>
              <a:rPr lang="it-IT" sz="3000" dirty="0" err="1"/>
              <a:t>executeUpdate</a:t>
            </a:r>
            <a:r>
              <a:rPr lang="it-IT" sz="3000" dirty="0"/>
              <a:t> della classe Statement: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876953"/>
            <a:ext cx="10932300" cy="4001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71864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Se invece devi eseguire una query INSERT, UPDATE o DELETE, utilizza il metodo </a:t>
            </a:r>
            <a:r>
              <a:rPr lang="it-IT" sz="3000" dirty="0" err="1"/>
              <a:t>executeUpdate</a:t>
            </a:r>
            <a:r>
              <a:rPr lang="it-IT" sz="3000" dirty="0"/>
              <a:t> della classe Statement: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876953"/>
            <a:ext cx="10932300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"INSERT INTO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(name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age) VALUES ('John'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30)"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0837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Se invece devi eseguire una query INSERT, UPDATE o DELETE, utilizza il metodo </a:t>
            </a:r>
            <a:r>
              <a:rPr lang="it-IT" sz="3000" dirty="0" err="1"/>
              <a:t>executeUpdate</a:t>
            </a:r>
            <a:r>
              <a:rPr lang="it-IT" sz="3000" dirty="0"/>
              <a:t> della classe Statement: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876953"/>
            <a:ext cx="10932300" cy="10156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"INSERT INTO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(name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age) VALUES ('John'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30)"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rowsInserted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stmt.executeUpdate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69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Se invece devi eseguire una query INSERT, UPDATE o DELETE, utilizza il metodo </a:t>
            </a:r>
            <a:r>
              <a:rPr lang="it-IT" sz="3000" dirty="0" err="1"/>
              <a:t>executeUpdate</a:t>
            </a:r>
            <a:r>
              <a:rPr lang="it-IT" sz="3000" dirty="0"/>
              <a:t> della classe Statement: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876953"/>
            <a:ext cx="10932300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"INSERT INTO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(name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age) VALUES ('John'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30)"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rowsInserted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stmt.executeUpdate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rowsInserted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"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(s)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5441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Se invece devi eseguire una query INSERT, UPDATE o DELETE, utilizza il metodo </a:t>
            </a:r>
            <a:r>
              <a:rPr lang="it-IT" sz="3000" dirty="0" err="1"/>
              <a:t>executeUpdate</a:t>
            </a:r>
            <a:r>
              <a:rPr lang="it-IT" sz="3000" dirty="0"/>
              <a:t> della classe Statement: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876953"/>
            <a:ext cx="10932300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"INSERT INTO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(name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age) VALUES ('John'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30)"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rowsInserted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stmt.executeUpdate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rowsInserted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"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(s)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3B462B-E30F-07C1-0B62-4801BE624291}"/>
              </a:ext>
            </a:extLst>
          </p:cNvPr>
          <p:cNvSpPr txBox="1"/>
          <p:nvPr/>
        </p:nvSpPr>
        <p:spPr>
          <a:xfrm>
            <a:off x="402809" y="4340185"/>
            <a:ext cx="110204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Ricorda di chiudere la connessione una volta che hai finito di utilizzare il database:</a:t>
            </a:r>
          </a:p>
        </p:txBody>
      </p:sp>
    </p:spTree>
    <p:extLst>
      <p:ext uri="{BB962C8B-B14F-4D97-AF65-F5344CB8AC3E}">
        <p14:creationId xmlns:p14="http://schemas.microsoft.com/office/powerpoint/2010/main" val="8039692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1F72E1-8CDF-2573-39FD-6781190018C6}"/>
              </a:ext>
            </a:extLst>
          </p:cNvPr>
          <p:cNvSpPr txBox="1"/>
          <p:nvPr/>
        </p:nvSpPr>
        <p:spPr>
          <a:xfrm>
            <a:off x="402809" y="1721497"/>
            <a:ext cx="111085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5. Se invece devi eseguire una query INSERT, UPDATE o DELETE, utilizza il metodo </a:t>
            </a:r>
            <a:r>
              <a:rPr lang="it-IT" sz="3000" dirty="0" err="1"/>
              <a:t>executeUpdate</a:t>
            </a:r>
            <a:r>
              <a:rPr lang="it-IT" sz="3000" dirty="0"/>
              <a:t> della classe Statement:</a:t>
            </a:r>
            <a:endParaRPr lang="it-IT" sz="30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490927" y="2876953"/>
            <a:ext cx="10932300" cy="13234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Statement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"INSERT INTO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(name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age) VALUES ('John'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30)"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rowsInserted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stmt.executeUpdate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rowsInserted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"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(s) </a:t>
            </a:r>
            <a:r>
              <a:rPr lang="it-IT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inserted</a:t>
            </a:r>
            <a:r>
              <a:rPr lang="it-IT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it-IT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3B462B-E30F-07C1-0B62-4801BE624291}"/>
              </a:ext>
            </a:extLst>
          </p:cNvPr>
          <p:cNvSpPr txBox="1"/>
          <p:nvPr/>
        </p:nvSpPr>
        <p:spPr>
          <a:xfrm>
            <a:off x="402809" y="4340185"/>
            <a:ext cx="110204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6. Ricorda di chiudere la connessione una volta che hai finito di utilizzare il database: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B21D2D7-C7D7-AACB-CB2F-8BFC1572BC2F}"/>
              </a:ext>
            </a:extLst>
          </p:cNvPr>
          <p:cNvSpPr txBox="1"/>
          <p:nvPr/>
        </p:nvSpPr>
        <p:spPr>
          <a:xfrm>
            <a:off x="490927" y="5434085"/>
            <a:ext cx="10932300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conn.close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4271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9611B72-C7F9-2577-1158-2386E154C7D3}"/>
              </a:ext>
            </a:extLst>
          </p:cNvPr>
          <p:cNvSpPr txBox="1"/>
          <p:nvPr/>
        </p:nvSpPr>
        <p:spPr>
          <a:xfrm>
            <a:off x="282039" y="939075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pic>
        <p:nvPicPr>
          <p:cNvPr id="11" name="Picture 2" descr="Java Logo, symbol, meaning, history, PNG, brand">
            <a:extLst>
              <a:ext uri="{FF2B5EF4-FFF2-40B4-BE49-F238E27FC236}">
                <a16:creationId xmlns:a16="http://schemas.microsoft.com/office/drawing/2014/main" id="{32672151-7D10-7A24-55CA-1BE17C32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5A8B4BA-17D5-0674-5713-C5D54F0E18A6}"/>
              </a:ext>
            </a:extLst>
          </p:cNvPr>
          <p:cNvSpPr txBox="1"/>
          <p:nvPr/>
        </p:nvSpPr>
        <p:spPr>
          <a:xfrm>
            <a:off x="609011" y="2162877"/>
            <a:ext cx="111085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000" dirty="0"/>
              <a:t>Ti mostrerò ora un esempio completo di utilizzo di JDBC per accedere a un database MySQL </a:t>
            </a:r>
            <a:br>
              <a:rPr lang="it-IT" sz="3000" dirty="0"/>
            </a:br>
            <a:r>
              <a:rPr lang="it-IT" sz="3000" dirty="0"/>
              <a:t>Lo mostrerò man mano per consentirti di seguire il flusso del codice e commenterò passo </a:t>
            </a:r>
            <a:r>
              <a:rPr lang="it-IT" sz="3000" dirty="0" err="1"/>
              <a:t>passo</a:t>
            </a:r>
            <a:r>
              <a:rPr lang="it-IT" sz="3000" dirty="0"/>
              <a:t> riga </a:t>
            </a:r>
            <a:r>
              <a:rPr lang="it-IT" sz="3000" dirty="0" err="1"/>
              <a:t>riga</a:t>
            </a:r>
            <a:endParaRPr lang="it-IT" sz="3000" dirty="0"/>
          </a:p>
        </p:txBody>
      </p:sp>
    </p:spTree>
    <p:extLst>
      <p:ext uri="{BB962C8B-B14F-4D97-AF65-F5344CB8AC3E}">
        <p14:creationId xmlns:p14="http://schemas.microsoft.com/office/powerpoint/2010/main" val="377346272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76701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2462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97302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4001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74895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5539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49588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7078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82576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8617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14753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1785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8843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1785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8911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22467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90514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25545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40429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5391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78466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34778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68550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39395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 oggetto Statement per eseguire le query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Statement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2589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42473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 oggetto Statement per eseguire le query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Statement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stringa contenente la query SQL da eseguire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69435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455509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 oggetto Statement per eseguire le query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Statement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stringa contenente la query SQL da eseguire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Esegue la query sul database e ottiene il risultato in un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9255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53245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 oggetto Statement per eseguire le query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Statement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stringa contenente la query SQL da eseguire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Esegue la query sul database e ottiene il risultato in un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Itera sul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 stampa i risultati ottenuti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80991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57861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 oggetto Statement per eseguire le query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Statement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stringa contenente la query SQL da eseguire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Esegue la query sul database e ottiene il risultato in un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Itera sul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 stampa i risultati ottenuti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id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id +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Name: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name +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Age: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age)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83672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60939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 oggetto Statement per eseguire le query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Statement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stringa contenente la query SQL da eseguire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Esegue la query sul database e ottiene il risultato in un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Itera sul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 stampa i risultati ottenuti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id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id +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Name: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name +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Age: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age)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Chiude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conn.close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03595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0A3C28-9442-27C8-6F76-AF6B37045AB5}"/>
              </a:ext>
            </a:extLst>
          </p:cNvPr>
          <p:cNvSpPr txBox="1"/>
          <p:nvPr/>
        </p:nvSpPr>
        <p:spPr>
          <a:xfrm>
            <a:off x="3894108" y="467234"/>
            <a:ext cx="7164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MySQL</a:t>
            </a:r>
          </a:p>
          <a:p>
            <a:endParaRPr lang="it-IT" sz="3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4FE2F42-2B8B-1FEA-E1D5-B89DA21C1551}"/>
              </a:ext>
            </a:extLst>
          </p:cNvPr>
          <p:cNvSpPr txBox="1"/>
          <p:nvPr/>
        </p:nvSpPr>
        <p:spPr>
          <a:xfrm>
            <a:off x="1132936" y="397823"/>
            <a:ext cx="10932300" cy="640175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java.sql.Connection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Connection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java.sql.DriverManager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java.sql.Statement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Statement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java.sql.ResultSet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java.sql.SQLException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 la classe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dal package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java.sql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l'URL del database MySQL a cui si vuole connettersi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jdbc:mysql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://localhost:3306/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nome_database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il nome utente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Imposta la password per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connessione al database MySQL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Connection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DriverManager.getConnection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username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password)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 oggetto Statement per eseguire le query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Statement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conn.createStatement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 una stringa contenente la query SQL da eseguire sul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query =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lang="it-IT" sz="1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Esegue la query sul database e ottiene il risultato in un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stmt.executeQuery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(query)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Itera sul </a:t>
            </a:r>
            <a:r>
              <a:rPr lang="it-IT" sz="1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ResultSet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 stampa i risultati ottenuti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rs.next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id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rs.getString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age =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rs.getInt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id +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Name: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name + </a:t>
            </a:r>
            <a:r>
              <a:rPr lang="it-IT" sz="1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Age: "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age)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b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Chiude la connessione al database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conn.close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SQLException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e) {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Gestisce eventuali errori di connessione o query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sz="1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e.printStackTrace</a:t>
            </a:r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it-IT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sz="1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t-IT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E97697C-8A7A-70A3-E1A9-96B4D7E4019A}"/>
              </a:ext>
            </a:extLst>
          </p:cNvPr>
          <p:cNvSpPr txBox="1"/>
          <p:nvPr/>
        </p:nvSpPr>
        <p:spPr>
          <a:xfrm>
            <a:off x="8784678" y="397823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 standard importanti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512907-D610-B3AB-6CA5-6F4ACAC1F81E}"/>
              </a:ext>
            </a:extLst>
          </p:cNvPr>
          <p:cNvSpPr txBox="1"/>
          <p:nvPr/>
        </p:nvSpPr>
        <p:spPr>
          <a:xfrm>
            <a:off x="8784678" y="787289"/>
            <a:ext cx="3280558" cy="375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49580" algn="l"/>
              </a:tabLst>
            </a:pPr>
            <a:r>
              <a:rPr lang="it-IT" sz="1800" dirty="0"/>
              <a:t>Database</a:t>
            </a:r>
          </a:p>
        </p:txBody>
      </p:sp>
      <p:pic>
        <p:nvPicPr>
          <p:cNvPr id="6" name="Picture 2" descr="Java Logo, symbol, meaning, history, PNG, brand">
            <a:extLst>
              <a:ext uri="{FF2B5EF4-FFF2-40B4-BE49-F238E27FC236}">
                <a16:creationId xmlns:a16="http://schemas.microsoft.com/office/drawing/2014/main" id="{BBF34807-D8CB-82A1-1339-CFE8C3058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2936" cy="63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6025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121</vt:i4>
      </vt:variant>
    </vt:vector>
  </HeadingPairs>
  <TitlesOfParts>
    <vt:vector size="123" baseType="lpstr">
      <vt:lpstr>Tema di Office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>Vincenzo Piccolo</cp:lastModifiedBy>
  <cp:revision>39</cp:revision>
  <dcterms:created xsi:type="dcterms:W3CDTF">2023-08-23T12:51:20Z</dcterms:created>
  <dcterms:modified xsi:type="dcterms:W3CDTF">2026-03-31T07:58:37Z</dcterms:modified>
</cp:coreProperties>
</file>