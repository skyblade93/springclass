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352" r:id="rId3"/>
    <p:sldId id="351" r:id="rId4"/>
    <p:sldId id="350" r:id="rId5"/>
    <p:sldId id="349" r:id="rId6"/>
    <p:sldId id="348" r:id="rId7"/>
    <p:sldId id="347" r:id="rId8"/>
    <p:sldId id="346" r:id="rId9"/>
    <p:sldId id="345" r:id="rId10"/>
    <p:sldId id="344" r:id="rId11"/>
    <p:sldId id="343" r:id="rId12"/>
    <p:sldId id="342" r:id="rId13"/>
    <p:sldId id="341" r:id="rId14"/>
    <p:sldId id="340" r:id="rId15"/>
    <p:sldId id="339" r:id="rId16"/>
    <p:sldId id="338" r:id="rId17"/>
    <p:sldId id="337" r:id="rId18"/>
    <p:sldId id="336" r:id="rId19"/>
    <p:sldId id="335" r:id="rId20"/>
    <p:sldId id="334" r:id="rId21"/>
    <p:sldId id="333" r:id="rId22"/>
    <p:sldId id="332" r:id="rId23"/>
    <p:sldId id="331" r:id="rId24"/>
    <p:sldId id="330" r:id="rId25"/>
    <p:sldId id="329" r:id="rId26"/>
    <p:sldId id="328" r:id="rId27"/>
    <p:sldId id="327" r:id="rId28"/>
    <p:sldId id="326" r:id="rId29"/>
    <p:sldId id="325" r:id="rId30"/>
    <p:sldId id="324" r:id="rId31"/>
    <p:sldId id="323" r:id="rId32"/>
    <p:sldId id="322" r:id="rId33"/>
    <p:sldId id="321" r:id="rId34"/>
    <p:sldId id="320" r:id="rId35"/>
    <p:sldId id="319" r:id="rId36"/>
    <p:sldId id="318" r:id="rId37"/>
    <p:sldId id="317" r:id="rId38"/>
    <p:sldId id="316" r:id="rId39"/>
    <p:sldId id="315" r:id="rId40"/>
    <p:sldId id="314" r:id="rId41"/>
    <p:sldId id="313" r:id="rId42"/>
    <p:sldId id="312" r:id="rId43"/>
    <p:sldId id="311" r:id="rId44"/>
    <p:sldId id="310" r:id="rId45"/>
    <p:sldId id="309" r:id="rId46"/>
    <p:sldId id="308" r:id="rId47"/>
    <p:sldId id="307" r:id="rId48"/>
    <p:sldId id="306" r:id="rId49"/>
    <p:sldId id="305" r:id="rId50"/>
    <p:sldId id="304" r:id="rId51"/>
    <p:sldId id="303" r:id="rId52"/>
    <p:sldId id="302" r:id="rId53"/>
    <p:sldId id="301" r:id="rId54"/>
    <p:sldId id="300" r:id="rId55"/>
    <p:sldId id="299" r:id="rId56"/>
    <p:sldId id="298" r:id="rId57"/>
    <p:sldId id="297" r:id="rId58"/>
    <p:sldId id="296" r:id="rId59"/>
    <p:sldId id="295" r:id="rId60"/>
    <p:sldId id="294" r:id="rId61"/>
    <p:sldId id="293" r:id="rId62"/>
    <p:sldId id="292" r:id="rId63"/>
    <p:sldId id="291" r:id="rId64"/>
    <p:sldId id="290" r:id="rId65"/>
    <p:sldId id="289" r:id="rId66"/>
    <p:sldId id="288" r:id="rId67"/>
    <p:sldId id="287" r:id="rId68"/>
    <p:sldId id="286" r:id="rId69"/>
    <p:sldId id="285" r:id="rId70"/>
    <p:sldId id="284" r:id="rId71"/>
    <p:sldId id="283" r:id="rId72"/>
    <p:sldId id="282" r:id="rId73"/>
    <p:sldId id="281" r:id="rId74"/>
    <p:sldId id="280" r:id="rId75"/>
    <p:sldId id="279" r:id="rId76"/>
    <p:sldId id="278" r:id="rId77"/>
    <p:sldId id="277" r:id="rId78"/>
    <p:sldId id="276" r:id="rId79"/>
    <p:sldId id="275" r:id="rId80"/>
    <p:sldId id="274" r:id="rId81"/>
    <p:sldId id="273" r:id="rId82"/>
    <p:sldId id="272" r:id="rId83"/>
    <p:sldId id="271" r:id="rId84"/>
    <p:sldId id="270" r:id="rId85"/>
    <p:sldId id="269" r:id="rId86"/>
    <p:sldId id="268" r:id="rId87"/>
    <p:sldId id="267" r:id="rId88"/>
    <p:sldId id="266" r:id="rId89"/>
    <p:sldId id="265" r:id="rId90"/>
    <p:sldId id="264" r:id="rId91"/>
    <p:sldId id="263" r:id="rId92"/>
    <p:sldId id="262" r:id="rId93"/>
    <p:sldId id="261" r:id="rId94"/>
    <p:sldId id="260" r:id="rId95"/>
    <p:sldId id="259" r:id="rId96"/>
    <p:sldId id="258" r:id="rId97"/>
    <p:sldId id="257" r:id="rId9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31.03.2026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31.03.2026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31.03.2026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31.03.2026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31.03.2026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31.03.2026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31.03.2026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31.03.2026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31.03.2026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31.03.2026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31.03.2026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11C66A-B0C1-7866-3D26-29AECA7A6CF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7513622-0E25-D27C-B56E-5F02BBA3D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E2AB8D-2E87-1D80-7E8E-3DE87022B9A1}"/>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5" name="Segnaposto piè di pagina 4">
            <a:extLst>
              <a:ext uri="{FF2B5EF4-FFF2-40B4-BE49-F238E27FC236}">
                <a16:creationId xmlns:a16="http://schemas.microsoft.com/office/drawing/2014/main" id="{D62B23E6-7AFC-4519-0F56-4D06D921BB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63B3F3-8769-6F7B-FEC4-E10F0FE31C83}"/>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71739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21C64-FA1E-8945-57BB-EBC9F3E1DD6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CB6B06-E4BA-9CD5-43D5-284D5EDD065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5CF074-0183-72A1-EE86-ABF9592357C5}"/>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5" name="Segnaposto piè di pagina 4">
            <a:extLst>
              <a:ext uri="{FF2B5EF4-FFF2-40B4-BE49-F238E27FC236}">
                <a16:creationId xmlns:a16="http://schemas.microsoft.com/office/drawing/2014/main" id="{D9E18A0C-6FEE-0DF4-2E3A-F5D511F73F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3F2827-C529-23AA-BC3A-F718C734B0A2}"/>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290994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51AFE0-CE1F-1BBB-A8FE-5E1A6C7E588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741322-2136-BE73-F3C9-0284E9DAF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BDD83E5-9853-A50D-DDB7-885BB5BF4BD2}"/>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5" name="Segnaposto piè di pagina 4">
            <a:extLst>
              <a:ext uri="{FF2B5EF4-FFF2-40B4-BE49-F238E27FC236}">
                <a16:creationId xmlns:a16="http://schemas.microsoft.com/office/drawing/2014/main" id="{4FAF9313-012B-2107-BDB1-0747BBFD9EA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328B51-437C-79F8-8CFB-E006BB22D92C}"/>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906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7C9E0E-AECB-76B4-49AE-55C0CA0D809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10DFC74-D8BF-9633-822B-5F67DF39F4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FDC73C3-2A05-3BA7-ED76-8C3A440C64D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9BABA24-DFE1-C1D0-9FD3-E5DF735A66AB}"/>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6" name="Segnaposto piè di pagina 5">
            <a:extLst>
              <a:ext uri="{FF2B5EF4-FFF2-40B4-BE49-F238E27FC236}">
                <a16:creationId xmlns:a16="http://schemas.microsoft.com/office/drawing/2014/main" id="{3FBD9E49-CECE-11E5-EFC3-DDAF5BAF4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7BBD9B3-F778-65E1-B3FA-7CE80C14C04D}"/>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32751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CB617-15AE-8FD2-B0E4-E7070FEA31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19AF32-390E-819A-1ECC-D7674C291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B382BC5-E1AD-497C-F3C2-9D4C28310B5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52B836-AF71-CDB6-F5B1-C1E212BD5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1442CC-FB1A-9FDF-6250-16AA2595201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80F8DA9-22EC-0D6F-3B5B-177D038C6E51}"/>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8" name="Segnaposto piè di pagina 7">
            <a:extLst>
              <a:ext uri="{FF2B5EF4-FFF2-40B4-BE49-F238E27FC236}">
                <a16:creationId xmlns:a16="http://schemas.microsoft.com/office/drawing/2014/main" id="{B1F7D1D5-6548-F064-1853-A99AC1A5A95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B1C4147-34A9-F254-CD97-8B0B0D46D8B6}"/>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57400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B8F660-5FAB-0706-57FD-238F9379405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7EF1B78-C137-31EE-411A-63CA9B68B399}"/>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4" name="Segnaposto piè di pagina 3">
            <a:extLst>
              <a:ext uri="{FF2B5EF4-FFF2-40B4-BE49-F238E27FC236}">
                <a16:creationId xmlns:a16="http://schemas.microsoft.com/office/drawing/2014/main" id="{D720C33A-D9F8-230E-80BC-6070D64DBCA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A75A252-4F7E-A574-BBD5-74949925ACC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115296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6BC536-F4B2-4D94-2664-04549F9E05C7}"/>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3" name="Segnaposto piè di pagina 2">
            <a:extLst>
              <a:ext uri="{FF2B5EF4-FFF2-40B4-BE49-F238E27FC236}">
                <a16:creationId xmlns:a16="http://schemas.microsoft.com/office/drawing/2014/main" id="{EA31F2EE-89F2-DD90-BB32-DCE5120D4C9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FC5E6F0-EECD-8109-1050-8565F07B857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4062102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385FD8-40B9-A7D3-9A94-AFB291AF80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8B5F0B-1124-87FF-8AA1-C8DA6AF4F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2A423BB-4ABB-EEB4-698A-0F64E9E7E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AB0BC1E-CFE1-A594-B10A-A4217C7B8B93}"/>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6" name="Segnaposto piè di pagina 5">
            <a:extLst>
              <a:ext uri="{FF2B5EF4-FFF2-40B4-BE49-F238E27FC236}">
                <a16:creationId xmlns:a16="http://schemas.microsoft.com/office/drawing/2014/main" id="{E187E49F-C309-4CE2-0983-EC9545D596F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B5A6BA-A572-8243-E1E5-45059927DE6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87486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464F7-D228-FD5C-2FF0-6DC6C57473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92E35FA-4ADB-04E9-A265-7A03C96AE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B6AE28-8F09-9536-754B-E5A67D4FE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338B1BA-3048-6D75-DE88-45D778AB5A8E}"/>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6" name="Segnaposto piè di pagina 5">
            <a:extLst>
              <a:ext uri="{FF2B5EF4-FFF2-40B4-BE49-F238E27FC236}">
                <a16:creationId xmlns:a16="http://schemas.microsoft.com/office/drawing/2014/main" id="{9A8DA03E-2831-51FC-E3B4-1F2FABF215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DB1B3F-6E85-61CC-CA1A-FCA9E8222DC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304891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57F892-C827-07B1-CD90-33732AC5FC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AE4A31C-2935-1092-90D0-A666786B76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1052BA-2199-CFA1-5130-310ACF2BDD20}"/>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5" name="Segnaposto piè di pagina 4">
            <a:extLst>
              <a:ext uri="{FF2B5EF4-FFF2-40B4-BE49-F238E27FC236}">
                <a16:creationId xmlns:a16="http://schemas.microsoft.com/office/drawing/2014/main" id="{1050635D-C1B0-8120-0835-CED8BEA0C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3FD6E55-EF4D-9828-E631-F28B200AFBB0}"/>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658302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6BF5F9E-C47B-428B-8A8E-B7622BF357A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9440-E149-2460-5D3F-E36BEF0D787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7DAA5A2-B373-F6DA-51E6-235FDB47FE48}"/>
              </a:ext>
            </a:extLst>
          </p:cNvPr>
          <p:cNvSpPr>
            <a:spLocks noGrp="1"/>
          </p:cNvSpPr>
          <p:nvPr>
            <p:ph type="dt" sz="half" idx="10"/>
          </p:nvPr>
        </p:nvSpPr>
        <p:spPr/>
        <p:txBody>
          <a:bodyPr/>
          <a:lstStyle/>
          <a:p>
            <a:fld id="{734271AC-57B9-42F6-A82F-430D47D1FB54}" type="datetimeFigureOut">
              <a:rPr lang="it-IT" smtClean="0"/>
              <a:t>31/03/2026</a:t>
            </a:fld>
            <a:endParaRPr lang="it-IT"/>
          </a:p>
        </p:txBody>
      </p:sp>
      <p:sp>
        <p:nvSpPr>
          <p:cNvPr id="5" name="Segnaposto piè di pagina 4">
            <a:extLst>
              <a:ext uri="{FF2B5EF4-FFF2-40B4-BE49-F238E27FC236}">
                <a16:creationId xmlns:a16="http://schemas.microsoft.com/office/drawing/2014/main" id="{D322361F-5C91-3E41-62FD-1C2ED7A1BC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AA796F5-AFC0-B29F-0C3D-0AF29CAD4168}"/>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576324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A8E5F-40E5-4553-9F3C-699F1A5B8145}" type="datetimeFigureOut">
              <a:rPr lang="de-DE" smtClean="0"/>
              <a:t>31.03.2026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CB31383-5659-2940-236C-F9346E91B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67A1E06-4FB4-3F20-564F-4FA29D5A1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DBC1E01-19BC-CF30-A5B1-1974D7E58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271AC-57B9-42F6-A82F-430D47D1FB54}" type="datetimeFigureOut">
              <a:rPr lang="it-IT" smtClean="0"/>
              <a:t>31/03/2026</a:t>
            </a:fld>
            <a:endParaRPr lang="it-IT"/>
          </a:p>
        </p:txBody>
      </p:sp>
      <p:sp>
        <p:nvSpPr>
          <p:cNvPr id="5" name="Segnaposto piè di pagina 4">
            <a:extLst>
              <a:ext uri="{FF2B5EF4-FFF2-40B4-BE49-F238E27FC236}">
                <a16:creationId xmlns:a16="http://schemas.microsoft.com/office/drawing/2014/main" id="{B91BCDDF-DD4D-D38B-E8DE-90714829F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D5B9393-E55B-8C2C-7636-1010066DE2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7E2DB-F4FF-4776-8D08-CC7AA39C3F39}" type="slidenum">
              <a:rPr lang="it-IT" smtClean="0"/>
              <a:t>‹N›</a:t>
            </a:fld>
            <a:endParaRPr lang="it-IT"/>
          </a:p>
        </p:txBody>
      </p:sp>
    </p:spTree>
    <p:extLst>
      <p:ext uri="{BB962C8B-B14F-4D97-AF65-F5344CB8AC3E}">
        <p14:creationId xmlns:p14="http://schemas.microsoft.com/office/powerpoint/2010/main" val="424742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Gli Array, i </a:t>
            </a:r>
            <a:r>
              <a:rPr lang="it-IT" sz="3000" dirty="0" err="1"/>
              <a:t>Vector</a:t>
            </a:r>
            <a:r>
              <a:rPr lang="it-IT" sz="3000" dirty="0"/>
              <a:t>, gli </a:t>
            </a:r>
            <a:r>
              <a:rPr lang="it-IT" sz="3000" dirty="0" err="1"/>
              <a:t>ArrayList</a:t>
            </a:r>
            <a:endParaRPr lang="it-IT" sz="3000" dirty="0"/>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669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Tree>
    <p:extLst>
      <p:ext uri="{BB962C8B-B14F-4D97-AF65-F5344CB8AC3E}">
        <p14:creationId xmlns:p14="http://schemas.microsoft.com/office/powerpoint/2010/main" val="2544636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Tree>
    <p:extLst>
      <p:ext uri="{BB962C8B-B14F-4D97-AF65-F5344CB8AC3E}">
        <p14:creationId xmlns:p14="http://schemas.microsoft.com/office/powerpoint/2010/main" val="104689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646331"/>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p:txBody>
      </p:sp>
    </p:spTree>
    <p:extLst>
      <p:ext uri="{BB962C8B-B14F-4D97-AF65-F5344CB8AC3E}">
        <p14:creationId xmlns:p14="http://schemas.microsoft.com/office/powerpoint/2010/main" val="507821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Tree>
    <p:extLst>
      <p:ext uri="{BB962C8B-B14F-4D97-AF65-F5344CB8AC3E}">
        <p14:creationId xmlns:p14="http://schemas.microsoft.com/office/powerpoint/2010/main" val="230584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13" name="CasellaDiTesto 12">
            <a:extLst>
              <a:ext uri="{FF2B5EF4-FFF2-40B4-BE49-F238E27FC236}">
                <a16:creationId xmlns:a16="http://schemas.microsoft.com/office/drawing/2014/main" id="{C66C42A7-5239-0B22-83C1-8790C522EC0D}"/>
              </a:ext>
            </a:extLst>
          </p:cNvPr>
          <p:cNvSpPr txBox="1"/>
          <p:nvPr/>
        </p:nvSpPr>
        <p:spPr>
          <a:xfrm>
            <a:off x="282038" y="3434897"/>
            <a:ext cx="1146800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voti</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Tree>
    <p:extLst>
      <p:ext uri="{BB962C8B-B14F-4D97-AF65-F5344CB8AC3E}">
        <p14:creationId xmlns:p14="http://schemas.microsoft.com/office/powerpoint/2010/main" val="137518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13" name="CasellaDiTesto 12">
            <a:extLst>
              <a:ext uri="{FF2B5EF4-FFF2-40B4-BE49-F238E27FC236}">
                <a16:creationId xmlns:a16="http://schemas.microsoft.com/office/drawing/2014/main" id="{C66C42A7-5239-0B22-83C1-8790C522EC0D}"/>
              </a:ext>
            </a:extLst>
          </p:cNvPr>
          <p:cNvSpPr txBox="1"/>
          <p:nvPr/>
        </p:nvSpPr>
        <p:spPr>
          <a:xfrm>
            <a:off x="282038" y="3434897"/>
            <a:ext cx="1146800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voti</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8" name="CasellaDiTesto 17">
            <a:extLst>
              <a:ext uri="{FF2B5EF4-FFF2-40B4-BE49-F238E27FC236}">
                <a16:creationId xmlns:a16="http://schemas.microsoft.com/office/drawing/2014/main" id="{00B13B60-A349-31B9-C669-6BA0CA697665}"/>
              </a:ext>
            </a:extLst>
          </p:cNvPr>
          <p:cNvSpPr txBox="1"/>
          <p:nvPr/>
        </p:nvSpPr>
        <p:spPr>
          <a:xfrm>
            <a:off x="282038" y="3988896"/>
            <a:ext cx="11468002" cy="36933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voti = new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[5]</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Tree>
    <p:extLst>
      <p:ext uri="{BB962C8B-B14F-4D97-AF65-F5344CB8AC3E}">
        <p14:creationId xmlns:p14="http://schemas.microsoft.com/office/powerpoint/2010/main" val="1823602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13" name="CasellaDiTesto 12">
            <a:extLst>
              <a:ext uri="{FF2B5EF4-FFF2-40B4-BE49-F238E27FC236}">
                <a16:creationId xmlns:a16="http://schemas.microsoft.com/office/drawing/2014/main" id="{C66C42A7-5239-0B22-83C1-8790C522EC0D}"/>
              </a:ext>
            </a:extLst>
          </p:cNvPr>
          <p:cNvSpPr txBox="1"/>
          <p:nvPr/>
        </p:nvSpPr>
        <p:spPr>
          <a:xfrm>
            <a:off x="282038" y="3434897"/>
            <a:ext cx="1146800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voti</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8" name="CasellaDiTesto 17">
            <a:extLst>
              <a:ext uri="{FF2B5EF4-FFF2-40B4-BE49-F238E27FC236}">
                <a16:creationId xmlns:a16="http://schemas.microsoft.com/office/drawing/2014/main" id="{00B13B60-A349-31B9-C669-6BA0CA697665}"/>
              </a:ext>
            </a:extLst>
          </p:cNvPr>
          <p:cNvSpPr txBox="1"/>
          <p:nvPr/>
        </p:nvSpPr>
        <p:spPr>
          <a:xfrm>
            <a:off x="282038" y="3988896"/>
            <a:ext cx="11468002" cy="36933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voti = new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[5]</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20" name="CasellaDiTesto 19">
            <a:extLst>
              <a:ext uri="{FF2B5EF4-FFF2-40B4-BE49-F238E27FC236}">
                <a16:creationId xmlns:a16="http://schemas.microsoft.com/office/drawing/2014/main" id="{B05EB8DC-A9FF-0766-CD56-6EC8BDF006ED}"/>
              </a:ext>
            </a:extLst>
          </p:cNvPr>
          <p:cNvSpPr txBox="1"/>
          <p:nvPr/>
        </p:nvSpPr>
        <p:spPr>
          <a:xfrm>
            <a:off x="282039" y="4444371"/>
            <a:ext cx="11468002" cy="369332"/>
          </a:xfrm>
          <a:prstGeom prst="rect">
            <a:avLst/>
          </a:prstGeom>
          <a:noFill/>
        </p:spPr>
        <p:txBody>
          <a:bodyPr wrap="square">
            <a:spAutoFit/>
          </a:bodyPr>
          <a:lstStyle/>
          <a:p>
            <a:r>
              <a:rPr lang="it-IT" dirty="0"/>
              <a:t>In questo modo, l'array "voti" conterrà 5 elementi, tutti inizializzati con il valore 0.</a:t>
            </a: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Tree>
    <p:extLst>
      <p:ext uri="{BB962C8B-B14F-4D97-AF65-F5344CB8AC3E}">
        <p14:creationId xmlns:p14="http://schemas.microsoft.com/office/powerpoint/2010/main" val="383557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13" name="CasellaDiTesto 12">
            <a:extLst>
              <a:ext uri="{FF2B5EF4-FFF2-40B4-BE49-F238E27FC236}">
                <a16:creationId xmlns:a16="http://schemas.microsoft.com/office/drawing/2014/main" id="{C66C42A7-5239-0B22-83C1-8790C522EC0D}"/>
              </a:ext>
            </a:extLst>
          </p:cNvPr>
          <p:cNvSpPr txBox="1"/>
          <p:nvPr/>
        </p:nvSpPr>
        <p:spPr>
          <a:xfrm>
            <a:off x="282038" y="3434897"/>
            <a:ext cx="1146800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voti</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8" name="CasellaDiTesto 17">
            <a:extLst>
              <a:ext uri="{FF2B5EF4-FFF2-40B4-BE49-F238E27FC236}">
                <a16:creationId xmlns:a16="http://schemas.microsoft.com/office/drawing/2014/main" id="{00B13B60-A349-31B9-C669-6BA0CA697665}"/>
              </a:ext>
            </a:extLst>
          </p:cNvPr>
          <p:cNvSpPr txBox="1"/>
          <p:nvPr/>
        </p:nvSpPr>
        <p:spPr>
          <a:xfrm>
            <a:off x="282038" y="3988896"/>
            <a:ext cx="11468002" cy="36933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voti = new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[5]</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20" name="CasellaDiTesto 19">
            <a:extLst>
              <a:ext uri="{FF2B5EF4-FFF2-40B4-BE49-F238E27FC236}">
                <a16:creationId xmlns:a16="http://schemas.microsoft.com/office/drawing/2014/main" id="{B05EB8DC-A9FF-0766-CD56-6EC8BDF006ED}"/>
              </a:ext>
            </a:extLst>
          </p:cNvPr>
          <p:cNvSpPr txBox="1"/>
          <p:nvPr/>
        </p:nvSpPr>
        <p:spPr>
          <a:xfrm>
            <a:off x="282039" y="4444371"/>
            <a:ext cx="11468002" cy="923330"/>
          </a:xfrm>
          <a:prstGeom prst="rect">
            <a:avLst/>
          </a:prstGeom>
          <a:noFill/>
        </p:spPr>
        <p:txBody>
          <a:bodyPr wrap="square">
            <a:spAutoFit/>
          </a:bodyPr>
          <a:lstStyle/>
          <a:p>
            <a:r>
              <a:rPr lang="it-IT" dirty="0"/>
              <a:t>In questo modo, l'array "voti" conterrà 5 elementi, tutti inizializzati con il valore 0.</a:t>
            </a:r>
          </a:p>
          <a:p>
            <a:endParaRPr lang="it-IT" dirty="0"/>
          </a:p>
          <a:p>
            <a:r>
              <a:rPr lang="it-IT" dirty="0"/>
              <a:t>Per accedere agli elementi dell'array, si utilizza l'indice dell'elemento desiderato racchiuso tra parentesi quadre. </a:t>
            </a: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Tree>
    <p:extLst>
      <p:ext uri="{BB962C8B-B14F-4D97-AF65-F5344CB8AC3E}">
        <p14:creationId xmlns:p14="http://schemas.microsoft.com/office/powerpoint/2010/main" val="1109639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13" name="CasellaDiTesto 12">
            <a:extLst>
              <a:ext uri="{FF2B5EF4-FFF2-40B4-BE49-F238E27FC236}">
                <a16:creationId xmlns:a16="http://schemas.microsoft.com/office/drawing/2014/main" id="{C66C42A7-5239-0B22-83C1-8790C522EC0D}"/>
              </a:ext>
            </a:extLst>
          </p:cNvPr>
          <p:cNvSpPr txBox="1"/>
          <p:nvPr/>
        </p:nvSpPr>
        <p:spPr>
          <a:xfrm>
            <a:off x="282038" y="3434897"/>
            <a:ext cx="1146800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voti</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8" name="CasellaDiTesto 17">
            <a:extLst>
              <a:ext uri="{FF2B5EF4-FFF2-40B4-BE49-F238E27FC236}">
                <a16:creationId xmlns:a16="http://schemas.microsoft.com/office/drawing/2014/main" id="{00B13B60-A349-31B9-C669-6BA0CA697665}"/>
              </a:ext>
            </a:extLst>
          </p:cNvPr>
          <p:cNvSpPr txBox="1"/>
          <p:nvPr/>
        </p:nvSpPr>
        <p:spPr>
          <a:xfrm>
            <a:off x="282038" y="3988896"/>
            <a:ext cx="11468002" cy="36933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voti = new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[5]</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20" name="CasellaDiTesto 19">
            <a:extLst>
              <a:ext uri="{FF2B5EF4-FFF2-40B4-BE49-F238E27FC236}">
                <a16:creationId xmlns:a16="http://schemas.microsoft.com/office/drawing/2014/main" id="{B05EB8DC-A9FF-0766-CD56-6EC8BDF006ED}"/>
              </a:ext>
            </a:extLst>
          </p:cNvPr>
          <p:cNvSpPr txBox="1"/>
          <p:nvPr/>
        </p:nvSpPr>
        <p:spPr>
          <a:xfrm>
            <a:off x="282039" y="4444371"/>
            <a:ext cx="11468002" cy="1477328"/>
          </a:xfrm>
          <a:prstGeom prst="rect">
            <a:avLst/>
          </a:prstGeom>
          <a:noFill/>
        </p:spPr>
        <p:txBody>
          <a:bodyPr wrap="square">
            <a:spAutoFit/>
          </a:bodyPr>
          <a:lstStyle/>
          <a:p>
            <a:r>
              <a:rPr lang="it-IT" dirty="0"/>
              <a:t>In questo modo, l'array "voti" conterrà 5 elementi, tutti inizializzati con il valore 0.</a:t>
            </a:r>
          </a:p>
          <a:p>
            <a:endParaRPr lang="it-IT" dirty="0"/>
          </a:p>
          <a:p>
            <a:r>
              <a:rPr lang="it-IT" dirty="0"/>
              <a:t>Per accedere agli elementi dell'array, si utilizza l'indice dell'elemento desiderato racchiuso tra parentesi quadre. L'indice del primo elemento dell'array è 0, il secondo elemento ha indice 1, e così via. Ad esempio, per assegnare il voto 24 al primo studente, si scrive:</a:t>
            </a: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Tree>
    <p:extLst>
      <p:ext uri="{BB962C8B-B14F-4D97-AF65-F5344CB8AC3E}">
        <p14:creationId xmlns:p14="http://schemas.microsoft.com/office/powerpoint/2010/main" val="319955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646331"/>
          </a:xfrm>
          <a:prstGeom prst="rect">
            <a:avLst/>
          </a:prstGeom>
          <a:noFill/>
        </p:spPr>
        <p:txBody>
          <a:bodyPr wrap="square">
            <a:spAutoFit/>
          </a:bodyPr>
          <a:lstStyle/>
          <a:p>
            <a:r>
              <a:rPr lang="it-IT" dirty="0"/>
              <a:t>In Java, un array è una struttura dati che può contenere un insieme di valori dello stesso tipo.</a:t>
            </a:r>
          </a:p>
        </p:txBody>
      </p:sp>
      <p:sp>
        <p:nvSpPr>
          <p:cNvPr id="13" name="CasellaDiTesto 12">
            <a:extLst>
              <a:ext uri="{FF2B5EF4-FFF2-40B4-BE49-F238E27FC236}">
                <a16:creationId xmlns:a16="http://schemas.microsoft.com/office/drawing/2014/main" id="{C66C42A7-5239-0B22-83C1-8790C522EC0D}"/>
              </a:ext>
            </a:extLst>
          </p:cNvPr>
          <p:cNvSpPr txBox="1"/>
          <p:nvPr/>
        </p:nvSpPr>
        <p:spPr>
          <a:xfrm>
            <a:off x="282038" y="3434897"/>
            <a:ext cx="1146800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voti</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8" name="CasellaDiTesto 17">
            <a:extLst>
              <a:ext uri="{FF2B5EF4-FFF2-40B4-BE49-F238E27FC236}">
                <a16:creationId xmlns:a16="http://schemas.microsoft.com/office/drawing/2014/main" id="{00B13B60-A349-31B9-C669-6BA0CA697665}"/>
              </a:ext>
            </a:extLst>
          </p:cNvPr>
          <p:cNvSpPr txBox="1"/>
          <p:nvPr/>
        </p:nvSpPr>
        <p:spPr>
          <a:xfrm>
            <a:off x="282038" y="3988896"/>
            <a:ext cx="11468002" cy="36933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voti = new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[5]</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20" name="CasellaDiTesto 19">
            <a:extLst>
              <a:ext uri="{FF2B5EF4-FFF2-40B4-BE49-F238E27FC236}">
                <a16:creationId xmlns:a16="http://schemas.microsoft.com/office/drawing/2014/main" id="{B05EB8DC-A9FF-0766-CD56-6EC8BDF006ED}"/>
              </a:ext>
            </a:extLst>
          </p:cNvPr>
          <p:cNvSpPr txBox="1"/>
          <p:nvPr/>
        </p:nvSpPr>
        <p:spPr>
          <a:xfrm>
            <a:off x="282039" y="4444371"/>
            <a:ext cx="11468002" cy="1477328"/>
          </a:xfrm>
          <a:prstGeom prst="rect">
            <a:avLst/>
          </a:prstGeom>
          <a:noFill/>
        </p:spPr>
        <p:txBody>
          <a:bodyPr wrap="square">
            <a:spAutoFit/>
          </a:bodyPr>
          <a:lstStyle/>
          <a:p>
            <a:r>
              <a:rPr lang="it-IT" dirty="0"/>
              <a:t>In questo modo, l'array "voti" conterrà 5 elementi, tutti inizializzati con il valore 0.</a:t>
            </a:r>
          </a:p>
          <a:p>
            <a:endParaRPr lang="it-IT" dirty="0"/>
          </a:p>
          <a:p>
            <a:r>
              <a:rPr lang="it-IT" dirty="0"/>
              <a:t>Per accedere agli elementi dell'array, si utilizza l'indice dell'elemento desiderato racchiuso tra parentesi quadre. L'indice del primo elemento dell'array è 0, il secondo elemento ha indice 1, e così via. Ad esempio, per assegnare il voto 24 al primo studente, si scrive:</a:t>
            </a:r>
          </a:p>
        </p:txBody>
      </p:sp>
      <p:sp>
        <p:nvSpPr>
          <p:cNvPr id="22" name="CasellaDiTesto 21">
            <a:extLst>
              <a:ext uri="{FF2B5EF4-FFF2-40B4-BE49-F238E27FC236}">
                <a16:creationId xmlns:a16="http://schemas.microsoft.com/office/drawing/2014/main" id="{A85176F5-DFB7-A2E8-FE9F-D0F054787F9E}"/>
              </a:ext>
            </a:extLst>
          </p:cNvPr>
          <p:cNvSpPr txBox="1"/>
          <p:nvPr/>
        </p:nvSpPr>
        <p:spPr>
          <a:xfrm>
            <a:off x="282038" y="1869911"/>
            <a:ext cx="11589921" cy="1477328"/>
          </a:xfrm>
          <a:prstGeom prst="rect">
            <a:avLst/>
          </a:prstGeom>
          <a:noFill/>
        </p:spPr>
        <p:txBody>
          <a:bodyPr wrap="square">
            <a:spAutoFit/>
          </a:bodyPr>
          <a:lstStyle/>
          <a:p>
            <a:r>
              <a:rPr lang="it-IT" dirty="0"/>
              <a:t>Ad esempio, se volessimo memorizzare i voti di un esame per ogni studente, potremmo creare un array di numeri interi per contenere i voti.</a:t>
            </a:r>
          </a:p>
          <a:p>
            <a:endParaRPr lang="it-IT" dirty="0"/>
          </a:p>
          <a:p>
            <a:r>
              <a:rPr lang="it-IT" dirty="0"/>
              <a:t>Per dichiarare un array in Java, si specifica il tipo di dato degli elementi dell'array, seguito dal nome dell'array e dalle parentesi quadre. Ad esempio, per dichiarare un array di interi chiamato "voti", si scrive:</a:t>
            </a:r>
          </a:p>
        </p:txBody>
      </p:sp>
      <p:sp>
        <p:nvSpPr>
          <p:cNvPr id="24" name="CasellaDiTesto 23">
            <a:extLst>
              <a:ext uri="{FF2B5EF4-FFF2-40B4-BE49-F238E27FC236}">
                <a16:creationId xmlns:a16="http://schemas.microsoft.com/office/drawing/2014/main" id="{DAEBA05D-2D4F-D8B4-B74E-E3695AC7E00F}"/>
              </a:ext>
            </a:extLst>
          </p:cNvPr>
          <p:cNvSpPr txBox="1"/>
          <p:nvPr/>
        </p:nvSpPr>
        <p:spPr>
          <a:xfrm>
            <a:off x="282038" y="6021434"/>
            <a:ext cx="11468002" cy="36933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voti[0] = 24</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534093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1246495"/>
          </a:xfrm>
          <a:prstGeom prst="rect">
            <a:avLst/>
          </a:prstGeom>
          <a:noFill/>
        </p:spPr>
        <p:txBody>
          <a:bodyPr wrap="square">
            <a:spAutoFit/>
          </a:bodyPr>
          <a:lstStyle/>
          <a:p>
            <a:r>
              <a:rPr lang="it-IT" sz="2500" b="0" i="0" dirty="0">
                <a:solidFill>
                  <a:srgbClr val="374151"/>
                </a:solidFill>
                <a:effectLst/>
                <a:latin typeface="Söhne"/>
              </a:rPr>
              <a:t>Per scorrere tutti gli elementi di un array, si può utilizzare un ciclo for. Ad esempio, per stampare tutti i voti dell'array "voti", si scrive:</a:t>
            </a:r>
            <a:endParaRPr lang="it-IT" sz="2500" dirty="0"/>
          </a:p>
        </p:txBody>
      </p:sp>
    </p:spTree>
    <p:extLst>
      <p:ext uri="{BB962C8B-B14F-4D97-AF65-F5344CB8AC3E}">
        <p14:creationId xmlns:p14="http://schemas.microsoft.com/office/powerpoint/2010/main" val="242613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1246495"/>
          </a:xfrm>
          <a:prstGeom prst="rect">
            <a:avLst/>
          </a:prstGeom>
          <a:noFill/>
        </p:spPr>
        <p:txBody>
          <a:bodyPr wrap="square">
            <a:spAutoFit/>
          </a:bodyPr>
          <a:lstStyle/>
          <a:p>
            <a:r>
              <a:rPr lang="it-IT" sz="2500" b="0" i="0" dirty="0">
                <a:solidFill>
                  <a:srgbClr val="374151"/>
                </a:solidFill>
                <a:effectLst/>
                <a:latin typeface="Söhne"/>
              </a:rPr>
              <a:t>Per scorrere tutti gli elementi di un array, si può utilizzare un ciclo for. Ad esempio, per stampare tutti i voti dell'array "voti", si scrive:</a:t>
            </a:r>
            <a:endParaRPr lang="it-IT" sz="2500" dirty="0"/>
          </a:p>
        </p:txBody>
      </p:sp>
      <p:sp>
        <p:nvSpPr>
          <p:cNvPr id="4" name="CasellaDiTesto 3">
            <a:extLst>
              <a:ext uri="{FF2B5EF4-FFF2-40B4-BE49-F238E27FC236}">
                <a16:creationId xmlns:a16="http://schemas.microsoft.com/office/drawing/2014/main" id="{89A885EF-317C-37D4-D277-609EEDD72913}"/>
              </a:ext>
            </a:extLst>
          </p:cNvPr>
          <p:cNvSpPr txBox="1"/>
          <p:nvPr/>
        </p:nvSpPr>
        <p:spPr>
          <a:xfrm>
            <a:off x="282039" y="2615377"/>
            <a:ext cx="11285121" cy="1631216"/>
          </a:xfrm>
          <a:prstGeom prst="rect">
            <a:avLst/>
          </a:prstGeom>
          <a:solidFill>
            <a:schemeClr val="tx1">
              <a:lumMod val="85000"/>
              <a:lumOff val="15000"/>
            </a:schemeClr>
          </a:solidFill>
        </p:spPr>
        <p:txBody>
          <a:bodyPr wrap="square">
            <a:spAutoFit/>
          </a:bodyPr>
          <a:lstStyle/>
          <a:p>
            <a:r>
              <a:rPr lang="it-IT" sz="2500" b="0" dirty="0">
                <a:solidFill>
                  <a:srgbClr val="569CD6"/>
                </a:solidFill>
                <a:effectLst/>
                <a:latin typeface="Consolas" panose="020B0609020204030204" pitchFamily="49" charset="0"/>
              </a:rPr>
              <a:t>for</a:t>
            </a:r>
            <a:r>
              <a:rPr lang="it-IT" sz="2500" b="0" dirty="0">
                <a:solidFill>
                  <a:srgbClr val="D4D4D4"/>
                </a:solidFill>
                <a:effectLst/>
                <a:latin typeface="Consolas" panose="020B0609020204030204" pitchFamily="49" charset="0"/>
              </a:rPr>
              <a:t> (</a:t>
            </a:r>
            <a:r>
              <a:rPr lang="it-IT" sz="2500" b="0" dirty="0" err="1">
                <a:solidFill>
                  <a:srgbClr val="569CD6"/>
                </a:solidFill>
                <a:effectLst/>
                <a:latin typeface="Consolas" panose="020B0609020204030204" pitchFamily="49" charset="0"/>
              </a:rPr>
              <a:t>int</a:t>
            </a:r>
            <a:r>
              <a:rPr lang="it-IT" sz="2500" b="0" dirty="0">
                <a:solidFill>
                  <a:srgbClr val="D4D4D4"/>
                </a:solidFill>
                <a:effectLst/>
                <a:latin typeface="Consolas" panose="020B0609020204030204" pitchFamily="49" charset="0"/>
              </a:rPr>
              <a:t> i = 0</a:t>
            </a:r>
            <a:r>
              <a:rPr lang="it-IT" sz="2500" b="0" dirty="0">
                <a:solidFill>
                  <a:srgbClr val="569CD6"/>
                </a:solidFill>
                <a:effectLst/>
                <a:latin typeface="Consolas" panose="020B0609020204030204" pitchFamily="49" charset="0"/>
              </a:rPr>
              <a:t>;</a:t>
            </a:r>
            <a:r>
              <a:rPr lang="it-IT" sz="2500" b="0" dirty="0">
                <a:solidFill>
                  <a:srgbClr val="D4D4D4"/>
                </a:solidFill>
                <a:effectLst/>
                <a:latin typeface="Consolas" panose="020B0609020204030204" pitchFamily="49" charset="0"/>
              </a:rPr>
              <a:t> i &lt; </a:t>
            </a:r>
            <a:r>
              <a:rPr lang="it-IT" sz="2500" b="0" dirty="0" err="1">
                <a:solidFill>
                  <a:srgbClr val="D4D4D4"/>
                </a:solidFill>
                <a:effectLst/>
                <a:latin typeface="Consolas" panose="020B0609020204030204" pitchFamily="49" charset="0"/>
              </a:rPr>
              <a:t>voti.length</a:t>
            </a:r>
            <a:r>
              <a:rPr lang="it-IT" sz="2500" b="0" dirty="0">
                <a:solidFill>
                  <a:srgbClr val="569CD6"/>
                </a:solidFill>
                <a:effectLst/>
                <a:latin typeface="Consolas" panose="020B0609020204030204" pitchFamily="49" charset="0"/>
              </a:rPr>
              <a:t>;</a:t>
            </a:r>
            <a:r>
              <a:rPr lang="it-IT" sz="2500" b="0" dirty="0">
                <a:solidFill>
                  <a:srgbClr val="D4D4D4"/>
                </a:solidFill>
                <a:effectLst/>
                <a:latin typeface="Consolas" panose="020B0609020204030204" pitchFamily="49" charset="0"/>
              </a:rPr>
              <a:t> i++) {</a:t>
            </a:r>
          </a:p>
          <a:p>
            <a:r>
              <a:rPr lang="it-IT" sz="2500" b="0" dirty="0">
                <a:solidFill>
                  <a:srgbClr val="D4D4D4"/>
                </a:solidFill>
                <a:effectLst/>
                <a:latin typeface="Consolas" panose="020B0609020204030204" pitchFamily="49" charset="0"/>
              </a:rPr>
              <a:t>    </a:t>
            </a:r>
            <a:r>
              <a:rPr lang="it-IT" sz="2500" b="0" dirty="0" err="1">
                <a:solidFill>
                  <a:srgbClr val="D4D4D4"/>
                </a:solidFill>
                <a:effectLst/>
                <a:latin typeface="Consolas" panose="020B0609020204030204" pitchFamily="49" charset="0"/>
              </a:rPr>
              <a:t>System.out.println</a:t>
            </a:r>
            <a:r>
              <a:rPr lang="it-IT" sz="2500" b="0" dirty="0">
                <a:solidFill>
                  <a:srgbClr val="D4D4D4"/>
                </a:solidFill>
                <a:effectLst/>
                <a:latin typeface="Consolas" panose="020B0609020204030204" pitchFamily="49" charset="0"/>
              </a:rPr>
              <a:t>("Voto dello studente " + (i+1) + ": " + voti[i])</a:t>
            </a:r>
            <a:r>
              <a:rPr lang="it-IT" sz="2500" b="0" dirty="0">
                <a:solidFill>
                  <a:srgbClr val="569CD6"/>
                </a:solidFill>
                <a:effectLst/>
                <a:latin typeface="Consolas" panose="020B0609020204030204" pitchFamily="49" charset="0"/>
              </a:rPr>
              <a:t>;</a:t>
            </a:r>
            <a:endParaRPr lang="it-IT" sz="2500" b="0" dirty="0">
              <a:solidFill>
                <a:srgbClr val="D4D4D4"/>
              </a:solidFill>
              <a:effectLst/>
              <a:latin typeface="Consolas" panose="020B0609020204030204" pitchFamily="49" charset="0"/>
            </a:endParaRPr>
          </a:p>
          <a:p>
            <a:r>
              <a:rPr lang="it-IT" sz="2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794047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1246495"/>
          </a:xfrm>
          <a:prstGeom prst="rect">
            <a:avLst/>
          </a:prstGeom>
          <a:noFill/>
        </p:spPr>
        <p:txBody>
          <a:bodyPr wrap="square">
            <a:spAutoFit/>
          </a:bodyPr>
          <a:lstStyle/>
          <a:p>
            <a:r>
              <a:rPr lang="it-IT" sz="2500" b="0" i="0" dirty="0">
                <a:solidFill>
                  <a:srgbClr val="374151"/>
                </a:solidFill>
                <a:effectLst/>
                <a:latin typeface="Söhne"/>
              </a:rPr>
              <a:t>Per scorrere tutti gli elementi di un array, si può utilizzare un ciclo for. Ad esempio, per stampare tutti i voti dell'array "voti", si scrive:</a:t>
            </a:r>
            <a:endParaRPr lang="it-IT" sz="2500" dirty="0"/>
          </a:p>
        </p:txBody>
      </p:sp>
      <p:sp>
        <p:nvSpPr>
          <p:cNvPr id="4" name="CasellaDiTesto 3">
            <a:extLst>
              <a:ext uri="{FF2B5EF4-FFF2-40B4-BE49-F238E27FC236}">
                <a16:creationId xmlns:a16="http://schemas.microsoft.com/office/drawing/2014/main" id="{89A885EF-317C-37D4-D277-609EEDD72913}"/>
              </a:ext>
            </a:extLst>
          </p:cNvPr>
          <p:cNvSpPr txBox="1"/>
          <p:nvPr/>
        </p:nvSpPr>
        <p:spPr>
          <a:xfrm>
            <a:off x="282039" y="2615377"/>
            <a:ext cx="11285121" cy="1631216"/>
          </a:xfrm>
          <a:prstGeom prst="rect">
            <a:avLst/>
          </a:prstGeom>
          <a:solidFill>
            <a:schemeClr val="tx1">
              <a:lumMod val="85000"/>
              <a:lumOff val="15000"/>
            </a:schemeClr>
          </a:solidFill>
        </p:spPr>
        <p:txBody>
          <a:bodyPr wrap="square">
            <a:spAutoFit/>
          </a:bodyPr>
          <a:lstStyle/>
          <a:p>
            <a:r>
              <a:rPr lang="it-IT" sz="2500" b="0" dirty="0">
                <a:solidFill>
                  <a:srgbClr val="569CD6"/>
                </a:solidFill>
                <a:effectLst/>
                <a:latin typeface="Consolas" panose="020B0609020204030204" pitchFamily="49" charset="0"/>
              </a:rPr>
              <a:t>for</a:t>
            </a:r>
            <a:r>
              <a:rPr lang="it-IT" sz="2500" b="0" dirty="0">
                <a:solidFill>
                  <a:srgbClr val="D4D4D4"/>
                </a:solidFill>
                <a:effectLst/>
                <a:latin typeface="Consolas" panose="020B0609020204030204" pitchFamily="49" charset="0"/>
              </a:rPr>
              <a:t> (</a:t>
            </a:r>
            <a:r>
              <a:rPr lang="it-IT" sz="2500" b="0" dirty="0" err="1">
                <a:solidFill>
                  <a:srgbClr val="569CD6"/>
                </a:solidFill>
                <a:effectLst/>
                <a:latin typeface="Consolas" panose="020B0609020204030204" pitchFamily="49" charset="0"/>
              </a:rPr>
              <a:t>int</a:t>
            </a:r>
            <a:r>
              <a:rPr lang="it-IT" sz="2500" b="0" dirty="0">
                <a:solidFill>
                  <a:srgbClr val="D4D4D4"/>
                </a:solidFill>
                <a:effectLst/>
                <a:latin typeface="Consolas" panose="020B0609020204030204" pitchFamily="49" charset="0"/>
              </a:rPr>
              <a:t> i = 0</a:t>
            </a:r>
            <a:r>
              <a:rPr lang="it-IT" sz="2500" b="0" dirty="0">
                <a:solidFill>
                  <a:srgbClr val="569CD6"/>
                </a:solidFill>
                <a:effectLst/>
                <a:latin typeface="Consolas" panose="020B0609020204030204" pitchFamily="49" charset="0"/>
              </a:rPr>
              <a:t>;</a:t>
            </a:r>
            <a:r>
              <a:rPr lang="it-IT" sz="2500" b="0" dirty="0">
                <a:solidFill>
                  <a:srgbClr val="D4D4D4"/>
                </a:solidFill>
                <a:effectLst/>
                <a:latin typeface="Consolas" panose="020B0609020204030204" pitchFamily="49" charset="0"/>
              </a:rPr>
              <a:t> i &lt; </a:t>
            </a:r>
            <a:r>
              <a:rPr lang="it-IT" sz="2500" b="0" dirty="0" err="1">
                <a:solidFill>
                  <a:srgbClr val="D4D4D4"/>
                </a:solidFill>
                <a:effectLst/>
                <a:latin typeface="Consolas" panose="020B0609020204030204" pitchFamily="49" charset="0"/>
              </a:rPr>
              <a:t>voti.length</a:t>
            </a:r>
            <a:r>
              <a:rPr lang="it-IT" sz="2500" b="0" dirty="0">
                <a:solidFill>
                  <a:srgbClr val="569CD6"/>
                </a:solidFill>
                <a:effectLst/>
                <a:latin typeface="Consolas" panose="020B0609020204030204" pitchFamily="49" charset="0"/>
              </a:rPr>
              <a:t>;</a:t>
            </a:r>
            <a:r>
              <a:rPr lang="it-IT" sz="2500" b="0" dirty="0">
                <a:solidFill>
                  <a:srgbClr val="D4D4D4"/>
                </a:solidFill>
                <a:effectLst/>
                <a:latin typeface="Consolas" panose="020B0609020204030204" pitchFamily="49" charset="0"/>
              </a:rPr>
              <a:t> i++) {</a:t>
            </a:r>
          </a:p>
          <a:p>
            <a:r>
              <a:rPr lang="it-IT" sz="2500" b="0" dirty="0">
                <a:solidFill>
                  <a:srgbClr val="D4D4D4"/>
                </a:solidFill>
                <a:effectLst/>
                <a:latin typeface="Consolas" panose="020B0609020204030204" pitchFamily="49" charset="0"/>
              </a:rPr>
              <a:t>    </a:t>
            </a:r>
            <a:r>
              <a:rPr lang="it-IT" sz="2500" b="0" dirty="0" err="1">
                <a:solidFill>
                  <a:srgbClr val="D4D4D4"/>
                </a:solidFill>
                <a:effectLst/>
                <a:latin typeface="Consolas" panose="020B0609020204030204" pitchFamily="49" charset="0"/>
              </a:rPr>
              <a:t>System.out.println</a:t>
            </a:r>
            <a:r>
              <a:rPr lang="it-IT" sz="2500" b="0" dirty="0">
                <a:solidFill>
                  <a:srgbClr val="D4D4D4"/>
                </a:solidFill>
                <a:effectLst/>
                <a:latin typeface="Consolas" panose="020B0609020204030204" pitchFamily="49" charset="0"/>
              </a:rPr>
              <a:t>("Voto dello studente " + (i+1) + ": " + voti[i])</a:t>
            </a:r>
            <a:r>
              <a:rPr lang="it-IT" sz="2500" b="0" dirty="0">
                <a:solidFill>
                  <a:srgbClr val="569CD6"/>
                </a:solidFill>
                <a:effectLst/>
                <a:latin typeface="Consolas" panose="020B0609020204030204" pitchFamily="49" charset="0"/>
              </a:rPr>
              <a:t>;</a:t>
            </a:r>
            <a:endParaRPr lang="it-IT" sz="2500" b="0" dirty="0">
              <a:solidFill>
                <a:srgbClr val="D4D4D4"/>
              </a:solidFill>
              <a:effectLst/>
              <a:latin typeface="Consolas" panose="020B0609020204030204" pitchFamily="49" charset="0"/>
            </a:endParaRPr>
          </a:p>
          <a:p>
            <a:r>
              <a:rPr lang="it-IT" sz="2500" b="0" dirty="0">
                <a:solidFill>
                  <a:srgbClr val="D4D4D4"/>
                </a:solidFill>
                <a:effectLst/>
                <a:latin typeface="Consolas" panose="020B0609020204030204" pitchFamily="49" charset="0"/>
              </a:rPr>
              <a:t>}</a:t>
            </a:r>
          </a:p>
        </p:txBody>
      </p:sp>
      <p:sp>
        <p:nvSpPr>
          <p:cNvPr id="7" name="CasellaDiTesto 6">
            <a:extLst>
              <a:ext uri="{FF2B5EF4-FFF2-40B4-BE49-F238E27FC236}">
                <a16:creationId xmlns:a16="http://schemas.microsoft.com/office/drawing/2014/main" id="{21E7E3EF-FE67-2122-B6CB-14B7BF874D8D}"/>
              </a:ext>
            </a:extLst>
          </p:cNvPr>
          <p:cNvSpPr txBox="1"/>
          <p:nvPr/>
        </p:nvSpPr>
        <p:spPr>
          <a:xfrm>
            <a:off x="282040" y="4696444"/>
            <a:ext cx="11285120" cy="1246495"/>
          </a:xfrm>
          <a:prstGeom prst="rect">
            <a:avLst/>
          </a:prstGeom>
          <a:noFill/>
        </p:spPr>
        <p:txBody>
          <a:bodyPr wrap="square">
            <a:spAutoFit/>
          </a:bodyPr>
          <a:lstStyle/>
          <a:p>
            <a:r>
              <a:rPr lang="it-IT" sz="2500" dirty="0"/>
              <a:t>È importante notare che gli array in Java hanno una dimensione fissa, che non può essere modificata dopo la creazione dell'array. Inoltre, tutti gli elementi dell'array devono essere dello stesso tipo di dato.</a:t>
            </a:r>
          </a:p>
        </p:txBody>
      </p:sp>
    </p:spTree>
    <p:extLst>
      <p:ext uri="{BB962C8B-B14F-4D97-AF65-F5344CB8AC3E}">
        <p14:creationId xmlns:p14="http://schemas.microsoft.com/office/powerpoint/2010/main" val="1050371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885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Tree>
    <p:extLst>
      <p:ext uri="{BB962C8B-B14F-4D97-AF65-F5344CB8AC3E}">
        <p14:creationId xmlns:p14="http://schemas.microsoft.com/office/powerpoint/2010/main" val="2260457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767092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2" name="CasellaDiTesto 11">
            <a:extLst>
              <a:ext uri="{FF2B5EF4-FFF2-40B4-BE49-F238E27FC236}">
                <a16:creationId xmlns:a16="http://schemas.microsoft.com/office/drawing/2014/main" id="{47001AD7-1A3E-795A-F6EF-3868ABDD221B}"/>
              </a:ext>
            </a:extLst>
          </p:cNvPr>
          <p:cNvSpPr txBox="1"/>
          <p:nvPr/>
        </p:nvSpPr>
        <p:spPr>
          <a:xfrm>
            <a:off x="3894107" y="2500833"/>
            <a:ext cx="6094562" cy="646331"/>
          </a:xfrm>
          <a:prstGeom prst="rect">
            <a:avLst/>
          </a:prstGeom>
          <a:noFill/>
        </p:spPr>
        <p:txBody>
          <a:bodyPr wrap="square">
            <a:spAutoFit/>
          </a:bodyPr>
          <a:lstStyle/>
          <a:p>
            <a:r>
              <a:rPr lang="it-IT" dirty="0"/>
              <a:t>Ad esempio, se vogliamo inizializzare un array di interi con i valori da 1 a 5, possiamo scrivere:</a:t>
            </a:r>
          </a:p>
        </p:txBody>
      </p:sp>
    </p:spTree>
    <p:extLst>
      <p:ext uri="{BB962C8B-B14F-4D97-AF65-F5344CB8AC3E}">
        <p14:creationId xmlns:p14="http://schemas.microsoft.com/office/powerpoint/2010/main" val="3574153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2" name="CasellaDiTesto 11">
            <a:extLst>
              <a:ext uri="{FF2B5EF4-FFF2-40B4-BE49-F238E27FC236}">
                <a16:creationId xmlns:a16="http://schemas.microsoft.com/office/drawing/2014/main" id="{47001AD7-1A3E-795A-F6EF-3868ABDD221B}"/>
              </a:ext>
            </a:extLst>
          </p:cNvPr>
          <p:cNvSpPr txBox="1"/>
          <p:nvPr/>
        </p:nvSpPr>
        <p:spPr>
          <a:xfrm>
            <a:off x="3894107" y="2500833"/>
            <a:ext cx="6094562" cy="646331"/>
          </a:xfrm>
          <a:prstGeom prst="rect">
            <a:avLst/>
          </a:prstGeom>
          <a:noFill/>
        </p:spPr>
        <p:txBody>
          <a:bodyPr wrap="square">
            <a:spAutoFit/>
          </a:bodyPr>
          <a:lstStyle/>
          <a:p>
            <a:r>
              <a:rPr lang="it-IT" dirty="0"/>
              <a:t>Ad esempio, se vogliamo inizializzare un array di interi con i valori da 1 a 5, possiamo scrivere:</a:t>
            </a:r>
          </a:p>
        </p:txBody>
      </p:sp>
      <p:sp>
        <p:nvSpPr>
          <p:cNvPr id="14" name="CasellaDiTesto 13">
            <a:extLst>
              <a:ext uri="{FF2B5EF4-FFF2-40B4-BE49-F238E27FC236}">
                <a16:creationId xmlns:a16="http://schemas.microsoft.com/office/drawing/2014/main" id="{24831471-0620-F0B6-903A-841608C897A4}"/>
              </a:ext>
            </a:extLst>
          </p:cNvPr>
          <p:cNvSpPr txBox="1"/>
          <p:nvPr/>
        </p:nvSpPr>
        <p:spPr>
          <a:xfrm>
            <a:off x="3894107" y="3163530"/>
            <a:ext cx="7924080" cy="369332"/>
          </a:xfrm>
          <a:prstGeom prst="rect">
            <a:avLst/>
          </a:prstGeom>
          <a:solidFill>
            <a:schemeClr val="tx1">
              <a:lumMod val="85000"/>
              <a:lumOff val="15000"/>
            </a:schemeClr>
          </a:solidFill>
        </p:spPr>
        <p:txBody>
          <a:bodyPr wrap="square">
            <a:spAutoFit/>
          </a:bodyPr>
          <a:lstStyle/>
          <a:p>
            <a:r>
              <a:rPr lang="sv-SE" b="0" dirty="0">
                <a:solidFill>
                  <a:srgbClr val="569CD6"/>
                </a:solidFill>
                <a:effectLst/>
                <a:latin typeface="Consolas" panose="020B0609020204030204" pitchFamily="49" charset="0"/>
              </a:rPr>
              <a:t>int</a:t>
            </a:r>
            <a:r>
              <a:rPr lang="sv-SE" b="0" dirty="0">
                <a:solidFill>
                  <a:srgbClr val="D4D4D4"/>
                </a:solidFill>
                <a:effectLst/>
                <a:latin typeface="Consolas" panose="020B0609020204030204" pitchFamily="49" charset="0"/>
              </a:rPr>
              <a:t>[] numeri = {1</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2</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3</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4</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5}</a:t>
            </a:r>
            <a:r>
              <a:rPr lang="sv-SE" b="0" dirty="0">
                <a:solidFill>
                  <a:srgbClr val="569CD6"/>
                </a:solidFill>
                <a:effectLst/>
                <a:latin typeface="Consolas" panose="020B0609020204030204" pitchFamily="49" charset="0"/>
              </a:rPr>
              <a:t>;</a:t>
            </a:r>
            <a:endParaRPr lang="sv-SE"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243001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2" name="CasellaDiTesto 11">
            <a:extLst>
              <a:ext uri="{FF2B5EF4-FFF2-40B4-BE49-F238E27FC236}">
                <a16:creationId xmlns:a16="http://schemas.microsoft.com/office/drawing/2014/main" id="{47001AD7-1A3E-795A-F6EF-3868ABDD221B}"/>
              </a:ext>
            </a:extLst>
          </p:cNvPr>
          <p:cNvSpPr txBox="1"/>
          <p:nvPr/>
        </p:nvSpPr>
        <p:spPr>
          <a:xfrm>
            <a:off x="3894107" y="2500833"/>
            <a:ext cx="6094562" cy="646331"/>
          </a:xfrm>
          <a:prstGeom prst="rect">
            <a:avLst/>
          </a:prstGeom>
          <a:noFill/>
        </p:spPr>
        <p:txBody>
          <a:bodyPr wrap="square">
            <a:spAutoFit/>
          </a:bodyPr>
          <a:lstStyle/>
          <a:p>
            <a:r>
              <a:rPr lang="it-IT" dirty="0"/>
              <a:t>Ad esempio, se vogliamo inizializzare un array di interi con i valori da 1 a 5, possiamo scrivere:</a:t>
            </a:r>
          </a:p>
        </p:txBody>
      </p:sp>
      <p:sp>
        <p:nvSpPr>
          <p:cNvPr id="14" name="CasellaDiTesto 13">
            <a:extLst>
              <a:ext uri="{FF2B5EF4-FFF2-40B4-BE49-F238E27FC236}">
                <a16:creationId xmlns:a16="http://schemas.microsoft.com/office/drawing/2014/main" id="{24831471-0620-F0B6-903A-841608C897A4}"/>
              </a:ext>
            </a:extLst>
          </p:cNvPr>
          <p:cNvSpPr txBox="1"/>
          <p:nvPr/>
        </p:nvSpPr>
        <p:spPr>
          <a:xfrm>
            <a:off x="3894107" y="3163530"/>
            <a:ext cx="7924080" cy="369332"/>
          </a:xfrm>
          <a:prstGeom prst="rect">
            <a:avLst/>
          </a:prstGeom>
          <a:solidFill>
            <a:schemeClr val="tx1">
              <a:lumMod val="85000"/>
              <a:lumOff val="15000"/>
            </a:schemeClr>
          </a:solidFill>
        </p:spPr>
        <p:txBody>
          <a:bodyPr wrap="square">
            <a:spAutoFit/>
          </a:bodyPr>
          <a:lstStyle/>
          <a:p>
            <a:r>
              <a:rPr lang="sv-SE" b="0" dirty="0">
                <a:solidFill>
                  <a:srgbClr val="569CD6"/>
                </a:solidFill>
                <a:effectLst/>
                <a:latin typeface="Consolas" panose="020B0609020204030204" pitchFamily="49" charset="0"/>
              </a:rPr>
              <a:t>int</a:t>
            </a:r>
            <a:r>
              <a:rPr lang="sv-SE" b="0" dirty="0">
                <a:solidFill>
                  <a:srgbClr val="D4D4D4"/>
                </a:solidFill>
                <a:effectLst/>
                <a:latin typeface="Consolas" panose="020B0609020204030204" pitchFamily="49" charset="0"/>
              </a:rPr>
              <a:t>[] numeri = {1</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2</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3</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4</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5}</a:t>
            </a:r>
            <a:r>
              <a:rPr lang="sv-SE" b="0" dirty="0">
                <a:solidFill>
                  <a:srgbClr val="569CD6"/>
                </a:solidFill>
                <a:effectLst/>
                <a:latin typeface="Consolas" panose="020B0609020204030204" pitchFamily="49" charset="0"/>
              </a:rPr>
              <a:t>;</a:t>
            </a:r>
            <a:endParaRPr lang="sv-SE" b="0" dirty="0">
              <a:solidFill>
                <a:srgbClr val="D4D4D4"/>
              </a:solidFill>
              <a:effectLst/>
              <a:latin typeface="Consolas" panose="020B0609020204030204" pitchFamily="49" charset="0"/>
            </a:endParaRPr>
          </a:p>
        </p:txBody>
      </p:sp>
      <p:sp>
        <p:nvSpPr>
          <p:cNvPr id="17" name="CasellaDiTesto 16">
            <a:extLst>
              <a:ext uri="{FF2B5EF4-FFF2-40B4-BE49-F238E27FC236}">
                <a16:creationId xmlns:a16="http://schemas.microsoft.com/office/drawing/2014/main" id="{62DF2D12-CA5B-AD0D-3F55-203251375B08}"/>
              </a:ext>
            </a:extLst>
          </p:cNvPr>
          <p:cNvSpPr txBox="1"/>
          <p:nvPr/>
        </p:nvSpPr>
        <p:spPr>
          <a:xfrm>
            <a:off x="3806405" y="3591237"/>
            <a:ext cx="8011782" cy="646331"/>
          </a:xfrm>
          <a:prstGeom prst="rect">
            <a:avLst/>
          </a:prstGeom>
          <a:noFill/>
        </p:spPr>
        <p:txBody>
          <a:bodyPr wrap="square">
            <a:spAutoFit/>
          </a:bodyPr>
          <a:lstStyle/>
          <a:p>
            <a:r>
              <a:rPr lang="it-IT" dirty="0"/>
              <a:t>In questo modo, l'array "numeri" avrà una dimensione di 5 e i suoi elementi saranno inizializzati con i valori 1, 2, 3, 4 e 5.</a:t>
            </a:r>
          </a:p>
        </p:txBody>
      </p:sp>
    </p:spTree>
    <p:extLst>
      <p:ext uri="{BB962C8B-B14F-4D97-AF65-F5344CB8AC3E}">
        <p14:creationId xmlns:p14="http://schemas.microsoft.com/office/powerpoint/2010/main" val="3181883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2" name="CasellaDiTesto 11">
            <a:extLst>
              <a:ext uri="{FF2B5EF4-FFF2-40B4-BE49-F238E27FC236}">
                <a16:creationId xmlns:a16="http://schemas.microsoft.com/office/drawing/2014/main" id="{47001AD7-1A3E-795A-F6EF-3868ABDD221B}"/>
              </a:ext>
            </a:extLst>
          </p:cNvPr>
          <p:cNvSpPr txBox="1"/>
          <p:nvPr/>
        </p:nvSpPr>
        <p:spPr>
          <a:xfrm>
            <a:off x="3894107" y="2500833"/>
            <a:ext cx="6094562" cy="646331"/>
          </a:xfrm>
          <a:prstGeom prst="rect">
            <a:avLst/>
          </a:prstGeom>
          <a:noFill/>
        </p:spPr>
        <p:txBody>
          <a:bodyPr wrap="square">
            <a:spAutoFit/>
          </a:bodyPr>
          <a:lstStyle/>
          <a:p>
            <a:r>
              <a:rPr lang="it-IT" dirty="0"/>
              <a:t>Ad esempio, se vogliamo inizializzare un array di interi con i valori da 1 a 5, possiamo scrivere:</a:t>
            </a:r>
          </a:p>
        </p:txBody>
      </p:sp>
      <p:sp>
        <p:nvSpPr>
          <p:cNvPr id="14" name="CasellaDiTesto 13">
            <a:extLst>
              <a:ext uri="{FF2B5EF4-FFF2-40B4-BE49-F238E27FC236}">
                <a16:creationId xmlns:a16="http://schemas.microsoft.com/office/drawing/2014/main" id="{24831471-0620-F0B6-903A-841608C897A4}"/>
              </a:ext>
            </a:extLst>
          </p:cNvPr>
          <p:cNvSpPr txBox="1"/>
          <p:nvPr/>
        </p:nvSpPr>
        <p:spPr>
          <a:xfrm>
            <a:off x="3894107" y="3163530"/>
            <a:ext cx="7924080" cy="369332"/>
          </a:xfrm>
          <a:prstGeom prst="rect">
            <a:avLst/>
          </a:prstGeom>
          <a:solidFill>
            <a:schemeClr val="tx1">
              <a:lumMod val="85000"/>
              <a:lumOff val="15000"/>
            </a:schemeClr>
          </a:solidFill>
        </p:spPr>
        <p:txBody>
          <a:bodyPr wrap="square">
            <a:spAutoFit/>
          </a:bodyPr>
          <a:lstStyle/>
          <a:p>
            <a:r>
              <a:rPr lang="sv-SE" b="0" dirty="0">
                <a:solidFill>
                  <a:srgbClr val="569CD6"/>
                </a:solidFill>
                <a:effectLst/>
                <a:latin typeface="Consolas" panose="020B0609020204030204" pitchFamily="49" charset="0"/>
              </a:rPr>
              <a:t>int</a:t>
            </a:r>
            <a:r>
              <a:rPr lang="sv-SE" b="0" dirty="0">
                <a:solidFill>
                  <a:srgbClr val="D4D4D4"/>
                </a:solidFill>
                <a:effectLst/>
                <a:latin typeface="Consolas" panose="020B0609020204030204" pitchFamily="49" charset="0"/>
              </a:rPr>
              <a:t>[] numeri = {1</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2</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3</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4</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5}</a:t>
            </a:r>
            <a:r>
              <a:rPr lang="sv-SE" b="0" dirty="0">
                <a:solidFill>
                  <a:srgbClr val="569CD6"/>
                </a:solidFill>
                <a:effectLst/>
                <a:latin typeface="Consolas" panose="020B0609020204030204" pitchFamily="49" charset="0"/>
              </a:rPr>
              <a:t>;</a:t>
            </a:r>
            <a:endParaRPr lang="sv-SE" b="0" dirty="0">
              <a:solidFill>
                <a:srgbClr val="D4D4D4"/>
              </a:solidFill>
              <a:effectLst/>
              <a:latin typeface="Consolas" panose="020B0609020204030204" pitchFamily="49" charset="0"/>
            </a:endParaRPr>
          </a:p>
        </p:txBody>
      </p:sp>
      <p:sp>
        <p:nvSpPr>
          <p:cNvPr id="17" name="CasellaDiTesto 16">
            <a:extLst>
              <a:ext uri="{FF2B5EF4-FFF2-40B4-BE49-F238E27FC236}">
                <a16:creationId xmlns:a16="http://schemas.microsoft.com/office/drawing/2014/main" id="{62DF2D12-CA5B-AD0D-3F55-203251375B08}"/>
              </a:ext>
            </a:extLst>
          </p:cNvPr>
          <p:cNvSpPr txBox="1"/>
          <p:nvPr/>
        </p:nvSpPr>
        <p:spPr>
          <a:xfrm>
            <a:off x="3806405" y="3591237"/>
            <a:ext cx="8011782" cy="1477328"/>
          </a:xfrm>
          <a:prstGeom prst="rect">
            <a:avLst/>
          </a:prstGeom>
          <a:noFill/>
        </p:spPr>
        <p:txBody>
          <a:bodyPr wrap="square">
            <a:spAutoFit/>
          </a:bodyPr>
          <a:lstStyle/>
          <a:p>
            <a:r>
              <a:rPr lang="it-IT" dirty="0"/>
              <a:t>In questo modo, l'array "numeri" avrà una dimensione di 5 e i suoi elementi saranno inizializzati con i valori 1, 2, 3, 4 e 5.</a:t>
            </a:r>
          </a:p>
          <a:p>
            <a:endParaRPr lang="it-IT" dirty="0"/>
          </a:p>
          <a:p>
            <a:r>
              <a:rPr lang="it-IT" dirty="0"/>
              <a:t>In alternativa, è possibile utilizzare un ciclo for per inizializzare gli elementi dell'array in modo enumerativo. </a:t>
            </a:r>
          </a:p>
        </p:txBody>
      </p:sp>
    </p:spTree>
    <p:extLst>
      <p:ext uri="{BB962C8B-B14F-4D97-AF65-F5344CB8AC3E}">
        <p14:creationId xmlns:p14="http://schemas.microsoft.com/office/powerpoint/2010/main" val="1382896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2" name="CasellaDiTesto 11">
            <a:extLst>
              <a:ext uri="{FF2B5EF4-FFF2-40B4-BE49-F238E27FC236}">
                <a16:creationId xmlns:a16="http://schemas.microsoft.com/office/drawing/2014/main" id="{47001AD7-1A3E-795A-F6EF-3868ABDD221B}"/>
              </a:ext>
            </a:extLst>
          </p:cNvPr>
          <p:cNvSpPr txBox="1"/>
          <p:nvPr/>
        </p:nvSpPr>
        <p:spPr>
          <a:xfrm>
            <a:off x="3894107" y="2500833"/>
            <a:ext cx="6094562" cy="646331"/>
          </a:xfrm>
          <a:prstGeom prst="rect">
            <a:avLst/>
          </a:prstGeom>
          <a:noFill/>
        </p:spPr>
        <p:txBody>
          <a:bodyPr wrap="square">
            <a:spAutoFit/>
          </a:bodyPr>
          <a:lstStyle/>
          <a:p>
            <a:r>
              <a:rPr lang="it-IT" dirty="0"/>
              <a:t>Ad esempio, se vogliamo inizializzare un array di interi con i valori da 1 a 5, possiamo scrivere:</a:t>
            </a:r>
          </a:p>
        </p:txBody>
      </p:sp>
      <p:sp>
        <p:nvSpPr>
          <p:cNvPr id="14" name="CasellaDiTesto 13">
            <a:extLst>
              <a:ext uri="{FF2B5EF4-FFF2-40B4-BE49-F238E27FC236}">
                <a16:creationId xmlns:a16="http://schemas.microsoft.com/office/drawing/2014/main" id="{24831471-0620-F0B6-903A-841608C897A4}"/>
              </a:ext>
            </a:extLst>
          </p:cNvPr>
          <p:cNvSpPr txBox="1"/>
          <p:nvPr/>
        </p:nvSpPr>
        <p:spPr>
          <a:xfrm>
            <a:off x="3894107" y="3163530"/>
            <a:ext cx="7924080" cy="369332"/>
          </a:xfrm>
          <a:prstGeom prst="rect">
            <a:avLst/>
          </a:prstGeom>
          <a:solidFill>
            <a:schemeClr val="tx1">
              <a:lumMod val="85000"/>
              <a:lumOff val="15000"/>
            </a:schemeClr>
          </a:solidFill>
        </p:spPr>
        <p:txBody>
          <a:bodyPr wrap="square">
            <a:spAutoFit/>
          </a:bodyPr>
          <a:lstStyle/>
          <a:p>
            <a:r>
              <a:rPr lang="sv-SE" b="0" dirty="0">
                <a:solidFill>
                  <a:srgbClr val="569CD6"/>
                </a:solidFill>
                <a:effectLst/>
                <a:latin typeface="Consolas" panose="020B0609020204030204" pitchFamily="49" charset="0"/>
              </a:rPr>
              <a:t>int</a:t>
            </a:r>
            <a:r>
              <a:rPr lang="sv-SE" b="0" dirty="0">
                <a:solidFill>
                  <a:srgbClr val="D4D4D4"/>
                </a:solidFill>
                <a:effectLst/>
                <a:latin typeface="Consolas" panose="020B0609020204030204" pitchFamily="49" charset="0"/>
              </a:rPr>
              <a:t>[] numeri = {1</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2</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3</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4</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5}</a:t>
            </a:r>
            <a:r>
              <a:rPr lang="sv-SE" b="0" dirty="0">
                <a:solidFill>
                  <a:srgbClr val="569CD6"/>
                </a:solidFill>
                <a:effectLst/>
                <a:latin typeface="Consolas" panose="020B0609020204030204" pitchFamily="49" charset="0"/>
              </a:rPr>
              <a:t>;</a:t>
            </a:r>
            <a:endParaRPr lang="sv-SE" b="0" dirty="0">
              <a:solidFill>
                <a:srgbClr val="D4D4D4"/>
              </a:solidFill>
              <a:effectLst/>
              <a:latin typeface="Consolas" panose="020B0609020204030204" pitchFamily="49" charset="0"/>
            </a:endParaRPr>
          </a:p>
        </p:txBody>
      </p:sp>
      <p:sp>
        <p:nvSpPr>
          <p:cNvPr id="17" name="CasellaDiTesto 16">
            <a:extLst>
              <a:ext uri="{FF2B5EF4-FFF2-40B4-BE49-F238E27FC236}">
                <a16:creationId xmlns:a16="http://schemas.microsoft.com/office/drawing/2014/main" id="{62DF2D12-CA5B-AD0D-3F55-203251375B08}"/>
              </a:ext>
            </a:extLst>
          </p:cNvPr>
          <p:cNvSpPr txBox="1"/>
          <p:nvPr/>
        </p:nvSpPr>
        <p:spPr>
          <a:xfrm>
            <a:off x="3806405" y="3591237"/>
            <a:ext cx="8011782" cy="1754326"/>
          </a:xfrm>
          <a:prstGeom prst="rect">
            <a:avLst/>
          </a:prstGeom>
          <a:noFill/>
        </p:spPr>
        <p:txBody>
          <a:bodyPr wrap="square">
            <a:spAutoFit/>
          </a:bodyPr>
          <a:lstStyle/>
          <a:p>
            <a:r>
              <a:rPr lang="it-IT" dirty="0"/>
              <a:t>In questo modo, l'array "numeri" avrà una dimensione di 5 e i suoi elementi saranno inizializzati con i valori 1, 2, 3, 4 e 5.</a:t>
            </a:r>
          </a:p>
          <a:p>
            <a:endParaRPr lang="it-IT" dirty="0"/>
          </a:p>
          <a:p>
            <a:r>
              <a:rPr lang="it-IT" dirty="0"/>
              <a:t>In alternativa, è possibile utilizzare un ciclo for per inizializzare gli elementi dell'array in modo enumerativo. Ad esempio, il seguente codice inizializza un array di interi con i valori da 1 a 10:</a:t>
            </a:r>
          </a:p>
        </p:txBody>
      </p:sp>
    </p:spTree>
    <p:extLst>
      <p:ext uri="{BB962C8B-B14F-4D97-AF65-F5344CB8AC3E}">
        <p14:creationId xmlns:p14="http://schemas.microsoft.com/office/powerpoint/2010/main" val="51793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inizializzazione enumerativa</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954107"/>
          </a:xfrm>
          <a:prstGeom prst="rect">
            <a:avLst/>
          </a:prstGeom>
          <a:noFill/>
        </p:spPr>
        <p:txBody>
          <a:bodyPr wrap="square">
            <a:spAutoFit/>
          </a:bodyPr>
          <a:lstStyle/>
          <a:p>
            <a:r>
              <a:rPr lang="it-IT" sz="2800" b="0" i="0" dirty="0">
                <a:solidFill>
                  <a:srgbClr val="374151"/>
                </a:solidFill>
                <a:effectLst/>
                <a:latin typeface="Söhne"/>
              </a:rPr>
              <a:t>Un array si può inizializzare, in JAVA, in modo enumerativo, è possibile utilizzare la seguente sintassi:</a:t>
            </a:r>
            <a:endParaRPr lang="it-IT" sz="2500" dirty="0"/>
          </a:p>
        </p:txBody>
      </p:sp>
      <p:sp>
        <p:nvSpPr>
          <p:cNvPr id="5" name="CasellaDiTesto 4">
            <a:extLst>
              <a:ext uri="{FF2B5EF4-FFF2-40B4-BE49-F238E27FC236}">
                <a16:creationId xmlns:a16="http://schemas.microsoft.com/office/drawing/2014/main" id="{0339685E-147B-09CF-0857-DD40D79E9854}"/>
              </a:ext>
            </a:extLst>
          </p:cNvPr>
          <p:cNvSpPr txBox="1"/>
          <p:nvPr/>
        </p:nvSpPr>
        <p:spPr>
          <a:xfrm>
            <a:off x="3894107" y="2079447"/>
            <a:ext cx="7924081"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tipoDato</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nomeArray</a:t>
            </a:r>
            <a:r>
              <a:rPr lang="it-IT" b="0" dirty="0">
                <a:solidFill>
                  <a:srgbClr val="D4D4D4"/>
                </a:solidFill>
                <a:effectLst/>
                <a:latin typeface="Consolas" panose="020B0609020204030204" pitchFamily="49" charset="0"/>
              </a:rPr>
              <a:t> = {valore1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valore2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valoreN</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12" name="CasellaDiTesto 11">
            <a:extLst>
              <a:ext uri="{FF2B5EF4-FFF2-40B4-BE49-F238E27FC236}">
                <a16:creationId xmlns:a16="http://schemas.microsoft.com/office/drawing/2014/main" id="{47001AD7-1A3E-795A-F6EF-3868ABDD221B}"/>
              </a:ext>
            </a:extLst>
          </p:cNvPr>
          <p:cNvSpPr txBox="1"/>
          <p:nvPr/>
        </p:nvSpPr>
        <p:spPr>
          <a:xfrm>
            <a:off x="3894107" y="2500833"/>
            <a:ext cx="6094562" cy="646331"/>
          </a:xfrm>
          <a:prstGeom prst="rect">
            <a:avLst/>
          </a:prstGeom>
          <a:noFill/>
        </p:spPr>
        <p:txBody>
          <a:bodyPr wrap="square">
            <a:spAutoFit/>
          </a:bodyPr>
          <a:lstStyle/>
          <a:p>
            <a:r>
              <a:rPr lang="it-IT" dirty="0"/>
              <a:t>Ad esempio, se vogliamo inizializzare un array di interi con i valori da 1 a 5, possiamo scrivere:</a:t>
            </a:r>
          </a:p>
        </p:txBody>
      </p:sp>
      <p:sp>
        <p:nvSpPr>
          <p:cNvPr id="14" name="CasellaDiTesto 13">
            <a:extLst>
              <a:ext uri="{FF2B5EF4-FFF2-40B4-BE49-F238E27FC236}">
                <a16:creationId xmlns:a16="http://schemas.microsoft.com/office/drawing/2014/main" id="{24831471-0620-F0B6-903A-841608C897A4}"/>
              </a:ext>
            </a:extLst>
          </p:cNvPr>
          <p:cNvSpPr txBox="1"/>
          <p:nvPr/>
        </p:nvSpPr>
        <p:spPr>
          <a:xfrm>
            <a:off x="3894107" y="3163530"/>
            <a:ext cx="7924080" cy="369332"/>
          </a:xfrm>
          <a:prstGeom prst="rect">
            <a:avLst/>
          </a:prstGeom>
          <a:solidFill>
            <a:schemeClr val="tx1">
              <a:lumMod val="85000"/>
              <a:lumOff val="15000"/>
            </a:schemeClr>
          </a:solidFill>
        </p:spPr>
        <p:txBody>
          <a:bodyPr wrap="square">
            <a:spAutoFit/>
          </a:bodyPr>
          <a:lstStyle/>
          <a:p>
            <a:r>
              <a:rPr lang="sv-SE" b="0" dirty="0">
                <a:solidFill>
                  <a:srgbClr val="569CD6"/>
                </a:solidFill>
                <a:effectLst/>
                <a:latin typeface="Consolas" panose="020B0609020204030204" pitchFamily="49" charset="0"/>
              </a:rPr>
              <a:t>int</a:t>
            </a:r>
            <a:r>
              <a:rPr lang="sv-SE" b="0" dirty="0">
                <a:solidFill>
                  <a:srgbClr val="D4D4D4"/>
                </a:solidFill>
                <a:effectLst/>
                <a:latin typeface="Consolas" panose="020B0609020204030204" pitchFamily="49" charset="0"/>
              </a:rPr>
              <a:t>[] numeri = {1</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2</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3</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4</a:t>
            </a:r>
            <a:r>
              <a:rPr lang="sv-SE" b="0" dirty="0">
                <a:solidFill>
                  <a:srgbClr val="569CD6"/>
                </a:solidFill>
                <a:effectLst/>
                <a:latin typeface="Consolas" panose="020B0609020204030204" pitchFamily="49" charset="0"/>
              </a:rPr>
              <a:t>,</a:t>
            </a:r>
            <a:r>
              <a:rPr lang="sv-SE" b="0" dirty="0">
                <a:solidFill>
                  <a:srgbClr val="D4D4D4"/>
                </a:solidFill>
                <a:effectLst/>
                <a:latin typeface="Consolas" panose="020B0609020204030204" pitchFamily="49" charset="0"/>
              </a:rPr>
              <a:t> 5}</a:t>
            </a:r>
            <a:r>
              <a:rPr lang="sv-SE" b="0" dirty="0">
                <a:solidFill>
                  <a:srgbClr val="569CD6"/>
                </a:solidFill>
                <a:effectLst/>
                <a:latin typeface="Consolas" panose="020B0609020204030204" pitchFamily="49" charset="0"/>
              </a:rPr>
              <a:t>;</a:t>
            </a:r>
            <a:endParaRPr lang="sv-SE" b="0" dirty="0">
              <a:solidFill>
                <a:srgbClr val="D4D4D4"/>
              </a:solidFill>
              <a:effectLst/>
              <a:latin typeface="Consolas" panose="020B0609020204030204" pitchFamily="49" charset="0"/>
            </a:endParaRPr>
          </a:p>
        </p:txBody>
      </p:sp>
      <p:sp>
        <p:nvSpPr>
          <p:cNvPr id="17" name="CasellaDiTesto 16">
            <a:extLst>
              <a:ext uri="{FF2B5EF4-FFF2-40B4-BE49-F238E27FC236}">
                <a16:creationId xmlns:a16="http://schemas.microsoft.com/office/drawing/2014/main" id="{62DF2D12-CA5B-AD0D-3F55-203251375B08}"/>
              </a:ext>
            </a:extLst>
          </p:cNvPr>
          <p:cNvSpPr txBox="1"/>
          <p:nvPr/>
        </p:nvSpPr>
        <p:spPr>
          <a:xfrm>
            <a:off x="3806405" y="3591237"/>
            <a:ext cx="8011782" cy="1754326"/>
          </a:xfrm>
          <a:prstGeom prst="rect">
            <a:avLst/>
          </a:prstGeom>
          <a:noFill/>
        </p:spPr>
        <p:txBody>
          <a:bodyPr wrap="square">
            <a:spAutoFit/>
          </a:bodyPr>
          <a:lstStyle/>
          <a:p>
            <a:r>
              <a:rPr lang="it-IT" dirty="0"/>
              <a:t>In questo modo, l'array "numeri" avrà una dimensione di 5 e i suoi elementi saranno inizializzati con i valori 1, 2, 3, 4 e 5.</a:t>
            </a:r>
          </a:p>
          <a:p>
            <a:endParaRPr lang="it-IT" dirty="0"/>
          </a:p>
          <a:p>
            <a:r>
              <a:rPr lang="it-IT" dirty="0"/>
              <a:t>In alternativa, è possibile utilizzare un ciclo for per inizializzare gli elementi dell'array in modo enumerativo. Ad esempio, il seguente codice inizializza un array di interi con i valori da 1 a 10:</a:t>
            </a:r>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3806404" y="5287692"/>
            <a:ext cx="7916893" cy="1200329"/>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numeri = new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[10]</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569CD6"/>
                </a:solidFill>
                <a:effectLst/>
                <a:latin typeface="Consolas" panose="020B0609020204030204" pitchFamily="49" charset="0"/>
              </a:rPr>
              <a:t>for</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i = 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i &lt; 10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i++) {</a:t>
            </a:r>
          </a:p>
          <a:p>
            <a:r>
              <a:rPr lang="it-IT" b="0" dirty="0">
                <a:solidFill>
                  <a:srgbClr val="D4D4D4"/>
                </a:solidFill>
                <a:effectLst/>
                <a:latin typeface="Consolas" panose="020B0609020204030204" pitchFamily="49" charset="0"/>
              </a:rPr>
              <a:t>    numeri[i] = i + 1</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20339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539430"/>
          </a:xfrm>
          <a:prstGeom prst="rect">
            <a:avLst/>
          </a:prstGeom>
          <a:noFill/>
        </p:spPr>
        <p:txBody>
          <a:bodyPr wrap="square">
            <a:spAutoFit/>
          </a:bodyPr>
          <a:lstStyle/>
          <a:p>
            <a:r>
              <a:rPr lang="it-IT" sz="2800" b="0" i="0" dirty="0">
                <a:solidFill>
                  <a:srgbClr val="374151"/>
                </a:solidFill>
                <a:effectLst/>
                <a:latin typeface="Söhne"/>
              </a:rPr>
              <a:t>in Java è possibile creare array di tutti i tipi di dati primitivi come ad esempio </a:t>
            </a:r>
            <a:r>
              <a:rPr lang="it-IT" sz="2800" b="0" i="0" dirty="0" err="1">
                <a:solidFill>
                  <a:srgbClr val="374151"/>
                </a:solidFill>
                <a:effectLst/>
                <a:latin typeface="Söhne"/>
              </a:rPr>
              <a:t>boolean</a:t>
            </a:r>
            <a:r>
              <a:rPr lang="it-IT" sz="2800" b="0" i="0" dirty="0">
                <a:solidFill>
                  <a:srgbClr val="374151"/>
                </a:solidFill>
                <a:effectLst/>
                <a:latin typeface="Söhne"/>
              </a:rPr>
              <a:t>, byte, </a:t>
            </a:r>
            <a:r>
              <a:rPr lang="it-IT" sz="2800" b="0" i="0" dirty="0" err="1">
                <a:solidFill>
                  <a:srgbClr val="374151"/>
                </a:solidFill>
                <a:effectLst/>
                <a:latin typeface="Söhne"/>
              </a:rPr>
              <a:t>char</a:t>
            </a:r>
            <a:r>
              <a:rPr lang="it-IT" sz="2800" b="0" i="0" dirty="0">
                <a:solidFill>
                  <a:srgbClr val="374151"/>
                </a:solidFill>
                <a:effectLst/>
                <a:latin typeface="Söhne"/>
              </a:rPr>
              <a:t>, short, </a:t>
            </a:r>
            <a:r>
              <a:rPr lang="it-IT" sz="2800" b="0" i="0" dirty="0" err="1">
                <a:solidFill>
                  <a:srgbClr val="374151"/>
                </a:solidFill>
                <a:effectLst/>
                <a:latin typeface="Söhne"/>
              </a:rPr>
              <a:t>int</a:t>
            </a:r>
            <a:r>
              <a:rPr lang="it-IT" sz="2800" b="0" i="0" dirty="0">
                <a:solidFill>
                  <a:srgbClr val="374151"/>
                </a:solidFill>
                <a:effectLst/>
                <a:latin typeface="Söhne"/>
              </a:rPr>
              <a:t>, long, float e double. Inoltre, è anche possibile creare array di oggetti, come ad esempio array di stringhe o di altre classi definite dall'utente. L'array di un determinato tipo viene dichiarato specificando il tipo di dati degli elementi dell'array durante la dichiarazione dell'array stesso. Ad esempio:</a:t>
            </a:r>
            <a:endParaRPr lang="it-IT" sz="2500"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3894108" y="4664770"/>
            <a:ext cx="7916893" cy="923330"/>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arrayDiInteri</a:t>
            </a:r>
            <a:r>
              <a:rPr lang="it-IT" b="0" dirty="0">
                <a:solidFill>
                  <a:srgbClr val="D4D4D4"/>
                </a:solidFill>
                <a:effectLst/>
                <a:latin typeface="Consolas" panose="020B0609020204030204" pitchFamily="49" charset="0"/>
              </a:rPr>
              <a:t> = {1</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3</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4</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5}</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arrayDiDouble</a:t>
            </a:r>
            <a:r>
              <a:rPr lang="it-IT" b="0" dirty="0">
                <a:solidFill>
                  <a:srgbClr val="D4D4D4"/>
                </a:solidFill>
                <a:effectLst/>
                <a:latin typeface="Consolas" panose="020B0609020204030204" pitchFamily="49" charset="0"/>
              </a:rPr>
              <a:t> = {1.2</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2.3</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3.4</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4.5</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5.6}</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arrayDiStringhe</a:t>
            </a:r>
            <a:r>
              <a:rPr lang="it-IT" b="0" dirty="0">
                <a:solidFill>
                  <a:srgbClr val="D4D4D4"/>
                </a:solidFill>
                <a:effectLst/>
                <a:latin typeface="Consolas" panose="020B0609020204030204" pitchFamily="49" charset="0"/>
              </a:rPr>
              <a:t> = {"Ciao"</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"come"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"stai</a:t>
            </a:r>
            <a:r>
              <a:rPr lang="it-IT" b="0" dirty="0">
                <a:solidFill>
                  <a:srgbClr val="B5CEA8"/>
                </a:solidFill>
                <a:effectLst/>
                <a:latin typeface="Consolas" panose="020B0609020204030204" pitchFamily="49" charset="0"/>
              </a:rPr>
              <a:t>?</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495066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553998"/>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489937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1015663"/>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126158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2169825"/>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25177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309315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27375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401648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getAge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468454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401648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getAge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4" name="CasellaDiTesto 3">
            <a:extLst>
              <a:ext uri="{FF2B5EF4-FFF2-40B4-BE49-F238E27FC236}">
                <a16:creationId xmlns:a16="http://schemas.microsoft.com/office/drawing/2014/main" id="{7E102D47-EE7A-9A08-6D0C-4F36C7DC04AD}"/>
              </a:ext>
            </a:extLst>
          </p:cNvPr>
          <p:cNvSpPr txBox="1"/>
          <p:nvPr/>
        </p:nvSpPr>
        <p:spPr>
          <a:xfrm>
            <a:off x="4015334" y="5465685"/>
            <a:ext cx="7916893" cy="323165"/>
          </a:xfrm>
          <a:prstGeom prst="rect">
            <a:avLst/>
          </a:prstGeom>
          <a:solidFill>
            <a:schemeClr val="tx1">
              <a:lumMod val="85000"/>
              <a:lumOff val="15000"/>
            </a:schemeClr>
          </a:solidFill>
        </p:spPr>
        <p:txBody>
          <a:bodyPr wrap="square">
            <a:spAutoFit/>
          </a:bodyPr>
          <a:lstStyle/>
          <a:p>
            <a:r>
              <a:rPr lang="it-IT" sz="1500" b="0" dirty="0">
                <a:solidFill>
                  <a:srgbClr val="6A9955"/>
                </a:solidFill>
                <a:effectLst/>
                <a:latin typeface="Consolas" panose="020B0609020204030204" pitchFamily="49" charset="0"/>
              </a:rPr>
              <a:t>// Creazione di un array di oggetti </a:t>
            </a:r>
            <a:r>
              <a:rPr lang="it-IT" sz="1500" b="0" dirty="0" err="1">
                <a:solidFill>
                  <a:srgbClr val="6A9955"/>
                </a:solidFill>
                <a:effectLst/>
                <a:latin typeface="Consolas" panose="020B0609020204030204" pitchFamily="49" charset="0"/>
              </a:rPr>
              <a:t>Person</a:t>
            </a:r>
            <a:endParaRPr lang="it-IT" sz="15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057097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401648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getAge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4" name="CasellaDiTesto 3">
            <a:extLst>
              <a:ext uri="{FF2B5EF4-FFF2-40B4-BE49-F238E27FC236}">
                <a16:creationId xmlns:a16="http://schemas.microsoft.com/office/drawing/2014/main" id="{7E102D47-EE7A-9A08-6D0C-4F36C7DC04AD}"/>
              </a:ext>
            </a:extLst>
          </p:cNvPr>
          <p:cNvSpPr txBox="1"/>
          <p:nvPr/>
        </p:nvSpPr>
        <p:spPr>
          <a:xfrm>
            <a:off x="4015334" y="5465685"/>
            <a:ext cx="7916893" cy="553998"/>
          </a:xfrm>
          <a:prstGeom prst="rect">
            <a:avLst/>
          </a:prstGeom>
          <a:solidFill>
            <a:schemeClr val="tx1">
              <a:lumMod val="85000"/>
              <a:lumOff val="15000"/>
            </a:schemeClr>
          </a:solidFill>
        </p:spPr>
        <p:txBody>
          <a:bodyPr wrap="square">
            <a:spAutoFit/>
          </a:bodyPr>
          <a:lstStyle/>
          <a:p>
            <a:r>
              <a:rPr lang="it-IT" sz="1500" b="0" dirty="0">
                <a:solidFill>
                  <a:srgbClr val="6A9955"/>
                </a:solidFill>
                <a:effectLst/>
                <a:latin typeface="Consolas" panose="020B0609020204030204" pitchFamily="49" charset="0"/>
              </a:rPr>
              <a:t>// Creazione di un array di oggetti </a:t>
            </a:r>
            <a:r>
              <a:rPr lang="it-IT" sz="1500" b="0" dirty="0" err="1">
                <a:solidFill>
                  <a:srgbClr val="6A9955"/>
                </a:solidFill>
                <a:effectLst/>
                <a:latin typeface="Consolas" panose="020B0609020204030204" pitchFamily="49" charset="0"/>
              </a:rPr>
              <a:t>Person</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[3]</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987309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401648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getAge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4" name="CasellaDiTesto 3">
            <a:extLst>
              <a:ext uri="{FF2B5EF4-FFF2-40B4-BE49-F238E27FC236}">
                <a16:creationId xmlns:a16="http://schemas.microsoft.com/office/drawing/2014/main" id="{7E102D47-EE7A-9A08-6D0C-4F36C7DC04AD}"/>
              </a:ext>
            </a:extLst>
          </p:cNvPr>
          <p:cNvSpPr txBox="1"/>
          <p:nvPr/>
        </p:nvSpPr>
        <p:spPr>
          <a:xfrm>
            <a:off x="4015334" y="5465685"/>
            <a:ext cx="7916893" cy="784830"/>
          </a:xfrm>
          <a:prstGeom prst="rect">
            <a:avLst/>
          </a:prstGeom>
          <a:solidFill>
            <a:schemeClr val="tx1">
              <a:lumMod val="85000"/>
              <a:lumOff val="15000"/>
            </a:schemeClr>
          </a:solidFill>
        </p:spPr>
        <p:txBody>
          <a:bodyPr wrap="square">
            <a:spAutoFit/>
          </a:bodyPr>
          <a:lstStyle/>
          <a:p>
            <a:r>
              <a:rPr lang="it-IT" sz="1500" b="0" dirty="0">
                <a:solidFill>
                  <a:srgbClr val="6A9955"/>
                </a:solidFill>
                <a:effectLst/>
                <a:latin typeface="Consolas" panose="020B0609020204030204" pitchFamily="49" charset="0"/>
              </a:rPr>
              <a:t>// Creazione di un array di oggetti </a:t>
            </a:r>
            <a:r>
              <a:rPr lang="it-IT" sz="1500" b="0" dirty="0" err="1">
                <a:solidFill>
                  <a:srgbClr val="6A9955"/>
                </a:solidFill>
                <a:effectLst/>
                <a:latin typeface="Consolas" panose="020B0609020204030204" pitchFamily="49" charset="0"/>
              </a:rPr>
              <a:t>Person</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[3]</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[0]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("Mario Rossi"</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35)</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478350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401648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getAge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4" name="CasellaDiTesto 3">
            <a:extLst>
              <a:ext uri="{FF2B5EF4-FFF2-40B4-BE49-F238E27FC236}">
                <a16:creationId xmlns:a16="http://schemas.microsoft.com/office/drawing/2014/main" id="{7E102D47-EE7A-9A08-6D0C-4F36C7DC04AD}"/>
              </a:ext>
            </a:extLst>
          </p:cNvPr>
          <p:cNvSpPr txBox="1"/>
          <p:nvPr/>
        </p:nvSpPr>
        <p:spPr>
          <a:xfrm>
            <a:off x="4015334" y="5465685"/>
            <a:ext cx="7916893" cy="1015663"/>
          </a:xfrm>
          <a:prstGeom prst="rect">
            <a:avLst/>
          </a:prstGeom>
          <a:solidFill>
            <a:schemeClr val="tx1">
              <a:lumMod val="85000"/>
              <a:lumOff val="15000"/>
            </a:schemeClr>
          </a:solidFill>
        </p:spPr>
        <p:txBody>
          <a:bodyPr wrap="square">
            <a:spAutoFit/>
          </a:bodyPr>
          <a:lstStyle/>
          <a:p>
            <a:r>
              <a:rPr lang="it-IT" sz="1500" b="0" dirty="0">
                <a:solidFill>
                  <a:srgbClr val="6A9955"/>
                </a:solidFill>
                <a:effectLst/>
                <a:latin typeface="Consolas" panose="020B0609020204030204" pitchFamily="49" charset="0"/>
              </a:rPr>
              <a:t>// Creazione di un array di oggetti </a:t>
            </a:r>
            <a:r>
              <a:rPr lang="it-IT" sz="1500" b="0" dirty="0" err="1">
                <a:solidFill>
                  <a:srgbClr val="6A9955"/>
                </a:solidFill>
                <a:effectLst/>
                <a:latin typeface="Consolas" panose="020B0609020204030204" pitchFamily="49" charset="0"/>
              </a:rPr>
              <a:t>Person</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[3]</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[0]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("Mario Rossi"</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35)</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[1]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("Luigi Verdi"</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42)</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3156086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di vari tipi</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073286"/>
            <a:ext cx="8159346" cy="369332"/>
          </a:xfrm>
          <a:prstGeom prst="rect">
            <a:avLst/>
          </a:prstGeom>
          <a:noFill/>
        </p:spPr>
        <p:txBody>
          <a:bodyPr wrap="square">
            <a:spAutoFit/>
          </a:bodyPr>
          <a:lstStyle/>
          <a:p>
            <a:r>
              <a:rPr lang="it-IT" b="0" i="0" dirty="0">
                <a:solidFill>
                  <a:srgbClr val="374151"/>
                </a:solidFill>
                <a:effectLst/>
                <a:latin typeface="Söhne"/>
              </a:rPr>
              <a:t>Per creare un array di oggetti di una classe personalizzata, si può fare in questo modo:</a:t>
            </a:r>
            <a:endParaRPr lang="it-IT" dirty="0"/>
          </a:p>
        </p:txBody>
      </p:sp>
      <p:sp>
        <p:nvSpPr>
          <p:cNvPr id="19" name="CasellaDiTesto 18">
            <a:extLst>
              <a:ext uri="{FF2B5EF4-FFF2-40B4-BE49-F238E27FC236}">
                <a16:creationId xmlns:a16="http://schemas.microsoft.com/office/drawing/2014/main" id="{9A07D3D2-70B9-EBBC-B80B-3E6059A7940B}"/>
              </a:ext>
            </a:extLst>
          </p:cNvPr>
          <p:cNvSpPr txBox="1"/>
          <p:nvPr/>
        </p:nvSpPr>
        <p:spPr>
          <a:xfrm>
            <a:off x="4015334" y="1392315"/>
            <a:ext cx="7916893" cy="4016484"/>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private</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age)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this</a:t>
            </a:r>
            <a:r>
              <a:rPr lang="it-IT" sz="1500" b="0" dirty="0">
                <a:solidFill>
                  <a:srgbClr val="D4D4D4"/>
                </a:solidFill>
                <a:effectLst/>
                <a:latin typeface="Consolas" panose="020B0609020204030204" pitchFamily="49" charset="0"/>
              </a:rPr>
              <a:t>.name =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.age</a:t>
            </a:r>
            <a:r>
              <a:rPr lang="it-IT" sz="1500" b="0" dirty="0">
                <a:solidFill>
                  <a:srgbClr val="D4D4D4"/>
                </a:solidFill>
                <a:effectLst/>
                <a:latin typeface="Consolas" panose="020B0609020204030204" pitchFamily="49" charset="0"/>
              </a:rPr>
              <a:t> =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getName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name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br>
              <a:rPr lang="it-IT" sz="1500" b="0" dirty="0">
                <a:solidFill>
                  <a:srgbClr val="D4D4D4"/>
                </a:solidFill>
                <a:effectLst/>
                <a:latin typeface="Consolas" panose="020B0609020204030204" pitchFamily="49" charset="0"/>
              </a:rPr>
            </a:b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getAge</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return</a:t>
            </a:r>
            <a:r>
              <a:rPr lang="it-IT" sz="1500" b="0" dirty="0">
                <a:solidFill>
                  <a:srgbClr val="D4D4D4"/>
                </a:solidFill>
                <a:effectLst/>
                <a:latin typeface="Consolas" panose="020B0609020204030204" pitchFamily="49" charset="0"/>
              </a:rPr>
              <a:t> age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4" name="CasellaDiTesto 3">
            <a:extLst>
              <a:ext uri="{FF2B5EF4-FFF2-40B4-BE49-F238E27FC236}">
                <a16:creationId xmlns:a16="http://schemas.microsoft.com/office/drawing/2014/main" id="{7E102D47-EE7A-9A08-6D0C-4F36C7DC04AD}"/>
              </a:ext>
            </a:extLst>
          </p:cNvPr>
          <p:cNvSpPr txBox="1"/>
          <p:nvPr/>
        </p:nvSpPr>
        <p:spPr>
          <a:xfrm>
            <a:off x="4015334" y="5465685"/>
            <a:ext cx="7916893" cy="1246495"/>
          </a:xfrm>
          <a:prstGeom prst="rect">
            <a:avLst/>
          </a:prstGeom>
          <a:solidFill>
            <a:schemeClr val="tx1">
              <a:lumMod val="85000"/>
              <a:lumOff val="15000"/>
            </a:schemeClr>
          </a:solidFill>
        </p:spPr>
        <p:txBody>
          <a:bodyPr wrap="square">
            <a:spAutoFit/>
          </a:bodyPr>
          <a:lstStyle/>
          <a:p>
            <a:r>
              <a:rPr lang="it-IT" sz="1500" b="0" dirty="0">
                <a:solidFill>
                  <a:srgbClr val="6A9955"/>
                </a:solidFill>
                <a:effectLst/>
                <a:latin typeface="Consolas" panose="020B0609020204030204" pitchFamily="49" charset="0"/>
              </a:rPr>
              <a:t>// Creazione di un array di oggetti </a:t>
            </a:r>
            <a:r>
              <a:rPr lang="it-IT" sz="1500" b="0" dirty="0" err="1">
                <a:solidFill>
                  <a:srgbClr val="6A9955"/>
                </a:solidFill>
                <a:effectLst/>
                <a:latin typeface="Consolas" panose="020B0609020204030204" pitchFamily="49" charset="0"/>
              </a:rPr>
              <a:t>Person</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[3]</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[0]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("Mario Rossi"</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35)</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[1]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("Luigi Verdi"</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42)</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err="1">
                <a:solidFill>
                  <a:srgbClr val="D4D4D4"/>
                </a:solidFill>
                <a:effectLst/>
                <a:latin typeface="Consolas" panose="020B0609020204030204" pitchFamily="49" charset="0"/>
              </a:rPr>
              <a:t>peopleArray</a:t>
            </a:r>
            <a:r>
              <a:rPr lang="it-IT" sz="1500" b="0" dirty="0">
                <a:solidFill>
                  <a:srgbClr val="D4D4D4"/>
                </a:solidFill>
                <a:effectLst/>
                <a:latin typeface="Consolas" panose="020B0609020204030204" pitchFamily="49" charset="0"/>
              </a:rPr>
              <a:t>[2] = new </a:t>
            </a:r>
            <a:r>
              <a:rPr lang="it-IT" sz="1500" b="0" dirty="0" err="1">
                <a:solidFill>
                  <a:srgbClr val="D4D4D4"/>
                </a:solidFill>
                <a:effectLst/>
                <a:latin typeface="Consolas" panose="020B0609020204030204" pitchFamily="49" charset="0"/>
              </a:rPr>
              <a:t>Person</a:t>
            </a:r>
            <a:r>
              <a:rPr lang="it-IT" sz="1500" b="0" dirty="0">
                <a:solidFill>
                  <a:srgbClr val="D4D4D4"/>
                </a:solidFill>
                <a:effectLst/>
                <a:latin typeface="Consolas" panose="020B0609020204030204" pitchFamily="49" charset="0"/>
              </a:rPr>
              <a:t>("Giovanni Bianchi"</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27)</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170610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2677656"/>
          </a:xfrm>
          <a:prstGeom prst="rect">
            <a:avLst/>
          </a:prstGeom>
          <a:noFill/>
        </p:spPr>
        <p:txBody>
          <a:bodyPr wrap="square">
            <a:spAutoFit/>
          </a:bodyPr>
          <a:lstStyle/>
          <a:p>
            <a:pPr algn="l"/>
            <a:r>
              <a:rPr lang="it-IT" sz="2800" b="0" i="0" dirty="0">
                <a:solidFill>
                  <a:srgbClr val="374151"/>
                </a:solidFill>
                <a:effectLst/>
                <a:latin typeface="Söhne"/>
              </a:rPr>
              <a:t>In Java, gli array hanno una dimensione fissa definita al momento della loro creazione. Ciò significa che una volta creato un array, non è possibile aumentare o diminuire la sua dimensione. </a:t>
            </a:r>
          </a:p>
          <a:p>
            <a:pPr algn="l"/>
            <a:r>
              <a:rPr lang="it-IT" sz="2800" dirty="0">
                <a:solidFill>
                  <a:srgbClr val="374151"/>
                </a:solidFill>
                <a:latin typeface="Söhne"/>
              </a:rPr>
              <a:t>Questo in teoria. In pratica si può aggirare il problema come vedremo.</a:t>
            </a:r>
            <a:endParaRPr lang="it-IT" sz="2800" b="0" i="0" dirty="0">
              <a:solidFill>
                <a:srgbClr val="374151"/>
              </a:solidFill>
              <a:effectLst/>
              <a:latin typeface="Söhne"/>
            </a:endParaRPr>
          </a:p>
        </p:txBody>
      </p:sp>
    </p:spTree>
    <p:extLst>
      <p:ext uri="{BB962C8B-B14F-4D97-AF65-F5344CB8AC3E}">
        <p14:creationId xmlns:p14="http://schemas.microsoft.com/office/powerpoint/2010/main" val="1622124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1815882"/>
          </a:xfrm>
          <a:prstGeom prst="rect">
            <a:avLst/>
          </a:prstGeom>
          <a:noFill/>
        </p:spPr>
        <p:txBody>
          <a:bodyPr wrap="square">
            <a:spAutoFit/>
          </a:bodyPr>
          <a:lstStyle/>
          <a:p>
            <a:pPr algn="l"/>
            <a:r>
              <a:rPr lang="it-IT" sz="2800" b="0" i="0" dirty="0">
                <a:solidFill>
                  <a:srgbClr val="374151"/>
                </a:solidFill>
                <a:effectLst/>
                <a:latin typeface="Söhne"/>
              </a:rPr>
              <a:t>Tuttavia, non tenendo conto del fatto che esistono delle soluzioni per aggirare questo limite, questo può rappresentare un problema quando si ha bisogno di aggiungere o rimuovere elementi da un array.</a:t>
            </a:r>
          </a:p>
        </p:txBody>
      </p:sp>
    </p:spTree>
    <p:extLst>
      <p:ext uri="{BB962C8B-B14F-4D97-AF65-F5344CB8AC3E}">
        <p14:creationId xmlns:p14="http://schemas.microsoft.com/office/powerpoint/2010/main" val="16168209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1815882"/>
          </a:xfrm>
          <a:prstGeom prst="rect">
            <a:avLst/>
          </a:prstGeom>
          <a:noFill/>
        </p:spPr>
        <p:txBody>
          <a:bodyPr wrap="square">
            <a:spAutoFit/>
          </a:bodyPr>
          <a:lstStyle/>
          <a:p>
            <a:pPr algn="l"/>
            <a:r>
              <a:rPr lang="it-IT" sz="2800" b="0" i="0" dirty="0">
                <a:solidFill>
                  <a:srgbClr val="374151"/>
                </a:solidFill>
                <a:effectLst/>
                <a:latin typeface="Söhne"/>
              </a:rPr>
              <a:t>Per risolvere questo problema, si possono utilizzare strutture dati come le liste o le mappe, che permettono di aggiungere o rimuovere elementi in modo dinamico. </a:t>
            </a:r>
          </a:p>
        </p:txBody>
      </p:sp>
    </p:spTree>
    <p:extLst>
      <p:ext uri="{BB962C8B-B14F-4D97-AF65-F5344CB8AC3E}">
        <p14:creationId xmlns:p14="http://schemas.microsoft.com/office/powerpoint/2010/main" val="3495005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2246769"/>
          </a:xfrm>
          <a:prstGeom prst="rect">
            <a:avLst/>
          </a:prstGeom>
          <a:noFill/>
        </p:spPr>
        <p:txBody>
          <a:bodyPr wrap="square">
            <a:spAutoFit/>
          </a:bodyPr>
          <a:lstStyle/>
          <a:p>
            <a:pPr algn="l"/>
            <a:r>
              <a:rPr lang="it-IT" sz="2800" b="0" i="0" dirty="0">
                <a:solidFill>
                  <a:srgbClr val="374151"/>
                </a:solidFill>
                <a:effectLst/>
                <a:latin typeface="Söhne"/>
              </a:rPr>
              <a:t>Tuttavia, se si ha necessità di utilizzare un proprio un array, si può creare ridimensionare un oggetto, una variabile Array, istanziando in esso un nuovo array con una dimensione maggiore o minore rispetto a quella originale; </a:t>
            </a:r>
          </a:p>
        </p:txBody>
      </p:sp>
    </p:spTree>
    <p:extLst>
      <p:ext uri="{BB962C8B-B14F-4D97-AF65-F5344CB8AC3E}">
        <p14:creationId xmlns:p14="http://schemas.microsoft.com/office/powerpoint/2010/main" val="37993773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1815882"/>
          </a:xfrm>
          <a:prstGeom prst="rect">
            <a:avLst/>
          </a:prstGeom>
          <a:noFill/>
        </p:spPr>
        <p:txBody>
          <a:bodyPr wrap="square">
            <a:spAutoFit/>
          </a:bodyPr>
          <a:lstStyle/>
          <a:p>
            <a:pPr algn="l"/>
            <a:r>
              <a:rPr lang="it-IT" sz="2800" b="0" i="0" dirty="0">
                <a:solidFill>
                  <a:srgbClr val="374151"/>
                </a:solidFill>
                <a:effectLst/>
                <a:latin typeface="Söhne"/>
              </a:rPr>
              <a:t>questo porta con se il problema che si perdono tutti i valori in esso contenuti, ma è possibile copiare i valori dell'array originale nel nuovo array e poi utilizzare il nuovo array. </a:t>
            </a:r>
          </a:p>
        </p:txBody>
      </p:sp>
    </p:spTree>
    <p:extLst>
      <p:ext uri="{BB962C8B-B14F-4D97-AF65-F5344CB8AC3E}">
        <p14:creationId xmlns:p14="http://schemas.microsoft.com/office/powerpoint/2010/main" val="585451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1815882"/>
          </a:xfrm>
          <a:prstGeom prst="rect">
            <a:avLst/>
          </a:prstGeom>
          <a:noFill/>
        </p:spPr>
        <p:txBody>
          <a:bodyPr wrap="square">
            <a:spAutoFit/>
          </a:bodyPr>
          <a:lstStyle/>
          <a:p>
            <a:pPr algn="l"/>
            <a:r>
              <a:rPr lang="it-IT" sz="2800" b="0" i="0" dirty="0">
                <a:solidFill>
                  <a:srgbClr val="374151"/>
                </a:solidFill>
                <a:effectLst/>
                <a:latin typeface="Söhne"/>
              </a:rPr>
              <a:t>Ad esempio, se si ha un array di 10 elementi e si vuole aggiungere un elemento, si può creare un nuovo array di 11 elementi, copiare i valori del vecchio array nel nuovo array e poi aggiungere il nuovo elemento. </a:t>
            </a:r>
          </a:p>
        </p:txBody>
      </p:sp>
    </p:spTree>
    <p:extLst>
      <p:ext uri="{BB962C8B-B14F-4D97-AF65-F5344CB8AC3E}">
        <p14:creationId xmlns:p14="http://schemas.microsoft.com/office/powerpoint/2010/main" val="4263519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1815882"/>
          </a:xfrm>
          <a:prstGeom prst="rect">
            <a:avLst/>
          </a:prstGeom>
          <a:noFill/>
        </p:spPr>
        <p:txBody>
          <a:bodyPr wrap="square">
            <a:spAutoFit/>
          </a:bodyPr>
          <a:lstStyle/>
          <a:p>
            <a:pPr algn="l"/>
            <a:r>
              <a:rPr lang="it-IT" sz="2800" b="0" i="0" dirty="0">
                <a:solidFill>
                  <a:srgbClr val="374151"/>
                </a:solidFill>
                <a:effectLst/>
                <a:latin typeface="Söhne"/>
              </a:rPr>
              <a:t>Se invece si vuole eliminare un elemento, si può creare un nuovo array di 9 elementi, copiare i valori del vecchio array nel nuovo array, escludendo l'elemento da eliminare.</a:t>
            </a:r>
          </a:p>
        </p:txBody>
      </p:sp>
    </p:spTree>
    <p:extLst>
      <p:ext uri="{BB962C8B-B14F-4D97-AF65-F5344CB8AC3E}">
        <p14:creationId xmlns:p14="http://schemas.microsoft.com/office/powerpoint/2010/main" val="81265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600145" y="2375875"/>
            <a:ext cx="8159346" cy="1815882"/>
          </a:xfrm>
          <a:prstGeom prst="rect">
            <a:avLst/>
          </a:prstGeom>
          <a:noFill/>
        </p:spPr>
        <p:txBody>
          <a:bodyPr wrap="square">
            <a:spAutoFit/>
          </a:bodyPr>
          <a:lstStyle/>
          <a:p>
            <a:pPr algn="l"/>
            <a:r>
              <a:rPr lang="it-IT" sz="2800" b="0" i="0" dirty="0">
                <a:solidFill>
                  <a:srgbClr val="374151"/>
                </a:solidFill>
                <a:effectLst/>
                <a:latin typeface="Söhne"/>
              </a:rPr>
              <a:t>Inoltre, per evitare sprechi di memoria, è consigliabile ridimensionare l'array solo quando è strettamente necessario e non farlo troppo spesso, in modo da limitare il numero di copie dei valori dell'array.</a:t>
            </a:r>
          </a:p>
        </p:txBody>
      </p:sp>
    </p:spTree>
    <p:extLst>
      <p:ext uri="{BB962C8B-B14F-4D97-AF65-F5344CB8AC3E}">
        <p14:creationId xmlns:p14="http://schemas.microsoft.com/office/powerpoint/2010/main" val="731210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Tree>
    <p:extLst>
      <p:ext uri="{BB962C8B-B14F-4D97-AF65-F5344CB8AC3E}">
        <p14:creationId xmlns:p14="http://schemas.microsoft.com/office/powerpoint/2010/main" val="6354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
        <p:nvSpPr>
          <p:cNvPr id="4" name="CasellaDiTesto 3">
            <a:extLst>
              <a:ext uri="{FF2B5EF4-FFF2-40B4-BE49-F238E27FC236}">
                <a16:creationId xmlns:a16="http://schemas.microsoft.com/office/drawing/2014/main" id="{2A8D07BA-047C-6526-E7F4-31CB6B27AE4D}"/>
              </a:ext>
            </a:extLst>
          </p:cNvPr>
          <p:cNvSpPr txBox="1"/>
          <p:nvPr/>
        </p:nvSpPr>
        <p:spPr>
          <a:xfrm>
            <a:off x="3894108" y="2510916"/>
            <a:ext cx="7906828"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Example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resizeArray</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Math.min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System.arraycopy</a:t>
            </a:r>
            <a:r>
              <a:rPr lang="it-IT" b="0" dirty="0">
                <a:solidFill>
                  <a:srgbClr val="D4D4D4"/>
                </a:solidFill>
                <a:effectLst/>
                <a:latin typeface="Consolas" panose="020B0609020204030204" pitchFamily="49" charset="0"/>
              </a:rPr>
              <a:t>(array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array =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954817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
        <p:nvSpPr>
          <p:cNvPr id="4" name="CasellaDiTesto 3">
            <a:extLst>
              <a:ext uri="{FF2B5EF4-FFF2-40B4-BE49-F238E27FC236}">
                <a16:creationId xmlns:a16="http://schemas.microsoft.com/office/drawing/2014/main" id="{2A8D07BA-047C-6526-E7F4-31CB6B27AE4D}"/>
              </a:ext>
            </a:extLst>
          </p:cNvPr>
          <p:cNvSpPr txBox="1"/>
          <p:nvPr/>
        </p:nvSpPr>
        <p:spPr>
          <a:xfrm>
            <a:off x="3894108" y="2510916"/>
            <a:ext cx="7906828"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Example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resizeArray</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Math.min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System.arraycopy</a:t>
            </a:r>
            <a:r>
              <a:rPr lang="it-IT" b="0" dirty="0">
                <a:solidFill>
                  <a:srgbClr val="D4D4D4"/>
                </a:solidFill>
                <a:effectLst/>
                <a:latin typeface="Consolas" panose="020B0609020204030204" pitchFamily="49" charset="0"/>
              </a:rPr>
              <a:t>(array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array =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7" name="CasellaDiTesto 6">
            <a:extLst>
              <a:ext uri="{FF2B5EF4-FFF2-40B4-BE49-F238E27FC236}">
                <a16:creationId xmlns:a16="http://schemas.microsoft.com/office/drawing/2014/main" id="{87ADF9A0-B412-8EE5-E02B-DD1C8C9C3E1B}"/>
              </a:ext>
            </a:extLst>
          </p:cNvPr>
          <p:cNvSpPr txBox="1"/>
          <p:nvPr/>
        </p:nvSpPr>
        <p:spPr>
          <a:xfrm>
            <a:off x="282039" y="1779687"/>
            <a:ext cx="3359551" cy="1015663"/>
          </a:xfrm>
          <a:prstGeom prst="rect">
            <a:avLst/>
          </a:prstGeom>
          <a:noFill/>
        </p:spPr>
        <p:txBody>
          <a:bodyPr wrap="square">
            <a:spAutoFit/>
          </a:bodyPr>
          <a:lstStyle/>
          <a:p>
            <a:r>
              <a:rPr lang="it-IT" sz="1500" dirty="0"/>
              <a:t>In questo esempio, il metodo </a:t>
            </a:r>
            <a:r>
              <a:rPr lang="it-IT" sz="1500" dirty="0" err="1"/>
              <a:t>resizeArray</a:t>
            </a:r>
            <a:r>
              <a:rPr lang="it-IT" sz="1500" dirty="0"/>
              <a:t> prende in input un intero </a:t>
            </a:r>
            <a:r>
              <a:rPr lang="it-IT" sz="1500" dirty="0" err="1"/>
              <a:t>newSize</a:t>
            </a:r>
            <a:r>
              <a:rPr lang="it-IT" sz="1500" dirty="0"/>
              <a:t> che rappresenta la nuova dimensione dell'array. </a:t>
            </a:r>
          </a:p>
        </p:txBody>
      </p:sp>
    </p:spTree>
    <p:extLst>
      <p:ext uri="{BB962C8B-B14F-4D97-AF65-F5344CB8AC3E}">
        <p14:creationId xmlns:p14="http://schemas.microsoft.com/office/powerpoint/2010/main" val="4292755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
        <p:nvSpPr>
          <p:cNvPr id="4" name="CasellaDiTesto 3">
            <a:extLst>
              <a:ext uri="{FF2B5EF4-FFF2-40B4-BE49-F238E27FC236}">
                <a16:creationId xmlns:a16="http://schemas.microsoft.com/office/drawing/2014/main" id="{2A8D07BA-047C-6526-E7F4-31CB6B27AE4D}"/>
              </a:ext>
            </a:extLst>
          </p:cNvPr>
          <p:cNvSpPr txBox="1"/>
          <p:nvPr/>
        </p:nvSpPr>
        <p:spPr>
          <a:xfrm>
            <a:off x="3894108" y="2510916"/>
            <a:ext cx="7906828"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Example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resizeArray</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Math.min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System.arraycopy</a:t>
            </a:r>
            <a:r>
              <a:rPr lang="it-IT" b="0" dirty="0">
                <a:solidFill>
                  <a:srgbClr val="D4D4D4"/>
                </a:solidFill>
                <a:effectLst/>
                <a:latin typeface="Consolas" panose="020B0609020204030204" pitchFamily="49" charset="0"/>
              </a:rPr>
              <a:t>(array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array =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85614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
        <p:nvSpPr>
          <p:cNvPr id="4" name="CasellaDiTesto 3">
            <a:extLst>
              <a:ext uri="{FF2B5EF4-FFF2-40B4-BE49-F238E27FC236}">
                <a16:creationId xmlns:a16="http://schemas.microsoft.com/office/drawing/2014/main" id="{2A8D07BA-047C-6526-E7F4-31CB6B27AE4D}"/>
              </a:ext>
            </a:extLst>
          </p:cNvPr>
          <p:cNvSpPr txBox="1"/>
          <p:nvPr/>
        </p:nvSpPr>
        <p:spPr>
          <a:xfrm>
            <a:off x="3894108" y="2510916"/>
            <a:ext cx="7906828"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Example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resizeArray</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Math.min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System.arraycopy</a:t>
            </a:r>
            <a:r>
              <a:rPr lang="it-IT" b="0" dirty="0">
                <a:solidFill>
                  <a:srgbClr val="D4D4D4"/>
                </a:solidFill>
                <a:effectLst/>
                <a:latin typeface="Consolas" panose="020B0609020204030204" pitchFamily="49" charset="0"/>
              </a:rPr>
              <a:t>(array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array =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7" name="CasellaDiTesto 6">
            <a:extLst>
              <a:ext uri="{FF2B5EF4-FFF2-40B4-BE49-F238E27FC236}">
                <a16:creationId xmlns:a16="http://schemas.microsoft.com/office/drawing/2014/main" id="{87ADF9A0-B412-8EE5-E02B-DD1C8C9C3E1B}"/>
              </a:ext>
            </a:extLst>
          </p:cNvPr>
          <p:cNvSpPr txBox="1"/>
          <p:nvPr/>
        </p:nvSpPr>
        <p:spPr>
          <a:xfrm>
            <a:off x="282039" y="1779687"/>
            <a:ext cx="3359551" cy="1477328"/>
          </a:xfrm>
          <a:prstGeom prst="rect">
            <a:avLst/>
          </a:prstGeom>
          <a:noFill/>
        </p:spPr>
        <p:txBody>
          <a:bodyPr wrap="square">
            <a:spAutoFit/>
          </a:bodyPr>
          <a:lstStyle/>
          <a:p>
            <a:r>
              <a:rPr lang="it-IT" sz="1500" dirty="0"/>
              <a:t>In questo esempio, il metodo </a:t>
            </a:r>
            <a:r>
              <a:rPr lang="it-IT" sz="1500" dirty="0" err="1"/>
              <a:t>resizeArray</a:t>
            </a:r>
            <a:r>
              <a:rPr lang="it-IT" sz="1500" dirty="0"/>
              <a:t> prende in input un intero </a:t>
            </a:r>
            <a:r>
              <a:rPr lang="it-IT" sz="1500" dirty="0" err="1"/>
              <a:t>newSize</a:t>
            </a:r>
            <a:r>
              <a:rPr lang="it-IT" sz="1500" dirty="0"/>
              <a:t> che rappresenta la nuova dimensione dell'array. Il metodo crea quindi un nuovo array temporaneo </a:t>
            </a:r>
            <a:r>
              <a:rPr lang="it-IT" sz="1500" dirty="0" err="1"/>
              <a:t>tempArray</a:t>
            </a:r>
            <a:r>
              <a:rPr lang="it-IT" sz="1500" dirty="0"/>
              <a:t> con la dimensione </a:t>
            </a:r>
            <a:r>
              <a:rPr lang="it-IT" sz="1500" dirty="0" err="1"/>
              <a:t>newSize</a:t>
            </a:r>
            <a:r>
              <a:rPr lang="it-IT" sz="1500" dirty="0"/>
              <a:t>.</a:t>
            </a:r>
          </a:p>
        </p:txBody>
      </p:sp>
    </p:spTree>
    <p:extLst>
      <p:ext uri="{BB962C8B-B14F-4D97-AF65-F5344CB8AC3E}">
        <p14:creationId xmlns:p14="http://schemas.microsoft.com/office/powerpoint/2010/main" val="2104117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
        <p:nvSpPr>
          <p:cNvPr id="4" name="CasellaDiTesto 3">
            <a:extLst>
              <a:ext uri="{FF2B5EF4-FFF2-40B4-BE49-F238E27FC236}">
                <a16:creationId xmlns:a16="http://schemas.microsoft.com/office/drawing/2014/main" id="{2A8D07BA-047C-6526-E7F4-31CB6B27AE4D}"/>
              </a:ext>
            </a:extLst>
          </p:cNvPr>
          <p:cNvSpPr txBox="1"/>
          <p:nvPr/>
        </p:nvSpPr>
        <p:spPr>
          <a:xfrm>
            <a:off x="3894108" y="2510916"/>
            <a:ext cx="7906828"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Example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resizeArray</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Math.min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System.arraycopy</a:t>
            </a:r>
            <a:r>
              <a:rPr lang="it-IT" b="0" dirty="0">
                <a:solidFill>
                  <a:srgbClr val="D4D4D4"/>
                </a:solidFill>
                <a:effectLst/>
                <a:latin typeface="Consolas" panose="020B0609020204030204" pitchFamily="49" charset="0"/>
              </a:rPr>
              <a:t>(array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array =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7" name="CasellaDiTesto 6">
            <a:extLst>
              <a:ext uri="{FF2B5EF4-FFF2-40B4-BE49-F238E27FC236}">
                <a16:creationId xmlns:a16="http://schemas.microsoft.com/office/drawing/2014/main" id="{87ADF9A0-B412-8EE5-E02B-DD1C8C9C3E1B}"/>
              </a:ext>
            </a:extLst>
          </p:cNvPr>
          <p:cNvSpPr txBox="1"/>
          <p:nvPr/>
        </p:nvSpPr>
        <p:spPr>
          <a:xfrm>
            <a:off x="282039" y="1779687"/>
            <a:ext cx="3359551" cy="2862322"/>
          </a:xfrm>
          <a:prstGeom prst="rect">
            <a:avLst/>
          </a:prstGeom>
          <a:noFill/>
        </p:spPr>
        <p:txBody>
          <a:bodyPr wrap="square">
            <a:spAutoFit/>
          </a:bodyPr>
          <a:lstStyle/>
          <a:p>
            <a:r>
              <a:rPr lang="it-IT" sz="1500" dirty="0"/>
              <a:t>In questo esempio, il metodo </a:t>
            </a:r>
            <a:r>
              <a:rPr lang="it-IT" sz="1500" dirty="0" err="1"/>
              <a:t>resizeArray</a:t>
            </a:r>
            <a:r>
              <a:rPr lang="it-IT" sz="1500" dirty="0"/>
              <a:t> prende in input un intero </a:t>
            </a:r>
            <a:r>
              <a:rPr lang="it-IT" sz="1500" dirty="0" err="1"/>
              <a:t>newSize</a:t>
            </a:r>
            <a:r>
              <a:rPr lang="it-IT" sz="1500" dirty="0"/>
              <a:t> che rappresenta la nuova dimensione dell'array. Il metodo crea quindi un nuovo array temporaneo </a:t>
            </a:r>
            <a:r>
              <a:rPr lang="it-IT" sz="1500" dirty="0" err="1"/>
              <a:t>tempArray</a:t>
            </a:r>
            <a:r>
              <a:rPr lang="it-IT" sz="1500" dirty="0"/>
              <a:t> con la dimensione </a:t>
            </a:r>
            <a:r>
              <a:rPr lang="it-IT" sz="1500" dirty="0" err="1"/>
              <a:t>newSize</a:t>
            </a:r>
            <a:r>
              <a:rPr lang="it-IT" sz="1500" dirty="0"/>
              <a:t>.</a:t>
            </a:r>
          </a:p>
          <a:p>
            <a:endParaRPr lang="it-IT" sz="1500" dirty="0"/>
          </a:p>
          <a:p>
            <a:r>
              <a:rPr lang="it-IT" sz="1500" dirty="0"/>
              <a:t>Il metodo </a:t>
            </a:r>
            <a:r>
              <a:rPr lang="it-IT" sz="1500" dirty="0" err="1"/>
              <a:t>System.arraycopy</a:t>
            </a:r>
            <a:r>
              <a:rPr lang="it-IT" sz="1500" dirty="0"/>
              <a:t> copia i valori dell'array originale array nell'array temporaneo </a:t>
            </a:r>
            <a:r>
              <a:rPr lang="it-IT" sz="1500" dirty="0" err="1"/>
              <a:t>tempArray</a:t>
            </a:r>
            <a:r>
              <a:rPr lang="it-IT" sz="1500" dirty="0"/>
              <a:t>, mantenendo i valori presenti nell'array originale e ridimensionando l'array temporaneo.</a:t>
            </a:r>
          </a:p>
        </p:txBody>
      </p:sp>
    </p:spTree>
    <p:extLst>
      <p:ext uri="{BB962C8B-B14F-4D97-AF65-F5344CB8AC3E}">
        <p14:creationId xmlns:p14="http://schemas.microsoft.com/office/powerpoint/2010/main" val="19511417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Gli Array: il problema del ridimensionamento</a:t>
            </a:r>
          </a:p>
        </p:txBody>
      </p:sp>
      <p:sp>
        <p:nvSpPr>
          <p:cNvPr id="2" name="CasellaDiTesto 1">
            <a:extLst>
              <a:ext uri="{FF2B5EF4-FFF2-40B4-BE49-F238E27FC236}">
                <a16:creationId xmlns:a16="http://schemas.microsoft.com/office/drawing/2014/main" id="{640E88D9-E15A-D40F-4A38-33C564A4077A}"/>
              </a:ext>
            </a:extLst>
          </p:cNvPr>
          <p:cNvSpPr txBox="1"/>
          <p:nvPr/>
        </p:nvSpPr>
        <p:spPr>
          <a:xfrm>
            <a:off x="282039" y="1417713"/>
            <a:ext cx="3280558" cy="373692"/>
          </a:xfrm>
          <a:prstGeom prst="rect">
            <a:avLst/>
          </a:prstGeom>
          <a:solidFill>
            <a:schemeClr val="accent4">
              <a:lumMod val="40000"/>
              <a:lumOff val="6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Array</a:t>
            </a:r>
            <a:endParaRPr lang="it-IT"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384995"/>
          </a:xfrm>
          <a:prstGeom prst="rect">
            <a:avLst/>
          </a:prstGeom>
          <a:noFill/>
        </p:spPr>
        <p:txBody>
          <a:bodyPr wrap="square">
            <a:spAutoFit/>
          </a:bodyPr>
          <a:lstStyle/>
          <a:p>
            <a:pPr algn="l"/>
            <a:r>
              <a:rPr lang="it-IT" sz="2800" b="0" i="0" dirty="0">
                <a:solidFill>
                  <a:srgbClr val="374151"/>
                </a:solidFill>
                <a:effectLst/>
                <a:latin typeface="Söhne"/>
              </a:rPr>
              <a:t>ecco un esempio di metodo che ridimensiona un campo array di interi di una classe conservando i valori presenti:</a:t>
            </a:r>
          </a:p>
        </p:txBody>
      </p:sp>
      <p:sp>
        <p:nvSpPr>
          <p:cNvPr id="4" name="CasellaDiTesto 3">
            <a:extLst>
              <a:ext uri="{FF2B5EF4-FFF2-40B4-BE49-F238E27FC236}">
                <a16:creationId xmlns:a16="http://schemas.microsoft.com/office/drawing/2014/main" id="{2A8D07BA-047C-6526-E7F4-31CB6B27AE4D}"/>
              </a:ext>
            </a:extLst>
          </p:cNvPr>
          <p:cNvSpPr txBox="1"/>
          <p:nvPr/>
        </p:nvSpPr>
        <p:spPr>
          <a:xfrm>
            <a:off x="3894108" y="2510916"/>
            <a:ext cx="7906828"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Example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private</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resizeArray</a:t>
            </a:r>
            <a:r>
              <a:rPr lang="it-IT" b="0" dirty="0">
                <a:solidFill>
                  <a:srgbClr val="D4D4D4"/>
                </a:solidFill>
                <a:effectLst/>
                <a:latin typeface="Consolas" panose="020B0609020204030204" pitchFamily="49" charset="0"/>
              </a:rPr>
              <a:t>(</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Math.min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newSize</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array.length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System.arraycopy</a:t>
            </a:r>
            <a:r>
              <a:rPr lang="it-IT" b="0" dirty="0">
                <a:solidFill>
                  <a:srgbClr val="D4D4D4"/>
                </a:solidFill>
                <a:effectLst/>
                <a:latin typeface="Consolas" panose="020B0609020204030204" pitchFamily="49" charset="0"/>
              </a:rPr>
              <a:t>(array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0</a:t>
            </a:r>
            <a:r>
              <a:rPr lang="it-IT" b="0" dirty="0">
                <a:solidFill>
                  <a:srgbClr val="569CD6"/>
                </a:solidFill>
                <a:effectLst/>
                <a:latin typeface="Consolas" panose="020B0609020204030204" pitchFamily="49" charset="0"/>
              </a:rPr>
              <a: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copyLength</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array = </a:t>
            </a:r>
            <a:r>
              <a:rPr lang="it-IT" b="0" dirty="0" err="1">
                <a:solidFill>
                  <a:srgbClr val="D4D4D4"/>
                </a:solidFill>
                <a:effectLst/>
                <a:latin typeface="Consolas" panose="020B0609020204030204" pitchFamily="49" charset="0"/>
              </a:rPr>
              <a:t>tempArray</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7" name="CasellaDiTesto 6">
            <a:extLst>
              <a:ext uri="{FF2B5EF4-FFF2-40B4-BE49-F238E27FC236}">
                <a16:creationId xmlns:a16="http://schemas.microsoft.com/office/drawing/2014/main" id="{87ADF9A0-B412-8EE5-E02B-DD1C8C9C3E1B}"/>
              </a:ext>
            </a:extLst>
          </p:cNvPr>
          <p:cNvSpPr txBox="1"/>
          <p:nvPr/>
        </p:nvSpPr>
        <p:spPr>
          <a:xfrm>
            <a:off x="282039" y="1779687"/>
            <a:ext cx="3359551" cy="4016484"/>
          </a:xfrm>
          <a:prstGeom prst="rect">
            <a:avLst/>
          </a:prstGeom>
          <a:noFill/>
        </p:spPr>
        <p:txBody>
          <a:bodyPr wrap="square">
            <a:spAutoFit/>
          </a:bodyPr>
          <a:lstStyle/>
          <a:p>
            <a:r>
              <a:rPr lang="it-IT" sz="1500" dirty="0"/>
              <a:t>In questo esempio, il metodo </a:t>
            </a:r>
            <a:r>
              <a:rPr lang="it-IT" sz="1500" dirty="0" err="1"/>
              <a:t>resizeArray</a:t>
            </a:r>
            <a:r>
              <a:rPr lang="it-IT" sz="1500" dirty="0"/>
              <a:t> prende in input un intero </a:t>
            </a:r>
            <a:r>
              <a:rPr lang="it-IT" sz="1500" dirty="0" err="1"/>
              <a:t>newSize</a:t>
            </a:r>
            <a:r>
              <a:rPr lang="it-IT" sz="1500" dirty="0"/>
              <a:t> che rappresenta la nuova dimensione dell'array. Il metodo crea quindi un nuovo array temporaneo </a:t>
            </a:r>
            <a:r>
              <a:rPr lang="it-IT" sz="1500" dirty="0" err="1"/>
              <a:t>tempArray</a:t>
            </a:r>
            <a:r>
              <a:rPr lang="it-IT" sz="1500" dirty="0"/>
              <a:t> con la dimensione </a:t>
            </a:r>
            <a:r>
              <a:rPr lang="it-IT" sz="1500" dirty="0" err="1"/>
              <a:t>newSize</a:t>
            </a:r>
            <a:r>
              <a:rPr lang="it-IT" sz="1500" dirty="0"/>
              <a:t>.</a:t>
            </a:r>
          </a:p>
          <a:p>
            <a:endParaRPr lang="it-IT" sz="1500" dirty="0"/>
          </a:p>
          <a:p>
            <a:r>
              <a:rPr lang="it-IT" sz="1500" dirty="0"/>
              <a:t>Il metodo </a:t>
            </a:r>
            <a:r>
              <a:rPr lang="it-IT" sz="1500" dirty="0" err="1"/>
              <a:t>System.arraycopy</a:t>
            </a:r>
            <a:r>
              <a:rPr lang="it-IT" sz="1500" dirty="0"/>
              <a:t> copia i valori dell'array originale array nell'array temporaneo </a:t>
            </a:r>
            <a:r>
              <a:rPr lang="it-IT" sz="1500" dirty="0" err="1"/>
              <a:t>tempArray</a:t>
            </a:r>
            <a:r>
              <a:rPr lang="it-IT" sz="1500" dirty="0"/>
              <a:t>, mantenendo i valori presenti nell'array originale e ridimensionando l'array temporaneo.</a:t>
            </a:r>
          </a:p>
          <a:p>
            <a:endParaRPr lang="it-IT" sz="1500" dirty="0"/>
          </a:p>
          <a:p>
            <a:r>
              <a:rPr lang="it-IT" sz="1500" dirty="0"/>
              <a:t>Infine, il campo array viene sovrascritto con l'array temporaneo </a:t>
            </a:r>
            <a:r>
              <a:rPr lang="it-IT" sz="1500" dirty="0" err="1"/>
              <a:t>tempArray</a:t>
            </a:r>
            <a:r>
              <a:rPr lang="it-IT" sz="1500" dirty="0"/>
              <a:t>, completando il ridimensionamento dell'array.</a:t>
            </a:r>
          </a:p>
        </p:txBody>
      </p:sp>
    </p:spTree>
    <p:extLst>
      <p:ext uri="{BB962C8B-B14F-4D97-AF65-F5344CB8AC3E}">
        <p14:creationId xmlns:p14="http://schemas.microsoft.com/office/powerpoint/2010/main" val="35202327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784830"/>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p:txBody>
      </p:sp>
    </p:spTree>
    <p:extLst>
      <p:ext uri="{BB962C8B-B14F-4D97-AF65-F5344CB8AC3E}">
        <p14:creationId xmlns:p14="http://schemas.microsoft.com/office/powerpoint/2010/main" val="2984365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477328"/>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p:txBody>
      </p:sp>
    </p:spTree>
    <p:extLst>
      <p:ext uri="{BB962C8B-B14F-4D97-AF65-F5344CB8AC3E}">
        <p14:creationId xmlns:p14="http://schemas.microsoft.com/office/powerpoint/2010/main" val="1139059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Tree>
    <p:extLst>
      <p:ext uri="{BB962C8B-B14F-4D97-AF65-F5344CB8AC3E}">
        <p14:creationId xmlns:p14="http://schemas.microsoft.com/office/powerpoint/2010/main" val="3140773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36933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4689897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1200329"/>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830358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1754326"/>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344788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2031325"/>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656878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2308324"/>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792886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2585323"/>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860378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2862322"/>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3"</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800134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3"</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5859314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3"</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F19186C5-1C4A-0590-3618-F1ECAEE8CF9A}"/>
              </a:ext>
            </a:extLst>
          </p:cNvPr>
          <p:cNvSpPr txBox="1"/>
          <p:nvPr/>
        </p:nvSpPr>
        <p:spPr>
          <a:xfrm>
            <a:off x="178448" y="2504385"/>
            <a:ext cx="3492064" cy="784830"/>
          </a:xfrm>
          <a:prstGeom prst="rect">
            <a:avLst/>
          </a:prstGeom>
          <a:noFill/>
        </p:spPr>
        <p:txBody>
          <a:bodyPr wrap="square">
            <a:spAutoFit/>
          </a:bodyPr>
          <a:lstStyle/>
          <a:p>
            <a:r>
              <a:rPr lang="it-IT" sz="1500" dirty="0"/>
              <a:t>In questo esempio, viene creato un nuovo </a:t>
            </a:r>
            <a:r>
              <a:rPr lang="it-IT" sz="1500" dirty="0" err="1"/>
              <a:t>Vector</a:t>
            </a:r>
            <a:r>
              <a:rPr lang="it-IT" sz="1500" dirty="0"/>
              <a:t> di tipo </a:t>
            </a:r>
            <a:r>
              <a:rPr lang="it-IT" sz="1500" dirty="0" err="1"/>
              <a:t>String</a:t>
            </a:r>
            <a:r>
              <a:rPr lang="it-IT" sz="1500" dirty="0"/>
              <a:t> e vengono aggiunti tre elementi utilizzando il metodo </a:t>
            </a:r>
            <a:r>
              <a:rPr lang="it-IT" sz="1500" dirty="0" err="1"/>
              <a:t>add</a:t>
            </a:r>
            <a:r>
              <a:rPr lang="it-IT" sz="1500" dirty="0"/>
              <a:t>(). </a:t>
            </a:r>
          </a:p>
        </p:txBody>
      </p:sp>
    </p:spTree>
    <p:extLst>
      <p:ext uri="{BB962C8B-B14F-4D97-AF65-F5344CB8AC3E}">
        <p14:creationId xmlns:p14="http://schemas.microsoft.com/office/powerpoint/2010/main" val="915125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3"</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F19186C5-1C4A-0590-3618-F1ECAEE8CF9A}"/>
              </a:ext>
            </a:extLst>
          </p:cNvPr>
          <p:cNvSpPr txBox="1"/>
          <p:nvPr/>
        </p:nvSpPr>
        <p:spPr>
          <a:xfrm>
            <a:off x="178448" y="2504385"/>
            <a:ext cx="3492064" cy="1477328"/>
          </a:xfrm>
          <a:prstGeom prst="rect">
            <a:avLst/>
          </a:prstGeom>
          <a:noFill/>
        </p:spPr>
        <p:txBody>
          <a:bodyPr wrap="square">
            <a:spAutoFit/>
          </a:bodyPr>
          <a:lstStyle/>
          <a:p>
            <a:r>
              <a:rPr lang="it-IT" sz="1500" dirty="0"/>
              <a:t>In questo esempio, viene creato un nuovo </a:t>
            </a:r>
            <a:r>
              <a:rPr lang="it-IT" sz="1500" dirty="0" err="1"/>
              <a:t>Vector</a:t>
            </a:r>
            <a:r>
              <a:rPr lang="it-IT" sz="1500" dirty="0"/>
              <a:t> di tipo </a:t>
            </a:r>
            <a:r>
              <a:rPr lang="it-IT" sz="1500" dirty="0" err="1"/>
              <a:t>String</a:t>
            </a:r>
            <a:r>
              <a:rPr lang="it-IT" sz="1500" dirty="0"/>
              <a:t> e vengono aggiunti tre elementi utilizzando il metodo </a:t>
            </a:r>
            <a:r>
              <a:rPr lang="it-IT" sz="1500" dirty="0" err="1"/>
              <a:t>add</a:t>
            </a:r>
            <a:r>
              <a:rPr lang="it-IT" sz="1500" dirty="0"/>
              <a:t>(). Infine, viene stampato a video l'intero contenuto del vettore utilizzando il metodo </a:t>
            </a:r>
            <a:r>
              <a:rPr lang="it-IT" sz="1500" dirty="0" err="1"/>
              <a:t>toString</a:t>
            </a:r>
            <a:r>
              <a:rPr lang="it-IT" sz="1500" dirty="0"/>
              <a:t>().</a:t>
            </a:r>
          </a:p>
        </p:txBody>
      </p:sp>
    </p:spTree>
    <p:extLst>
      <p:ext uri="{BB962C8B-B14F-4D97-AF65-F5344CB8AC3E}">
        <p14:creationId xmlns:p14="http://schemas.microsoft.com/office/powerpoint/2010/main" val="534697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3"</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F19186C5-1C4A-0590-3618-F1ECAEE8CF9A}"/>
              </a:ext>
            </a:extLst>
          </p:cNvPr>
          <p:cNvSpPr txBox="1"/>
          <p:nvPr/>
        </p:nvSpPr>
        <p:spPr>
          <a:xfrm>
            <a:off x="178448" y="2504385"/>
            <a:ext cx="3492064" cy="3323987"/>
          </a:xfrm>
          <a:prstGeom prst="rect">
            <a:avLst/>
          </a:prstGeom>
          <a:noFill/>
        </p:spPr>
        <p:txBody>
          <a:bodyPr wrap="square">
            <a:spAutoFit/>
          </a:bodyPr>
          <a:lstStyle/>
          <a:p>
            <a:r>
              <a:rPr lang="it-IT" sz="1500" dirty="0"/>
              <a:t>In questo esempio, viene creato un nuovo </a:t>
            </a:r>
            <a:r>
              <a:rPr lang="it-IT" sz="1500" dirty="0" err="1"/>
              <a:t>Vector</a:t>
            </a:r>
            <a:r>
              <a:rPr lang="it-IT" sz="1500" dirty="0"/>
              <a:t> di tipo </a:t>
            </a:r>
            <a:r>
              <a:rPr lang="it-IT" sz="1500" dirty="0" err="1"/>
              <a:t>String</a:t>
            </a:r>
            <a:r>
              <a:rPr lang="it-IT" sz="1500" dirty="0"/>
              <a:t> e vengono aggiunti tre elementi utilizzando il metodo </a:t>
            </a:r>
            <a:r>
              <a:rPr lang="it-IT" sz="1500" dirty="0" err="1"/>
              <a:t>add</a:t>
            </a:r>
            <a:r>
              <a:rPr lang="it-IT" sz="1500" dirty="0"/>
              <a:t>(). Infine, viene stampato a video l'intero contenuto del vettore utilizzando il metodo </a:t>
            </a:r>
            <a:r>
              <a:rPr lang="it-IT" sz="1500" dirty="0" err="1"/>
              <a:t>toString</a:t>
            </a:r>
            <a:r>
              <a:rPr lang="it-IT" sz="1500" dirty="0"/>
              <a:t>().</a:t>
            </a:r>
          </a:p>
          <a:p>
            <a:endParaRPr lang="it-IT" sz="1500" dirty="0"/>
          </a:p>
          <a:p>
            <a:r>
              <a:rPr lang="it-IT" sz="1500" dirty="0" err="1"/>
              <a:t>Vector</a:t>
            </a:r>
            <a:r>
              <a:rPr lang="it-IT" sz="1500" dirty="0"/>
              <a:t> offre molte altre funzionalità utili, come l'accesso all'elemento in base all'indice tramite il metodo </a:t>
            </a:r>
            <a:r>
              <a:rPr lang="it-IT" sz="1500" dirty="0" err="1"/>
              <a:t>get</a:t>
            </a:r>
            <a:r>
              <a:rPr lang="it-IT" sz="1500" dirty="0"/>
              <a:t>(), l'eliminazione di elementi tramite il metodo </a:t>
            </a:r>
            <a:r>
              <a:rPr lang="it-IT" sz="1500" dirty="0" err="1"/>
              <a:t>remove</a:t>
            </a:r>
            <a:r>
              <a:rPr lang="it-IT" sz="1500" dirty="0"/>
              <a:t>() e la ricerca di un elemento specifico tramite il metodo </a:t>
            </a:r>
            <a:r>
              <a:rPr lang="it-IT" sz="1500" dirty="0" err="1"/>
              <a:t>contains</a:t>
            </a:r>
            <a:endParaRPr lang="it-IT" sz="1500" dirty="0"/>
          </a:p>
        </p:txBody>
      </p:sp>
    </p:spTree>
    <p:extLst>
      <p:ext uri="{BB962C8B-B14F-4D97-AF65-F5344CB8AC3E}">
        <p14:creationId xmlns:p14="http://schemas.microsoft.com/office/powerpoint/2010/main" val="22092267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kern="0" dirty="0" err="1">
                <a:solidFill>
                  <a:srgbClr val="374151"/>
                </a:solidFill>
                <a:latin typeface="Segoe UI" panose="020B0502040204020203" pitchFamily="34" charset="0"/>
                <a:ea typeface="Times New Roman" panose="02020603050405020304" pitchFamily="18" charset="0"/>
                <a:cs typeface="Times New Roman" panose="02020603050405020304" pitchFamily="18" charset="0"/>
              </a:rPr>
              <a:t>Vector</a:t>
            </a:r>
            <a:endParaRPr lang="it-IT"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Vector</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In Java, </a:t>
            </a:r>
            <a:r>
              <a:rPr lang="it-IT" sz="1500" b="0" i="0" dirty="0" err="1">
                <a:solidFill>
                  <a:srgbClr val="374151"/>
                </a:solidFill>
                <a:effectLst/>
                <a:latin typeface="Söhne"/>
              </a:rPr>
              <a:t>Vector</a:t>
            </a:r>
            <a:r>
              <a:rPr lang="it-IT" sz="1500" b="0" i="0" dirty="0">
                <a:solidFill>
                  <a:srgbClr val="374151"/>
                </a:solidFill>
                <a:effectLst/>
                <a:latin typeface="Söhne"/>
              </a:rPr>
              <a:t> è una classe che implementa una struttura dati di tipo lista che può contenere oggetti di qualsiasi tipo. In pratica, è simile ad un array dinamico, in quanto può ridimensionarsi automaticamente in base alla quantità di elementi che vengono aggiunti o rimossi.</a:t>
            </a:r>
          </a:p>
          <a:p>
            <a:pPr algn="l"/>
            <a:endParaRPr lang="it-IT" sz="1500" b="0" i="0" dirty="0">
              <a:solidFill>
                <a:srgbClr val="374151"/>
              </a:solidFill>
              <a:effectLst/>
              <a:latin typeface="Söhne"/>
            </a:endParaRPr>
          </a:p>
          <a:p>
            <a:pPr algn="l"/>
            <a:r>
              <a:rPr lang="it-IT" sz="1500" b="0" i="0" dirty="0" err="1">
                <a:solidFill>
                  <a:srgbClr val="374151"/>
                </a:solidFill>
                <a:effectLst/>
                <a:latin typeface="Söhne"/>
              </a:rPr>
              <a:t>Vector</a:t>
            </a:r>
            <a:r>
              <a:rPr lang="it-IT" sz="1500" b="0" i="0" dirty="0">
                <a:solidFill>
                  <a:srgbClr val="374151"/>
                </a:solidFill>
                <a:effectLst/>
                <a:latin typeface="Söhne"/>
              </a:rPr>
              <a:t> viene utilizzato per gestire collezioni di oggetti dinamiche e può essere molto utile in situazioni in cui non si conosce a priori il numero di elementi che si dovranno gestire.</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a:t>
            </a:r>
            <a:r>
              <a:rPr lang="it-IT" sz="1500" b="0" i="0" dirty="0" err="1">
                <a:solidFill>
                  <a:srgbClr val="374151"/>
                </a:solidFill>
                <a:effectLst/>
                <a:latin typeface="Söhne"/>
              </a:rPr>
              <a:t>Vector</a:t>
            </a:r>
            <a:r>
              <a:rPr lang="it-IT" sz="1500" b="0" i="0" dirty="0">
                <a:solidFill>
                  <a:srgbClr val="374151"/>
                </a:solidFill>
                <a:effectLst/>
                <a:latin typeface="Söhne"/>
              </a:rPr>
              <a:t>, è necessario importare la classe </a:t>
            </a:r>
            <a:r>
              <a:rPr lang="it-IT" sz="1500" b="0" i="0" dirty="0" err="1">
                <a:solidFill>
                  <a:srgbClr val="374151"/>
                </a:solidFill>
                <a:effectLst/>
                <a:latin typeface="Söhne"/>
              </a:rPr>
              <a:t>java.util.Vector</a:t>
            </a:r>
            <a:r>
              <a:rPr lang="it-IT" sz="1500" b="0" i="0" dirty="0">
                <a:solidFill>
                  <a:srgbClr val="374151"/>
                </a:solidFill>
                <a:effectLst/>
                <a:latin typeface="Söhne"/>
              </a:rPr>
              <a:t>. Una volta fatto ciò, si può istanziare un oggetto </a:t>
            </a:r>
            <a:r>
              <a:rPr lang="it-IT" sz="1500" b="0" i="0" dirty="0" err="1">
                <a:solidFill>
                  <a:srgbClr val="374151"/>
                </a:solidFill>
                <a:effectLst/>
                <a:latin typeface="Söhne"/>
              </a:rPr>
              <a:t>Vector</a:t>
            </a:r>
            <a:r>
              <a:rPr lang="it-IT" sz="1500" b="0" i="0" dirty="0">
                <a:solidFill>
                  <a:srgbClr val="374151"/>
                </a:solidFill>
                <a:effectLst/>
                <a:latin typeface="Söhne"/>
              </a:rPr>
              <a:t> e aggiungere elementi ad esso tramite il metodo </a:t>
            </a:r>
            <a:r>
              <a:rPr lang="it-IT" sz="1500" b="0" i="0" dirty="0" err="1">
                <a:solidFill>
                  <a:srgbClr val="374151"/>
                </a:solidFill>
                <a:effectLst/>
                <a:latin typeface="Söhne"/>
              </a:rPr>
              <a:t>add</a:t>
            </a:r>
            <a:r>
              <a:rPr lang="it-IT" sz="1500" b="0" i="0" dirty="0">
                <a:solidFill>
                  <a:srgbClr val="374151"/>
                </a:solidFill>
                <a:effectLst/>
                <a:latin typeface="Söhne"/>
              </a:rPr>
              <a:t>():</a:t>
            </a:r>
          </a:p>
        </p:txBody>
      </p:sp>
      <p:sp>
        <p:nvSpPr>
          <p:cNvPr id="10" name="CasellaDiTesto 9">
            <a:extLst>
              <a:ext uri="{FF2B5EF4-FFF2-40B4-BE49-F238E27FC236}">
                <a16:creationId xmlns:a16="http://schemas.microsoft.com/office/drawing/2014/main" id="{989DEBAE-8A84-4EBE-4C00-39E4F99E5FEB}"/>
              </a:ext>
            </a:extLst>
          </p:cNvPr>
          <p:cNvSpPr txBox="1"/>
          <p:nvPr/>
        </p:nvSpPr>
        <p:spPr>
          <a:xfrm>
            <a:off x="3894108" y="3295746"/>
            <a:ext cx="8027597"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import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java.util.Vector</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 </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Vector</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1"</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2"</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myVector.add</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"Elemento 3"</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myVector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F19186C5-1C4A-0590-3618-F1ECAEE8CF9A}"/>
              </a:ext>
            </a:extLst>
          </p:cNvPr>
          <p:cNvSpPr txBox="1"/>
          <p:nvPr/>
        </p:nvSpPr>
        <p:spPr>
          <a:xfrm>
            <a:off x="178448" y="2504385"/>
            <a:ext cx="3492064" cy="4016484"/>
          </a:xfrm>
          <a:prstGeom prst="rect">
            <a:avLst/>
          </a:prstGeom>
          <a:noFill/>
        </p:spPr>
        <p:txBody>
          <a:bodyPr wrap="square">
            <a:spAutoFit/>
          </a:bodyPr>
          <a:lstStyle/>
          <a:p>
            <a:r>
              <a:rPr lang="it-IT" sz="1500" dirty="0"/>
              <a:t>In questo esempio, viene creato un nuovo </a:t>
            </a:r>
            <a:r>
              <a:rPr lang="it-IT" sz="1500" dirty="0" err="1"/>
              <a:t>Vector</a:t>
            </a:r>
            <a:r>
              <a:rPr lang="it-IT" sz="1500" dirty="0"/>
              <a:t> di tipo </a:t>
            </a:r>
            <a:r>
              <a:rPr lang="it-IT" sz="1500" dirty="0" err="1"/>
              <a:t>String</a:t>
            </a:r>
            <a:r>
              <a:rPr lang="it-IT" sz="1500" dirty="0"/>
              <a:t> e vengono aggiunti tre elementi utilizzando il metodo </a:t>
            </a:r>
            <a:r>
              <a:rPr lang="it-IT" sz="1500" dirty="0" err="1"/>
              <a:t>add</a:t>
            </a:r>
            <a:r>
              <a:rPr lang="it-IT" sz="1500" dirty="0"/>
              <a:t>(). Infine, viene stampato a video l'intero contenuto del vettore utilizzando il metodo </a:t>
            </a:r>
            <a:r>
              <a:rPr lang="it-IT" sz="1500" dirty="0" err="1"/>
              <a:t>toString</a:t>
            </a:r>
            <a:r>
              <a:rPr lang="it-IT" sz="1500" dirty="0"/>
              <a:t>().</a:t>
            </a:r>
          </a:p>
          <a:p>
            <a:endParaRPr lang="it-IT" sz="1500" dirty="0"/>
          </a:p>
          <a:p>
            <a:r>
              <a:rPr lang="it-IT" sz="1500" dirty="0" err="1"/>
              <a:t>Vector</a:t>
            </a:r>
            <a:r>
              <a:rPr lang="it-IT" sz="1500" dirty="0"/>
              <a:t> offre molte altre funzionalità utili, come l'accesso all'elemento in base all'indice tramite il metodo </a:t>
            </a:r>
            <a:r>
              <a:rPr lang="it-IT" sz="1500" dirty="0" err="1"/>
              <a:t>get</a:t>
            </a:r>
            <a:r>
              <a:rPr lang="it-IT" sz="1500" dirty="0"/>
              <a:t>(), l'eliminazione di elementi tramite il metodo </a:t>
            </a:r>
            <a:r>
              <a:rPr lang="it-IT" sz="1500" dirty="0" err="1"/>
              <a:t>remove</a:t>
            </a:r>
            <a:r>
              <a:rPr lang="it-IT" sz="1500" dirty="0"/>
              <a:t>() e la ricerca di un elemento specifico tramite il metodo </a:t>
            </a:r>
            <a:r>
              <a:rPr lang="it-IT" sz="1500" dirty="0" err="1"/>
              <a:t>contains</a:t>
            </a:r>
            <a:r>
              <a:rPr lang="it-IT" sz="1500" dirty="0"/>
              <a:t>(). Inoltre, </a:t>
            </a:r>
            <a:r>
              <a:rPr lang="it-IT" sz="1500" dirty="0" err="1"/>
              <a:t>Vector</a:t>
            </a:r>
            <a:r>
              <a:rPr lang="it-IT" sz="1500" dirty="0"/>
              <a:t> è </a:t>
            </a:r>
            <a:r>
              <a:rPr lang="it-IT" sz="1500" dirty="0" err="1"/>
              <a:t>thread</a:t>
            </a:r>
            <a:r>
              <a:rPr lang="it-IT" sz="1500" dirty="0"/>
              <a:t>-safe, il che significa che può essere utilizzato in applicazioni </a:t>
            </a:r>
            <a:r>
              <a:rPr lang="it-IT" sz="1500" dirty="0" err="1"/>
              <a:t>multithread</a:t>
            </a:r>
            <a:r>
              <a:rPr lang="it-IT" sz="1500" dirty="0"/>
              <a:t> senza preoccuparsi di problemi di concorrenza.</a:t>
            </a:r>
          </a:p>
        </p:txBody>
      </p:sp>
    </p:spTree>
    <p:extLst>
      <p:ext uri="{BB962C8B-B14F-4D97-AF65-F5344CB8AC3E}">
        <p14:creationId xmlns:p14="http://schemas.microsoft.com/office/powerpoint/2010/main" val="41314722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784830"/>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p:txBody>
      </p:sp>
    </p:spTree>
    <p:extLst>
      <p:ext uri="{BB962C8B-B14F-4D97-AF65-F5344CB8AC3E}">
        <p14:creationId xmlns:p14="http://schemas.microsoft.com/office/powerpoint/2010/main" val="29314986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1477328"/>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inclusi nella libreria standard di Java e forniscono molti metodi utili per la manipolazione degli elementi al loro interno.</a:t>
            </a:r>
          </a:p>
        </p:txBody>
      </p:sp>
    </p:spTree>
    <p:extLst>
      <p:ext uri="{BB962C8B-B14F-4D97-AF65-F5344CB8AC3E}">
        <p14:creationId xmlns:p14="http://schemas.microsoft.com/office/powerpoint/2010/main" val="42011085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2169825"/>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inclusi nella libreria standard di Java e forniscono molti metodi utili per la manipolazione degli elementi al loro interno. Ad esempio, gli </a:t>
            </a:r>
            <a:r>
              <a:rPr lang="it-IT" sz="1500" b="0" i="0" dirty="0" err="1">
                <a:solidFill>
                  <a:srgbClr val="374151"/>
                </a:solidFill>
                <a:effectLst/>
                <a:latin typeface="Söhne"/>
              </a:rPr>
              <a:t>ArrayList</a:t>
            </a:r>
            <a:r>
              <a:rPr lang="it-IT" sz="1500" b="0" i="0" dirty="0">
                <a:solidFill>
                  <a:srgbClr val="374151"/>
                </a:solidFill>
                <a:effectLst/>
                <a:latin typeface="Söhne"/>
              </a:rPr>
              <a:t> hanno un metodo </a:t>
            </a:r>
            <a:r>
              <a:rPr lang="it-IT" sz="1500" b="0" i="0" dirty="0" err="1">
                <a:solidFill>
                  <a:srgbClr val="374151"/>
                </a:solidFill>
                <a:effectLst/>
                <a:latin typeface="Söhne"/>
              </a:rPr>
              <a:t>add</a:t>
            </a:r>
            <a:r>
              <a:rPr lang="it-IT" sz="1500" b="0" i="0" dirty="0">
                <a:solidFill>
                  <a:srgbClr val="374151"/>
                </a:solidFill>
                <a:effectLst/>
                <a:latin typeface="Söhne"/>
              </a:rPr>
              <a:t>() che consente di aggiungere elementi alla fine della lista, un metodo </a:t>
            </a:r>
            <a:r>
              <a:rPr lang="it-IT" sz="1500" b="0" i="0" dirty="0" err="1">
                <a:solidFill>
                  <a:srgbClr val="374151"/>
                </a:solidFill>
                <a:effectLst/>
                <a:latin typeface="Söhne"/>
              </a:rPr>
              <a:t>remove</a:t>
            </a:r>
            <a:r>
              <a:rPr lang="it-IT" sz="1500" b="0" i="0" dirty="0">
                <a:solidFill>
                  <a:srgbClr val="374151"/>
                </a:solidFill>
                <a:effectLst/>
                <a:latin typeface="Söhne"/>
              </a:rPr>
              <a:t>() per rimuovere elementi, un metodo </a:t>
            </a:r>
            <a:r>
              <a:rPr lang="it-IT" sz="1500" b="0" i="0" dirty="0" err="1">
                <a:solidFill>
                  <a:srgbClr val="374151"/>
                </a:solidFill>
                <a:effectLst/>
                <a:latin typeface="Söhne"/>
              </a:rPr>
              <a:t>get</a:t>
            </a:r>
            <a:r>
              <a:rPr lang="it-IT" sz="1500" b="0" i="0" dirty="0">
                <a:solidFill>
                  <a:srgbClr val="374151"/>
                </a:solidFill>
                <a:effectLst/>
                <a:latin typeface="Söhne"/>
              </a:rPr>
              <a:t>() per accedere a un elemento specifico, un metodo size() per restituire la dimensione della lista, e molti altri ancora.</a:t>
            </a:r>
          </a:p>
        </p:txBody>
      </p:sp>
    </p:spTree>
    <p:extLst>
      <p:ext uri="{BB962C8B-B14F-4D97-AF65-F5344CB8AC3E}">
        <p14:creationId xmlns:p14="http://schemas.microsoft.com/office/powerpoint/2010/main" val="28122357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3093154"/>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inclusi nella libreria standard di Java e forniscono molti metodi utili per la manipolazione degli elementi al loro interno. Ad esempio, gli </a:t>
            </a:r>
            <a:r>
              <a:rPr lang="it-IT" sz="1500" b="0" i="0" dirty="0" err="1">
                <a:solidFill>
                  <a:srgbClr val="374151"/>
                </a:solidFill>
                <a:effectLst/>
                <a:latin typeface="Söhne"/>
              </a:rPr>
              <a:t>ArrayList</a:t>
            </a:r>
            <a:r>
              <a:rPr lang="it-IT" sz="1500" b="0" i="0" dirty="0">
                <a:solidFill>
                  <a:srgbClr val="374151"/>
                </a:solidFill>
                <a:effectLst/>
                <a:latin typeface="Söhne"/>
              </a:rPr>
              <a:t> hanno un metodo </a:t>
            </a:r>
            <a:r>
              <a:rPr lang="it-IT" sz="1500" b="0" i="0" dirty="0" err="1">
                <a:solidFill>
                  <a:srgbClr val="374151"/>
                </a:solidFill>
                <a:effectLst/>
                <a:latin typeface="Söhne"/>
              </a:rPr>
              <a:t>add</a:t>
            </a:r>
            <a:r>
              <a:rPr lang="it-IT" sz="1500" b="0" i="0" dirty="0">
                <a:solidFill>
                  <a:srgbClr val="374151"/>
                </a:solidFill>
                <a:effectLst/>
                <a:latin typeface="Söhne"/>
              </a:rPr>
              <a:t>() che consente di aggiungere elementi alla fine della lista, un metodo </a:t>
            </a:r>
            <a:r>
              <a:rPr lang="it-IT" sz="1500" b="0" i="0" dirty="0" err="1">
                <a:solidFill>
                  <a:srgbClr val="374151"/>
                </a:solidFill>
                <a:effectLst/>
                <a:latin typeface="Söhne"/>
              </a:rPr>
              <a:t>remove</a:t>
            </a:r>
            <a:r>
              <a:rPr lang="it-IT" sz="1500" b="0" i="0" dirty="0">
                <a:solidFill>
                  <a:srgbClr val="374151"/>
                </a:solidFill>
                <a:effectLst/>
                <a:latin typeface="Söhne"/>
              </a:rPr>
              <a:t>() per rimuovere elementi, un metodo </a:t>
            </a:r>
            <a:r>
              <a:rPr lang="it-IT" sz="1500" b="0" i="0" dirty="0" err="1">
                <a:solidFill>
                  <a:srgbClr val="374151"/>
                </a:solidFill>
                <a:effectLst/>
                <a:latin typeface="Söhne"/>
              </a:rPr>
              <a:t>get</a:t>
            </a:r>
            <a:r>
              <a:rPr lang="it-IT" sz="1500" b="0" i="0" dirty="0">
                <a:solidFill>
                  <a:srgbClr val="374151"/>
                </a:solidFill>
                <a:effectLst/>
                <a:latin typeface="Söhne"/>
              </a:rPr>
              <a:t>() per accedere a un elemento specifico, un metodo size() per restituire la dimensione della lista, e molti altri ancora.</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un </a:t>
            </a:r>
            <a:r>
              <a:rPr lang="it-IT" sz="1500" b="0" i="0" dirty="0" err="1">
                <a:solidFill>
                  <a:srgbClr val="374151"/>
                </a:solidFill>
                <a:effectLst/>
                <a:latin typeface="Söhne"/>
              </a:rPr>
              <a:t>ArrayList</a:t>
            </a:r>
            <a:r>
              <a:rPr lang="it-IT" sz="1500" b="0" i="0" dirty="0">
                <a:solidFill>
                  <a:srgbClr val="374151"/>
                </a:solidFill>
                <a:effectLst/>
                <a:latin typeface="Söhne"/>
              </a:rPr>
              <a:t>, è necessario innanzitutto creare un'istanza della classe, specificando il tipo di dati che verrà contenuto al suo interno. Ad esempio, se si vuole creare un </a:t>
            </a:r>
            <a:r>
              <a:rPr lang="it-IT" sz="1500" b="0" i="0" dirty="0" err="1">
                <a:solidFill>
                  <a:srgbClr val="374151"/>
                </a:solidFill>
                <a:effectLst/>
                <a:latin typeface="Söhne"/>
              </a:rPr>
              <a:t>ArrayList</a:t>
            </a:r>
            <a:r>
              <a:rPr lang="it-IT" sz="1500" b="0" i="0" dirty="0">
                <a:solidFill>
                  <a:srgbClr val="374151"/>
                </a:solidFill>
                <a:effectLst/>
                <a:latin typeface="Söhne"/>
              </a:rPr>
              <a:t> di interi, si può scrivere:</a:t>
            </a:r>
          </a:p>
        </p:txBody>
      </p:sp>
    </p:spTree>
    <p:extLst>
      <p:ext uri="{BB962C8B-B14F-4D97-AF65-F5344CB8AC3E}">
        <p14:creationId xmlns:p14="http://schemas.microsoft.com/office/powerpoint/2010/main" val="3202670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3093154"/>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inclusi nella libreria standard di Java e forniscono molti metodi utili per la manipolazione degli elementi al loro interno. Ad esempio, gli </a:t>
            </a:r>
            <a:r>
              <a:rPr lang="it-IT" sz="1500" b="0" i="0" dirty="0" err="1">
                <a:solidFill>
                  <a:srgbClr val="374151"/>
                </a:solidFill>
                <a:effectLst/>
                <a:latin typeface="Söhne"/>
              </a:rPr>
              <a:t>ArrayList</a:t>
            </a:r>
            <a:r>
              <a:rPr lang="it-IT" sz="1500" b="0" i="0" dirty="0">
                <a:solidFill>
                  <a:srgbClr val="374151"/>
                </a:solidFill>
                <a:effectLst/>
                <a:latin typeface="Söhne"/>
              </a:rPr>
              <a:t> hanno un metodo </a:t>
            </a:r>
            <a:r>
              <a:rPr lang="it-IT" sz="1500" b="0" i="0" dirty="0" err="1">
                <a:solidFill>
                  <a:srgbClr val="374151"/>
                </a:solidFill>
                <a:effectLst/>
                <a:latin typeface="Söhne"/>
              </a:rPr>
              <a:t>add</a:t>
            </a:r>
            <a:r>
              <a:rPr lang="it-IT" sz="1500" b="0" i="0" dirty="0">
                <a:solidFill>
                  <a:srgbClr val="374151"/>
                </a:solidFill>
                <a:effectLst/>
                <a:latin typeface="Söhne"/>
              </a:rPr>
              <a:t>() che consente di aggiungere elementi alla fine della lista, un metodo </a:t>
            </a:r>
            <a:r>
              <a:rPr lang="it-IT" sz="1500" b="0" i="0" dirty="0" err="1">
                <a:solidFill>
                  <a:srgbClr val="374151"/>
                </a:solidFill>
                <a:effectLst/>
                <a:latin typeface="Söhne"/>
              </a:rPr>
              <a:t>remove</a:t>
            </a:r>
            <a:r>
              <a:rPr lang="it-IT" sz="1500" b="0" i="0" dirty="0">
                <a:solidFill>
                  <a:srgbClr val="374151"/>
                </a:solidFill>
                <a:effectLst/>
                <a:latin typeface="Söhne"/>
              </a:rPr>
              <a:t>() per rimuovere elementi, un metodo </a:t>
            </a:r>
            <a:r>
              <a:rPr lang="it-IT" sz="1500" b="0" i="0" dirty="0" err="1">
                <a:solidFill>
                  <a:srgbClr val="374151"/>
                </a:solidFill>
                <a:effectLst/>
                <a:latin typeface="Söhne"/>
              </a:rPr>
              <a:t>get</a:t>
            </a:r>
            <a:r>
              <a:rPr lang="it-IT" sz="1500" b="0" i="0" dirty="0">
                <a:solidFill>
                  <a:srgbClr val="374151"/>
                </a:solidFill>
                <a:effectLst/>
                <a:latin typeface="Söhne"/>
              </a:rPr>
              <a:t>() per accedere a un elemento specifico, un metodo size() per restituire la dimensione della lista, e molti altri ancora.</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un </a:t>
            </a:r>
            <a:r>
              <a:rPr lang="it-IT" sz="1500" b="0" i="0" dirty="0" err="1">
                <a:solidFill>
                  <a:srgbClr val="374151"/>
                </a:solidFill>
                <a:effectLst/>
                <a:latin typeface="Söhne"/>
              </a:rPr>
              <a:t>ArrayList</a:t>
            </a:r>
            <a:r>
              <a:rPr lang="it-IT" sz="1500" b="0" i="0" dirty="0">
                <a:solidFill>
                  <a:srgbClr val="374151"/>
                </a:solidFill>
                <a:effectLst/>
                <a:latin typeface="Söhne"/>
              </a:rPr>
              <a:t>, è necessario innanzitutto creare un'istanza della classe, specificando il tipo di dati che verrà contenuto al suo interno. Ad esempio, se si vuole creare un </a:t>
            </a:r>
            <a:r>
              <a:rPr lang="it-IT" sz="1500" b="0" i="0" dirty="0" err="1">
                <a:solidFill>
                  <a:srgbClr val="374151"/>
                </a:solidFill>
                <a:effectLst/>
                <a:latin typeface="Söhne"/>
              </a:rPr>
              <a:t>ArrayList</a:t>
            </a:r>
            <a:r>
              <a:rPr lang="it-IT" sz="1500" b="0" i="0" dirty="0">
                <a:solidFill>
                  <a:srgbClr val="374151"/>
                </a:solidFill>
                <a:effectLst/>
                <a:latin typeface="Söhne"/>
              </a:rPr>
              <a:t> di interi, si può scrivere:</a:t>
            </a:r>
          </a:p>
        </p:txBody>
      </p:sp>
      <p:sp>
        <p:nvSpPr>
          <p:cNvPr id="4" name="CasellaDiTesto 3">
            <a:extLst>
              <a:ext uri="{FF2B5EF4-FFF2-40B4-BE49-F238E27FC236}">
                <a16:creationId xmlns:a16="http://schemas.microsoft.com/office/drawing/2014/main" id="{BA231940-2DCA-1BB3-F7C2-6FC7E5F74036}"/>
              </a:ext>
            </a:extLst>
          </p:cNvPr>
          <p:cNvSpPr txBox="1"/>
          <p:nvPr/>
        </p:nvSpPr>
        <p:spPr>
          <a:xfrm>
            <a:off x="3987560" y="4202147"/>
            <a:ext cx="7804750"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ArrayList</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Integer</a:t>
            </a:r>
            <a:r>
              <a:rPr lang="it-IT" b="0" dirty="0">
                <a:solidFill>
                  <a:srgbClr val="D4D4D4"/>
                </a:solidFill>
                <a:effectLst/>
                <a:latin typeface="Consolas" panose="020B0609020204030204" pitchFamily="49" charset="0"/>
              </a:rPr>
              <a:t>&gt; numeri = new </a:t>
            </a:r>
            <a:r>
              <a:rPr lang="it-IT" b="0" dirty="0" err="1">
                <a:solidFill>
                  <a:srgbClr val="D4D4D4"/>
                </a:solidFill>
                <a:effectLst/>
                <a:latin typeface="Consolas" panose="020B0609020204030204" pitchFamily="49" charset="0"/>
              </a:rPr>
              <a:t>ArrayList</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Integer</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145116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3093154"/>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inclusi nella libreria standard di Java e forniscono molti metodi utili per la manipolazione degli elementi al loro interno. Ad esempio, gli </a:t>
            </a:r>
            <a:r>
              <a:rPr lang="it-IT" sz="1500" b="0" i="0" dirty="0" err="1">
                <a:solidFill>
                  <a:srgbClr val="374151"/>
                </a:solidFill>
                <a:effectLst/>
                <a:latin typeface="Söhne"/>
              </a:rPr>
              <a:t>ArrayList</a:t>
            </a:r>
            <a:r>
              <a:rPr lang="it-IT" sz="1500" b="0" i="0" dirty="0">
                <a:solidFill>
                  <a:srgbClr val="374151"/>
                </a:solidFill>
                <a:effectLst/>
                <a:latin typeface="Söhne"/>
              </a:rPr>
              <a:t> hanno un metodo </a:t>
            </a:r>
            <a:r>
              <a:rPr lang="it-IT" sz="1500" b="0" i="0" dirty="0" err="1">
                <a:solidFill>
                  <a:srgbClr val="374151"/>
                </a:solidFill>
                <a:effectLst/>
                <a:latin typeface="Söhne"/>
              </a:rPr>
              <a:t>add</a:t>
            </a:r>
            <a:r>
              <a:rPr lang="it-IT" sz="1500" b="0" i="0" dirty="0">
                <a:solidFill>
                  <a:srgbClr val="374151"/>
                </a:solidFill>
                <a:effectLst/>
                <a:latin typeface="Söhne"/>
              </a:rPr>
              <a:t>() che consente di aggiungere elementi alla fine della lista, un metodo </a:t>
            </a:r>
            <a:r>
              <a:rPr lang="it-IT" sz="1500" b="0" i="0" dirty="0" err="1">
                <a:solidFill>
                  <a:srgbClr val="374151"/>
                </a:solidFill>
                <a:effectLst/>
                <a:latin typeface="Söhne"/>
              </a:rPr>
              <a:t>remove</a:t>
            </a:r>
            <a:r>
              <a:rPr lang="it-IT" sz="1500" b="0" i="0" dirty="0">
                <a:solidFill>
                  <a:srgbClr val="374151"/>
                </a:solidFill>
                <a:effectLst/>
                <a:latin typeface="Söhne"/>
              </a:rPr>
              <a:t>() per rimuovere elementi, un metodo </a:t>
            </a:r>
            <a:r>
              <a:rPr lang="it-IT" sz="1500" b="0" i="0" dirty="0" err="1">
                <a:solidFill>
                  <a:srgbClr val="374151"/>
                </a:solidFill>
                <a:effectLst/>
                <a:latin typeface="Söhne"/>
              </a:rPr>
              <a:t>get</a:t>
            </a:r>
            <a:r>
              <a:rPr lang="it-IT" sz="1500" b="0" i="0" dirty="0">
                <a:solidFill>
                  <a:srgbClr val="374151"/>
                </a:solidFill>
                <a:effectLst/>
                <a:latin typeface="Söhne"/>
              </a:rPr>
              <a:t>() per accedere a un elemento specifico, un metodo size() per restituire la dimensione della lista, e molti altri ancora.</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un </a:t>
            </a:r>
            <a:r>
              <a:rPr lang="it-IT" sz="1500" b="0" i="0" dirty="0" err="1">
                <a:solidFill>
                  <a:srgbClr val="374151"/>
                </a:solidFill>
                <a:effectLst/>
                <a:latin typeface="Söhne"/>
              </a:rPr>
              <a:t>ArrayList</a:t>
            </a:r>
            <a:r>
              <a:rPr lang="it-IT" sz="1500" b="0" i="0" dirty="0">
                <a:solidFill>
                  <a:srgbClr val="374151"/>
                </a:solidFill>
                <a:effectLst/>
                <a:latin typeface="Söhne"/>
              </a:rPr>
              <a:t>, è necessario innanzitutto creare un'istanza della classe, specificando il tipo di dati che verrà contenuto al suo interno. Ad esempio, se si vuole creare un </a:t>
            </a:r>
            <a:r>
              <a:rPr lang="it-IT" sz="1500" b="0" i="0" dirty="0" err="1">
                <a:solidFill>
                  <a:srgbClr val="374151"/>
                </a:solidFill>
                <a:effectLst/>
                <a:latin typeface="Söhne"/>
              </a:rPr>
              <a:t>ArrayList</a:t>
            </a:r>
            <a:r>
              <a:rPr lang="it-IT" sz="1500" b="0" i="0" dirty="0">
                <a:solidFill>
                  <a:srgbClr val="374151"/>
                </a:solidFill>
                <a:effectLst/>
                <a:latin typeface="Söhne"/>
              </a:rPr>
              <a:t> di interi, si può scrivere:</a:t>
            </a:r>
          </a:p>
        </p:txBody>
      </p:sp>
      <p:sp>
        <p:nvSpPr>
          <p:cNvPr id="4" name="CasellaDiTesto 3">
            <a:extLst>
              <a:ext uri="{FF2B5EF4-FFF2-40B4-BE49-F238E27FC236}">
                <a16:creationId xmlns:a16="http://schemas.microsoft.com/office/drawing/2014/main" id="{BA231940-2DCA-1BB3-F7C2-6FC7E5F74036}"/>
              </a:ext>
            </a:extLst>
          </p:cNvPr>
          <p:cNvSpPr txBox="1"/>
          <p:nvPr/>
        </p:nvSpPr>
        <p:spPr>
          <a:xfrm>
            <a:off x="3987560" y="4202147"/>
            <a:ext cx="7804750"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ArrayList</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Integer</a:t>
            </a:r>
            <a:r>
              <a:rPr lang="it-IT" b="0" dirty="0">
                <a:solidFill>
                  <a:srgbClr val="D4D4D4"/>
                </a:solidFill>
                <a:effectLst/>
                <a:latin typeface="Consolas" panose="020B0609020204030204" pitchFamily="49" charset="0"/>
              </a:rPr>
              <a:t>&gt; numeri = new </a:t>
            </a:r>
            <a:r>
              <a:rPr lang="it-IT" b="0" dirty="0" err="1">
                <a:solidFill>
                  <a:srgbClr val="D4D4D4"/>
                </a:solidFill>
                <a:effectLst/>
                <a:latin typeface="Consolas" panose="020B0609020204030204" pitchFamily="49" charset="0"/>
              </a:rPr>
              <a:t>ArrayList</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Integer</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7" name="CasellaDiTesto 6">
            <a:extLst>
              <a:ext uri="{FF2B5EF4-FFF2-40B4-BE49-F238E27FC236}">
                <a16:creationId xmlns:a16="http://schemas.microsoft.com/office/drawing/2014/main" id="{22B0E29F-7763-96D7-B4D4-E2125A750415}"/>
              </a:ext>
            </a:extLst>
          </p:cNvPr>
          <p:cNvSpPr txBox="1"/>
          <p:nvPr/>
        </p:nvSpPr>
        <p:spPr>
          <a:xfrm>
            <a:off x="3894108" y="4709871"/>
            <a:ext cx="6094562" cy="923330"/>
          </a:xfrm>
          <a:prstGeom prst="rect">
            <a:avLst/>
          </a:prstGeom>
          <a:noFill/>
        </p:spPr>
        <p:txBody>
          <a:bodyPr wrap="square">
            <a:spAutoFit/>
          </a:bodyPr>
          <a:lstStyle/>
          <a:p>
            <a:r>
              <a:rPr lang="it-IT" dirty="0"/>
              <a:t>In questo modo, si crea un'istanza di </a:t>
            </a:r>
            <a:r>
              <a:rPr lang="it-IT" dirty="0" err="1"/>
              <a:t>ArrayList</a:t>
            </a:r>
            <a:r>
              <a:rPr lang="it-IT" dirty="0"/>
              <a:t> che può contenere oggetti di tipo </a:t>
            </a:r>
            <a:r>
              <a:rPr lang="it-IT" dirty="0" err="1"/>
              <a:t>Integer</a:t>
            </a:r>
            <a:r>
              <a:rPr lang="it-IT" dirty="0"/>
              <a:t>. Successivamente, è possibile aggiungere elementi alla lista con il metodo </a:t>
            </a:r>
            <a:r>
              <a:rPr lang="it-IT" dirty="0" err="1"/>
              <a:t>add</a:t>
            </a:r>
            <a:r>
              <a:rPr lang="it-IT" dirty="0"/>
              <a:t>():</a:t>
            </a:r>
          </a:p>
        </p:txBody>
      </p:sp>
    </p:spTree>
    <p:extLst>
      <p:ext uri="{BB962C8B-B14F-4D97-AF65-F5344CB8AC3E}">
        <p14:creationId xmlns:p14="http://schemas.microsoft.com/office/powerpoint/2010/main" val="29515269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3093154"/>
          </a:xfrm>
          <a:prstGeom prst="rect">
            <a:avLst/>
          </a:prstGeom>
          <a:noFill/>
        </p:spPr>
        <p:txBody>
          <a:bodyPr wrap="square">
            <a:spAutoFit/>
          </a:bodyPr>
          <a:lstStyle/>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una classe di Java che rappresenta un'implementazione dinamica di un array. A differenza degli array tradizionali, gli </a:t>
            </a:r>
            <a:r>
              <a:rPr lang="it-IT" sz="1500" b="0" i="0" dirty="0" err="1">
                <a:solidFill>
                  <a:srgbClr val="374151"/>
                </a:solidFill>
                <a:effectLst/>
                <a:latin typeface="Söhne"/>
              </a:rPr>
              <a:t>ArrayList</a:t>
            </a:r>
            <a:r>
              <a:rPr lang="it-IT" sz="1500" b="0" i="0" dirty="0">
                <a:solidFill>
                  <a:srgbClr val="374151"/>
                </a:solidFill>
                <a:effectLst/>
                <a:latin typeface="Söhne"/>
              </a:rPr>
              <a:t> hanno una dimensione variabile e possono essere ridimensionati in modo automatico.</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Gli </a:t>
            </a:r>
            <a:r>
              <a:rPr lang="it-IT" sz="1500" b="0" i="0" dirty="0" err="1">
                <a:solidFill>
                  <a:srgbClr val="374151"/>
                </a:solidFill>
                <a:effectLst/>
                <a:latin typeface="Söhne"/>
              </a:rPr>
              <a:t>ArrayList</a:t>
            </a:r>
            <a:r>
              <a:rPr lang="it-IT" sz="1500" b="0" i="0" dirty="0">
                <a:solidFill>
                  <a:srgbClr val="374151"/>
                </a:solidFill>
                <a:effectLst/>
                <a:latin typeface="Söhne"/>
              </a:rPr>
              <a:t> sono inclusi nella libreria standard di Java e forniscono molti metodi utili per la manipolazione degli elementi al loro interno. Ad esempio, gli </a:t>
            </a:r>
            <a:r>
              <a:rPr lang="it-IT" sz="1500" b="0" i="0" dirty="0" err="1">
                <a:solidFill>
                  <a:srgbClr val="374151"/>
                </a:solidFill>
                <a:effectLst/>
                <a:latin typeface="Söhne"/>
              </a:rPr>
              <a:t>ArrayList</a:t>
            </a:r>
            <a:r>
              <a:rPr lang="it-IT" sz="1500" b="0" i="0" dirty="0">
                <a:solidFill>
                  <a:srgbClr val="374151"/>
                </a:solidFill>
                <a:effectLst/>
                <a:latin typeface="Söhne"/>
              </a:rPr>
              <a:t> hanno un metodo </a:t>
            </a:r>
            <a:r>
              <a:rPr lang="it-IT" sz="1500" b="0" i="0" dirty="0" err="1">
                <a:solidFill>
                  <a:srgbClr val="374151"/>
                </a:solidFill>
                <a:effectLst/>
                <a:latin typeface="Söhne"/>
              </a:rPr>
              <a:t>add</a:t>
            </a:r>
            <a:r>
              <a:rPr lang="it-IT" sz="1500" b="0" i="0" dirty="0">
                <a:solidFill>
                  <a:srgbClr val="374151"/>
                </a:solidFill>
                <a:effectLst/>
                <a:latin typeface="Söhne"/>
              </a:rPr>
              <a:t>() che consente di aggiungere elementi alla fine della lista, un metodo </a:t>
            </a:r>
            <a:r>
              <a:rPr lang="it-IT" sz="1500" b="0" i="0" dirty="0" err="1">
                <a:solidFill>
                  <a:srgbClr val="374151"/>
                </a:solidFill>
                <a:effectLst/>
                <a:latin typeface="Söhne"/>
              </a:rPr>
              <a:t>remove</a:t>
            </a:r>
            <a:r>
              <a:rPr lang="it-IT" sz="1500" b="0" i="0" dirty="0">
                <a:solidFill>
                  <a:srgbClr val="374151"/>
                </a:solidFill>
                <a:effectLst/>
                <a:latin typeface="Söhne"/>
              </a:rPr>
              <a:t>() per rimuovere elementi, un metodo </a:t>
            </a:r>
            <a:r>
              <a:rPr lang="it-IT" sz="1500" b="0" i="0" dirty="0" err="1">
                <a:solidFill>
                  <a:srgbClr val="374151"/>
                </a:solidFill>
                <a:effectLst/>
                <a:latin typeface="Söhne"/>
              </a:rPr>
              <a:t>get</a:t>
            </a:r>
            <a:r>
              <a:rPr lang="it-IT" sz="1500" b="0" i="0" dirty="0">
                <a:solidFill>
                  <a:srgbClr val="374151"/>
                </a:solidFill>
                <a:effectLst/>
                <a:latin typeface="Söhne"/>
              </a:rPr>
              <a:t>() per accedere a un elemento specifico, un metodo size() per restituire la dimensione della lista, e molti altri ancora.</a:t>
            </a:r>
          </a:p>
          <a:p>
            <a:pPr algn="l"/>
            <a:endParaRPr lang="it-IT" sz="1500" b="0" i="0" dirty="0">
              <a:solidFill>
                <a:srgbClr val="374151"/>
              </a:solidFill>
              <a:effectLst/>
              <a:latin typeface="Söhne"/>
            </a:endParaRPr>
          </a:p>
          <a:p>
            <a:pPr algn="l"/>
            <a:r>
              <a:rPr lang="it-IT" sz="1500" b="0" i="0" dirty="0">
                <a:solidFill>
                  <a:srgbClr val="374151"/>
                </a:solidFill>
                <a:effectLst/>
                <a:latin typeface="Söhne"/>
              </a:rPr>
              <a:t>Per utilizzare un </a:t>
            </a:r>
            <a:r>
              <a:rPr lang="it-IT" sz="1500" b="0" i="0" dirty="0" err="1">
                <a:solidFill>
                  <a:srgbClr val="374151"/>
                </a:solidFill>
                <a:effectLst/>
                <a:latin typeface="Söhne"/>
              </a:rPr>
              <a:t>ArrayList</a:t>
            </a:r>
            <a:r>
              <a:rPr lang="it-IT" sz="1500" b="0" i="0" dirty="0">
                <a:solidFill>
                  <a:srgbClr val="374151"/>
                </a:solidFill>
                <a:effectLst/>
                <a:latin typeface="Söhne"/>
              </a:rPr>
              <a:t>, è necessario innanzitutto creare un'istanza della classe, specificando il tipo di dati che verrà contenuto al suo interno. Ad esempio, se si vuole creare un </a:t>
            </a:r>
            <a:r>
              <a:rPr lang="it-IT" sz="1500" b="0" i="0" dirty="0" err="1">
                <a:solidFill>
                  <a:srgbClr val="374151"/>
                </a:solidFill>
                <a:effectLst/>
                <a:latin typeface="Söhne"/>
              </a:rPr>
              <a:t>ArrayList</a:t>
            </a:r>
            <a:r>
              <a:rPr lang="it-IT" sz="1500" b="0" i="0" dirty="0">
                <a:solidFill>
                  <a:srgbClr val="374151"/>
                </a:solidFill>
                <a:effectLst/>
                <a:latin typeface="Söhne"/>
              </a:rPr>
              <a:t> di interi, si può scrivere:</a:t>
            </a:r>
          </a:p>
        </p:txBody>
      </p:sp>
      <p:sp>
        <p:nvSpPr>
          <p:cNvPr id="4" name="CasellaDiTesto 3">
            <a:extLst>
              <a:ext uri="{FF2B5EF4-FFF2-40B4-BE49-F238E27FC236}">
                <a16:creationId xmlns:a16="http://schemas.microsoft.com/office/drawing/2014/main" id="{BA231940-2DCA-1BB3-F7C2-6FC7E5F74036}"/>
              </a:ext>
            </a:extLst>
          </p:cNvPr>
          <p:cNvSpPr txBox="1"/>
          <p:nvPr/>
        </p:nvSpPr>
        <p:spPr>
          <a:xfrm>
            <a:off x="3987560" y="4202147"/>
            <a:ext cx="7804750" cy="369332"/>
          </a:xfrm>
          <a:prstGeom prst="rect">
            <a:avLst/>
          </a:prstGeom>
          <a:solidFill>
            <a:schemeClr val="tx1">
              <a:lumMod val="85000"/>
              <a:lumOff val="15000"/>
            </a:schemeClr>
          </a:solidFill>
        </p:spPr>
        <p:txBody>
          <a:bodyPr wrap="square">
            <a:spAutoFit/>
          </a:bodyPr>
          <a:lstStyle/>
          <a:p>
            <a:r>
              <a:rPr lang="it-IT" b="0" dirty="0" err="1">
                <a:solidFill>
                  <a:srgbClr val="D4D4D4"/>
                </a:solidFill>
                <a:effectLst/>
                <a:latin typeface="Consolas" panose="020B0609020204030204" pitchFamily="49" charset="0"/>
              </a:rPr>
              <a:t>ArrayList</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Integer</a:t>
            </a:r>
            <a:r>
              <a:rPr lang="it-IT" b="0" dirty="0">
                <a:solidFill>
                  <a:srgbClr val="D4D4D4"/>
                </a:solidFill>
                <a:effectLst/>
                <a:latin typeface="Consolas" panose="020B0609020204030204" pitchFamily="49" charset="0"/>
              </a:rPr>
              <a:t>&gt; numeri = new </a:t>
            </a:r>
            <a:r>
              <a:rPr lang="it-IT" b="0" dirty="0" err="1">
                <a:solidFill>
                  <a:srgbClr val="D4D4D4"/>
                </a:solidFill>
                <a:effectLst/>
                <a:latin typeface="Consolas" panose="020B0609020204030204" pitchFamily="49" charset="0"/>
              </a:rPr>
              <a:t>ArrayList</a:t>
            </a:r>
            <a:r>
              <a:rPr lang="it-IT" b="0" dirty="0">
                <a:solidFill>
                  <a:srgbClr val="D4D4D4"/>
                </a:solidFill>
                <a:effectLst/>
                <a:latin typeface="Consolas" panose="020B0609020204030204" pitchFamily="49" charset="0"/>
              </a:rPr>
              <a:t>&lt;</a:t>
            </a:r>
            <a:r>
              <a:rPr lang="it-IT" b="0" dirty="0" err="1">
                <a:solidFill>
                  <a:srgbClr val="D4D4D4"/>
                </a:solidFill>
                <a:effectLst/>
                <a:latin typeface="Consolas" panose="020B0609020204030204" pitchFamily="49" charset="0"/>
              </a:rPr>
              <a:t>Integer</a:t>
            </a:r>
            <a:r>
              <a:rPr lang="it-IT" b="0" dirty="0">
                <a:solidFill>
                  <a:srgbClr val="D4D4D4"/>
                </a:solidFill>
                <a:effectLst/>
                <a:latin typeface="Consolas" panose="020B0609020204030204" pitchFamily="49" charset="0"/>
              </a:rPr>
              <a:t>&gt;()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7" name="CasellaDiTesto 6">
            <a:extLst>
              <a:ext uri="{FF2B5EF4-FFF2-40B4-BE49-F238E27FC236}">
                <a16:creationId xmlns:a16="http://schemas.microsoft.com/office/drawing/2014/main" id="{22B0E29F-7763-96D7-B4D4-E2125A750415}"/>
              </a:ext>
            </a:extLst>
          </p:cNvPr>
          <p:cNvSpPr txBox="1"/>
          <p:nvPr/>
        </p:nvSpPr>
        <p:spPr>
          <a:xfrm>
            <a:off x="3894108" y="4709871"/>
            <a:ext cx="6094562" cy="923330"/>
          </a:xfrm>
          <a:prstGeom prst="rect">
            <a:avLst/>
          </a:prstGeom>
          <a:noFill/>
        </p:spPr>
        <p:txBody>
          <a:bodyPr wrap="square">
            <a:spAutoFit/>
          </a:bodyPr>
          <a:lstStyle/>
          <a:p>
            <a:r>
              <a:rPr lang="it-IT" dirty="0"/>
              <a:t>In questo modo, si crea un'istanza di </a:t>
            </a:r>
            <a:r>
              <a:rPr lang="it-IT" dirty="0" err="1"/>
              <a:t>ArrayList</a:t>
            </a:r>
            <a:r>
              <a:rPr lang="it-IT" dirty="0"/>
              <a:t> che può contenere oggetti di tipo </a:t>
            </a:r>
            <a:r>
              <a:rPr lang="it-IT" dirty="0" err="1"/>
              <a:t>Integer</a:t>
            </a:r>
            <a:r>
              <a:rPr lang="it-IT" dirty="0"/>
              <a:t>. Successivamente, è possibile aggiungere elementi alla lista con il metodo </a:t>
            </a:r>
            <a:r>
              <a:rPr lang="it-IT" dirty="0" err="1"/>
              <a:t>add</a:t>
            </a:r>
            <a:r>
              <a:rPr lang="it-IT" dirty="0"/>
              <a:t>():</a:t>
            </a:r>
          </a:p>
        </p:txBody>
      </p:sp>
      <p:sp>
        <p:nvSpPr>
          <p:cNvPr id="12" name="CasellaDiTesto 11">
            <a:extLst>
              <a:ext uri="{FF2B5EF4-FFF2-40B4-BE49-F238E27FC236}">
                <a16:creationId xmlns:a16="http://schemas.microsoft.com/office/drawing/2014/main" id="{98474302-855A-B8BE-211F-9244C55E4EA7}"/>
              </a:ext>
            </a:extLst>
          </p:cNvPr>
          <p:cNvSpPr txBox="1"/>
          <p:nvPr/>
        </p:nvSpPr>
        <p:spPr>
          <a:xfrm>
            <a:off x="3892669" y="5633201"/>
            <a:ext cx="7994531" cy="923330"/>
          </a:xfrm>
          <a:prstGeom prst="rect">
            <a:avLst/>
          </a:prstGeom>
          <a:noFill/>
        </p:spPr>
        <p:txBody>
          <a:bodyPr wrap="square">
            <a:spAutoFit/>
          </a:bodyPr>
          <a:lstStyle/>
          <a:p>
            <a:r>
              <a:rPr lang="it-IT" b="0" i="0" dirty="0">
                <a:solidFill>
                  <a:srgbClr val="374151"/>
                </a:solidFill>
                <a:effectLst/>
                <a:latin typeface="Söhne"/>
              </a:rPr>
              <a:t>In questo caso, si aggiungono alla lista tre elementi di tipo </a:t>
            </a:r>
            <a:r>
              <a:rPr lang="it-IT" b="0" i="0" dirty="0" err="1">
                <a:solidFill>
                  <a:srgbClr val="374151"/>
                </a:solidFill>
                <a:effectLst/>
                <a:latin typeface="Söhne"/>
              </a:rPr>
              <a:t>Integer</a:t>
            </a:r>
            <a:r>
              <a:rPr lang="it-IT" b="0" i="0" dirty="0">
                <a:solidFill>
                  <a:srgbClr val="374151"/>
                </a:solidFill>
                <a:effectLst/>
                <a:latin typeface="Söhne"/>
              </a:rPr>
              <a:t>, con valori 1, 2 e 3.</a:t>
            </a:r>
            <a:r>
              <a:rPr lang="it-IT" dirty="0"/>
              <a:t>In questo caso, si aggiungono alla lista tre elementi di tipo </a:t>
            </a:r>
            <a:r>
              <a:rPr lang="it-IT" dirty="0" err="1"/>
              <a:t>Integer</a:t>
            </a:r>
            <a:r>
              <a:rPr lang="it-IT" dirty="0"/>
              <a:t>, con valori 1, 2 e 3.</a:t>
            </a:r>
          </a:p>
        </p:txBody>
      </p:sp>
    </p:spTree>
    <p:extLst>
      <p:ext uri="{BB962C8B-B14F-4D97-AF65-F5344CB8AC3E}">
        <p14:creationId xmlns:p14="http://schemas.microsoft.com/office/powerpoint/2010/main" val="40044331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553998"/>
          </a:xfrm>
          <a:prstGeom prst="rect">
            <a:avLst/>
          </a:prstGeom>
          <a:noFill/>
        </p:spPr>
        <p:txBody>
          <a:bodyPr wrap="square">
            <a:spAutoFit/>
          </a:bodyPr>
          <a:lstStyle/>
          <a:p>
            <a:pPr algn="l"/>
            <a:r>
              <a:rPr lang="it-IT" sz="1500" b="0" i="0" dirty="0">
                <a:solidFill>
                  <a:srgbClr val="374151"/>
                </a:solidFill>
                <a:effectLst/>
                <a:latin typeface="Söhne"/>
              </a:rPr>
              <a:t>Per accedere ad un elemento della lista, si può utilizzare il metodo </a:t>
            </a:r>
            <a:r>
              <a:rPr lang="it-IT" sz="1500" b="0" i="0" dirty="0" err="1">
                <a:solidFill>
                  <a:srgbClr val="374151"/>
                </a:solidFill>
                <a:effectLst/>
                <a:latin typeface="Söhne"/>
              </a:rPr>
              <a:t>get</a:t>
            </a:r>
            <a:r>
              <a:rPr lang="it-IT" sz="1500" b="0" i="0" dirty="0">
                <a:solidFill>
                  <a:srgbClr val="374151"/>
                </a:solidFill>
                <a:effectLst/>
                <a:latin typeface="Söhne"/>
              </a:rPr>
              <a:t>(), specificando l'indice dell'elemento desiderato:</a:t>
            </a:r>
          </a:p>
        </p:txBody>
      </p:sp>
    </p:spTree>
    <p:extLst>
      <p:ext uri="{BB962C8B-B14F-4D97-AF65-F5344CB8AC3E}">
        <p14:creationId xmlns:p14="http://schemas.microsoft.com/office/powerpoint/2010/main" val="35846920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553998"/>
          </a:xfrm>
          <a:prstGeom prst="rect">
            <a:avLst/>
          </a:prstGeom>
          <a:noFill/>
        </p:spPr>
        <p:txBody>
          <a:bodyPr wrap="square">
            <a:spAutoFit/>
          </a:bodyPr>
          <a:lstStyle/>
          <a:p>
            <a:pPr algn="l"/>
            <a:r>
              <a:rPr lang="it-IT" sz="1500" b="0" i="0" dirty="0">
                <a:solidFill>
                  <a:srgbClr val="374151"/>
                </a:solidFill>
                <a:effectLst/>
                <a:latin typeface="Söhne"/>
              </a:rPr>
              <a:t>Per accedere ad un elemento della lista, si può utilizzare il metodo </a:t>
            </a:r>
            <a:r>
              <a:rPr lang="it-IT" sz="1500" b="0" i="0" dirty="0" err="1">
                <a:solidFill>
                  <a:srgbClr val="374151"/>
                </a:solidFill>
                <a:effectLst/>
                <a:latin typeface="Söhne"/>
              </a:rPr>
              <a:t>get</a:t>
            </a:r>
            <a:r>
              <a:rPr lang="it-IT" sz="1500" b="0" i="0" dirty="0">
                <a:solidFill>
                  <a:srgbClr val="374151"/>
                </a:solidFill>
                <a:effectLst/>
                <a:latin typeface="Söhne"/>
              </a:rPr>
              <a:t>(), specificando l'indice dell'elemento desiderato:</a:t>
            </a:r>
          </a:p>
        </p:txBody>
      </p:sp>
      <p:sp>
        <p:nvSpPr>
          <p:cNvPr id="3" name="CasellaDiTesto 2">
            <a:extLst>
              <a:ext uri="{FF2B5EF4-FFF2-40B4-BE49-F238E27FC236}">
                <a16:creationId xmlns:a16="http://schemas.microsoft.com/office/drawing/2014/main" id="{ACCBE628-169C-97A2-1318-CBC518377D9D}"/>
              </a:ext>
            </a:extLst>
          </p:cNvPr>
          <p:cNvSpPr txBox="1"/>
          <p:nvPr/>
        </p:nvSpPr>
        <p:spPr>
          <a:xfrm>
            <a:off x="3894108" y="1679919"/>
            <a:ext cx="732023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primoNumero</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numeri.get</a:t>
            </a:r>
            <a:r>
              <a:rPr lang="it-IT" b="0" dirty="0">
                <a:solidFill>
                  <a:srgbClr val="D4D4D4"/>
                </a:solidFill>
                <a:effectLst/>
                <a:latin typeface="Consolas" panose="020B0609020204030204" pitchFamily="49" charset="0"/>
              </a:rPr>
              <a:t>(0)</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4785103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553998"/>
          </a:xfrm>
          <a:prstGeom prst="rect">
            <a:avLst/>
          </a:prstGeom>
          <a:noFill/>
        </p:spPr>
        <p:txBody>
          <a:bodyPr wrap="square">
            <a:spAutoFit/>
          </a:bodyPr>
          <a:lstStyle/>
          <a:p>
            <a:pPr algn="l"/>
            <a:r>
              <a:rPr lang="it-IT" sz="1500" b="0" i="0" dirty="0">
                <a:solidFill>
                  <a:srgbClr val="374151"/>
                </a:solidFill>
                <a:effectLst/>
                <a:latin typeface="Söhne"/>
              </a:rPr>
              <a:t>Per accedere ad un elemento della lista, si può utilizzare il metodo </a:t>
            </a:r>
            <a:r>
              <a:rPr lang="it-IT" sz="1500" b="0" i="0" dirty="0" err="1">
                <a:solidFill>
                  <a:srgbClr val="374151"/>
                </a:solidFill>
                <a:effectLst/>
                <a:latin typeface="Söhne"/>
              </a:rPr>
              <a:t>get</a:t>
            </a:r>
            <a:r>
              <a:rPr lang="it-IT" sz="1500" b="0" i="0" dirty="0">
                <a:solidFill>
                  <a:srgbClr val="374151"/>
                </a:solidFill>
                <a:effectLst/>
                <a:latin typeface="Söhne"/>
              </a:rPr>
              <a:t>(), specificando l'indice dell'elemento desiderato:</a:t>
            </a:r>
          </a:p>
        </p:txBody>
      </p:sp>
      <p:sp>
        <p:nvSpPr>
          <p:cNvPr id="3" name="CasellaDiTesto 2">
            <a:extLst>
              <a:ext uri="{FF2B5EF4-FFF2-40B4-BE49-F238E27FC236}">
                <a16:creationId xmlns:a16="http://schemas.microsoft.com/office/drawing/2014/main" id="{ACCBE628-169C-97A2-1318-CBC518377D9D}"/>
              </a:ext>
            </a:extLst>
          </p:cNvPr>
          <p:cNvSpPr txBox="1"/>
          <p:nvPr/>
        </p:nvSpPr>
        <p:spPr>
          <a:xfrm>
            <a:off x="3894108" y="1679919"/>
            <a:ext cx="732023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primoNumero</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numeri.get</a:t>
            </a:r>
            <a:r>
              <a:rPr lang="it-IT" b="0" dirty="0">
                <a:solidFill>
                  <a:srgbClr val="D4D4D4"/>
                </a:solidFill>
                <a:effectLst/>
                <a:latin typeface="Consolas" panose="020B0609020204030204" pitchFamily="49" charset="0"/>
              </a:rPr>
              <a:t>(0)</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5" name="CasellaDiTesto 4">
            <a:extLst>
              <a:ext uri="{FF2B5EF4-FFF2-40B4-BE49-F238E27FC236}">
                <a16:creationId xmlns:a16="http://schemas.microsoft.com/office/drawing/2014/main" id="{92D11EF5-4D3A-93CC-E993-088F95BC7D5E}"/>
              </a:ext>
            </a:extLst>
          </p:cNvPr>
          <p:cNvSpPr txBox="1"/>
          <p:nvPr/>
        </p:nvSpPr>
        <p:spPr>
          <a:xfrm>
            <a:off x="3894108" y="2136338"/>
            <a:ext cx="6094562" cy="923330"/>
          </a:xfrm>
          <a:prstGeom prst="rect">
            <a:avLst/>
          </a:prstGeom>
          <a:noFill/>
        </p:spPr>
        <p:txBody>
          <a:bodyPr wrap="square">
            <a:spAutoFit/>
          </a:bodyPr>
          <a:lstStyle/>
          <a:p>
            <a:r>
              <a:rPr lang="it-IT" dirty="0"/>
              <a:t>In questo caso, viene assegnato alla variabile </a:t>
            </a:r>
            <a:r>
              <a:rPr lang="it-IT" dirty="0" err="1"/>
              <a:t>primoNumero</a:t>
            </a:r>
            <a:r>
              <a:rPr lang="it-IT" dirty="0"/>
              <a:t> il valore dell'elemento nella posizione 0 della lista (in questo caso, il valore 1).</a:t>
            </a:r>
          </a:p>
        </p:txBody>
      </p:sp>
    </p:spTree>
    <p:extLst>
      <p:ext uri="{BB962C8B-B14F-4D97-AF65-F5344CB8AC3E}">
        <p14:creationId xmlns:p14="http://schemas.microsoft.com/office/powerpoint/2010/main" val="36541130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err="1"/>
              <a:t>ArrayList</a:t>
            </a:r>
            <a:endParaRPr lang="it-IT" sz="1800" dirty="0"/>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err="1"/>
              <a:t>ArrayList</a:t>
            </a:r>
            <a:endParaRPr lang="it-IT" sz="3000" dirty="0"/>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3894108" y="1125921"/>
            <a:ext cx="8159346" cy="553998"/>
          </a:xfrm>
          <a:prstGeom prst="rect">
            <a:avLst/>
          </a:prstGeom>
          <a:noFill/>
        </p:spPr>
        <p:txBody>
          <a:bodyPr wrap="square">
            <a:spAutoFit/>
          </a:bodyPr>
          <a:lstStyle/>
          <a:p>
            <a:pPr algn="l"/>
            <a:r>
              <a:rPr lang="it-IT" sz="1500" b="0" i="0" dirty="0">
                <a:solidFill>
                  <a:srgbClr val="374151"/>
                </a:solidFill>
                <a:effectLst/>
                <a:latin typeface="Söhne"/>
              </a:rPr>
              <a:t>Per accedere ad un elemento della lista, si può utilizzare il metodo </a:t>
            </a:r>
            <a:r>
              <a:rPr lang="it-IT" sz="1500" b="0" i="0" dirty="0" err="1">
                <a:solidFill>
                  <a:srgbClr val="374151"/>
                </a:solidFill>
                <a:effectLst/>
                <a:latin typeface="Söhne"/>
              </a:rPr>
              <a:t>get</a:t>
            </a:r>
            <a:r>
              <a:rPr lang="it-IT" sz="1500" b="0" i="0" dirty="0">
                <a:solidFill>
                  <a:srgbClr val="374151"/>
                </a:solidFill>
                <a:effectLst/>
                <a:latin typeface="Söhne"/>
              </a:rPr>
              <a:t>(), specificando l'indice dell'elemento desiderato:</a:t>
            </a:r>
          </a:p>
        </p:txBody>
      </p:sp>
      <p:sp>
        <p:nvSpPr>
          <p:cNvPr id="3" name="CasellaDiTesto 2">
            <a:extLst>
              <a:ext uri="{FF2B5EF4-FFF2-40B4-BE49-F238E27FC236}">
                <a16:creationId xmlns:a16="http://schemas.microsoft.com/office/drawing/2014/main" id="{ACCBE628-169C-97A2-1318-CBC518377D9D}"/>
              </a:ext>
            </a:extLst>
          </p:cNvPr>
          <p:cNvSpPr txBox="1"/>
          <p:nvPr/>
        </p:nvSpPr>
        <p:spPr>
          <a:xfrm>
            <a:off x="3894108" y="1679919"/>
            <a:ext cx="7320232" cy="369332"/>
          </a:xfrm>
          <a:prstGeom prst="rect">
            <a:avLst/>
          </a:prstGeom>
          <a:solidFill>
            <a:schemeClr val="tx1">
              <a:lumMod val="85000"/>
              <a:lumOff val="15000"/>
            </a:schemeClr>
          </a:solidFill>
        </p:spPr>
        <p:txBody>
          <a:bodyPr wrap="square">
            <a:spAutoFit/>
          </a:bodyPr>
          <a:lstStyle/>
          <a:p>
            <a:r>
              <a:rPr lang="it-IT" b="0" dirty="0" err="1">
                <a:solidFill>
                  <a:srgbClr val="569CD6"/>
                </a:solidFill>
                <a:effectLst/>
                <a:latin typeface="Consolas" panose="020B0609020204030204" pitchFamily="49" charset="0"/>
              </a:rPr>
              <a:t>int</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primoNumero</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numeri.get</a:t>
            </a:r>
            <a:r>
              <a:rPr lang="it-IT" b="0" dirty="0">
                <a:solidFill>
                  <a:srgbClr val="D4D4D4"/>
                </a:solidFill>
                <a:effectLst/>
                <a:latin typeface="Consolas" panose="020B0609020204030204" pitchFamily="49" charset="0"/>
              </a:rPr>
              <a:t>(0)</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p:txBody>
      </p:sp>
      <p:sp>
        <p:nvSpPr>
          <p:cNvPr id="5" name="CasellaDiTesto 4">
            <a:extLst>
              <a:ext uri="{FF2B5EF4-FFF2-40B4-BE49-F238E27FC236}">
                <a16:creationId xmlns:a16="http://schemas.microsoft.com/office/drawing/2014/main" id="{92D11EF5-4D3A-93CC-E993-088F95BC7D5E}"/>
              </a:ext>
            </a:extLst>
          </p:cNvPr>
          <p:cNvSpPr txBox="1"/>
          <p:nvPr/>
        </p:nvSpPr>
        <p:spPr>
          <a:xfrm>
            <a:off x="3894108" y="2136338"/>
            <a:ext cx="6094562" cy="2585323"/>
          </a:xfrm>
          <a:prstGeom prst="rect">
            <a:avLst/>
          </a:prstGeom>
          <a:noFill/>
        </p:spPr>
        <p:txBody>
          <a:bodyPr wrap="square">
            <a:spAutoFit/>
          </a:bodyPr>
          <a:lstStyle/>
          <a:p>
            <a:r>
              <a:rPr lang="it-IT" dirty="0"/>
              <a:t>In questo caso, viene assegnato alla variabile </a:t>
            </a:r>
            <a:r>
              <a:rPr lang="it-IT" dirty="0" err="1"/>
              <a:t>primoNumero</a:t>
            </a:r>
            <a:r>
              <a:rPr lang="it-IT" dirty="0"/>
              <a:t> il valore dell'elemento nella posizione 0 della lista (in questo caso, il valore 1).</a:t>
            </a:r>
          </a:p>
          <a:p>
            <a:endParaRPr lang="it-IT" dirty="0"/>
          </a:p>
          <a:p>
            <a:r>
              <a:rPr lang="it-IT" dirty="0"/>
              <a:t>Gli </a:t>
            </a:r>
            <a:r>
              <a:rPr lang="it-IT" dirty="0" err="1"/>
              <a:t>ArrayList</a:t>
            </a:r>
            <a:r>
              <a:rPr lang="it-IT" dirty="0"/>
              <a:t> sono molto flessibili e possono essere utilizzati in molti contesti diversi, per esempio per memorizzare dati letti da file, per creare elenchi di elementi che devono essere ordinati o filtrati, o per creare insiemi di oggetti che devono essere manipolati dinamicamente.</a:t>
            </a:r>
          </a:p>
        </p:txBody>
      </p:sp>
    </p:spTree>
    <p:extLst>
      <p:ext uri="{BB962C8B-B14F-4D97-AF65-F5344CB8AC3E}">
        <p14:creationId xmlns:p14="http://schemas.microsoft.com/office/powerpoint/2010/main" val="33714501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73692"/>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sz="1800" dirty="0"/>
              <a:t>Gestione dei file in JAVA</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2873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246464" y="1841913"/>
            <a:ext cx="8159346" cy="2862322"/>
          </a:xfrm>
          <a:prstGeom prst="rect">
            <a:avLst/>
          </a:prstGeom>
          <a:noFill/>
        </p:spPr>
        <p:txBody>
          <a:bodyPr wrap="square">
            <a:spAutoFit/>
          </a:bodyPr>
          <a:lstStyle/>
          <a:p>
            <a:pPr algn="l"/>
            <a:r>
              <a:rPr lang="it-IT" sz="3000" b="0" i="0" dirty="0">
                <a:solidFill>
                  <a:srgbClr val="374151"/>
                </a:solidFill>
                <a:effectLst/>
                <a:latin typeface="Söhne"/>
              </a:rPr>
              <a:t>La gestione dei file in Java si riferisce all'accesso, alla lettura, alla scrittura e alla manipolazione dei file presenti sul sistema operativo. In Java, i file vengono rappresentati come oggetti della classe "File" e la loro gestione avviene attraverso l'utilizzo delle classi del package "</a:t>
            </a:r>
            <a:r>
              <a:rPr lang="it-IT" sz="3000" b="0" i="0" dirty="0" err="1">
                <a:solidFill>
                  <a:srgbClr val="374151"/>
                </a:solidFill>
                <a:effectLst/>
                <a:latin typeface="Söhne"/>
              </a:rPr>
              <a:t>java.io</a:t>
            </a:r>
            <a:r>
              <a:rPr lang="it-IT" sz="3000" b="0" i="0" dirty="0">
                <a:solidFill>
                  <a:srgbClr val="374151"/>
                </a:solidFill>
                <a:effectLst/>
                <a:latin typeface="Söhne"/>
              </a:rPr>
              <a:t>".</a:t>
            </a:r>
          </a:p>
        </p:txBody>
      </p:sp>
    </p:spTree>
    <p:extLst>
      <p:ext uri="{BB962C8B-B14F-4D97-AF65-F5344CB8AC3E}">
        <p14:creationId xmlns:p14="http://schemas.microsoft.com/office/powerpoint/2010/main" val="5799248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246464" y="1841913"/>
            <a:ext cx="8159346" cy="3046988"/>
          </a:xfrm>
          <a:prstGeom prst="rect">
            <a:avLst/>
          </a:prstGeom>
          <a:noFill/>
        </p:spPr>
        <p:txBody>
          <a:bodyPr wrap="square">
            <a:spAutoFit/>
          </a:bodyPr>
          <a:lstStyle/>
          <a:p>
            <a:pPr algn="l"/>
            <a:r>
              <a:rPr lang="it-IT" sz="3200" b="0" i="0" dirty="0">
                <a:solidFill>
                  <a:srgbClr val="374151"/>
                </a:solidFill>
                <a:effectLst/>
                <a:latin typeface="Söhne"/>
              </a:rPr>
              <a:t>La classe "File" fornisce metodi per accedere alle informazioni sui file, come ad esempio il nome, il percorso, la dimensione e la data di ultima modifica. Inoltre, la classe "File" fornisce metodi per creare, rinominare, spostare e cancellare i file.</a:t>
            </a:r>
          </a:p>
        </p:txBody>
      </p:sp>
    </p:spTree>
    <p:extLst>
      <p:ext uri="{BB962C8B-B14F-4D97-AF65-F5344CB8AC3E}">
        <p14:creationId xmlns:p14="http://schemas.microsoft.com/office/powerpoint/2010/main" val="35214588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246464" y="1841913"/>
            <a:ext cx="8159346" cy="3539430"/>
          </a:xfrm>
          <a:prstGeom prst="rect">
            <a:avLst/>
          </a:prstGeom>
          <a:noFill/>
        </p:spPr>
        <p:txBody>
          <a:bodyPr wrap="square">
            <a:spAutoFit/>
          </a:bodyPr>
          <a:lstStyle/>
          <a:p>
            <a:pPr algn="l"/>
            <a:r>
              <a:rPr lang="it-IT" sz="3200" b="0" i="0" dirty="0">
                <a:solidFill>
                  <a:srgbClr val="374151"/>
                </a:solidFill>
                <a:effectLst/>
                <a:latin typeface="Söhne"/>
              </a:rPr>
              <a:t>La classe "</a:t>
            </a:r>
            <a:r>
              <a:rPr lang="it-IT" sz="3200" b="0" i="0" dirty="0" err="1">
                <a:solidFill>
                  <a:srgbClr val="374151"/>
                </a:solidFill>
                <a:effectLst/>
                <a:latin typeface="Söhne"/>
              </a:rPr>
              <a:t>FileInputStream</a:t>
            </a:r>
            <a:r>
              <a:rPr lang="it-IT" sz="3200" b="0" i="0" dirty="0">
                <a:solidFill>
                  <a:srgbClr val="374151"/>
                </a:solidFill>
                <a:effectLst/>
                <a:latin typeface="Söhne"/>
              </a:rPr>
              <a:t>" viene utilizzata per leggere i dati dai file, mentre la classe "</a:t>
            </a:r>
            <a:r>
              <a:rPr lang="it-IT" sz="3200" b="0" i="0" dirty="0" err="1">
                <a:solidFill>
                  <a:srgbClr val="374151"/>
                </a:solidFill>
                <a:effectLst/>
                <a:latin typeface="Söhne"/>
              </a:rPr>
              <a:t>FileOutputStream</a:t>
            </a:r>
            <a:r>
              <a:rPr lang="it-IT" sz="3200" b="0" i="0" dirty="0">
                <a:solidFill>
                  <a:srgbClr val="374151"/>
                </a:solidFill>
                <a:effectLst/>
                <a:latin typeface="Söhne"/>
              </a:rPr>
              <a:t>" viene utilizzata per scrivere i dati sui file. La classe "</a:t>
            </a:r>
            <a:r>
              <a:rPr lang="it-IT" sz="3200" b="0" i="0" dirty="0" err="1">
                <a:solidFill>
                  <a:srgbClr val="374151"/>
                </a:solidFill>
                <a:effectLst/>
                <a:latin typeface="Söhne"/>
              </a:rPr>
              <a:t>BufferedReader</a:t>
            </a:r>
            <a:r>
              <a:rPr lang="it-IT" sz="3200" b="0" i="0" dirty="0">
                <a:solidFill>
                  <a:srgbClr val="374151"/>
                </a:solidFill>
                <a:effectLst/>
                <a:latin typeface="Söhne"/>
              </a:rPr>
              <a:t>" viene utilizzata per leggere il testo dai file, mentre la classe "</a:t>
            </a:r>
            <a:r>
              <a:rPr lang="it-IT" sz="3200" b="0" i="0" dirty="0" err="1">
                <a:solidFill>
                  <a:srgbClr val="374151"/>
                </a:solidFill>
                <a:effectLst/>
                <a:latin typeface="Söhne"/>
              </a:rPr>
              <a:t>BufferedWriter</a:t>
            </a:r>
            <a:r>
              <a:rPr lang="it-IT" sz="3200" b="0" i="0" dirty="0">
                <a:solidFill>
                  <a:srgbClr val="374151"/>
                </a:solidFill>
                <a:effectLst/>
                <a:latin typeface="Söhne"/>
              </a:rPr>
              <a:t>" viene utilizzata per scrivere il testo sui file.</a:t>
            </a:r>
          </a:p>
        </p:txBody>
      </p:sp>
    </p:spTree>
    <p:extLst>
      <p:ext uri="{BB962C8B-B14F-4D97-AF65-F5344CB8AC3E}">
        <p14:creationId xmlns:p14="http://schemas.microsoft.com/office/powerpoint/2010/main" val="23240112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246464" y="1841913"/>
            <a:ext cx="8159346" cy="2554545"/>
          </a:xfrm>
          <a:prstGeom prst="rect">
            <a:avLst/>
          </a:prstGeom>
          <a:noFill/>
        </p:spPr>
        <p:txBody>
          <a:bodyPr wrap="square">
            <a:spAutoFit/>
          </a:bodyPr>
          <a:lstStyle/>
          <a:p>
            <a:pPr algn="l"/>
            <a:r>
              <a:rPr lang="it-IT" sz="3200" b="0" i="0" dirty="0">
                <a:solidFill>
                  <a:srgbClr val="374151"/>
                </a:solidFill>
                <a:effectLst/>
                <a:latin typeface="Söhne"/>
              </a:rPr>
              <a:t>Infine, Java fornisce anche il package "</a:t>
            </a:r>
            <a:r>
              <a:rPr lang="it-IT" sz="3200" b="0" i="0" dirty="0" err="1">
                <a:solidFill>
                  <a:srgbClr val="374151"/>
                </a:solidFill>
                <a:effectLst/>
                <a:latin typeface="Söhne"/>
              </a:rPr>
              <a:t>java.nio</a:t>
            </a:r>
            <a:r>
              <a:rPr lang="it-IT" sz="3200" b="0" i="0" dirty="0">
                <a:solidFill>
                  <a:srgbClr val="374151"/>
                </a:solidFill>
                <a:effectLst/>
                <a:latin typeface="Söhne"/>
              </a:rPr>
              <a:t>" per una gestione più efficiente dei file, che utilizza il concetto di "canali" (</a:t>
            </a:r>
            <a:r>
              <a:rPr lang="it-IT" sz="3200" b="0" i="0" dirty="0" err="1">
                <a:solidFill>
                  <a:srgbClr val="374151"/>
                </a:solidFill>
                <a:effectLst/>
                <a:latin typeface="Söhne"/>
              </a:rPr>
              <a:t>channels</a:t>
            </a:r>
            <a:r>
              <a:rPr lang="it-IT" sz="3200" b="0" i="0" dirty="0">
                <a:solidFill>
                  <a:srgbClr val="374151"/>
                </a:solidFill>
                <a:effectLst/>
                <a:latin typeface="Söhne"/>
              </a:rPr>
              <a:t>) e buffer per migliorare le prestazioni della lettura e della scrittura sui file.</a:t>
            </a:r>
          </a:p>
        </p:txBody>
      </p:sp>
    </p:spTree>
    <p:extLst>
      <p:ext uri="{BB962C8B-B14F-4D97-AF65-F5344CB8AC3E}">
        <p14:creationId xmlns:p14="http://schemas.microsoft.com/office/powerpoint/2010/main" val="24766875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246464" y="1841913"/>
            <a:ext cx="8159346" cy="3046988"/>
          </a:xfrm>
          <a:prstGeom prst="rect">
            <a:avLst/>
          </a:prstGeom>
          <a:noFill/>
        </p:spPr>
        <p:txBody>
          <a:bodyPr wrap="square">
            <a:spAutoFit/>
          </a:bodyPr>
          <a:lstStyle/>
          <a:p>
            <a:pPr algn="l"/>
            <a:r>
              <a:rPr lang="it-IT" sz="3200" b="0" i="0" dirty="0">
                <a:solidFill>
                  <a:srgbClr val="374151"/>
                </a:solidFill>
                <a:effectLst/>
                <a:latin typeface="Söhne"/>
              </a:rPr>
              <a:t>Inoltre, Java fornisce anche le classi "</a:t>
            </a:r>
            <a:r>
              <a:rPr lang="it-IT" sz="3200" b="0" i="0" dirty="0" err="1">
                <a:solidFill>
                  <a:srgbClr val="374151"/>
                </a:solidFill>
                <a:effectLst/>
                <a:latin typeface="Söhne"/>
              </a:rPr>
              <a:t>RandomAccessFile</a:t>
            </a:r>
            <a:r>
              <a:rPr lang="it-IT" sz="3200" b="0" i="0" dirty="0">
                <a:solidFill>
                  <a:srgbClr val="374151"/>
                </a:solidFill>
                <a:effectLst/>
                <a:latin typeface="Söhne"/>
              </a:rPr>
              <a:t>" e "</a:t>
            </a:r>
            <a:r>
              <a:rPr lang="it-IT" sz="3200" b="0" i="0" dirty="0" err="1">
                <a:solidFill>
                  <a:srgbClr val="374151"/>
                </a:solidFill>
                <a:effectLst/>
                <a:latin typeface="Söhne"/>
              </a:rPr>
              <a:t>DataInputStream</a:t>
            </a:r>
            <a:r>
              <a:rPr lang="it-IT" sz="3200" b="0" i="0" dirty="0">
                <a:solidFill>
                  <a:srgbClr val="374151"/>
                </a:solidFill>
                <a:effectLst/>
                <a:latin typeface="Söhne"/>
              </a:rPr>
              <a:t>" per la lettura e la scrittura di dati di tipo primitivo su file, e la classe "</a:t>
            </a:r>
            <a:r>
              <a:rPr lang="it-IT" sz="3200" b="0" i="0" dirty="0" err="1">
                <a:solidFill>
                  <a:srgbClr val="374151"/>
                </a:solidFill>
                <a:effectLst/>
                <a:latin typeface="Söhne"/>
              </a:rPr>
              <a:t>ObjectInputStream</a:t>
            </a:r>
            <a:r>
              <a:rPr lang="it-IT" sz="3200" b="0" i="0" dirty="0">
                <a:solidFill>
                  <a:srgbClr val="374151"/>
                </a:solidFill>
                <a:effectLst/>
                <a:latin typeface="Söhne"/>
              </a:rPr>
              <a:t>" e "</a:t>
            </a:r>
            <a:r>
              <a:rPr lang="it-IT" sz="3200" b="0" i="0" dirty="0" err="1">
                <a:solidFill>
                  <a:srgbClr val="374151"/>
                </a:solidFill>
                <a:effectLst/>
                <a:latin typeface="Söhne"/>
              </a:rPr>
              <a:t>ObjectOutputStream</a:t>
            </a:r>
            <a:r>
              <a:rPr lang="it-IT" sz="3200" b="0" i="0" dirty="0">
                <a:solidFill>
                  <a:srgbClr val="374151"/>
                </a:solidFill>
                <a:effectLst/>
                <a:latin typeface="Söhne"/>
              </a:rPr>
              <a:t>" per la lettura e la scrittura di oggetti su file.</a:t>
            </a:r>
          </a:p>
        </p:txBody>
      </p:sp>
    </p:spTree>
    <p:extLst>
      <p:ext uri="{BB962C8B-B14F-4D97-AF65-F5344CB8AC3E}">
        <p14:creationId xmlns:p14="http://schemas.microsoft.com/office/powerpoint/2010/main" val="9913078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473309" y="1301363"/>
            <a:ext cx="8159346" cy="4031873"/>
          </a:xfrm>
          <a:prstGeom prst="rect">
            <a:avLst/>
          </a:prstGeom>
          <a:noFill/>
        </p:spPr>
        <p:txBody>
          <a:bodyPr wrap="square">
            <a:spAutoFit/>
          </a:bodyPr>
          <a:lstStyle/>
          <a:p>
            <a:pPr algn="l"/>
            <a:r>
              <a:rPr lang="it-IT" sz="3200" b="0" i="0" dirty="0">
                <a:solidFill>
                  <a:srgbClr val="374151"/>
                </a:solidFill>
                <a:effectLst/>
                <a:latin typeface="Söhne"/>
              </a:rPr>
              <a:t>In Java, la gestione dei file viene effettuata attraverso l'utilizzo della classe File e delle classi che compongono il package </a:t>
            </a:r>
            <a:r>
              <a:rPr lang="it-IT" sz="3200" b="0" i="0" dirty="0" err="1">
                <a:solidFill>
                  <a:srgbClr val="374151"/>
                </a:solidFill>
                <a:effectLst/>
                <a:latin typeface="Söhne"/>
              </a:rPr>
              <a:t>java.io</a:t>
            </a:r>
            <a:r>
              <a:rPr lang="it-IT" sz="3200" b="0" i="0" dirty="0">
                <a:solidFill>
                  <a:srgbClr val="374151"/>
                </a:solidFill>
                <a:effectLst/>
                <a:latin typeface="Söhne"/>
              </a:rPr>
              <a:t>.</a:t>
            </a:r>
          </a:p>
          <a:p>
            <a:pPr algn="l"/>
            <a:r>
              <a:rPr lang="it-IT" sz="3200" b="0" i="0" dirty="0">
                <a:solidFill>
                  <a:srgbClr val="374151"/>
                </a:solidFill>
                <a:effectLst/>
                <a:latin typeface="Söhne"/>
              </a:rPr>
              <a:t>La classe File rappresenta un percorso di un file o di una directory nel file system del sistema operativo. Essa contiene informazioni sul nome, il percorso, l'estensione e altre proprietà dei file o delle directory.</a:t>
            </a:r>
          </a:p>
        </p:txBody>
      </p:sp>
    </p:spTree>
    <p:extLst>
      <p:ext uri="{BB962C8B-B14F-4D97-AF65-F5344CB8AC3E}">
        <p14:creationId xmlns:p14="http://schemas.microsoft.com/office/powerpoint/2010/main" val="8405590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473309" y="1301363"/>
            <a:ext cx="8159346" cy="1477328"/>
          </a:xfrm>
          <a:prstGeom prst="rect">
            <a:avLst/>
          </a:prstGeom>
          <a:noFill/>
        </p:spPr>
        <p:txBody>
          <a:bodyPr wrap="square">
            <a:spAutoFit/>
          </a:bodyPr>
          <a:lstStyle/>
          <a:p>
            <a:pPr algn="l"/>
            <a:r>
              <a:rPr lang="it-IT" sz="3000" b="0" i="0" dirty="0">
                <a:solidFill>
                  <a:srgbClr val="374151"/>
                </a:solidFill>
                <a:effectLst/>
                <a:latin typeface="Söhne"/>
              </a:rPr>
              <a:t>Per creare un oggetto File, è possibile utilizzare il costruttore che accetta una stringa contenente il percorso del file o della directory:</a:t>
            </a:r>
          </a:p>
        </p:txBody>
      </p:sp>
    </p:spTree>
    <p:extLst>
      <p:ext uri="{BB962C8B-B14F-4D97-AF65-F5344CB8AC3E}">
        <p14:creationId xmlns:p14="http://schemas.microsoft.com/office/powerpoint/2010/main" val="13738706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473309" y="1301363"/>
            <a:ext cx="8159346" cy="1477328"/>
          </a:xfrm>
          <a:prstGeom prst="rect">
            <a:avLst/>
          </a:prstGeom>
          <a:noFill/>
        </p:spPr>
        <p:txBody>
          <a:bodyPr wrap="square">
            <a:spAutoFit/>
          </a:bodyPr>
          <a:lstStyle/>
          <a:p>
            <a:pPr algn="l"/>
            <a:r>
              <a:rPr lang="it-IT" sz="3000" b="0" i="0" dirty="0">
                <a:solidFill>
                  <a:srgbClr val="374151"/>
                </a:solidFill>
                <a:effectLst/>
                <a:latin typeface="Söhne"/>
              </a:rPr>
              <a:t>Per creare un oggetto File, è possibile utilizzare il costruttore che accetta una stringa contenente il percorso del file o della directory:</a:t>
            </a:r>
          </a:p>
        </p:txBody>
      </p:sp>
      <p:sp>
        <p:nvSpPr>
          <p:cNvPr id="3" name="CasellaDiTesto 2">
            <a:extLst>
              <a:ext uri="{FF2B5EF4-FFF2-40B4-BE49-F238E27FC236}">
                <a16:creationId xmlns:a16="http://schemas.microsoft.com/office/drawing/2014/main" id="{CB3FC9AB-2896-E160-DD82-020442E762F1}"/>
              </a:ext>
            </a:extLst>
          </p:cNvPr>
          <p:cNvSpPr txBox="1"/>
          <p:nvPr/>
        </p:nvSpPr>
        <p:spPr>
          <a:xfrm>
            <a:off x="2583595" y="2919577"/>
            <a:ext cx="7938774" cy="400110"/>
          </a:xfrm>
          <a:prstGeom prst="rect">
            <a:avLst/>
          </a:prstGeom>
          <a:solidFill>
            <a:schemeClr val="tx1">
              <a:lumMod val="85000"/>
              <a:lumOff val="15000"/>
            </a:schemeClr>
          </a:solidFill>
        </p:spPr>
        <p:txBody>
          <a:bodyPr wrap="square">
            <a:spAutoFit/>
          </a:bodyPr>
          <a:lstStyle/>
          <a:p>
            <a:r>
              <a:rPr lang="it-IT" sz="2000" b="0" dirty="0">
                <a:solidFill>
                  <a:srgbClr val="D4D4D4"/>
                </a:solidFill>
                <a:effectLst/>
                <a:latin typeface="Consolas" panose="020B0609020204030204" pitchFamily="49" charset="0"/>
              </a:rPr>
              <a:t>File </a:t>
            </a:r>
            <a:r>
              <a:rPr lang="it-IT" sz="2000" b="0" dirty="0" err="1">
                <a:solidFill>
                  <a:srgbClr val="D4D4D4"/>
                </a:solidFill>
                <a:effectLst/>
                <a:latin typeface="Consolas" panose="020B0609020204030204" pitchFamily="49" charset="0"/>
              </a:rPr>
              <a:t>file</a:t>
            </a:r>
            <a:r>
              <a:rPr lang="it-IT" sz="2000" b="0" dirty="0">
                <a:solidFill>
                  <a:srgbClr val="D4D4D4"/>
                </a:solidFill>
                <a:effectLst/>
                <a:latin typeface="Consolas" panose="020B0609020204030204" pitchFamily="49" charset="0"/>
              </a:rPr>
              <a:t> = new File("C:/Documenti/documento.txt")</a:t>
            </a:r>
            <a:r>
              <a:rPr lang="it-IT" sz="2000" b="0" dirty="0">
                <a:solidFill>
                  <a:srgbClr val="569CD6"/>
                </a:solidFill>
                <a:effectLst/>
                <a:latin typeface="Consolas" panose="020B0609020204030204" pitchFamily="49" charset="0"/>
              </a:rPr>
              <a:t>;</a:t>
            </a:r>
            <a:endParaRPr lang="it-IT" sz="20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6419547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473309" y="1301363"/>
            <a:ext cx="8159346" cy="1477328"/>
          </a:xfrm>
          <a:prstGeom prst="rect">
            <a:avLst/>
          </a:prstGeom>
          <a:noFill/>
        </p:spPr>
        <p:txBody>
          <a:bodyPr wrap="square">
            <a:spAutoFit/>
          </a:bodyPr>
          <a:lstStyle/>
          <a:p>
            <a:pPr algn="l"/>
            <a:r>
              <a:rPr lang="it-IT" sz="3000" b="0" i="0" dirty="0">
                <a:solidFill>
                  <a:srgbClr val="374151"/>
                </a:solidFill>
                <a:effectLst/>
                <a:latin typeface="Söhne"/>
              </a:rPr>
              <a:t>Per creare un oggetto File, è possibile utilizzare il costruttore che accetta una stringa contenente il percorso del file o della directory:</a:t>
            </a:r>
          </a:p>
        </p:txBody>
      </p:sp>
      <p:sp>
        <p:nvSpPr>
          <p:cNvPr id="3" name="CasellaDiTesto 2">
            <a:extLst>
              <a:ext uri="{FF2B5EF4-FFF2-40B4-BE49-F238E27FC236}">
                <a16:creationId xmlns:a16="http://schemas.microsoft.com/office/drawing/2014/main" id="{CB3FC9AB-2896-E160-DD82-020442E762F1}"/>
              </a:ext>
            </a:extLst>
          </p:cNvPr>
          <p:cNvSpPr txBox="1"/>
          <p:nvPr/>
        </p:nvSpPr>
        <p:spPr>
          <a:xfrm>
            <a:off x="2583595" y="2919577"/>
            <a:ext cx="7938774" cy="400110"/>
          </a:xfrm>
          <a:prstGeom prst="rect">
            <a:avLst/>
          </a:prstGeom>
          <a:solidFill>
            <a:schemeClr val="tx1">
              <a:lumMod val="85000"/>
              <a:lumOff val="15000"/>
            </a:schemeClr>
          </a:solidFill>
        </p:spPr>
        <p:txBody>
          <a:bodyPr wrap="square">
            <a:spAutoFit/>
          </a:bodyPr>
          <a:lstStyle/>
          <a:p>
            <a:r>
              <a:rPr lang="it-IT" sz="2000" b="0" dirty="0">
                <a:solidFill>
                  <a:srgbClr val="D4D4D4"/>
                </a:solidFill>
                <a:effectLst/>
                <a:latin typeface="Consolas" panose="020B0609020204030204" pitchFamily="49" charset="0"/>
              </a:rPr>
              <a:t>File </a:t>
            </a:r>
            <a:r>
              <a:rPr lang="it-IT" sz="2000" b="0" dirty="0" err="1">
                <a:solidFill>
                  <a:srgbClr val="D4D4D4"/>
                </a:solidFill>
                <a:effectLst/>
                <a:latin typeface="Consolas" panose="020B0609020204030204" pitchFamily="49" charset="0"/>
              </a:rPr>
              <a:t>file</a:t>
            </a:r>
            <a:r>
              <a:rPr lang="it-IT" sz="2000" b="0" dirty="0">
                <a:solidFill>
                  <a:srgbClr val="D4D4D4"/>
                </a:solidFill>
                <a:effectLst/>
                <a:latin typeface="Consolas" panose="020B0609020204030204" pitchFamily="49" charset="0"/>
              </a:rPr>
              <a:t> = new File("C:/Documenti/documento.txt")</a:t>
            </a:r>
            <a:r>
              <a:rPr lang="it-IT" sz="2000" b="0" dirty="0">
                <a:solidFill>
                  <a:srgbClr val="569CD6"/>
                </a:solidFill>
                <a:effectLst/>
                <a:latin typeface="Consolas" panose="020B0609020204030204" pitchFamily="49" charset="0"/>
              </a:rPr>
              <a:t>;</a:t>
            </a:r>
            <a:endParaRPr lang="it-IT" sz="2000" b="0" dirty="0">
              <a:solidFill>
                <a:srgbClr val="D4D4D4"/>
              </a:solidFill>
              <a:effectLst/>
              <a:latin typeface="Consolas" panose="020B0609020204030204" pitchFamily="49" charset="0"/>
            </a:endParaRPr>
          </a:p>
        </p:txBody>
      </p:sp>
      <p:sp>
        <p:nvSpPr>
          <p:cNvPr id="5" name="CasellaDiTesto 4">
            <a:extLst>
              <a:ext uri="{FF2B5EF4-FFF2-40B4-BE49-F238E27FC236}">
                <a16:creationId xmlns:a16="http://schemas.microsoft.com/office/drawing/2014/main" id="{BC482C3C-D72A-C7B5-3CC9-68AA1257CF5F}"/>
              </a:ext>
            </a:extLst>
          </p:cNvPr>
          <p:cNvSpPr txBox="1"/>
          <p:nvPr/>
        </p:nvSpPr>
        <p:spPr>
          <a:xfrm>
            <a:off x="2484707" y="3571478"/>
            <a:ext cx="8037662" cy="1938992"/>
          </a:xfrm>
          <a:prstGeom prst="rect">
            <a:avLst/>
          </a:prstGeom>
          <a:noFill/>
        </p:spPr>
        <p:txBody>
          <a:bodyPr wrap="square">
            <a:spAutoFit/>
          </a:bodyPr>
          <a:lstStyle/>
          <a:p>
            <a:r>
              <a:rPr lang="it-IT" sz="3000" dirty="0"/>
              <a:t>La classe File fornisce una serie di metodi per gestire i file e le directory. Ad esempio, è possibile verificare se un file o una directory esistono con i metodi </a:t>
            </a:r>
            <a:r>
              <a:rPr lang="it-IT" sz="3000" dirty="0" err="1"/>
              <a:t>exists</a:t>
            </a:r>
            <a:r>
              <a:rPr lang="it-IT" sz="3000" dirty="0"/>
              <a:t>() e </a:t>
            </a:r>
            <a:r>
              <a:rPr lang="it-IT" sz="3000" dirty="0" err="1"/>
              <a:t>isDirectory</a:t>
            </a:r>
            <a:r>
              <a:rPr lang="it-IT" sz="3000" dirty="0"/>
              <a:t>(), rispettivamente.</a:t>
            </a:r>
          </a:p>
        </p:txBody>
      </p:sp>
    </p:spTree>
    <p:extLst>
      <p:ext uri="{BB962C8B-B14F-4D97-AF65-F5344CB8AC3E}">
        <p14:creationId xmlns:p14="http://schemas.microsoft.com/office/powerpoint/2010/main" val="12166732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Tree>
    <p:extLst>
      <p:ext uri="{BB962C8B-B14F-4D97-AF65-F5344CB8AC3E}">
        <p14:creationId xmlns:p14="http://schemas.microsoft.com/office/powerpoint/2010/main" val="32545765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112562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
        <p:nvSpPr>
          <p:cNvPr id="3" name="CasellaDiTesto 2">
            <a:extLst>
              <a:ext uri="{FF2B5EF4-FFF2-40B4-BE49-F238E27FC236}">
                <a16:creationId xmlns:a16="http://schemas.microsoft.com/office/drawing/2014/main" id="{854D4208-D7CD-3DF5-3DA4-39EBE142AD18}"/>
              </a:ext>
            </a:extLst>
          </p:cNvPr>
          <p:cNvSpPr txBox="1"/>
          <p:nvPr/>
        </p:nvSpPr>
        <p:spPr>
          <a:xfrm>
            <a:off x="6791145" y="2009249"/>
            <a:ext cx="4267919" cy="461665"/>
          </a:xfrm>
          <a:prstGeom prst="rect">
            <a:avLst/>
          </a:prstGeom>
          <a:noFill/>
        </p:spPr>
        <p:txBody>
          <a:bodyPr wrap="square">
            <a:spAutoFit/>
          </a:bodyPr>
          <a:lstStyle/>
          <a:p>
            <a:r>
              <a:rPr lang="it-IT" sz="1200" dirty="0"/>
              <a:t>Il codice mostra come scrivere e leggere il contenuto di un file in Java.</a:t>
            </a:r>
          </a:p>
        </p:txBody>
      </p:sp>
    </p:spTree>
    <p:extLst>
      <p:ext uri="{BB962C8B-B14F-4D97-AF65-F5344CB8AC3E}">
        <p14:creationId xmlns:p14="http://schemas.microsoft.com/office/powerpoint/2010/main" val="30603919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
        <p:nvSpPr>
          <p:cNvPr id="3" name="CasellaDiTesto 2">
            <a:extLst>
              <a:ext uri="{FF2B5EF4-FFF2-40B4-BE49-F238E27FC236}">
                <a16:creationId xmlns:a16="http://schemas.microsoft.com/office/drawing/2014/main" id="{854D4208-D7CD-3DF5-3DA4-39EBE142AD18}"/>
              </a:ext>
            </a:extLst>
          </p:cNvPr>
          <p:cNvSpPr txBox="1"/>
          <p:nvPr/>
        </p:nvSpPr>
        <p:spPr>
          <a:xfrm>
            <a:off x="6791145" y="2009249"/>
            <a:ext cx="4267919" cy="1015663"/>
          </a:xfrm>
          <a:prstGeom prst="rect">
            <a:avLst/>
          </a:prstGeom>
          <a:noFill/>
        </p:spPr>
        <p:txBody>
          <a:bodyPr wrap="square">
            <a:spAutoFit/>
          </a:bodyPr>
          <a:lstStyle/>
          <a:p>
            <a:r>
              <a:rPr lang="it-IT" sz="1200" dirty="0"/>
              <a:t>Il codice mostra come scrivere e leggere il contenuto di un file in Java.</a:t>
            </a:r>
          </a:p>
          <a:p>
            <a:endParaRPr lang="it-IT" sz="1200" dirty="0"/>
          </a:p>
          <a:p>
            <a:r>
              <a:rPr lang="it-IT" sz="1200" dirty="0"/>
              <a:t>Inizialmente, viene creato un oggetto File con il percorso specificato.</a:t>
            </a:r>
          </a:p>
        </p:txBody>
      </p:sp>
    </p:spTree>
    <p:extLst>
      <p:ext uri="{BB962C8B-B14F-4D97-AF65-F5344CB8AC3E}">
        <p14:creationId xmlns:p14="http://schemas.microsoft.com/office/powerpoint/2010/main" val="24349242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
        <p:nvSpPr>
          <p:cNvPr id="3" name="CasellaDiTesto 2">
            <a:extLst>
              <a:ext uri="{FF2B5EF4-FFF2-40B4-BE49-F238E27FC236}">
                <a16:creationId xmlns:a16="http://schemas.microsoft.com/office/drawing/2014/main" id="{854D4208-D7CD-3DF5-3DA4-39EBE142AD18}"/>
              </a:ext>
            </a:extLst>
          </p:cNvPr>
          <p:cNvSpPr txBox="1"/>
          <p:nvPr/>
        </p:nvSpPr>
        <p:spPr>
          <a:xfrm>
            <a:off x="6791145" y="2009249"/>
            <a:ext cx="4267919" cy="1938992"/>
          </a:xfrm>
          <a:prstGeom prst="rect">
            <a:avLst/>
          </a:prstGeom>
          <a:noFill/>
        </p:spPr>
        <p:txBody>
          <a:bodyPr wrap="square">
            <a:spAutoFit/>
          </a:bodyPr>
          <a:lstStyle/>
          <a:p>
            <a:r>
              <a:rPr lang="it-IT" sz="1200" dirty="0"/>
              <a:t>Il codice mostra come scrivere e leggere il contenuto di un file in Java.</a:t>
            </a:r>
          </a:p>
          <a:p>
            <a:endParaRPr lang="it-IT" sz="1200" dirty="0"/>
          </a:p>
          <a:p>
            <a:r>
              <a:rPr lang="it-IT" sz="1200" dirty="0"/>
              <a:t>Inizialmente, viene creato un oggetto File con il percorso specificato.</a:t>
            </a:r>
          </a:p>
          <a:p>
            <a:endParaRPr lang="it-IT" sz="1200" dirty="0"/>
          </a:p>
          <a:p>
            <a:r>
              <a:rPr lang="it-IT" sz="1200" dirty="0"/>
              <a:t>Successivamente, viene creato un oggetto </a:t>
            </a:r>
            <a:r>
              <a:rPr lang="it-IT" sz="1200" dirty="0" err="1"/>
              <a:t>OutputStream</a:t>
            </a:r>
            <a:r>
              <a:rPr lang="it-IT" sz="1200" dirty="0"/>
              <a:t> con un </a:t>
            </a:r>
            <a:r>
              <a:rPr lang="it-IT" sz="1200" dirty="0" err="1"/>
              <a:t>FileOutputStream</a:t>
            </a:r>
            <a:r>
              <a:rPr lang="it-IT" sz="1200" dirty="0"/>
              <a:t> per scrivere il contenuto nel file. Il testo "Contenuto del file" viene convertito in array di byte e scritto nel file tramite il metodo </a:t>
            </a:r>
            <a:r>
              <a:rPr lang="it-IT" sz="1200" dirty="0" err="1"/>
              <a:t>write</a:t>
            </a:r>
            <a:r>
              <a:rPr lang="it-IT" sz="1200" dirty="0"/>
              <a:t>().</a:t>
            </a:r>
          </a:p>
        </p:txBody>
      </p:sp>
    </p:spTree>
    <p:extLst>
      <p:ext uri="{BB962C8B-B14F-4D97-AF65-F5344CB8AC3E}">
        <p14:creationId xmlns:p14="http://schemas.microsoft.com/office/powerpoint/2010/main" val="16059543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
        <p:nvSpPr>
          <p:cNvPr id="3" name="CasellaDiTesto 2">
            <a:extLst>
              <a:ext uri="{FF2B5EF4-FFF2-40B4-BE49-F238E27FC236}">
                <a16:creationId xmlns:a16="http://schemas.microsoft.com/office/drawing/2014/main" id="{854D4208-D7CD-3DF5-3DA4-39EBE142AD18}"/>
              </a:ext>
            </a:extLst>
          </p:cNvPr>
          <p:cNvSpPr txBox="1"/>
          <p:nvPr/>
        </p:nvSpPr>
        <p:spPr>
          <a:xfrm>
            <a:off x="6791145" y="2009249"/>
            <a:ext cx="4267919" cy="2492990"/>
          </a:xfrm>
          <a:prstGeom prst="rect">
            <a:avLst/>
          </a:prstGeom>
          <a:noFill/>
        </p:spPr>
        <p:txBody>
          <a:bodyPr wrap="square">
            <a:spAutoFit/>
          </a:bodyPr>
          <a:lstStyle/>
          <a:p>
            <a:r>
              <a:rPr lang="it-IT" sz="1200" dirty="0"/>
              <a:t>Il codice mostra come scrivere e leggere il contenuto di un file in Java.</a:t>
            </a:r>
          </a:p>
          <a:p>
            <a:endParaRPr lang="it-IT" sz="1200" dirty="0"/>
          </a:p>
          <a:p>
            <a:r>
              <a:rPr lang="it-IT" sz="1200" dirty="0"/>
              <a:t>Inizialmente, viene creato un oggetto File con il percorso specificato.</a:t>
            </a:r>
          </a:p>
          <a:p>
            <a:endParaRPr lang="it-IT" sz="1200" dirty="0"/>
          </a:p>
          <a:p>
            <a:r>
              <a:rPr lang="it-IT" sz="1200" dirty="0"/>
              <a:t>Successivamente, viene creato un oggetto </a:t>
            </a:r>
            <a:r>
              <a:rPr lang="it-IT" sz="1200" dirty="0" err="1"/>
              <a:t>OutputStream</a:t>
            </a:r>
            <a:r>
              <a:rPr lang="it-IT" sz="1200" dirty="0"/>
              <a:t> con un </a:t>
            </a:r>
            <a:r>
              <a:rPr lang="it-IT" sz="1200" dirty="0" err="1"/>
              <a:t>FileOutputStream</a:t>
            </a:r>
            <a:r>
              <a:rPr lang="it-IT" sz="1200" dirty="0"/>
              <a:t> per scrivere il contenuto nel file. Il testo "Contenuto del file" viene convertito in array di byte e scritto nel file tramite il metodo </a:t>
            </a:r>
            <a:r>
              <a:rPr lang="it-IT" sz="1200" dirty="0" err="1"/>
              <a:t>write</a:t>
            </a:r>
            <a:r>
              <a:rPr lang="it-IT" sz="1200" dirty="0"/>
              <a:t>().</a:t>
            </a:r>
          </a:p>
          <a:p>
            <a:endParaRPr lang="it-IT" sz="1200" dirty="0"/>
          </a:p>
          <a:p>
            <a:r>
              <a:rPr lang="it-IT" sz="1200" dirty="0"/>
              <a:t>Se l'operazione di scrittura fallisce, viene stampata una traccia dello </a:t>
            </a:r>
            <a:r>
              <a:rPr lang="it-IT" sz="1200" dirty="0" err="1"/>
              <a:t>stack</a:t>
            </a:r>
            <a:r>
              <a:rPr lang="it-IT" sz="1200" dirty="0"/>
              <a:t> della </a:t>
            </a:r>
            <a:r>
              <a:rPr lang="it-IT" sz="1200" dirty="0" err="1"/>
              <a:t>IOException</a:t>
            </a:r>
            <a:r>
              <a:rPr lang="it-IT" sz="1200" dirty="0"/>
              <a:t>.</a:t>
            </a:r>
          </a:p>
        </p:txBody>
      </p:sp>
    </p:spTree>
    <p:extLst>
      <p:ext uri="{BB962C8B-B14F-4D97-AF65-F5344CB8AC3E}">
        <p14:creationId xmlns:p14="http://schemas.microsoft.com/office/powerpoint/2010/main" val="30447856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
        <p:nvSpPr>
          <p:cNvPr id="3" name="CasellaDiTesto 2">
            <a:extLst>
              <a:ext uri="{FF2B5EF4-FFF2-40B4-BE49-F238E27FC236}">
                <a16:creationId xmlns:a16="http://schemas.microsoft.com/office/drawing/2014/main" id="{854D4208-D7CD-3DF5-3DA4-39EBE142AD18}"/>
              </a:ext>
            </a:extLst>
          </p:cNvPr>
          <p:cNvSpPr txBox="1"/>
          <p:nvPr/>
        </p:nvSpPr>
        <p:spPr>
          <a:xfrm>
            <a:off x="6791145" y="2009249"/>
            <a:ext cx="4267919" cy="3416320"/>
          </a:xfrm>
          <a:prstGeom prst="rect">
            <a:avLst/>
          </a:prstGeom>
          <a:noFill/>
        </p:spPr>
        <p:txBody>
          <a:bodyPr wrap="square">
            <a:spAutoFit/>
          </a:bodyPr>
          <a:lstStyle/>
          <a:p>
            <a:r>
              <a:rPr lang="it-IT" sz="1200" dirty="0"/>
              <a:t>Il codice mostra come scrivere e leggere il contenuto di un file in Java.</a:t>
            </a:r>
          </a:p>
          <a:p>
            <a:endParaRPr lang="it-IT" sz="1200" dirty="0"/>
          </a:p>
          <a:p>
            <a:r>
              <a:rPr lang="it-IT" sz="1200" dirty="0"/>
              <a:t>Inizialmente, viene creato un oggetto File con il percorso specificato.</a:t>
            </a:r>
          </a:p>
          <a:p>
            <a:endParaRPr lang="it-IT" sz="1200" dirty="0"/>
          </a:p>
          <a:p>
            <a:r>
              <a:rPr lang="it-IT" sz="1200" dirty="0"/>
              <a:t>Successivamente, viene creato un oggetto </a:t>
            </a:r>
            <a:r>
              <a:rPr lang="it-IT" sz="1200" dirty="0" err="1"/>
              <a:t>OutputStream</a:t>
            </a:r>
            <a:r>
              <a:rPr lang="it-IT" sz="1200" dirty="0"/>
              <a:t> con un </a:t>
            </a:r>
            <a:r>
              <a:rPr lang="it-IT" sz="1200" dirty="0" err="1"/>
              <a:t>FileOutputStream</a:t>
            </a:r>
            <a:r>
              <a:rPr lang="it-IT" sz="1200" dirty="0"/>
              <a:t> per scrivere il contenuto nel file. Il testo "Contenuto del file" viene convertito in array di byte e scritto nel file tramite il metodo </a:t>
            </a:r>
            <a:r>
              <a:rPr lang="it-IT" sz="1200" dirty="0" err="1"/>
              <a:t>write</a:t>
            </a:r>
            <a:r>
              <a:rPr lang="it-IT" sz="1200" dirty="0"/>
              <a:t>().</a:t>
            </a:r>
          </a:p>
          <a:p>
            <a:endParaRPr lang="it-IT" sz="1200" dirty="0"/>
          </a:p>
          <a:p>
            <a:r>
              <a:rPr lang="it-IT" sz="1200" dirty="0"/>
              <a:t>Se l'operazione di scrittura fallisce, viene stampata una traccia dello </a:t>
            </a:r>
            <a:r>
              <a:rPr lang="it-IT" sz="1200" dirty="0" err="1"/>
              <a:t>stack</a:t>
            </a:r>
            <a:r>
              <a:rPr lang="it-IT" sz="1200" dirty="0"/>
              <a:t> della </a:t>
            </a:r>
            <a:r>
              <a:rPr lang="it-IT" sz="1200" dirty="0" err="1"/>
              <a:t>IOException</a:t>
            </a:r>
            <a:r>
              <a:rPr lang="it-IT" sz="1200" dirty="0"/>
              <a:t>.</a:t>
            </a:r>
          </a:p>
          <a:p>
            <a:endParaRPr lang="it-IT" sz="1200" dirty="0"/>
          </a:p>
          <a:p>
            <a:r>
              <a:rPr lang="it-IT" sz="1200" dirty="0"/>
              <a:t>Dopo la scrittura, viene creato un oggetto </a:t>
            </a:r>
            <a:r>
              <a:rPr lang="it-IT" sz="1200" dirty="0" err="1"/>
              <a:t>InputStream</a:t>
            </a:r>
            <a:r>
              <a:rPr lang="it-IT" sz="1200" dirty="0"/>
              <a:t> con un </a:t>
            </a:r>
            <a:r>
              <a:rPr lang="it-IT" sz="1200" dirty="0" err="1"/>
              <a:t>FileInputStream</a:t>
            </a:r>
            <a:r>
              <a:rPr lang="it-IT" sz="1200" dirty="0"/>
              <a:t> per leggere il contenuto del file. Viene letto il primo byte disponibile, e finché non si raggiunge la fine del file, viene convertito in carattere e stampato sulla console.</a:t>
            </a:r>
          </a:p>
        </p:txBody>
      </p:sp>
    </p:spTree>
    <p:extLst>
      <p:ext uri="{BB962C8B-B14F-4D97-AF65-F5344CB8AC3E}">
        <p14:creationId xmlns:p14="http://schemas.microsoft.com/office/powerpoint/2010/main" val="16779880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lettura e la scrittura di dati in un file, si utilizzano le classi che estendono la classe astratta </a:t>
            </a:r>
            <a:r>
              <a:rPr lang="it-IT" sz="2000" dirty="0" err="1"/>
              <a:t>InputStream</a:t>
            </a:r>
            <a:r>
              <a:rPr lang="it-IT" sz="2000" dirty="0"/>
              <a:t> e </a:t>
            </a:r>
            <a:r>
              <a:rPr lang="it-IT" sz="2000" dirty="0" err="1"/>
              <a:t>OutputStream</a:t>
            </a:r>
            <a:r>
              <a:rPr lang="it-IT" sz="2000" dirty="0"/>
              <a:t>, come ad esempio </a:t>
            </a:r>
            <a:r>
              <a:rPr lang="it-IT" sz="2000" dirty="0" err="1"/>
              <a:t>FileInputStream</a:t>
            </a:r>
            <a:r>
              <a:rPr lang="it-IT" sz="2000" dirty="0"/>
              <a:t> e </a:t>
            </a:r>
            <a:r>
              <a:rPr lang="it-IT" sz="2000" dirty="0" err="1"/>
              <a:t>FileOutputStream</a:t>
            </a:r>
            <a:r>
              <a:rPr lang="it-IT" sz="2000" dirty="0"/>
              <a:t>.</a:t>
            </a:r>
            <a:endParaRPr lang="it-IT" sz="2000" b="0" i="0" u="sng" dirty="0">
              <a:solidFill>
                <a:srgbClr val="374151"/>
              </a:solidFill>
              <a:effectLst/>
              <a:latin typeface="Söhne"/>
            </a:endParaRPr>
          </a:p>
        </p:txBody>
      </p:sp>
      <p:sp>
        <p:nvSpPr>
          <p:cNvPr id="4" name="CasellaDiTesto 3">
            <a:extLst>
              <a:ext uri="{FF2B5EF4-FFF2-40B4-BE49-F238E27FC236}">
                <a16:creationId xmlns:a16="http://schemas.microsoft.com/office/drawing/2014/main" id="{5FF394F6-A35B-BAB8-B90D-02BE27CD6429}"/>
              </a:ext>
            </a:extLst>
          </p:cNvPr>
          <p:cNvSpPr txBox="1"/>
          <p:nvPr/>
        </p:nvSpPr>
        <p:spPr>
          <a:xfrm>
            <a:off x="301752" y="2009249"/>
            <a:ext cx="6107674" cy="4247317"/>
          </a:xfrm>
          <a:prstGeom prst="rect">
            <a:avLst/>
          </a:prstGeom>
          <a:solidFill>
            <a:schemeClr val="tx1">
              <a:lumMod val="85000"/>
              <a:lumOff val="15000"/>
            </a:schemeClr>
          </a:solidFill>
        </p:spPr>
        <p:txBody>
          <a:bodyPr wrap="square">
            <a:spAutoFit/>
          </a:bodyPr>
          <a:lstStyle/>
          <a:p>
            <a:r>
              <a:rPr lang="it-IT" sz="1500" b="0" dirty="0">
                <a:solidFill>
                  <a:srgbClr val="D4D4D4"/>
                </a:solidFill>
                <a:effectLst/>
                <a:latin typeface="Consolas" panose="020B0609020204030204" pitchFamily="49" charset="0"/>
              </a:rPr>
              <a:t>File </a:t>
            </a:r>
            <a:r>
              <a:rPr lang="it-IT" sz="1500" b="0" dirty="0" err="1">
                <a:solidFill>
                  <a:srgbClr val="D4D4D4"/>
                </a:solidFill>
                <a:effectLst/>
                <a:latin typeface="Consolas" panose="020B0609020204030204" pitchFamily="49" charset="0"/>
              </a:rPr>
              <a:t>file</a:t>
            </a:r>
            <a:r>
              <a:rPr lang="it-IT" sz="1500" b="0" dirty="0">
                <a:solidFill>
                  <a:srgbClr val="D4D4D4"/>
                </a:solidFill>
                <a:effectLst/>
                <a:latin typeface="Consolas" panose="020B0609020204030204" pitchFamily="49" charset="0"/>
              </a:rPr>
              <a:t> = new File("C:/Documenti/documento.txt")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OutputStream</a:t>
            </a:r>
            <a:r>
              <a:rPr lang="it-IT" sz="1500" b="0" dirty="0">
                <a:solidFill>
                  <a:srgbClr val="D4D4D4"/>
                </a:solidFill>
                <a:effectLst/>
                <a:latin typeface="Consolas" panose="020B0609020204030204" pitchFamily="49" charset="0"/>
              </a:rPr>
              <a:t> output = new </a:t>
            </a:r>
            <a:r>
              <a:rPr lang="it-IT" sz="1500" b="0" dirty="0" err="1">
                <a:solidFill>
                  <a:srgbClr val="D4D4D4"/>
                </a:solidFill>
                <a:effectLst/>
                <a:latin typeface="Consolas" panose="020B0609020204030204" pitchFamily="49" charset="0"/>
              </a:rPr>
              <a:t>FileOutputStream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data = "Contenuto del file"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output.write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data.getBytes</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a:p>
            <a:br>
              <a:rPr lang="it-IT" sz="1500" b="0" dirty="0">
                <a:solidFill>
                  <a:srgbClr val="D4D4D4"/>
                </a:solidFill>
                <a:effectLst/>
                <a:latin typeface="Consolas" panose="020B0609020204030204" pitchFamily="49" charset="0"/>
              </a:rPr>
            </a:b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InputStream</a:t>
            </a:r>
            <a:r>
              <a:rPr lang="it-IT" sz="1500" b="0" dirty="0">
                <a:solidFill>
                  <a:srgbClr val="D4D4D4"/>
                </a:solidFill>
                <a:effectLst/>
                <a:latin typeface="Consolas" panose="020B0609020204030204" pitchFamily="49" charset="0"/>
              </a:rPr>
              <a:t> input = new </a:t>
            </a:r>
            <a:r>
              <a:rPr lang="it-IT" sz="1500" b="0" dirty="0" err="1">
                <a:solidFill>
                  <a:srgbClr val="D4D4D4"/>
                </a:solidFill>
                <a:effectLst/>
                <a:latin typeface="Consolas" panose="020B0609020204030204" pitchFamily="49" charset="0"/>
              </a:rPr>
              <a:t>FileInputStream</a:t>
            </a:r>
            <a:r>
              <a:rPr lang="it-IT" sz="1500" b="0" dirty="0">
                <a:solidFill>
                  <a:srgbClr val="D4D4D4"/>
                </a:solidFill>
                <a:effectLst/>
                <a:latin typeface="Consolas" panose="020B0609020204030204" pitchFamily="49" charset="0"/>
              </a:rPr>
              <a:t>(file))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while</a:t>
            </a:r>
            <a:r>
              <a:rPr lang="it-IT" sz="1500" b="0" dirty="0">
                <a:solidFill>
                  <a:srgbClr val="D4D4D4"/>
                </a:solidFill>
                <a:effectLst/>
                <a:latin typeface="Consolas" panose="020B0609020204030204" pitchFamily="49" charset="0"/>
              </a:rPr>
              <a:t> (data != -1)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char</a:t>
            </a:r>
            <a:r>
              <a:rPr lang="it-IT" sz="1500" b="0" dirty="0">
                <a:solidFill>
                  <a:srgbClr val="D4D4D4"/>
                </a:solidFill>
                <a:effectLst/>
                <a:latin typeface="Consolas" panose="020B0609020204030204" pitchFamily="49" charset="0"/>
              </a:rPr>
              <a:t>) data)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data = </a:t>
            </a:r>
            <a:r>
              <a:rPr lang="it-IT" sz="1500" b="0" dirty="0" err="1">
                <a:solidFill>
                  <a:srgbClr val="D4D4D4"/>
                </a:solidFill>
                <a:effectLst/>
                <a:latin typeface="Consolas" panose="020B0609020204030204" pitchFamily="49" charset="0"/>
              </a:rPr>
              <a:t>input.read</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IOException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e.printStackTrace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a:t>
            </a:r>
          </a:p>
        </p:txBody>
      </p:sp>
      <p:sp>
        <p:nvSpPr>
          <p:cNvPr id="3" name="CasellaDiTesto 2">
            <a:extLst>
              <a:ext uri="{FF2B5EF4-FFF2-40B4-BE49-F238E27FC236}">
                <a16:creationId xmlns:a16="http://schemas.microsoft.com/office/drawing/2014/main" id="{854D4208-D7CD-3DF5-3DA4-39EBE142AD18}"/>
              </a:ext>
            </a:extLst>
          </p:cNvPr>
          <p:cNvSpPr txBox="1"/>
          <p:nvPr/>
        </p:nvSpPr>
        <p:spPr>
          <a:xfrm>
            <a:off x="6791145" y="2009249"/>
            <a:ext cx="4267919" cy="3970318"/>
          </a:xfrm>
          <a:prstGeom prst="rect">
            <a:avLst/>
          </a:prstGeom>
          <a:noFill/>
        </p:spPr>
        <p:txBody>
          <a:bodyPr wrap="square">
            <a:spAutoFit/>
          </a:bodyPr>
          <a:lstStyle/>
          <a:p>
            <a:r>
              <a:rPr lang="it-IT" sz="1200" dirty="0"/>
              <a:t>Il codice mostra come scrivere e leggere il contenuto di un file in Java.</a:t>
            </a:r>
          </a:p>
          <a:p>
            <a:endParaRPr lang="it-IT" sz="1200" dirty="0"/>
          </a:p>
          <a:p>
            <a:r>
              <a:rPr lang="it-IT" sz="1200" dirty="0"/>
              <a:t>Inizialmente, viene creato un oggetto File con il percorso specificato.</a:t>
            </a:r>
          </a:p>
          <a:p>
            <a:endParaRPr lang="it-IT" sz="1200" dirty="0"/>
          </a:p>
          <a:p>
            <a:r>
              <a:rPr lang="it-IT" sz="1200" dirty="0"/>
              <a:t>Successivamente, viene creato un oggetto </a:t>
            </a:r>
            <a:r>
              <a:rPr lang="it-IT" sz="1200" dirty="0" err="1"/>
              <a:t>OutputStream</a:t>
            </a:r>
            <a:r>
              <a:rPr lang="it-IT" sz="1200" dirty="0"/>
              <a:t> con un </a:t>
            </a:r>
            <a:r>
              <a:rPr lang="it-IT" sz="1200" dirty="0" err="1"/>
              <a:t>FileOutputStream</a:t>
            </a:r>
            <a:r>
              <a:rPr lang="it-IT" sz="1200" dirty="0"/>
              <a:t> per scrivere il contenuto nel file. Il testo "Contenuto del file" viene convertito in array di byte e scritto nel file tramite il metodo </a:t>
            </a:r>
            <a:r>
              <a:rPr lang="it-IT" sz="1200" dirty="0" err="1"/>
              <a:t>write</a:t>
            </a:r>
            <a:r>
              <a:rPr lang="it-IT" sz="1200" dirty="0"/>
              <a:t>().</a:t>
            </a:r>
          </a:p>
          <a:p>
            <a:endParaRPr lang="it-IT" sz="1200" dirty="0"/>
          </a:p>
          <a:p>
            <a:r>
              <a:rPr lang="it-IT" sz="1200" dirty="0"/>
              <a:t>Se l'operazione di scrittura fallisce, viene stampata una traccia dello </a:t>
            </a:r>
            <a:r>
              <a:rPr lang="it-IT" sz="1200" dirty="0" err="1"/>
              <a:t>stack</a:t>
            </a:r>
            <a:r>
              <a:rPr lang="it-IT" sz="1200" dirty="0"/>
              <a:t> della </a:t>
            </a:r>
            <a:r>
              <a:rPr lang="it-IT" sz="1200" dirty="0" err="1"/>
              <a:t>IOException</a:t>
            </a:r>
            <a:r>
              <a:rPr lang="it-IT" sz="1200" dirty="0"/>
              <a:t>.</a:t>
            </a:r>
          </a:p>
          <a:p>
            <a:endParaRPr lang="it-IT" sz="1200" dirty="0"/>
          </a:p>
          <a:p>
            <a:r>
              <a:rPr lang="it-IT" sz="1200" dirty="0"/>
              <a:t>Dopo la scrittura, viene creato un oggetto </a:t>
            </a:r>
            <a:r>
              <a:rPr lang="it-IT" sz="1200" dirty="0" err="1"/>
              <a:t>InputStream</a:t>
            </a:r>
            <a:r>
              <a:rPr lang="it-IT" sz="1200" dirty="0"/>
              <a:t> con un </a:t>
            </a:r>
            <a:r>
              <a:rPr lang="it-IT" sz="1200" dirty="0" err="1"/>
              <a:t>FileInputStream</a:t>
            </a:r>
            <a:r>
              <a:rPr lang="it-IT" sz="1200" dirty="0"/>
              <a:t> per leggere il contenuto del file. Viene letto il primo byte disponibile, e finché non si raggiunge la fine del file, viene convertito in carattere e stampato sulla console.</a:t>
            </a:r>
          </a:p>
          <a:p>
            <a:endParaRPr lang="it-IT" sz="1200" dirty="0"/>
          </a:p>
          <a:p>
            <a:r>
              <a:rPr lang="it-IT" sz="1200" dirty="0"/>
              <a:t>Se l'operazione di lettura fallisce, viene stampata una traccia dello </a:t>
            </a:r>
            <a:r>
              <a:rPr lang="it-IT" sz="1200" dirty="0" err="1"/>
              <a:t>stack</a:t>
            </a:r>
            <a:r>
              <a:rPr lang="it-IT" sz="1200" dirty="0"/>
              <a:t> della </a:t>
            </a:r>
            <a:r>
              <a:rPr lang="it-IT" sz="1200" dirty="0" err="1"/>
              <a:t>IOException</a:t>
            </a:r>
            <a:r>
              <a:rPr lang="it-IT" sz="1200" dirty="0"/>
              <a:t>.</a:t>
            </a:r>
          </a:p>
        </p:txBody>
      </p:sp>
    </p:spTree>
    <p:extLst>
      <p:ext uri="{BB962C8B-B14F-4D97-AF65-F5344CB8AC3E}">
        <p14:creationId xmlns:p14="http://schemas.microsoft.com/office/powerpoint/2010/main" val="20398808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gestione dei file di testo, Java fornisce anche la classe Scanner, che permette di leggere il contenuto di un file di testo linea per linea:</a:t>
            </a:r>
            <a:endParaRPr lang="it-IT" sz="2000" b="0" i="0" u="sng" dirty="0">
              <a:solidFill>
                <a:srgbClr val="374151"/>
              </a:solidFill>
              <a:effectLst/>
              <a:latin typeface="Söhne"/>
            </a:endParaRPr>
          </a:p>
        </p:txBody>
      </p:sp>
    </p:spTree>
    <p:extLst>
      <p:ext uri="{BB962C8B-B14F-4D97-AF65-F5344CB8AC3E}">
        <p14:creationId xmlns:p14="http://schemas.microsoft.com/office/powerpoint/2010/main" val="40020469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282039" y="1301363"/>
            <a:ext cx="10350616" cy="707886"/>
          </a:xfrm>
          <a:prstGeom prst="rect">
            <a:avLst/>
          </a:prstGeom>
          <a:noFill/>
        </p:spPr>
        <p:txBody>
          <a:bodyPr wrap="square">
            <a:spAutoFit/>
          </a:bodyPr>
          <a:lstStyle/>
          <a:p>
            <a:pPr algn="l"/>
            <a:r>
              <a:rPr lang="it-IT" sz="2000" dirty="0"/>
              <a:t>Per la gestione dei file di testo, Java fornisce anche la classe Scanner, che permette di leggere il contenuto di un file di testo linea per linea:</a:t>
            </a:r>
            <a:endParaRPr lang="it-IT" sz="2000" b="0" i="0" u="sng" dirty="0">
              <a:solidFill>
                <a:srgbClr val="374151"/>
              </a:solidFill>
              <a:effectLst/>
              <a:latin typeface="Söhne"/>
            </a:endParaRPr>
          </a:p>
        </p:txBody>
      </p:sp>
      <p:sp>
        <p:nvSpPr>
          <p:cNvPr id="7" name="CasellaDiTesto 6">
            <a:extLst>
              <a:ext uri="{FF2B5EF4-FFF2-40B4-BE49-F238E27FC236}">
                <a16:creationId xmlns:a16="http://schemas.microsoft.com/office/drawing/2014/main" id="{0CDD61DF-7DF4-F208-C047-29AF9146B4C7}"/>
              </a:ext>
            </a:extLst>
          </p:cNvPr>
          <p:cNvSpPr txBox="1"/>
          <p:nvPr/>
        </p:nvSpPr>
        <p:spPr>
          <a:xfrm>
            <a:off x="398972" y="2009249"/>
            <a:ext cx="9711186" cy="2862322"/>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File </a:t>
            </a:r>
            <a:r>
              <a:rPr lang="it-IT" b="0" dirty="0" err="1">
                <a:solidFill>
                  <a:srgbClr val="D4D4D4"/>
                </a:solidFill>
                <a:effectLst/>
                <a:latin typeface="Consolas" panose="020B0609020204030204" pitchFamily="49" charset="0"/>
              </a:rPr>
              <a:t>file</a:t>
            </a:r>
            <a:r>
              <a:rPr lang="it-IT" b="0" dirty="0">
                <a:solidFill>
                  <a:srgbClr val="D4D4D4"/>
                </a:solidFill>
                <a:effectLst/>
                <a:latin typeface="Consolas" panose="020B0609020204030204" pitchFamily="49" charset="0"/>
              </a:rPr>
              <a:t> = new File("C:/Documenti/documento.txt")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br>
              <a:rPr lang="it-IT" b="0" dirty="0">
                <a:solidFill>
                  <a:srgbClr val="D4D4D4"/>
                </a:solidFill>
                <a:effectLst/>
                <a:latin typeface="Consolas" panose="020B0609020204030204" pitchFamily="49" charset="0"/>
              </a:rPr>
            </a:br>
            <a:r>
              <a:rPr lang="it-IT" b="0" dirty="0" err="1">
                <a:solidFill>
                  <a:srgbClr val="569CD6"/>
                </a:solidFill>
                <a:effectLst/>
                <a:latin typeface="Consolas" panose="020B0609020204030204" pitchFamily="49" charset="0"/>
              </a:rPr>
              <a:t>try</a:t>
            </a:r>
            <a:r>
              <a:rPr lang="it-IT" b="0" dirty="0">
                <a:solidFill>
                  <a:srgbClr val="D4D4D4"/>
                </a:solidFill>
                <a:effectLst/>
                <a:latin typeface="Consolas" panose="020B0609020204030204" pitchFamily="49" charset="0"/>
              </a:rPr>
              <a:t> (Scanner </a:t>
            </a:r>
            <a:r>
              <a:rPr lang="it-IT" b="0" dirty="0" err="1">
                <a:solidFill>
                  <a:srgbClr val="D4D4D4"/>
                </a:solidFill>
                <a:effectLst/>
                <a:latin typeface="Consolas" panose="020B0609020204030204" pitchFamily="49" charset="0"/>
              </a:rPr>
              <a:t>scanner</a:t>
            </a:r>
            <a:r>
              <a:rPr lang="it-IT" b="0" dirty="0">
                <a:solidFill>
                  <a:srgbClr val="D4D4D4"/>
                </a:solidFill>
                <a:effectLst/>
                <a:latin typeface="Consolas" panose="020B0609020204030204" pitchFamily="49" charset="0"/>
              </a:rPr>
              <a:t> = new Scanner(file))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while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scanner.hasNextLine</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line = </a:t>
            </a:r>
            <a:r>
              <a:rPr lang="it-IT" b="0" dirty="0" err="1">
                <a:solidFill>
                  <a:srgbClr val="D4D4D4"/>
                </a:solidFill>
                <a:effectLst/>
                <a:latin typeface="Consolas" panose="020B0609020204030204" pitchFamily="49" charset="0"/>
              </a:rPr>
              <a:t>scanner.nextLine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(line)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catch</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FileNotFoundException</a:t>
            </a:r>
            <a:r>
              <a:rPr lang="it-IT" b="0" dirty="0">
                <a:solidFill>
                  <a:srgbClr val="D4D4D4"/>
                </a:solidFill>
                <a:effectLst/>
                <a:latin typeface="Consolas" panose="020B0609020204030204" pitchFamily="49" charset="0"/>
              </a:rPr>
              <a:t> e)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e.printStackTrace</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5079414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standard importanti</a:t>
            </a:r>
          </a:p>
        </p:txBody>
      </p:sp>
      <p:sp>
        <p:nvSpPr>
          <p:cNvPr id="9" name="CasellaDiTesto 8">
            <a:extLst>
              <a:ext uri="{FF2B5EF4-FFF2-40B4-BE49-F238E27FC236}">
                <a16:creationId xmlns:a16="http://schemas.microsoft.com/office/drawing/2014/main" id="{B9611B72-C7F9-2577-1158-2386E154C7D3}"/>
              </a:ext>
            </a:extLst>
          </p:cNvPr>
          <p:cNvSpPr txBox="1"/>
          <p:nvPr/>
        </p:nvSpPr>
        <p:spPr>
          <a:xfrm>
            <a:off x="282039" y="939075"/>
            <a:ext cx="3280558" cy="375552"/>
          </a:xfrm>
          <a:prstGeom prst="rect">
            <a:avLst/>
          </a:prstGeom>
          <a:solidFill>
            <a:schemeClr val="tx2">
              <a:lumMod val="20000"/>
              <a:lumOff val="80000"/>
            </a:schemeClr>
          </a:solidFill>
        </p:spPr>
        <p:txBody>
          <a:bodyPr wrap="square">
            <a:spAutoFit/>
          </a:bodyPr>
          <a:lstStyle/>
          <a:p>
            <a:pPr>
              <a:lnSpc>
                <a:spcPct val="107000"/>
              </a:lnSpc>
              <a:spcAft>
                <a:spcPts val="800"/>
              </a:spcAft>
              <a:buSzPts val="1000"/>
              <a:tabLst>
                <a:tab pos="449580" algn="l"/>
              </a:tabLst>
            </a:pPr>
            <a:r>
              <a:rPr lang="it-IT" sz="1800" dirty="0"/>
              <a:t>I file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894108" y="467234"/>
            <a:ext cx="7164956" cy="553998"/>
          </a:xfrm>
          <a:prstGeom prst="rect">
            <a:avLst/>
          </a:prstGeom>
          <a:noFill/>
        </p:spPr>
        <p:txBody>
          <a:bodyPr wrap="square">
            <a:spAutoFit/>
          </a:bodyPr>
          <a:lstStyle/>
          <a:p>
            <a:r>
              <a:rPr lang="it-IT" sz="3000" dirty="0"/>
              <a:t>La gestione dei file</a:t>
            </a:r>
          </a:p>
        </p:txBody>
      </p:sp>
      <p:pic>
        <p:nvPicPr>
          <p:cNvPr id="11" name="Picture 2" descr="Java Logo, symbol, meaning, history, PNG, brand">
            <a:extLst>
              <a:ext uri="{FF2B5EF4-FFF2-40B4-BE49-F238E27FC236}">
                <a16:creationId xmlns:a16="http://schemas.microsoft.com/office/drawing/2014/main" id="{32672151-7D10-7A24-55CA-1BE17C326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DDD634CC-09B6-11CF-6619-779029B001E2}"/>
              </a:ext>
            </a:extLst>
          </p:cNvPr>
          <p:cNvSpPr txBox="1"/>
          <p:nvPr/>
        </p:nvSpPr>
        <p:spPr>
          <a:xfrm>
            <a:off x="992438" y="1948344"/>
            <a:ext cx="10350616" cy="3323987"/>
          </a:xfrm>
          <a:prstGeom prst="rect">
            <a:avLst/>
          </a:prstGeom>
          <a:noFill/>
        </p:spPr>
        <p:txBody>
          <a:bodyPr wrap="square">
            <a:spAutoFit/>
          </a:bodyPr>
          <a:lstStyle/>
          <a:p>
            <a:pPr algn="l"/>
            <a:r>
              <a:rPr lang="it-IT" sz="3000" dirty="0"/>
              <a:t>In realtà, sondando le classi di JAVA si può verificare come esistano numerose classi che consentono di gestire i file, allo scopo di salvare e leggere dati salvati su </a:t>
            </a:r>
            <a:r>
              <a:rPr lang="it-IT" sz="3000" dirty="0">
                <a:solidFill>
                  <a:srgbClr val="374151"/>
                </a:solidFill>
                <a:latin typeface="Söhne"/>
              </a:rPr>
              <a:t>disco.</a:t>
            </a:r>
          </a:p>
          <a:p>
            <a:pPr algn="l"/>
            <a:r>
              <a:rPr lang="it-IT" sz="3000" dirty="0">
                <a:solidFill>
                  <a:srgbClr val="374151"/>
                </a:solidFill>
                <a:latin typeface="Söhne"/>
              </a:rPr>
              <a:t>Ovviamente molto dipende dalle necessità.</a:t>
            </a:r>
          </a:p>
          <a:p>
            <a:pPr algn="l"/>
            <a:r>
              <a:rPr lang="it-IT" sz="3000" dirty="0">
                <a:solidFill>
                  <a:srgbClr val="374151"/>
                </a:solidFill>
                <a:latin typeface="Söhne"/>
              </a:rPr>
              <a:t>Ove possibile è preferibile demandare ad un DBMS (vedremo a brevissimo di che cosa si tratta)  questo semplificherebbe e non poco la gestione della parte di salvataggio e lettura dei dati.</a:t>
            </a:r>
            <a:endParaRPr lang="it-IT" sz="3000" dirty="0"/>
          </a:p>
        </p:txBody>
      </p:sp>
    </p:spTree>
    <p:extLst>
      <p:ext uri="{BB962C8B-B14F-4D97-AF65-F5344CB8AC3E}">
        <p14:creationId xmlns:p14="http://schemas.microsoft.com/office/powerpoint/2010/main" val="201439264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96</Slides>
  <Notes>0</Notes>
  <HiddenSlides>0</HiddenSlides>
  <MMClips>0</MMClips>
  <ScaleCrop>false</ScaleCrop>
  <HeadingPairs>
    <vt:vector size="4" baseType="variant">
      <vt:variant>
        <vt:lpstr>Tema</vt:lpstr>
      </vt:variant>
      <vt:variant>
        <vt:i4>2</vt:i4>
      </vt:variant>
      <vt:variant>
        <vt:lpstr>Titoli diapositive</vt:lpstr>
      </vt:variant>
      <vt:variant>
        <vt:i4>96</vt:i4>
      </vt:variant>
    </vt:vector>
  </HeadingPairs>
  <TitlesOfParts>
    <vt:vector size="98" baseType="lpstr">
      <vt:lpstr>Tema di Office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Vincenzo Piccolo</cp:lastModifiedBy>
  <cp:revision>36</cp:revision>
  <dcterms:created xsi:type="dcterms:W3CDTF">2023-08-23T12:51:20Z</dcterms:created>
  <dcterms:modified xsi:type="dcterms:W3CDTF">2026-03-31T07:58:03Z</dcterms:modified>
</cp:coreProperties>
</file>