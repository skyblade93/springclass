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sldIdLst>
    <p:sldId id="352" r:id="rId3"/>
    <p:sldId id="351" r:id="rId4"/>
    <p:sldId id="350" r:id="rId5"/>
    <p:sldId id="349" r:id="rId6"/>
    <p:sldId id="348" r:id="rId7"/>
    <p:sldId id="347" r:id="rId8"/>
    <p:sldId id="346" r:id="rId9"/>
    <p:sldId id="345" r:id="rId10"/>
    <p:sldId id="344" r:id="rId11"/>
    <p:sldId id="343" r:id="rId12"/>
    <p:sldId id="342" r:id="rId13"/>
    <p:sldId id="341" r:id="rId14"/>
    <p:sldId id="340" r:id="rId15"/>
    <p:sldId id="339" r:id="rId16"/>
    <p:sldId id="338" r:id="rId17"/>
    <p:sldId id="337" r:id="rId18"/>
    <p:sldId id="336" r:id="rId19"/>
    <p:sldId id="335" r:id="rId20"/>
    <p:sldId id="334" r:id="rId21"/>
    <p:sldId id="333" r:id="rId22"/>
    <p:sldId id="332" r:id="rId23"/>
    <p:sldId id="331" r:id="rId24"/>
    <p:sldId id="330" r:id="rId25"/>
    <p:sldId id="329" r:id="rId26"/>
    <p:sldId id="328" r:id="rId27"/>
    <p:sldId id="327" r:id="rId28"/>
    <p:sldId id="326" r:id="rId29"/>
    <p:sldId id="325" r:id="rId30"/>
    <p:sldId id="324" r:id="rId31"/>
    <p:sldId id="323" r:id="rId32"/>
    <p:sldId id="322" r:id="rId33"/>
    <p:sldId id="321" r:id="rId34"/>
    <p:sldId id="320" r:id="rId35"/>
    <p:sldId id="319" r:id="rId36"/>
    <p:sldId id="318" r:id="rId37"/>
    <p:sldId id="317" r:id="rId38"/>
    <p:sldId id="316" r:id="rId39"/>
    <p:sldId id="315" r:id="rId40"/>
    <p:sldId id="314" r:id="rId41"/>
    <p:sldId id="313" r:id="rId42"/>
    <p:sldId id="312" r:id="rId43"/>
    <p:sldId id="311" r:id="rId44"/>
    <p:sldId id="310" r:id="rId45"/>
    <p:sldId id="309" r:id="rId46"/>
    <p:sldId id="308" r:id="rId47"/>
    <p:sldId id="307" r:id="rId48"/>
    <p:sldId id="306" r:id="rId49"/>
    <p:sldId id="305" r:id="rId50"/>
    <p:sldId id="304" r:id="rId51"/>
    <p:sldId id="303" r:id="rId52"/>
    <p:sldId id="302" r:id="rId53"/>
    <p:sldId id="301" r:id="rId54"/>
    <p:sldId id="300" r:id="rId55"/>
    <p:sldId id="299" r:id="rId56"/>
    <p:sldId id="298" r:id="rId57"/>
    <p:sldId id="297" r:id="rId58"/>
    <p:sldId id="296" r:id="rId59"/>
    <p:sldId id="295" r:id="rId60"/>
    <p:sldId id="294" r:id="rId61"/>
    <p:sldId id="293" r:id="rId62"/>
    <p:sldId id="292" r:id="rId63"/>
    <p:sldId id="291" r:id="rId64"/>
    <p:sldId id="290" r:id="rId65"/>
    <p:sldId id="289" r:id="rId66"/>
    <p:sldId id="288" r:id="rId67"/>
    <p:sldId id="287" r:id="rId68"/>
    <p:sldId id="286" r:id="rId69"/>
    <p:sldId id="285" r:id="rId70"/>
    <p:sldId id="284" r:id="rId71"/>
    <p:sldId id="283" r:id="rId72"/>
    <p:sldId id="282" r:id="rId73"/>
    <p:sldId id="281" r:id="rId74"/>
    <p:sldId id="280" r:id="rId75"/>
    <p:sldId id="279" r:id="rId76"/>
    <p:sldId id="278" r:id="rId77"/>
    <p:sldId id="277" r:id="rId78"/>
    <p:sldId id="276" r:id="rId79"/>
    <p:sldId id="275" r:id="rId80"/>
    <p:sldId id="274" r:id="rId81"/>
    <p:sldId id="273" r:id="rId82"/>
    <p:sldId id="272" r:id="rId83"/>
    <p:sldId id="271" r:id="rId84"/>
    <p:sldId id="270" r:id="rId85"/>
    <p:sldId id="269" r:id="rId86"/>
    <p:sldId id="268" r:id="rId87"/>
    <p:sldId id="267" r:id="rId88"/>
    <p:sldId id="266" r:id="rId89"/>
    <p:sldId id="265" r:id="rId90"/>
    <p:sldId id="264" r:id="rId91"/>
    <p:sldId id="263" r:id="rId92"/>
    <p:sldId id="262" r:id="rId93"/>
    <p:sldId id="261" r:id="rId94"/>
    <p:sldId id="260" r:id="rId95"/>
    <p:sldId id="259" r:id="rId96"/>
    <p:sldId id="258" r:id="rId97"/>
    <p:sldId id="257" r:id="rId9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tableStyles" Target="tableStyle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a:t>
            </a:r>
            <a:endParaRPr lang="de-DE"/>
          </a:p>
        </p:txBody>
      </p:sp>
      <p:sp>
        <p:nvSpPr>
          <p:cNvPr id="3" name="Sottotito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30.03.2026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186192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30.03.2026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26318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a:t>
            </a:r>
            <a:endParaRPr lang="de-DE"/>
          </a:p>
        </p:txBody>
      </p:sp>
      <p:sp>
        <p:nvSpPr>
          <p:cNvPr id="3" name="Segnaposto tes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p>
            <a:fld id="{F64A8E5F-40E5-4553-9F3C-699F1A5B8145}" type="datetimeFigureOut">
              <a:rPr lang="de-DE" smtClean="0"/>
              <a:t>30.03.2026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577393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contenuto 2"/>
          <p:cNvSpPr>
            <a:spLocks noGrp="1"/>
          </p:cNvSpPr>
          <p:nvPr>
            <p:ph sz="half" idx="1"/>
          </p:nvPr>
        </p:nvSpPr>
        <p:spPr>
          <a:xfrm>
            <a:off x="838200" y="1825625"/>
            <a:ext cx="518160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contenuto 3"/>
          <p:cNvSpPr>
            <a:spLocks noGrp="1"/>
          </p:cNvSpPr>
          <p:nvPr>
            <p:ph sz="half" idx="2"/>
          </p:nvPr>
        </p:nvSpPr>
        <p:spPr>
          <a:xfrm>
            <a:off x="6172200" y="1825625"/>
            <a:ext cx="518160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5" name="Segnaposto data 4"/>
          <p:cNvSpPr>
            <a:spLocks noGrp="1"/>
          </p:cNvSpPr>
          <p:nvPr>
            <p:ph type="dt" sz="half" idx="10"/>
          </p:nvPr>
        </p:nvSpPr>
        <p:spPr/>
        <p:txBody>
          <a:bodyPr/>
          <a:lstStyle/>
          <a:p>
            <a:fld id="{F64A8E5F-40E5-4553-9F3C-699F1A5B8145}" type="datetimeFigureOut">
              <a:rPr lang="de-DE" smtClean="0"/>
              <a:t>30.03.2026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284089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839788" y="365125"/>
            <a:ext cx="10515600" cy="1325563"/>
          </a:xfrm>
        </p:spPr>
        <p:txBody>
          <a:bodyPr/>
          <a:lstStyle/>
          <a:p>
            <a:r>
              <a:rPr lang="it-IT"/>
              <a:t>Fare clic per modificare lo stile del titolo</a:t>
            </a:r>
            <a:endParaRPr lang="de-DE"/>
          </a:p>
        </p:txBody>
      </p:sp>
      <p:sp>
        <p:nvSpPr>
          <p:cNvPr id="3" name="Segnaposto tes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839788" y="2505075"/>
            <a:ext cx="5157787"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5" name="Segnaposto tes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6172200" y="2505075"/>
            <a:ext cx="5183188"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7" name="Segnaposto data 6"/>
          <p:cNvSpPr>
            <a:spLocks noGrp="1"/>
          </p:cNvSpPr>
          <p:nvPr>
            <p:ph type="dt" sz="half" idx="10"/>
          </p:nvPr>
        </p:nvSpPr>
        <p:spPr/>
        <p:txBody>
          <a:bodyPr/>
          <a:lstStyle/>
          <a:p>
            <a:fld id="{F64A8E5F-40E5-4553-9F3C-699F1A5B8145}" type="datetimeFigureOut">
              <a:rPr lang="de-DE" smtClean="0"/>
              <a:t>30.03.2026</a:t>
            </a:fld>
            <a:endParaRPr lang="de-DE"/>
          </a:p>
        </p:txBody>
      </p:sp>
      <p:sp>
        <p:nvSpPr>
          <p:cNvPr id="8" name="Segnaposto piè di pagina 7"/>
          <p:cNvSpPr>
            <a:spLocks noGrp="1"/>
          </p:cNvSpPr>
          <p:nvPr>
            <p:ph type="ftr" sz="quarter" idx="11"/>
          </p:nvPr>
        </p:nvSpPr>
        <p:spPr/>
        <p:txBody>
          <a:bodyPr/>
          <a:lstStyle/>
          <a:p>
            <a:endParaRPr lang="de-DE"/>
          </a:p>
        </p:txBody>
      </p:sp>
      <p:sp>
        <p:nvSpPr>
          <p:cNvPr id="9" name="Segnaposto numero diapositiva 8"/>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2747982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data 2"/>
          <p:cNvSpPr>
            <a:spLocks noGrp="1"/>
          </p:cNvSpPr>
          <p:nvPr>
            <p:ph type="dt" sz="half" idx="10"/>
          </p:nvPr>
        </p:nvSpPr>
        <p:spPr/>
        <p:txBody>
          <a:bodyPr/>
          <a:lstStyle/>
          <a:p>
            <a:fld id="{F64A8E5F-40E5-4553-9F3C-699F1A5B8145}" type="datetimeFigureOut">
              <a:rPr lang="de-DE" smtClean="0"/>
              <a:t>30.03.2026</a:t>
            </a:fld>
            <a:endParaRPr lang="de-DE"/>
          </a:p>
        </p:txBody>
      </p:sp>
      <p:sp>
        <p:nvSpPr>
          <p:cNvPr id="4" name="Segnaposto piè di pagina 3"/>
          <p:cNvSpPr>
            <a:spLocks noGrp="1"/>
          </p:cNvSpPr>
          <p:nvPr>
            <p:ph type="ftr" sz="quarter" idx="11"/>
          </p:nvPr>
        </p:nvSpPr>
        <p:spPr/>
        <p:txBody>
          <a:bodyPr/>
          <a:lstStyle/>
          <a:p>
            <a:endParaRPr lang="de-DE"/>
          </a:p>
        </p:txBody>
      </p:sp>
      <p:sp>
        <p:nvSpPr>
          <p:cNvPr id="5" name="Segnaposto numero diapositiva 4"/>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31782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F64A8E5F-40E5-4553-9F3C-699F1A5B8145}" type="datetimeFigureOut">
              <a:rPr lang="de-DE" smtClean="0"/>
              <a:t>30.03.2026</a:t>
            </a:fld>
            <a:endParaRPr lang="de-DE"/>
          </a:p>
        </p:txBody>
      </p:sp>
      <p:sp>
        <p:nvSpPr>
          <p:cNvPr id="3" name="Segnaposto piè di pagina 2"/>
          <p:cNvSpPr>
            <a:spLocks noGrp="1"/>
          </p:cNvSpPr>
          <p:nvPr>
            <p:ph type="ftr" sz="quarter" idx="11"/>
          </p:nvPr>
        </p:nvSpPr>
        <p:spPr/>
        <p:txBody>
          <a:bodyPr/>
          <a:lstStyle/>
          <a:p>
            <a:endParaRPr lang="de-DE"/>
          </a:p>
        </p:txBody>
      </p:sp>
      <p:sp>
        <p:nvSpPr>
          <p:cNvPr id="4" name="Segnaposto numero diapositiva 3"/>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89409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endParaRPr lang="de-DE"/>
          </a:p>
        </p:txBody>
      </p:sp>
      <p:sp>
        <p:nvSpPr>
          <p:cNvPr id="3" name="Segnaposto contenut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F64A8E5F-40E5-4553-9F3C-699F1A5B8145}" type="datetimeFigureOut">
              <a:rPr lang="de-DE" smtClean="0"/>
              <a:t>30.03.2026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236581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endParaRPr lang="de-DE"/>
          </a:p>
        </p:txBody>
      </p:sp>
      <p:sp>
        <p:nvSpPr>
          <p:cNvPr id="3" name="Segnaposto im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F64A8E5F-40E5-4553-9F3C-699F1A5B8145}" type="datetimeFigureOut">
              <a:rPr lang="de-DE" smtClean="0"/>
              <a:t>30.03.2026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688576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30.03.2026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424469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724900" y="365125"/>
            <a:ext cx="2628900" cy="5811838"/>
          </a:xfrm>
        </p:spPr>
        <p:txBody>
          <a:bodyPr vert="eaVert"/>
          <a:lstStyle/>
          <a:p>
            <a:r>
              <a:rPr lang="it-IT"/>
              <a:t>Fare clic per modificare lo stile del titolo</a:t>
            </a:r>
            <a:endParaRPr lang="de-DE"/>
          </a:p>
        </p:txBody>
      </p:sp>
      <p:sp>
        <p:nvSpPr>
          <p:cNvPr id="3" name="Segnaposto testo verticale 2"/>
          <p:cNvSpPr>
            <a:spLocks noGrp="1"/>
          </p:cNvSpPr>
          <p:nvPr>
            <p:ph type="body" orient="vert" idx="1"/>
          </p:nvPr>
        </p:nvSpPr>
        <p:spPr>
          <a:xfrm>
            <a:off x="838200" y="365125"/>
            <a:ext cx="7734300" cy="5811838"/>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30.03.2026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0268423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411C66A-B0C1-7866-3D26-29AECA7A6CFF}"/>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D7513622-0E25-D27C-B56E-5F02BBA3DF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37E2AB8D-2E87-1D80-7E8E-3DE87022B9A1}"/>
              </a:ext>
            </a:extLst>
          </p:cNvPr>
          <p:cNvSpPr>
            <a:spLocks noGrp="1"/>
          </p:cNvSpPr>
          <p:nvPr>
            <p:ph type="dt" sz="half" idx="10"/>
          </p:nvPr>
        </p:nvSpPr>
        <p:spPr/>
        <p:txBody>
          <a:bodyPr/>
          <a:lstStyle/>
          <a:p>
            <a:fld id="{734271AC-57B9-42F6-A82F-430D47D1FB54}" type="datetimeFigureOut">
              <a:rPr lang="it-IT" smtClean="0"/>
              <a:t>30/03/2026</a:t>
            </a:fld>
            <a:endParaRPr lang="it-IT"/>
          </a:p>
        </p:txBody>
      </p:sp>
      <p:sp>
        <p:nvSpPr>
          <p:cNvPr id="5" name="Segnaposto piè di pagina 4">
            <a:extLst>
              <a:ext uri="{FF2B5EF4-FFF2-40B4-BE49-F238E27FC236}">
                <a16:creationId xmlns:a16="http://schemas.microsoft.com/office/drawing/2014/main" id="{D62B23E6-7AFC-4519-0F56-4D06D921BBF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063B3F3-8769-6F7B-FEC4-E10F0FE31C83}"/>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717390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1521C64-FA1E-8945-57BB-EBC9F3E1DD6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00CB6B06-E4BA-9CD5-43D5-284D5EDD0656}"/>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A5CF074-0183-72A1-EE86-ABF9592357C5}"/>
              </a:ext>
            </a:extLst>
          </p:cNvPr>
          <p:cNvSpPr>
            <a:spLocks noGrp="1"/>
          </p:cNvSpPr>
          <p:nvPr>
            <p:ph type="dt" sz="half" idx="10"/>
          </p:nvPr>
        </p:nvSpPr>
        <p:spPr/>
        <p:txBody>
          <a:bodyPr/>
          <a:lstStyle/>
          <a:p>
            <a:fld id="{734271AC-57B9-42F6-A82F-430D47D1FB54}" type="datetimeFigureOut">
              <a:rPr lang="it-IT" smtClean="0"/>
              <a:t>30/03/2026</a:t>
            </a:fld>
            <a:endParaRPr lang="it-IT"/>
          </a:p>
        </p:txBody>
      </p:sp>
      <p:sp>
        <p:nvSpPr>
          <p:cNvPr id="5" name="Segnaposto piè di pagina 4">
            <a:extLst>
              <a:ext uri="{FF2B5EF4-FFF2-40B4-BE49-F238E27FC236}">
                <a16:creationId xmlns:a16="http://schemas.microsoft.com/office/drawing/2014/main" id="{D9E18A0C-6FEE-0DF4-2E3A-F5D511F73FC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B3F2827-C529-23AA-BC3A-F718C734B0A2}"/>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2909944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B51AFE0-CE1F-1BBB-A8FE-5E1A6C7E5884}"/>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AF741322-2136-BE73-F3C9-0284E9DAF0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6BDD83E5-9853-A50D-DDB7-885BB5BF4BD2}"/>
              </a:ext>
            </a:extLst>
          </p:cNvPr>
          <p:cNvSpPr>
            <a:spLocks noGrp="1"/>
          </p:cNvSpPr>
          <p:nvPr>
            <p:ph type="dt" sz="half" idx="10"/>
          </p:nvPr>
        </p:nvSpPr>
        <p:spPr/>
        <p:txBody>
          <a:bodyPr/>
          <a:lstStyle/>
          <a:p>
            <a:fld id="{734271AC-57B9-42F6-A82F-430D47D1FB54}" type="datetimeFigureOut">
              <a:rPr lang="it-IT" smtClean="0"/>
              <a:t>30/03/2026</a:t>
            </a:fld>
            <a:endParaRPr lang="it-IT"/>
          </a:p>
        </p:txBody>
      </p:sp>
      <p:sp>
        <p:nvSpPr>
          <p:cNvPr id="5" name="Segnaposto piè di pagina 4">
            <a:extLst>
              <a:ext uri="{FF2B5EF4-FFF2-40B4-BE49-F238E27FC236}">
                <a16:creationId xmlns:a16="http://schemas.microsoft.com/office/drawing/2014/main" id="{4FAF9313-012B-2107-BDB1-0747BBFD9EA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A328B51-437C-79F8-8CFB-E006BB22D92C}"/>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1906340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27C9E0E-AECB-76B4-49AE-55C0CA0D8095}"/>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810DFC74-D8BF-9633-822B-5F67DF39F485}"/>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9FDC73C3-2A05-3BA7-ED76-8C3A440C64D7}"/>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19BABA24-DFE1-C1D0-9FD3-E5DF735A66AB}"/>
              </a:ext>
            </a:extLst>
          </p:cNvPr>
          <p:cNvSpPr>
            <a:spLocks noGrp="1"/>
          </p:cNvSpPr>
          <p:nvPr>
            <p:ph type="dt" sz="half" idx="10"/>
          </p:nvPr>
        </p:nvSpPr>
        <p:spPr/>
        <p:txBody>
          <a:bodyPr/>
          <a:lstStyle/>
          <a:p>
            <a:fld id="{734271AC-57B9-42F6-A82F-430D47D1FB54}" type="datetimeFigureOut">
              <a:rPr lang="it-IT" smtClean="0"/>
              <a:t>30/03/2026</a:t>
            </a:fld>
            <a:endParaRPr lang="it-IT"/>
          </a:p>
        </p:txBody>
      </p:sp>
      <p:sp>
        <p:nvSpPr>
          <p:cNvPr id="6" name="Segnaposto piè di pagina 5">
            <a:extLst>
              <a:ext uri="{FF2B5EF4-FFF2-40B4-BE49-F238E27FC236}">
                <a16:creationId xmlns:a16="http://schemas.microsoft.com/office/drawing/2014/main" id="{3FBD9E49-CECE-11E5-EFC3-DDAF5BAF437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27BBD9B3-F778-65E1-B3FA-7CE80C14C04D}"/>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3275160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FACB617-15AE-8FD2-B0E4-E7070FEA318E}"/>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4E19AF32-390E-819A-1ECC-D7674C2917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6B382BC5-E1AD-497C-F3C2-9D4C28310B58}"/>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7652B836-AF71-CDB6-F5B1-C1E212BD54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F51442CC-FB1A-9FDF-6250-16AA25952014}"/>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D80F8DA9-22EC-0D6F-3B5B-177D038C6E51}"/>
              </a:ext>
            </a:extLst>
          </p:cNvPr>
          <p:cNvSpPr>
            <a:spLocks noGrp="1"/>
          </p:cNvSpPr>
          <p:nvPr>
            <p:ph type="dt" sz="half" idx="10"/>
          </p:nvPr>
        </p:nvSpPr>
        <p:spPr/>
        <p:txBody>
          <a:bodyPr/>
          <a:lstStyle/>
          <a:p>
            <a:fld id="{734271AC-57B9-42F6-A82F-430D47D1FB54}" type="datetimeFigureOut">
              <a:rPr lang="it-IT" smtClean="0"/>
              <a:t>30/03/2026</a:t>
            </a:fld>
            <a:endParaRPr lang="it-IT"/>
          </a:p>
        </p:txBody>
      </p:sp>
      <p:sp>
        <p:nvSpPr>
          <p:cNvPr id="8" name="Segnaposto piè di pagina 7">
            <a:extLst>
              <a:ext uri="{FF2B5EF4-FFF2-40B4-BE49-F238E27FC236}">
                <a16:creationId xmlns:a16="http://schemas.microsoft.com/office/drawing/2014/main" id="{B1F7D1D5-6548-F064-1853-A99AC1A5A955}"/>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DB1C4147-34A9-F254-CD97-8B0B0D46D8B6}"/>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5740091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AB8F660-5FAB-0706-57FD-238F9379405F}"/>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37EF1B78-C137-31EE-411A-63CA9B68B399}"/>
              </a:ext>
            </a:extLst>
          </p:cNvPr>
          <p:cNvSpPr>
            <a:spLocks noGrp="1"/>
          </p:cNvSpPr>
          <p:nvPr>
            <p:ph type="dt" sz="half" idx="10"/>
          </p:nvPr>
        </p:nvSpPr>
        <p:spPr/>
        <p:txBody>
          <a:bodyPr/>
          <a:lstStyle/>
          <a:p>
            <a:fld id="{734271AC-57B9-42F6-A82F-430D47D1FB54}" type="datetimeFigureOut">
              <a:rPr lang="it-IT" smtClean="0"/>
              <a:t>30/03/2026</a:t>
            </a:fld>
            <a:endParaRPr lang="it-IT"/>
          </a:p>
        </p:txBody>
      </p:sp>
      <p:sp>
        <p:nvSpPr>
          <p:cNvPr id="4" name="Segnaposto piè di pagina 3">
            <a:extLst>
              <a:ext uri="{FF2B5EF4-FFF2-40B4-BE49-F238E27FC236}">
                <a16:creationId xmlns:a16="http://schemas.microsoft.com/office/drawing/2014/main" id="{D720C33A-D9F8-230E-80BC-6070D64DBCA4}"/>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2A75A252-4F7E-A574-BBD5-74949925ACCA}"/>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1152966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2D6BC536-F4B2-4D94-2664-04549F9E05C7}"/>
              </a:ext>
            </a:extLst>
          </p:cNvPr>
          <p:cNvSpPr>
            <a:spLocks noGrp="1"/>
          </p:cNvSpPr>
          <p:nvPr>
            <p:ph type="dt" sz="half" idx="10"/>
          </p:nvPr>
        </p:nvSpPr>
        <p:spPr/>
        <p:txBody>
          <a:bodyPr/>
          <a:lstStyle/>
          <a:p>
            <a:fld id="{734271AC-57B9-42F6-A82F-430D47D1FB54}" type="datetimeFigureOut">
              <a:rPr lang="it-IT" smtClean="0"/>
              <a:t>30/03/2026</a:t>
            </a:fld>
            <a:endParaRPr lang="it-IT"/>
          </a:p>
        </p:txBody>
      </p:sp>
      <p:sp>
        <p:nvSpPr>
          <p:cNvPr id="3" name="Segnaposto piè di pagina 2">
            <a:extLst>
              <a:ext uri="{FF2B5EF4-FFF2-40B4-BE49-F238E27FC236}">
                <a16:creationId xmlns:a16="http://schemas.microsoft.com/office/drawing/2014/main" id="{EA31F2EE-89F2-DD90-BB32-DCE5120D4C98}"/>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4FC5E6F0-EECD-8109-1050-8565F07B857F}"/>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40621023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D385FD8-40B9-A7D3-9A94-AFB291AF8018}"/>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58B5F0B-1124-87FF-8AA1-C8DA6AF4F7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82A423BB-4ABB-EEB4-698A-0F64E9E7EF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2AB0BC1E-CFE1-A594-B10A-A4217C7B8B93}"/>
              </a:ext>
            </a:extLst>
          </p:cNvPr>
          <p:cNvSpPr>
            <a:spLocks noGrp="1"/>
          </p:cNvSpPr>
          <p:nvPr>
            <p:ph type="dt" sz="half" idx="10"/>
          </p:nvPr>
        </p:nvSpPr>
        <p:spPr/>
        <p:txBody>
          <a:bodyPr/>
          <a:lstStyle/>
          <a:p>
            <a:fld id="{734271AC-57B9-42F6-A82F-430D47D1FB54}" type="datetimeFigureOut">
              <a:rPr lang="it-IT" smtClean="0"/>
              <a:t>30/03/2026</a:t>
            </a:fld>
            <a:endParaRPr lang="it-IT"/>
          </a:p>
        </p:txBody>
      </p:sp>
      <p:sp>
        <p:nvSpPr>
          <p:cNvPr id="6" name="Segnaposto piè di pagina 5">
            <a:extLst>
              <a:ext uri="{FF2B5EF4-FFF2-40B4-BE49-F238E27FC236}">
                <a16:creationId xmlns:a16="http://schemas.microsoft.com/office/drawing/2014/main" id="{E187E49F-C309-4CE2-0983-EC9545D596F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BFB5A6BA-A572-8243-E1E5-45059927DE6A}"/>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1874868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4D464F7-D228-FD5C-2FF0-6DC6C57473A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B92E35FA-4ADB-04E9-A265-7A03C96AE3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C9B6AE28-8F09-9536-754B-E5A67D4FEA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9338B1BA-3048-6D75-DE88-45D778AB5A8E}"/>
              </a:ext>
            </a:extLst>
          </p:cNvPr>
          <p:cNvSpPr>
            <a:spLocks noGrp="1"/>
          </p:cNvSpPr>
          <p:nvPr>
            <p:ph type="dt" sz="half" idx="10"/>
          </p:nvPr>
        </p:nvSpPr>
        <p:spPr/>
        <p:txBody>
          <a:bodyPr/>
          <a:lstStyle/>
          <a:p>
            <a:fld id="{734271AC-57B9-42F6-A82F-430D47D1FB54}" type="datetimeFigureOut">
              <a:rPr lang="it-IT" smtClean="0"/>
              <a:t>30/03/2026</a:t>
            </a:fld>
            <a:endParaRPr lang="it-IT"/>
          </a:p>
        </p:txBody>
      </p:sp>
      <p:sp>
        <p:nvSpPr>
          <p:cNvPr id="6" name="Segnaposto piè di pagina 5">
            <a:extLst>
              <a:ext uri="{FF2B5EF4-FFF2-40B4-BE49-F238E27FC236}">
                <a16:creationId xmlns:a16="http://schemas.microsoft.com/office/drawing/2014/main" id="{9A8DA03E-2831-51FC-E3B4-1F2FABF2152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01DB1B3F-6E85-61CC-CA1A-FCA9E8222DCF}"/>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3048917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957F892-C827-07B1-CD90-33732AC5FCCB}"/>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4AE4A31C-2935-1092-90D0-A666786B7639}"/>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B71052BA-2199-CFA1-5130-310ACF2BDD20}"/>
              </a:ext>
            </a:extLst>
          </p:cNvPr>
          <p:cNvSpPr>
            <a:spLocks noGrp="1"/>
          </p:cNvSpPr>
          <p:nvPr>
            <p:ph type="dt" sz="half" idx="10"/>
          </p:nvPr>
        </p:nvSpPr>
        <p:spPr/>
        <p:txBody>
          <a:bodyPr/>
          <a:lstStyle/>
          <a:p>
            <a:fld id="{734271AC-57B9-42F6-A82F-430D47D1FB54}" type="datetimeFigureOut">
              <a:rPr lang="it-IT" smtClean="0"/>
              <a:t>30/03/2026</a:t>
            </a:fld>
            <a:endParaRPr lang="it-IT"/>
          </a:p>
        </p:txBody>
      </p:sp>
      <p:sp>
        <p:nvSpPr>
          <p:cNvPr id="5" name="Segnaposto piè di pagina 4">
            <a:extLst>
              <a:ext uri="{FF2B5EF4-FFF2-40B4-BE49-F238E27FC236}">
                <a16:creationId xmlns:a16="http://schemas.microsoft.com/office/drawing/2014/main" id="{1050635D-C1B0-8120-0835-CED8BEA0C8FD}"/>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3FD6E55-EF4D-9828-E631-F28B200AFBB0}"/>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6583025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D6BF5F9E-C47B-428B-8A8E-B7622BF357AC}"/>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85479440-E149-2460-5D3F-E36BEF0D787D}"/>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7DAA5A2-B373-F6DA-51E6-235FDB47FE48}"/>
              </a:ext>
            </a:extLst>
          </p:cNvPr>
          <p:cNvSpPr>
            <a:spLocks noGrp="1"/>
          </p:cNvSpPr>
          <p:nvPr>
            <p:ph type="dt" sz="half" idx="10"/>
          </p:nvPr>
        </p:nvSpPr>
        <p:spPr/>
        <p:txBody>
          <a:bodyPr/>
          <a:lstStyle/>
          <a:p>
            <a:fld id="{734271AC-57B9-42F6-A82F-430D47D1FB54}" type="datetimeFigureOut">
              <a:rPr lang="it-IT" smtClean="0"/>
              <a:t>30/03/2026</a:t>
            </a:fld>
            <a:endParaRPr lang="it-IT"/>
          </a:p>
        </p:txBody>
      </p:sp>
      <p:sp>
        <p:nvSpPr>
          <p:cNvPr id="5" name="Segnaposto piè di pagina 4">
            <a:extLst>
              <a:ext uri="{FF2B5EF4-FFF2-40B4-BE49-F238E27FC236}">
                <a16:creationId xmlns:a16="http://schemas.microsoft.com/office/drawing/2014/main" id="{D322361F-5C91-3E41-62FD-1C2ED7A1BCD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AA796F5-AFC0-B29F-0C3D-0AF29CAD4168}"/>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576324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a:t>
            </a:r>
            <a:endParaRPr lang="de-DE"/>
          </a:p>
        </p:txBody>
      </p:sp>
      <p:sp>
        <p:nvSpPr>
          <p:cNvPr id="3" name="Segnaposto tes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4A8E5F-40E5-4553-9F3C-699F1A5B8145}" type="datetimeFigureOut">
              <a:rPr lang="de-DE" smtClean="0"/>
              <a:t>30.03.2026</a:t>
            </a:fld>
            <a:endParaRPr lang="de-DE"/>
          </a:p>
        </p:txBody>
      </p:sp>
      <p:sp>
        <p:nvSpPr>
          <p:cNvPr id="5" name="Segnaposto piè di pa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Segnaposto numero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CD45B7-DFE2-4393-8D37-380FC36BF3AA}" type="slidenum">
              <a:rPr lang="de-DE" smtClean="0"/>
              <a:t>‹N›</a:t>
            </a:fld>
            <a:endParaRPr lang="de-DE"/>
          </a:p>
        </p:txBody>
      </p:sp>
    </p:spTree>
    <p:extLst>
      <p:ext uri="{BB962C8B-B14F-4D97-AF65-F5344CB8AC3E}">
        <p14:creationId xmlns:p14="http://schemas.microsoft.com/office/powerpoint/2010/main" val="18019314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ACB31383-5659-2940-236C-F9346E91B4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E67A1E06-4FB4-3F20-564F-4FA29D5A19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3DBC1E01-19BC-CF30-A5B1-1974D7E586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4271AC-57B9-42F6-A82F-430D47D1FB54}" type="datetimeFigureOut">
              <a:rPr lang="it-IT" smtClean="0"/>
              <a:t>30/03/2026</a:t>
            </a:fld>
            <a:endParaRPr lang="it-IT"/>
          </a:p>
        </p:txBody>
      </p:sp>
      <p:sp>
        <p:nvSpPr>
          <p:cNvPr id="5" name="Segnaposto piè di pagina 4">
            <a:extLst>
              <a:ext uri="{FF2B5EF4-FFF2-40B4-BE49-F238E27FC236}">
                <a16:creationId xmlns:a16="http://schemas.microsoft.com/office/drawing/2014/main" id="{B91BCDDF-DD4D-D38B-E8DE-90714829F9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BD5B9393-E55B-8C2C-7636-1010066DE2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D7E2DB-F4FF-4776-8D08-CC7AA39C3F39}" type="slidenum">
              <a:rPr lang="it-IT" smtClean="0"/>
              <a:t>‹N›</a:t>
            </a:fld>
            <a:endParaRPr lang="it-IT"/>
          </a:p>
        </p:txBody>
      </p:sp>
    </p:spTree>
    <p:extLst>
      <p:ext uri="{BB962C8B-B14F-4D97-AF65-F5344CB8AC3E}">
        <p14:creationId xmlns:p14="http://schemas.microsoft.com/office/powerpoint/2010/main" val="4247420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902735" y="373682"/>
            <a:ext cx="7164956" cy="553998"/>
          </a:xfrm>
          <a:prstGeom prst="rect">
            <a:avLst/>
          </a:prstGeom>
          <a:noFill/>
        </p:spPr>
        <p:txBody>
          <a:bodyPr wrap="square">
            <a:spAutoFit/>
          </a:bodyPr>
          <a:lstStyle/>
          <a:p>
            <a:r>
              <a:rPr lang="it-IT" sz="3000" dirty="0"/>
              <a:t>Estensione di una classe</a:t>
            </a:r>
          </a:p>
        </p:txBody>
      </p:sp>
      <p:pic>
        <p:nvPicPr>
          <p:cNvPr id="3" name="Picture 2" descr="Java Logo, symbol, meaning, history, PNG, brand">
            <a:extLst>
              <a:ext uri="{FF2B5EF4-FFF2-40B4-BE49-F238E27FC236}">
                <a16:creationId xmlns:a16="http://schemas.microsoft.com/office/drawing/2014/main" id="{D46019AA-70FE-F8F5-93CF-35CACE4F4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597" y="1464293"/>
            <a:ext cx="4693388" cy="2628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55215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Estensione di una classe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2403380" y="2228671"/>
            <a:ext cx="7385239" cy="2400657"/>
          </a:xfrm>
          <a:prstGeom prst="rect">
            <a:avLst/>
          </a:prstGeom>
          <a:noFill/>
        </p:spPr>
        <p:txBody>
          <a:bodyPr wrap="square">
            <a:spAutoFit/>
          </a:bodyPr>
          <a:lstStyle/>
          <a:p>
            <a:r>
              <a:rPr lang="it-IT" sz="3000" dirty="0"/>
              <a:t>Può essere utile alle volte costruire delle classi partendo da altre classi già esistenti;</a:t>
            </a:r>
          </a:p>
          <a:p>
            <a:r>
              <a:rPr lang="it-IT" sz="3000" dirty="0"/>
              <a:t>In alcuni casi si può addirittura costruire una classe chiedendo di estendere una </a:t>
            </a:r>
            <a:r>
              <a:rPr lang="it-IT" sz="3000" b="1" dirty="0"/>
              <a:t>classe</a:t>
            </a:r>
            <a:r>
              <a:rPr lang="it-IT" sz="3000" dirty="0"/>
              <a:t> preesistente.</a:t>
            </a:r>
          </a:p>
        </p:txBody>
      </p:sp>
    </p:spTree>
    <p:extLst>
      <p:ext uri="{BB962C8B-B14F-4D97-AF65-F5344CB8AC3E}">
        <p14:creationId xmlns:p14="http://schemas.microsoft.com/office/powerpoint/2010/main" val="2664686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Estensione di una classe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939075"/>
            <a:ext cx="7385239" cy="2862322"/>
          </a:xfrm>
          <a:prstGeom prst="rect">
            <a:avLst/>
          </a:prstGeom>
          <a:noFill/>
        </p:spPr>
        <p:txBody>
          <a:bodyPr wrap="square">
            <a:spAutoFit/>
          </a:bodyPr>
          <a:lstStyle/>
          <a:p>
            <a:r>
              <a:rPr lang="it-IT" sz="3000" dirty="0"/>
              <a:t>In generale, quindi, possiamo dire </a:t>
            </a:r>
            <a:r>
              <a:rPr lang="it-IT" sz="3000"/>
              <a:t>che l'ereditarietà </a:t>
            </a:r>
            <a:r>
              <a:rPr lang="it-IT" sz="3000" dirty="0"/>
              <a:t>in Java è un meccanismo che consente di creare nuove classi (chiamate "sottoclassi" o "classi figlie") a partire da classi esistenti (chiamate "superclassi" o "classi genitore"). </a:t>
            </a:r>
          </a:p>
        </p:txBody>
      </p:sp>
    </p:spTree>
    <p:extLst>
      <p:ext uri="{BB962C8B-B14F-4D97-AF65-F5344CB8AC3E}">
        <p14:creationId xmlns:p14="http://schemas.microsoft.com/office/powerpoint/2010/main" val="966487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Estensione di una classe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939075"/>
            <a:ext cx="7385239" cy="4247317"/>
          </a:xfrm>
          <a:prstGeom prst="rect">
            <a:avLst/>
          </a:prstGeom>
          <a:noFill/>
        </p:spPr>
        <p:txBody>
          <a:bodyPr wrap="square">
            <a:spAutoFit/>
          </a:bodyPr>
          <a:lstStyle/>
          <a:p>
            <a:r>
              <a:rPr lang="it-IT" sz="3000" dirty="0"/>
              <a:t>In generale, quindi, possiamo dire </a:t>
            </a:r>
            <a:r>
              <a:rPr lang="it-IT" sz="3000"/>
              <a:t>che l'ereditarietà </a:t>
            </a:r>
            <a:r>
              <a:rPr lang="it-IT" sz="3000" dirty="0"/>
              <a:t>in Java è un meccanismo che consente di creare nuove classi (chiamate "sottoclassi" o "classi figlie") a partire da classi esistenti (chiamate "superclassi" o "classi genitore"). Le sottoclassi ereditano i campi e i metodi della classe genitore e possono anche aggiungere nuovi campi e metodi o modificare quelli ereditati.</a:t>
            </a:r>
          </a:p>
        </p:txBody>
      </p:sp>
    </p:spTree>
    <p:extLst>
      <p:ext uri="{BB962C8B-B14F-4D97-AF65-F5344CB8AC3E}">
        <p14:creationId xmlns:p14="http://schemas.microsoft.com/office/powerpoint/2010/main" val="1541381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Estensione di una classe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771978"/>
            <a:ext cx="7385239" cy="707886"/>
          </a:xfrm>
          <a:prstGeom prst="rect">
            <a:avLst/>
          </a:prstGeom>
          <a:noFill/>
        </p:spPr>
        <p:txBody>
          <a:bodyPr wrap="square">
            <a:spAutoFit/>
          </a:bodyPr>
          <a:lstStyle/>
          <a:p>
            <a:r>
              <a:rPr lang="it-IT" sz="2000" dirty="0"/>
              <a:t>Ad esempio, supponiamo di avere una classe Veicolo che contiene campi e metodi comuni a tutti i veicoli:</a:t>
            </a:r>
          </a:p>
        </p:txBody>
      </p:sp>
    </p:spTree>
    <p:extLst>
      <p:ext uri="{BB962C8B-B14F-4D97-AF65-F5344CB8AC3E}">
        <p14:creationId xmlns:p14="http://schemas.microsoft.com/office/powerpoint/2010/main" val="334319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Estensione di una classe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771978"/>
            <a:ext cx="7385239" cy="707886"/>
          </a:xfrm>
          <a:prstGeom prst="rect">
            <a:avLst/>
          </a:prstGeom>
          <a:noFill/>
        </p:spPr>
        <p:txBody>
          <a:bodyPr wrap="square">
            <a:spAutoFit/>
          </a:bodyPr>
          <a:lstStyle/>
          <a:p>
            <a:r>
              <a:rPr lang="it-IT" sz="2000" dirty="0"/>
              <a:t>Ad esempio, supponiamo di avere una classe Veicolo che contiene campi e metodi comuni a tutti i veicoli:</a:t>
            </a:r>
          </a:p>
        </p:txBody>
      </p:sp>
      <p:sp>
        <p:nvSpPr>
          <p:cNvPr id="3" name="CasellaDiTesto 2">
            <a:extLst>
              <a:ext uri="{FF2B5EF4-FFF2-40B4-BE49-F238E27FC236}">
                <a16:creationId xmlns:a16="http://schemas.microsoft.com/office/drawing/2014/main" id="{43617AC2-8498-8200-E5B7-7135AF83AAA5}"/>
              </a:ext>
            </a:extLst>
          </p:cNvPr>
          <p:cNvSpPr txBox="1"/>
          <p:nvPr/>
        </p:nvSpPr>
        <p:spPr>
          <a:xfrm>
            <a:off x="3883590" y="1449984"/>
            <a:ext cx="6097978" cy="646331"/>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915039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Estensione di una classe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771978"/>
            <a:ext cx="7385239" cy="707886"/>
          </a:xfrm>
          <a:prstGeom prst="rect">
            <a:avLst/>
          </a:prstGeom>
          <a:noFill/>
        </p:spPr>
        <p:txBody>
          <a:bodyPr wrap="square">
            <a:spAutoFit/>
          </a:bodyPr>
          <a:lstStyle/>
          <a:p>
            <a:r>
              <a:rPr lang="it-IT" sz="2000" dirty="0"/>
              <a:t>Ad esempio, supponiamo di avere una classe Veicolo che contiene campi e metodi comuni a tutti i veicoli:</a:t>
            </a:r>
          </a:p>
        </p:txBody>
      </p:sp>
      <p:sp>
        <p:nvSpPr>
          <p:cNvPr id="3" name="CasellaDiTesto 2">
            <a:extLst>
              <a:ext uri="{FF2B5EF4-FFF2-40B4-BE49-F238E27FC236}">
                <a16:creationId xmlns:a16="http://schemas.microsoft.com/office/drawing/2014/main" id="{43617AC2-8498-8200-E5B7-7135AF83AAA5}"/>
              </a:ext>
            </a:extLst>
          </p:cNvPr>
          <p:cNvSpPr txBox="1"/>
          <p:nvPr/>
        </p:nvSpPr>
        <p:spPr>
          <a:xfrm>
            <a:off x="3883590" y="1449984"/>
            <a:ext cx="6097978" cy="1015663"/>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marca</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142715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Estensione di una classe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771978"/>
            <a:ext cx="7385239" cy="707886"/>
          </a:xfrm>
          <a:prstGeom prst="rect">
            <a:avLst/>
          </a:prstGeom>
          <a:noFill/>
        </p:spPr>
        <p:txBody>
          <a:bodyPr wrap="square">
            <a:spAutoFit/>
          </a:bodyPr>
          <a:lstStyle/>
          <a:p>
            <a:r>
              <a:rPr lang="it-IT" sz="2000" dirty="0"/>
              <a:t>Ad esempio, supponiamo di avere una classe Veicolo che contiene campi e metodi comuni a tutti i veicoli:</a:t>
            </a:r>
          </a:p>
        </p:txBody>
      </p:sp>
      <p:sp>
        <p:nvSpPr>
          <p:cNvPr id="3" name="CasellaDiTesto 2">
            <a:extLst>
              <a:ext uri="{FF2B5EF4-FFF2-40B4-BE49-F238E27FC236}">
                <a16:creationId xmlns:a16="http://schemas.microsoft.com/office/drawing/2014/main" id="{43617AC2-8498-8200-E5B7-7135AF83AAA5}"/>
              </a:ext>
            </a:extLst>
          </p:cNvPr>
          <p:cNvSpPr txBox="1"/>
          <p:nvPr/>
        </p:nvSpPr>
        <p:spPr>
          <a:xfrm>
            <a:off x="3883590" y="1449984"/>
            <a:ext cx="6097978" cy="2123658"/>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marca</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marca</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.marca</a:t>
            </a:r>
            <a:r>
              <a:rPr lang="it-IT" sz="1200" b="0" dirty="0">
                <a:solidFill>
                  <a:srgbClr val="D4D4D4"/>
                </a:solidFill>
                <a:effectLst/>
                <a:latin typeface="Consolas" panose="020B0609020204030204" pitchFamily="49" charset="0"/>
              </a:rPr>
              <a:t> = marca</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    </a:t>
            </a:r>
          </a:p>
          <a:p>
            <a:r>
              <a:rPr lang="it-IT" sz="12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958326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Estensione di una classe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771978"/>
            <a:ext cx="7385239" cy="707886"/>
          </a:xfrm>
          <a:prstGeom prst="rect">
            <a:avLst/>
          </a:prstGeom>
          <a:noFill/>
        </p:spPr>
        <p:txBody>
          <a:bodyPr wrap="square">
            <a:spAutoFit/>
          </a:bodyPr>
          <a:lstStyle/>
          <a:p>
            <a:r>
              <a:rPr lang="it-IT" sz="2000" dirty="0"/>
              <a:t>Ad esempio, supponiamo di avere una classe Veicolo che contiene campi e metodi comuni a tutti i veicoli:</a:t>
            </a:r>
          </a:p>
        </p:txBody>
      </p:sp>
      <p:sp>
        <p:nvSpPr>
          <p:cNvPr id="3" name="CasellaDiTesto 2">
            <a:extLst>
              <a:ext uri="{FF2B5EF4-FFF2-40B4-BE49-F238E27FC236}">
                <a16:creationId xmlns:a16="http://schemas.microsoft.com/office/drawing/2014/main" id="{43617AC2-8498-8200-E5B7-7135AF83AAA5}"/>
              </a:ext>
            </a:extLst>
          </p:cNvPr>
          <p:cNvSpPr txBox="1"/>
          <p:nvPr/>
        </p:nvSpPr>
        <p:spPr>
          <a:xfrm>
            <a:off x="3883590" y="1449984"/>
            <a:ext cx="6097978" cy="2677656"/>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marca</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marca</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.marca</a:t>
            </a:r>
            <a:r>
              <a:rPr lang="it-IT" sz="1200" b="0" dirty="0">
                <a:solidFill>
                  <a:srgbClr val="D4D4D4"/>
                </a:solidFill>
                <a:effectLst/>
                <a:latin typeface="Consolas" panose="020B0609020204030204" pitchFamily="49" charset="0"/>
              </a:rPr>
              <a:t> = marca</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getMarca</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return</a:t>
            </a:r>
            <a:r>
              <a:rPr lang="it-IT" sz="1200" b="0" dirty="0">
                <a:solidFill>
                  <a:srgbClr val="D4D4D4"/>
                </a:solidFill>
                <a:effectLst/>
                <a:latin typeface="Consolas" panose="020B0609020204030204" pitchFamily="49" charset="0"/>
              </a:rPr>
              <a:t> marca</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    </a:t>
            </a:r>
          </a:p>
          <a:p>
            <a:r>
              <a:rPr lang="it-IT" sz="12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355333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Estensione di una classe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771978"/>
            <a:ext cx="7385239" cy="707886"/>
          </a:xfrm>
          <a:prstGeom prst="rect">
            <a:avLst/>
          </a:prstGeom>
          <a:noFill/>
        </p:spPr>
        <p:txBody>
          <a:bodyPr wrap="square">
            <a:spAutoFit/>
          </a:bodyPr>
          <a:lstStyle/>
          <a:p>
            <a:r>
              <a:rPr lang="it-IT" sz="2000" dirty="0"/>
              <a:t>Ad esempio, supponiamo di avere una classe Veicolo che contiene campi e metodi comuni a tutti i veicoli:</a:t>
            </a:r>
          </a:p>
        </p:txBody>
      </p:sp>
      <p:sp>
        <p:nvSpPr>
          <p:cNvPr id="3" name="CasellaDiTesto 2">
            <a:extLst>
              <a:ext uri="{FF2B5EF4-FFF2-40B4-BE49-F238E27FC236}">
                <a16:creationId xmlns:a16="http://schemas.microsoft.com/office/drawing/2014/main" id="{43617AC2-8498-8200-E5B7-7135AF83AAA5}"/>
              </a:ext>
            </a:extLst>
          </p:cNvPr>
          <p:cNvSpPr txBox="1"/>
          <p:nvPr/>
        </p:nvSpPr>
        <p:spPr>
          <a:xfrm>
            <a:off x="3883590" y="1449984"/>
            <a:ext cx="6097978" cy="3231654"/>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marca</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marca</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.marca</a:t>
            </a:r>
            <a:r>
              <a:rPr lang="it-IT" sz="1200" b="0" dirty="0">
                <a:solidFill>
                  <a:srgbClr val="D4D4D4"/>
                </a:solidFill>
                <a:effectLst/>
                <a:latin typeface="Consolas" panose="020B0609020204030204" pitchFamily="49" charset="0"/>
              </a:rPr>
              <a:t> = marca</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getMarca</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return</a:t>
            </a:r>
            <a:r>
              <a:rPr lang="it-IT" sz="1200" b="0" dirty="0">
                <a:solidFill>
                  <a:srgbClr val="D4D4D4"/>
                </a:solidFill>
                <a:effectLst/>
                <a:latin typeface="Consolas" panose="020B0609020204030204" pitchFamily="49" charset="0"/>
              </a:rPr>
              <a:t> marca</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getModello</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return</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    </a:t>
            </a:r>
          </a:p>
          <a:p>
            <a:r>
              <a:rPr lang="it-IT" sz="12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185142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Estensione di una classe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771978"/>
            <a:ext cx="7385239" cy="707886"/>
          </a:xfrm>
          <a:prstGeom prst="rect">
            <a:avLst/>
          </a:prstGeom>
          <a:noFill/>
        </p:spPr>
        <p:txBody>
          <a:bodyPr wrap="square">
            <a:spAutoFit/>
          </a:bodyPr>
          <a:lstStyle/>
          <a:p>
            <a:r>
              <a:rPr lang="it-IT" sz="2000" dirty="0"/>
              <a:t>Ad esempio, supponiamo di avere una classe Veicolo che contiene campi e metodi comuni a tutti i veicoli:</a:t>
            </a:r>
          </a:p>
        </p:txBody>
      </p:sp>
      <p:sp>
        <p:nvSpPr>
          <p:cNvPr id="3" name="CasellaDiTesto 2">
            <a:extLst>
              <a:ext uri="{FF2B5EF4-FFF2-40B4-BE49-F238E27FC236}">
                <a16:creationId xmlns:a16="http://schemas.microsoft.com/office/drawing/2014/main" id="{43617AC2-8498-8200-E5B7-7135AF83AAA5}"/>
              </a:ext>
            </a:extLst>
          </p:cNvPr>
          <p:cNvSpPr txBox="1"/>
          <p:nvPr/>
        </p:nvSpPr>
        <p:spPr>
          <a:xfrm>
            <a:off x="3883590" y="1449984"/>
            <a:ext cx="6097978" cy="3785652"/>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marca</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marca</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.marca</a:t>
            </a:r>
            <a:r>
              <a:rPr lang="it-IT" sz="1200" b="0" dirty="0">
                <a:solidFill>
                  <a:srgbClr val="D4D4D4"/>
                </a:solidFill>
                <a:effectLst/>
                <a:latin typeface="Consolas" panose="020B0609020204030204" pitchFamily="49" charset="0"/>
              </a:rPr>
              <a:t> = marca</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getMarca</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return</a:t>
            </a:r>
            <a:r>
              <a:rPr lang="it-IT" sz="1200" b="0" dirty="0">
                <a:solidFill>
                  <a:srgbClr val="D4D4D4"/>
                </a:solidFill>
                <a:effectLst/>
                <a:latin typeface="Consolas" panose="020B0609020204030204" pitchFamily="49" charset="0"/>
              </a:rPr>
              <a:t> marca</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getModello</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return</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getAnno</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return</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    </a:t>
            </a:r>
          </a:p>
          <a:p>
            <a:r>
              <a:rPr lang="it-IT" sz="12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467498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Estensione di una classe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771978"/>
            <a:ext cx="7385239" cy="707886"/>
          </a:xfrm>
          <a:prstGeom prst="rect">
            <a:avLst/>
          </a:prstGeom>
          <a:noFill/>
        </p:spPr>
        <p:txBody>
          <a:bodyPr wrap="square">
            <a:spAutoFit/>
          </a:bodyPr>
          <a:lstStyle/>
          <a:p>
            <a:r>
              <a:rPr lang="it-IT" sz="2000" dirty="0"/>
              <a:t>Ad esempio, supponiamo di avere una classe Veicolo che contiene campi e metodi comuni a tutti i veicoli:</a:t>
            </a:r>
          </a:p>
        </p:txBody>
      </p:sp>
      <p:sp>
        <p:nvSpPr>
          <p:cNvPr id="3" name="CasellaDiTesto 2">
            <a:extLst>
              <a:ext uri="{FF2B5EF4-FFF2-40B4-BE49-F238E27FC236}">
                <a16:creationId xmlns:a16="http://schemas.microsoft.com/office/drawing/2014/main" id="{43617AC2-8498-8200-E5B7-7135AF83AAA5}"/>
              </a:ext>
            </a:extLst>
          </p:cNvPr>
          <p:cNvSpPr txBox="1"/>
          <p:nvPr/>
        </p:nvSpPr>
        <p:spPr>
          <a:xfrm>
            <a:off x="3883590" y="1449984"/>
            <a:ext cx="6097978" cy="433965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marca</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marca</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.marca</a:t>
            </a:r>
            <a:r>
              <a:rPr lang="it-IT" sz="1200" b="0" dirty="0">
                <a:solidFill>
                  <a:srgbClr val="D4D4D4"/>
                </a:solidFill>
                <a:effectLst/>
                <a:latin typeface="Consolas" panose="020B0609020204030204" pitchFamily="49" charset="0"/>
              </a:rPr>
              <a:t> = marca</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getMarca</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return</a:t>
            </a:r>
            <a:r>
              <a:rPr lang="it-IT" sz="1200" b="0" dirty="0">
                <a:solidFill>
                  <a:srgbClr val="D4D4D4"/>
                </a:solidFill>
                <a:effectLst/>
                <a:latin typeface="Consolas" panose="020B0609020204030204" pitchFamily="49" charset="0"/>
              </a:rPr>
              <a:t> marca</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getModello</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return</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getAnno</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return</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accelera()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"Accelerando..."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    </a:t>
            </a:r>
          </a:p>
          <a:p>
            <a:r>
              <a:rPr lang="it-IT" sz="12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544691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Estensione di una classe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771978"/>
            <a:ext cx="7385239" cy="707886"/>
          </a:xfrm>
          <a:prstGeom prst="rect">
            <a:avLst/>
          </a:prstGeom>
          <a:noFill/>
        </p:spPr>
        <p:txBody>
          <a:bodyPr wrap="square">
            <a:spAutoFit/>
          </a:bodyPr>
          <a:lstStyle/>
          <a:p>
            <a:r>
              <a:rPr lang="it-IT" sz="2000" dirty="0"/>
              <a:t>Ad esempio, supponiamo di avere una classe Veicolo che contiene campi e metodi comuni a tutti i veicoli:</a:t>
            </a:r>
          </a:p>
        </p:txBody>
      </p:sp>
      <p:sp>
        <p:nvSpPr>
          <p:cNvPr id="3" name="CasellaDiTesto 2">
            <a:extLst>
              <a:ext uri="{FF2B5EF4-FFF2-40B4-BE49-F238E27FC236}">
                <a16:creationId xmlns:a16="http://schemas.microsoft.com/office/drawing/2014/main" id="{43617AC2-8498-8200-E5B7-7135AF83AAA5}"/>
              </a:ext>
            </a:extLst>
          </p:cNvPr>
          <p:cNvSpPr txBox="1"/>
          <p:nvPr/>
        </p:nvSpPr>
        <p:spPr>
          <a:xfrm>
            <a:off x="3883590" y="1449984"/>
            <a:ext cx="6097978" cy="5078313"/>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marca</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marca</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.marca</a:t>
            </a:r>
            <a:r>
              <a:rPr lang="it-IT" sz="1200" b="0" dirty="0">
                <a:solidFill>
                  <a:srgbClr val="D4D4D4"/>
                </a:solidFill>
                <a:effectLst/>
                <a:latin typeface="Consolas" panose="020B0609020204030204" pitchFamily="49" charset="0"/>
              </a:rPr>
              <a:t> = marca</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getMarca</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return</a:t>
            </a:r>
            <a:r>
              <a:rPr lang="it-IT" sz="1200" b="0" dirty="0">
                <a:solidFill>
                  <a:srgbClr val="D4D4D4"/>
                </a:solidFill>
                <a:effectLst/>
                <a:latin typeface="Consolas" panose="020B0609020204030204" pitchFamily="49" charset="0"/>
              </a:rPr>
              <a:t> marca</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getModello</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return</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getAnno</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return</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accelera()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"Accelerando..."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freno()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"Frenando..."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586253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Estensione di una classe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649463"/>
            <a:ext cx="7385239" cy="1015663"/>
          </a:xfrm>
          <a:prstGeom prst="rect">
            <a:avLst/>
          </a:prstGeom>
          <a:noFill/>
        </p:spPr>
        <p:txBody>
          <a:bodyPr wrap="square">
            <a:spAutoFit/>
          </a:bodyPr>
          <a:lstStyle/>
          <a:p>
            <a:r>
              <a:rPr lang="it-IT" sz="2000" dirty="0"/>
              <a:t>Possiamo quindi creare una sottoclasse di Veicolo chiamata Auto che estende la classe Veicolo e aggiunge campi e metodi specifici per le auto:</a:t>
            </a:r>
          </a:p>
        </p:txBody>
      </p:sp>
    </p:spTree>
    <p:extLst>
      <p:ext uri="{BB962C8B-B14F-4D97-AF65-F5344CB8AC3E}">
        <p14:creationId xmlns:p14="http://schemas.microsoft.com/office/powerpoint/2010/main" val="4167115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Estensione di una classe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649463"/>
            <a:ext cx="7385239" cy="1015663"/>
          </a:xfrm>
          <a:prstGeom prst="rect">
            <a:avLst/>
          </a:prstGeom>
          <a:noFill/>
        </p:spPr>
        <p:txBody>
          <a:bodyPr wrap="square">
            <a:spAutoFit/>
          </a:bodyPr>
          <a:lstStyle/>
          <a:p>
            <a:r>
              <a:rPr lang="it-IT" sz="2000" dirty="0"/>
              <a:t>Possiamo quindi creare una sottoclasse di Veicolo chiamata Auto che estende la classe Veicolo e aggiunge campi e metodi specifici per le auto:</a:t>
            </a:r>
          </a:p>
        </p:txBody>
      </p:sp>
      <p:sp>
        <p:nvSpPr>
          <p:cNvPr id="3" name="CasellaDiTesto 2">
            <a:extLst>
              <a:ext uri="{FF2B5EF4-FFF2-40B4-BE49-F238E27FC236}">
                <a16:creationId xmlns:a16="http://schemas.microsoft.com/office/drawing/2014/main" id="{43617AC2-8498-8200-E5B7-7135AF83AAA5}"/>
              </a:ext>
            </a:extLst>
          </p:cNvPr>
          <p:cNvSpPr txBox="1"/>
          <p:nvPr/>
        </p:nvSpPr>
        <p:spPr>
          <a:xfrm>
            <a:off x="247402" y="1684222"/>
            <a:ext cx="11697195" cy="923330"/>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Auto {</a:t>
            </a:r>
          </a:p>
          <a:p>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262384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Estensione di una classe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649463"/>
            <a:ext cx="7385239" cy="1015663"/>
          </a:xfrm>
          <a:prstGeom prst="rect">
            <a:avLst/>
          </a:prstGeom>
          <a:noFill/>
        </p:spPr>
        <p:txBody>
          <a:bodyPr wrap="square">
            <a:spAutoFit/>
          </a:bodyPr>
          <a:lstStyle/>
          <a:p>
            <a:r>
              <a:rPr lang="it-IT" sz="2000" dirty="0"/>
              <a:t>Possiamo quindi creare una sottoclasse di Veicolo chiamata Auto che estende la classe Veicolo e aggiunge campi e metodi specifici per le auto:</a:t>
            </a:r>
          </a:p>
        </p:txBody>
      </p:sp>
      <p:sp>
        <p:nvSpPr>
          <p:cNvPr id="3" name="CasellaDiTesto 2">
            <a:extLst>
              <a:ext uri="{FF2B5EF4-FFF2-40B4-BE49-F238E27FC236}">
                <a16:creationId xmlns:a16="http://schemas.microsoft.com/office/drawing/2014/main" id="{43617AC2-8498-8200-E5B7-7135AF83AAA5}"/>
              </a:ext>
            </a:extLst>
          </p:cNvPr>
          <p:cNvSpPr txBox="1"/>
          <p:nvPr/>
        </p:nvSpPr>
        <p:spPr>
          <a:xfrm>
            <a:off x="247402" y="1684222"/>
            <a:ext cx="11697195" cy="923330"/>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Auto </a:t>
            </a:r>
            <a:r>
              <a:rPr lang="it-IT" b="0" dirty="0" err="1">
                <a:solidFill>
                  <a:srgbClr val="569CD6"/>
                </a:solidFill>
                <a:effectLst/>
                <a:latin typeface="Consolas" panose="020B0609020204030204" pitchFamily="49" charset="0"/>
              </a:rPr>
              <a:t>extends</a:t>
            </a:r>
            <a:r>
              <a:rPr lang="it-IT" b="0" dirty="0">
                <a:solidFill>
                  <a:srgbClr val="D4D4D4"/>
                </a:solidFill>
                <a:effectLst/>
                <a:latin typeface="Consolas" panose="020B0609020204030204" pitchFamily="49" charset="0"/>
              </a:rPr>
              <a:t> Veicolo {</a:t>
            </a:r>
          </a:p>
          <a:p>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6444168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Estensione di una classe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649463"/>
            <a:ext cx="7385239" cy="1015663"/>
          </a:xfrm>
          <a:prstGeom prst="rect">
            <a:avLst/>
          </a:prstGeom>
          <a:noFill/>
        </p:spPr>
        <p:txBody>
          <a:bodyPr wrap="square">
            <a:spAutoFit/>
          </a:bodyPr>
          <a:lstStyle/>
          <a:p>
            <a:r>
              <a:rPr lang="it-IT" sz="2000" dirty="0"/>
              <a:t>Possiamo quindi creare una sottoclasse di Veicolo chiamata Auto che estende la classe Veicolo e aggiunge campi e metodi specifici per le auto:</a:t>
            </a:r>
          </a:p>
        </p:txBody>
      </p:sp>
      <p:sp>
        <p:nvSpPr>
          <p:cNvPr id="3" name="CasellaDiTesto 2">
            <a:extLst>
              <a:ext uri="{FF2B5EF4-FFF2-40B4-BE49-F238E27FC236}">
                <a16:creationId xmlns:a16="http://schemas.microsoft.com/office/drawing/2014/main" id="{43617AC2-8498-8200-E5B7-7135AF83AAA5}"/>
              </a:ext>
            </a:extLst>
          </p:cNvPr>
          <p:cNvSpPr txBox="1"/>
          <p:nvPr/>
        </p:nvSpPr>
        <p:spPr>
          <a:xfrm>
            <a:off x="247402" y="1684222"/>
            <a:ext cx="11697195" cy="923330"/>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Auto </a:t>
            </a:r>
            <a:r>
              <a:rPr lang="it-IT" b="0" dirty="0" err="1">
                <a:solidFill>
                  <a:srgbClr val="569CD6"/>
                </a:solidFill>
                <a:effectLst/>
                <a:latin typeface="Consolas" panose="020B0609020204030204" pitchFamily="49" charset="0"/>
              </a:rPr>
              <a:t>extends</a:t>
            </a:r>
            <a:r>
              <a:rPr lang="it-IT" b="0" dirty="0">
                <a:solidFill>
                  <a:srgbClr val="D4D4D4"/>
                </a:solidFill>
                <a:effectLst/>
                <a:latin typeface="Consolas" panose="020B0609020204030204" pitchFamily="49" charset="0"/>
              </a:rPr>
              <a:t> Veicolo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cilindrata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6971459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Estensione di una classe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649463"/>
            <a:ext cx="7385239" cy="1015663"/>
          </a:xfrm>
          <a:prstGeom prst="rect">
            <a:avLst/>
          </a:prstGeom>
          <a:noFill/>
        </p:spPr>
        <p:txBody>
          <a:bodyPr wrap="square">
            <a:spAutoFit/>
          </a:bodyPr>
          <a:lstStyle/>
          <a:p>
            <a:r>
              <a:rPr lang="it-IT" sz="2000" dirty="0"/>
              <a:t>Possiamo quindi creare una sottoclasse di Veicolo chiamata Auto che estende la classe Veicolo e aggiunge campi e metodi specifici per le auto:</a:t>
            </a:r>
          </a:p>
        </p:txBody>
      </p:sp>
      <p:sp>
        <p:nvSpPr>
          <p:cNvPr id="3" name="CasellaDiTesto 2">
            <a:extLst>
              <a:ext uri="{FF2B5EF4-FFF2-40B4-BE49-F238E27FC236}">
                <a16:creationId xmlns:a16="http://schemas.microsoft.com/office/drawing/2014/main" id="{43617AC2-8498-8200-E5B7-7135AF83AAA5}"/>
              </a:ext>
            </a:extLst>
          </p:cNvPr>
          <p:cNvSpPr txBox="1"/>
          <p:nvPr/>
        </p:nvSpPr>
        <p:spPr>
          <a:xfrm>
            <a:off x="247402" y="1684222"/>
            <a:ext cx="11697195" cy="2308324"/>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Auto </a:t>
            </a:r>
            <a:r>
              <a:rPr lang="it-IT" b="0" dirty="0" err="1">
                <a:solidFill>
                  <a:srgbClr val="569CD6"/>
                </a:solidFill>
                <a:effectLst/>
                <a:latin typeface="Consolas" panose="020B0609020204030204" pitchFamily="49" charset="0"/>
              </a:rPr>
              <a:t>extends</a:t>
            </a:r>
            <a:r>
              <a:rPr lang="it-IT" b="0" dirty="0">
                <a:solidFill>
                  <a:srgbClr val="D4D4D4"/>
                </a:solidFill>
                <a:effectLst/>
                <a:latin typeface="Consolas" panose="020B0609020204030204" pitchFamily="49" charset="0"/>
              </a:rPr>
              <a:t> Veicolo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cilindrata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Auto(</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marca</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modello</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anno</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cilindrata)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super</a:t>
            </a:r>
            <a:r>
              <a:rPr lang="it-IT" b="0" dirty="0">
                <a:solidFill>
                  <a:srgbClr val="D4D4D4"/>
                </a:solidFill>
                <a:effectLst/>
                <a:latin typeface="Consolas" panose="020B0609020204030204" pitchFamily="49" charset="0"/>
              </a:rPr>
              <a:t>(marca</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modello</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anno)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this</a:t>
            </a:r>
            <a:r>
              <a:rPr lang="it-IT" b="0" dirty="0" err="1">
                <a:solidFill>
                  <a:srgbClr val="D4D4D4"/>
                </a:solidFill>
                <a:effectLst/>
                <a:latin typeface="Consolas" panose="020B0609020204030204" pitchFamily="49" charset="0"/>
              </a:rPr>
              <a:t>.cilindrata</a:t>
            </a:r>
            <a:r>
              <a:rPr lang="it-IT" b="0" dirty="0">
                <a:solidFill>
                  <a:srgbClr val="D4D4D4"/>
                </a:solidFill>
                <a:effectLst/>
                <a:latin typeface="Consolas" panose="020B0609020204030204" pitchFamily="49" charset="0"/>
              </a:rPr>
              <a:t> = cilindrata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930084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Estensione di una classe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649463"/>
            <a:ext cx="7385239" cy="1015663"/>
          </a:xfrm>
          <a:prstGeom prst="rect">
            <a:avLst/>
          </a:prstGeom>
          <a:noFill/>
        </p:spPr>
        <p:txBody>
          <a:bodyPr wrap="square">
            <a:spAutoFit/>
          </a:bodyPr>
          <a:lstStyle/>
          <a:p>
            <a:r>
              <a:rPr lang="it-IT" sz="2000" dirty="0"/>
              <a:t>Possiamo quindi creare una sottoclasse di Veicolo chiamata Auto che estende la classe Veicolo e aggiunge campi e metodi specifici per le auto:</a:t>
            </a:r>
          </a:p>
        </p:txBody>
      </p:sp>
      <p:sp>
        <p:nvSpPr>
          <p:cNvPr id="3" name="CasellaDiTesto 2">
            <a:extLst>
              <a:ext uri="{FF2B5EF4-FFF2-40B4-BE49-F238E27FC236}">
                <a16:creationId xmlns:a16="http://schemas.microsoft.com/office/drawing/2014/main" id="{43617AC2-8498-8200-E5B7-7135AF83AAA5}"/>
              </a:ext>
            </a:extLst>
          </p:cNvPr>
          <p:cNvSpPr txBox="1"/>
          <p:nvPr/>
        </p:nvSpPr>
        <p:spPr>
          <a:xfrm>
            <a:off x="247402" y="1684222"/>
            <a:ext cx="11697195" cy="3693319"/>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Auto </a:t>
            </a:r>
            <a:r>
              <a:rPr lang="it-IT" b="0" dirty="0" err="1">
                <a:solidFill>
                  <a:srgbClr val="569CD6"/>
                </a:solidFill>
                <a:effectLst/>
                <a:latin typeface="Consolas" panose="020B0609020204030204" pitchFamily="49" charset="0"/>
              </a:rPr>
              <a:t>extends</a:t>
            </a:r>
            <a:r>
              <a:rPr lang="it-IT" b="0" dirty="0">
                <a:solidFill>
                  <a:srgbClr val="D4D4D4"/>
                </a:solidFill>
                <a:effectLst/>
                <a:latin typeface="Consolas" panose="020B0609020204030204" pitchFamily="49" charset="0"/>
              </a:rPr>
              <a:t> Veicolo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cilindrata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Auto(</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marca</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modello</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anno</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cilindrata)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super</a:t>
            </a:r>
            <a:r>
              <a:rPr lang="it-IT" b="0" dirty="0">
                <a:solidFill>
                  <a:srgbClr val="D4D4D4"/>
                </a:solidFill>
                <a:effectLst/>
                <a:latin typeface="Consolas" panose="020B0609020204030204" pitchFamily="49" charset="0"/>
              </a:rPr>
              <a:t>(marca</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modello</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anno)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this</a:t>
            </a:r>
            <a:r>
              <a:rPr lang="it-IT" b="0" dirty="0" err="1">
                <a:solidFill>
                  <a:srgbClr val="D4D4D4"/>
                </a:solidFill>
                <a:effectLst/>
                <a:latin typeface="Consolas" panose="020B0609020204030204" pitchFamily="49" charset="0"/>
              </a:rPr>
              <a:t>.cilindrata</a:t>
            </a:r>
            <a:r>
              <a:rPr lang="it-IT" b="0" dirty="0">
                <a:solidFill>
                  <a:srgbClr val="D4D4D4"/>
                </a:solidFill>
                <a:effectLst/>
                <a:latin typeface="Consolas" panose="020B0609020204030204" pitchFamily="49" charset="0"/>
              </a:rPr>
              <a:t> = cilindrata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getCilindrata</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return</a:t>
            </a:r>
            <a:r>
              <a:rPr lang="it-IT" b="0" dirty="0">
                <a:solidFill>
                  <a:srgbClr val="D4D4D4"/>
                </a:solidFill>
                <a:effectLst/>
                <a:latin typeface="Consolas" panose="020B0609020204030204" pitchFamily="49" charset="0"/>
              </a:rPr>
              <a:t> cilindrata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224681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Estensione di una classe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649463"/>
            <a:ext cx="7385239" cy="1015663"/>
          </a:xfrm>
          <a:prstGeom prst="rect">
            <a:avLst/>
          </a:prstGeom>
          <a:noFill/>
        </p:spPr>
        <p:txBody>
          <a:bodyPr wrap="square">
            <a:spAutoFit/>
          </a:bodyPr>
          <a:lstStyle/>
          <a:p>
            <a:r>
              <a:rPr lang="it-IT" sz="2000" dirty="0"/>
              <a:t>Possiamo quindi creare una sottoclasse di Veicolo chiamata Auto che estende la classe Veicolo e aggiunge campi e metodi specifici per le auto:</a:t>
            </a:r>
          </a:p>
        </p:txBody>
      </p:sp>
      <p:sp>
        <p:nvSpPr>
          <p:cNvPr id="3" name="CasellaDiTesto 2">
            <a:extLst>
              <a:ext uri="{FF2B5EF4-FFF2-40B4-BE49-F238E27FC236}">
                <a16:creationId xmlns:a16="http://schemas.microsoft.com/office/drawing/2014/main" id="{43617AC2-8498-8200-E5B7-7135AF83AAA5}"/>
              </a:ext>
            </a:extLst>
          </p:cNvPr>
          <p:cNvSpPr txBox="1"/>
          <p:nvPr/>
        </p:nvSpPr>
        <p:spPr>
          <a:xfrm>
            <a:off x="247402" y="1684222"/>
            <a:ext cx="11697195" cy="4524315"/>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Auto </a:t>
            </a:r>
            <a:r>
              <a:rPr lang="it-IT" b="0" dirty="0" err="1">
                <a:solidFill>
                  <a:srgbClr val="569CD6"/>
                </a:solidFill>
                <a:effectLst/>
                <a:latin typeface="Consolas" panose="020B0609020204030204" pitchFamily="49" charset="0"/>
              </a:rPr>
              <a:t>extends</a:t>
            </a:r>
            <a:r>
              <a:rPr lang="it-IT" b="0" dirty="0">
                <a:solidFill>
                  <a:srgbClr val="D4D4D4"/>
                </a:solidFill>
                <a:effectLst/>
                <a:latin typeface="Consolas" panose="020B0609020204030204" pitchFamily="49" charset="0"/>
              </a:rPr>
              <a:t> Veicolo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cilindrata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Auto(</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marca</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modello</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anno</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cilindrata)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super</a:t>
            </a:r>
            <a:r>
              <a:rPr lang="it-IT" b="0" dirty="0">
                <a:solidFill>
                  <a:srgbClr val="D4D4D4"/>
                </a:solidFill>
                <a:effectLst/>
                <a:latin typeface="Consolas" panose="020B0609020204030204" pitchFamily="49" charset="0"/>
              </a:rPr>
              <a:t>(marca</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modello</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anno)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this</a:t>
            </a:r>
            <a:r>
              <a:rPr lang="it-IT" b="0" dirty="0" err="1">
                <a:solidFill>
                  <a:srgbClr val="D4D4D4"/>
                </a:solidFill>
                <a:effectLst/>
                <a:latin typeface="Consolas" panose="020B0609020204030204" pitchFamily="49" charset="0"/>
              </a:rPr>
              <a:t>.cilindrata</a:t>
            </a:r>
            <a:r>
              <a:rPr lang="it-IT" b="0" dirty="0">
                <a:solidFill>
                  <a:srgbClr val="D4D4D4"/>
                </a:solidFill>
                <a:effectLst/>
                <a:latin typeface="Consolas" panose="020B0609020204030204" pitchFamily="49" charset="0"/>
              </a:rPr>
              <a:t> = cilindrata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getCilindrata</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return</a:t>
            </a:r>
            <a:r>
              <a:rPr lang="it-IT" b="0" dirty="0">
                <a:solidFill>
                  <a:srgbClr val="D4D4D4"/>
                </a:solidFill>
                <a:effectLst/>
                <a:latin typeface="Consolas" panose="020B0609020204030204" pitchFamily="49" charset="0"/>
              </a:rPr>
              <a:t> cilindrata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cambioManuale</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"Cambiando marcia..."</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8473845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Estensione di una classe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649463"/>
            <a:ext cx="7385239" cy="1015663"/>
          </a:xfrm>
          <a:prstGeom prst="rect">
            <a:avLst/>
          </a:prstGeom>
          <a:noFill/>
        </p:spPr>
        <p:txBody>
          <a:bodyPr wrap="square">
            <a:spAutoFit/>
          </a:bodyPr>
          <a:lstStyle/>
          <a:p>
            <a:r>
              <a:rPr lang="it-IT" sz="2000" dirty="0"/>
              <a:t>Possiamo quindi creare una sottoclasse di Veicolo chiamata Auto che estende la classe Veicolo e aggiunge campi e metodi specifici per le auto:</a:t>
            </a:r>
          </a:p>
        </p:txBody>
      </p:sp>
      <p:sp>
        <p:nvSpPr>
          <p:cNvPr id="3" name="CasellaDiTesto 2">
            <a:extLst>
              <a:ext uri="{FF2B5EF4-FFF2-40B4-BE49-F238E27FC236}">
                <a16:creationId xmlns:a16="http://schemas.microsoft.com/office/drawing/2014/main" id="{43617AC2-8498-8200-E5B7-7135AF83AAA5}"/>
              </a:ext>
            </a:extLst>
          </p:cNvPr>
          <p:cNvSpPr txBox="1"/>
          <p:nvPr/>
        </p:nvSpPr>
        <p:spPr>
          <a:xfrm>
            <a:off x="247402" y="1684222"/>
            <a:ext cx="11697195" cy="4524315"/>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Auto </a:t>
            </a:r>
            <a:r>
              <a:rPr lang="it-IT" b="0" dirty="0" err="1">
                <a:solidFill>
                  <a:srgbClr val="569CD6"/>
                </a:solidFill>
                <a:effectLst/>
                <a:latin typeface="Consolas" panose="020B0609020204030204" pitchFamily="49" charset="0"/>
              </a:rPr>
              <a:t>extends</a:t>
            </a:r>
            <a:r>
              <a:rPr lang="it-IT" b="0" dirty="0">
                <a:solidFill>
                  <a:srgbClr val="D4D4D4"/>
                </a:solidFill>
                <a:effectLst/>
                <a:latin typeface="Consolas" panose="020B0609020204030204" pitchFamily="49" charset="0"/>
              </a:rPr>
              <a:t> Veicolo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cilindrata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Auto(</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marca</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modello</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anno</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cilindrata)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super</a:t>
            </a:r>
            <a:r>
              <a:rPr lang="it-IT" b="0" dirty="0">
                <a:solidFill>
                  <a:srgbClr val="D4D4D4"/>
                </a:solidFill>
                <a:effectLst/>
                <a:latin typeface="Consolas" panose="020B0609020204030204" pitchFamily="49" charset="0"/>
              </a:rPr>
              <a:t>(marca</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modello</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anno)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this</a:t>
            </a:r>
            <a:r>
              <a:rPr lang="it-IT" b="0" dirty="0" err="1">
                <a:solidFill>
                  <a:srgbClr val="D4D4D4"/>
                </a:solidFill>
                <a:effectLst/>
                <a:latin typeface="Consolas" panose="020B0609020204030204" pitchFamily="49" charset="0"/>
              </a:rPr>
              <a:t>.cilindrata</a:t>
            </a:r>
            <a:r>
              <a:rPr lang="it-IT" b="0" dirty="0">
                <a:solidFill>
                  <a:srgbClr val="D4D4D4"/>
                </a:solidFill>
                <a:effectLst/>
                <a:latin typeface="Consolas" panose="020B0609020204030204" pitchFamily="49" charset="0"/>
              </a:rPr>
              <a:t> = cilindrata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getCilindrata</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return</a:t>
            </a:r>
            <a:r>
              <a:rPr lang="it-IT" b="0" dirty="0">
                <a:solidFill>
                  <a:srgbClr val="D4D4D4"/>
                </a:solidFill>
                <a:effectLst/>
                <a:latin typeface="Consolas" panose="020B0609020204030204" pitchFamily="49" charset="0"/>
              </a:rPr>
              <a:t> cilindrata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cambioManuale</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"Cambiando marcia..."</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6EF9371F-8A25-EF47-2B13-F5844AB3058A}"/>
              </a:ext>
            </a:extLst>
          </p:cNvPr>
          <p:cNvSpPr txBox="1"/>
          <p:nvPr/>
        </p:nvSpPr>
        <p:spPr>
          <a:xfrm>
            <a:off x="5245076" y="3003953"/>
            <a:ext cx="6097978" cy="553998"/>
          </a:xfrm>
          <a:prstGeom prst="rect">
            <a:avLst/>
          </a:prstGeom>
          <a:solidFill>
            <a:schemeClr val="bg1">
              <a:lumMod val="95000"/>
            </a:schemeClr>
          </a:solidFill>
        </p:spPr>
        <p:txBody>
          <a:bodyPr wrap="square">
            <a:spAutoFit/>
          </a:bodyPr>
          <a:lstStyle/>
          <a:p>
            <a:r>
              <a:rPr lang="it-IT" sz="1500" dirty="0"/>
              <a:t>In questo caso, la classe Auto estende la classe Veicolo utilizzando la parola chiave </a:t>
            </a:r>
            <a:r>
              <a:rPr lang="it-IT" sz="1500" dirty="0" err="1"/>
              <a:t>extends</a:t>
            </a:r>
            <a:r>
              <a:rPr lang="it-IT" sz="1500" dirty="0"/>
              <a:t>. </a:t>
            </a:r>
          </a:p>
        </p:txBody>
      </p:sp>
    </p:spTree>
    <p:extLst>
      <p:ext uri="{BB962C8B-B14F-4D97-AF65-F5344CB8AC3E}">
        <p14:creationId xmlns:p14="http://schemas.microsoft.com/office/powerpoint/2010/main" val="2805407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Estensione di una classe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649463"/>
            <a:ext cx="7385239" cy="1015663"/>
          </a:xfrm>
          <a:prstGeom prst="rect">
            <a:avLst/>
          </a:prstGeom>
          <a:noFill/>
        </p:spPr>
        <p:txBody>
          <a:bodyPr wrap="square">
            <a:spAutoFit/>
          </a:bodyPr>
          <a:lstStyle/>
          <a:p>
            <a:r>
              <a:rPr lang="it-IT" sz="2000" dirty="0"/>
              <a:t>Possiamo quindi creare una sottoclasse di Veicolo chiamata Auto che estende la classe Veicolo e aggiunge campi e metodi specifici per le auto:</a:t>
            </a:r>
          </a:p>
        </p:txBody>
      </p:sp>
      <p:sp>
        <p:nvSpPr>
          <p:cNvPr id="3" name="CasellaDiTesto 2">
            <a:extLst>
              <a:ext uri="{FF2B5EF4-FFF2-40B4-BE49-F238E27FC236}">
                <a16:creationId xmlns:a16="http://schemas.microsoft.com/office/drawing/2014/main" id="{43617AC2-8498-8200-E5B7-7135AF83AAA5}"/>
              </a:ext>
            </a:extLst>
          </p:cNvPr>
          <p:cNvSpPr txBox="1"/>
          <p:nvPr/>
        </p:nvSpPr>
        <p:spPr>
          <a:xfrm>
            <a:off x="247402" y="1684222"/>
            <a:ext cx="11697195" cy="4524315"/>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Auto </a:t>
            </a:r>
            <a:r>
              <a:rPr lang="it-IT" b="0" dirty="0" err="1">
                <a:solidFill>
                  <a:srgbClr val="569CD6"/>
                </a:solidFill>
                <a:effectLst/>
                <a:latin typeface="Consolas" panose="020B0609020204030204" pitchFamily="49" charset="0"/>
              </a:rPr>
              <a:t>extends</a:t>
            </a:r>
            <a:r>
              <a:rPr lang="it-IT" b="0" dirty="0">
                <a:solidFill>
                  <a:srgbClr val="D4D4D4"/>
                </a:solidFill>
                <a:effectLst/>
                <a:latin typeface="Consolas" panose="020B0609020204030204" pitchFamily="49" charset="0"/>
              </a:rPr>
              <a:t> Veicolo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cilindrata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Auto(</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marca</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modello</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anno</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cilindrata)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super</a:t>
            </a:r>
            <a:r>
              <a:rPr lang="it-IT" b="0" dirty="0">
                <a:solidFill>
                  <a:srgbClr val="D4D4D4"/>
                </a:solidFill>
                <a:effectLst/>
                <a:latin typeface="Consolas" panose="020B0609020204030204" pitchFamily="49" charset="0"/>
              </a:rPr>
              <a:t>(marca</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modello</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anno)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this</a:t>
            </a:r>
            <a:r>
              <a:rPr lang="it-IT" b="0" dirty="0" err="1">
                <a:solidFill>
                  <a:srgbClr val="D4D4D4"/>
                </a:solidFill>
                <a:effectLst/>
                <a:latin typeface="Consolas" panose="020B0609020204030204" pitchFamily="49" charset="0"/>
              </a:rPr>
              <a:t>.cilindrata</a:t>
            </a:r>
            <a:r>
              <a:rPr lang="it-IT" b="0" dirty="0">
                <a:solidFill>
                  <a:srgbClr val="D4D4D4"/>
                </a:solidFill>
                <a:effectLst/>
                <a:latin typeface="Consolas" panose="020B0609020204030204" pitchFamily="49" charset="0"/>
              </a:rPr>
              <a:t> = cilindrata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getCilindrata</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return</a:t>
            </a:r>
            <a:r>
              <a:rPr lang="it-IT" b="0" dirty="0">
                <a:solidFill>
                  <a:srgbClr val="D4D4D4"/>
                </a:solidFill>
                <a:effectLst/>
                <a:latin typeface="Consolas" panose="020B0609020204030204" pitchFamily="49" charset="0"/>
              </a:rPr>
              <a:t> cilindrata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cambioManuale</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"Cambiando marcia..."</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6EF9371F-8A25-EF47-2B13-F5844AB3058A}"/>
              </a:ext>
            </a:extLst>
          </p:cNvPr>
          <p:cNvSpPr txBox="1"/>
          <p:nvPr/>
        </p:nvSpPr>
        <p:spPr>
          <a:xfrm>
            <a:off x="5245076" y="3003953"/>
            <a:ext cx="6097978" cy="1477328"/>
          </a:xfrm>
          <a:prstGeom prst="rect">
            <a:avLst/>
          </a:prstGeom>
          <a:solidFill>
            <a:schemeClr val="bg1">
              <a:lumMod val="95000"/>
            </a:schemeClr>
          </a:solidFill>
        </p:spPr>
        <p:txBody>
          <a:bodyPr wrap="square">
            <a:spAutoFit/>
          </a:bodyPr>
          <a:lstStyle/>
          <a:p>
            <a:r>
              <a:rPr lang="it-IT" sz="1500" dirty="0"/>
              <a:t>In questo caso, la classe Auto estende la classe Veicolo utilizzando la parola chiave </a:t>
            </a:r>
            <a:r>
              <a:rPr lang="it-IT" sz="1500" dirty="0" err="1"/>
              <a:t>extends</a:t>
            </a:r>
            <a:r>
              <a:rPr lang="it-IT" sz="1500" dirty="0"/>
              <a:t>. La classe Auto eredita i campi e i metodi della classe Veicolo, come ad esempio i campi marca, modello, anno e i metodi </a:t>
            </a:r>
            <a:r>
              <a:rPr lang="it-IT" sz="1500" dirty="0" err="1"/>
              <a:t>getMarca</a:t>
            </a:r>
            <a:r>
              <a:rPr lang="it-IT" sz="1500" dirty="0"/>
              <a:t>(), </a:t>
            </a:r>
            <a:r>
              <a:rPr lang="it-IT" sz="1500" dirty="0" err="1"/>
              <a:t>getModello</a:t>
            </a:r>
            <a:r>
              <a:rPr lang="it-IT" sz="1500" dirty="0"/>
              <a:t>(), </a:t>
            </a:r>
            <a:r>
              <a:rPr lang="it-IT" sz="1500" dirty="0" err="1"/>
              <a:t>getAnno</a:t>
            </a:r>
            <a:r>
              <a:rPr lang="it-IT" sz="1500" dirty="0"/>
              <a:t>(), accelera() e freno(). Inoltre, la classe Auto aggiunge un nuovo campo cilindrata e un nuovo metodo </a:t>
            </a:r>
            <a:r>
              <a:rPr lang="it-IT" sz="1500" dirty="0" err="1"/>
              <a:t>cambioManuale</a:t>
            </a:r>
            <a:r>
              <a:rPr lang="it-IT" sz="1500" dirty="0"/>
              <a:t>(), che sono specifici per le auto.</a:t>
            </a:r>
          </a:p>
        </p:txBody>
      </p:sp>
    </p:spTree>
    <p:extLst>
      <p:ext uri="{BB962C8B-B14F-4D97-AF65-F5344CB8AC3E}">
        <p14:creationId xmlns:p14="http://schemas.microsoft.com/office/powerpoint/2010/main" val="25581886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Estensione di una classe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649463"/>
            <a:ext cx="7385239" cy="1015663"/>
          </a:xfrm>
          <a:prstGeom prst="rect">
            <a:avLst/>
          </a:prstGeom>
          <a:noFill/>
        </p:spPr>
        <p:txBody>
          <a:bodyPr wrap="square">
            <a:spAutoFit/>
          </a:bodyPr>
          <a:lstStyle/>
          <a:p>
            <a:r>
              <a:rPr lang="it-IT" sz="2000" dirty="0"/>
              <a:t>Possiamo quindi creare una sottoclasse di Veicolo chiamata Auto che estende la classe Veicolo e aggiunge campi e metodi specifici per le auto:</a:t>
            </a:r>
          </a:p>
        </p:txBody>
      </p:sp>
      <p:sp>
        <p:nvSpPr>
          <p:cNvPr id="3" name="CasellaDiTesto 2">
            <a:extLst>
              <a:ext uri="{FF2B5EF4-FFF2-40B4-BE49-F238E27FC236}">
                <a16:creationId xmlns:a16="http://schemas.microsoft.com/office/drawing/2014/main" id="{43617AC2-8498-8200-E5B7-7135AF83AAA5}"/>
              </a:ext>
            </a:extLst>
          </p:cNvPr>
          <p:cNvSpPr txBox="1"/>
          <p:nvPr/>
        </p:nvSpPr>
        <p:spPr>
          <a:xfrm>
            <a:off x="247402" y="1684222"/>
            <a:ext cx="11697195" cy="4524315"/>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Auto </a:t>
            </a:r>
            <a:r>
              <a:rPr lang="it-IT" b="0" dirty="0" err="1">
                <a:solidFill>
                  <a:srgbClr val="569CD6"/>
                </a:solidFill>
                <a:effectLst/>
                <a:latin typeface="Consolas" panose="020B0609020204030204" pitchFamily="49" charset="0"/>
              </a:rPr>
              <a:t>extends</a:t>
            </a:r>
            <a:r>
              <a:rPr lang="it-IT" b="0" dirty="0">
                <a:solidFill>
                  <a:srgbClr val="D4D4D4"/>
                </a:solidFill>
                <a:effectLst/>
                <a:latin typeface="Consolas" panose="020B0609020204030204" pitchFamily="49" charset="0"/>
              </a:rPr>
              <a:t> Veicolo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cilindrata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Auto(</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marca</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modello</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anno</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cilindrata)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super</a:t>
            </a:r>
            <a:r>
              <a:rPr lang="it-IT" b="0" dirty="0">
                <a:solidFill>
                  <a:srgbClr val="D4D4D4"/>
                </a:solidFill>
                <a:effectLst/>
                <a:latin typeface="Consolas" panose="020B0609020204030204" pitchFamily="49" charset="0"/>
              </a:rPr>
              <a:t>(marca</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modello</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anno)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this</a:t>
            </a:r>
            <a:r>
              <a:rPr lang="it-IT" b="0" dirty="0" err="1">
                <a:solidFill>
                  <a:srgbClr val="D4D4D4"/>
                </a:solidFill>
                <a:effectLst/>
                <a:latin typeface="Consolas" panose="020B0609020204030204" pitchFamily="49" charset="0"/>
              </a:rPr>
              <a:t>.cilindrata</a:t>
            </a:r>
            <a:r>
              <a:rPr lang="it-IT" b="0" dirty="0">
                <a:solidFill>
                  <a:srgbClr val="D4D4D4"/>
                </a:solidFill>
                <a:effectLst/>
                <a:latin typeface="Consolas" panose="020B0609020204030204" pitchFamily="49" charset="0"/>
              </a:rPr>
              <a:t> = cilindrata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getCilindrata</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return</a:t>
            </a:r>
            <a:r>
              <a:rPr lang="it-IT" b="0" dirty="0">
                <a:solidFill>
                  <a:srgbClr val="D4D4D4"/>
                </a:solidFill>
                <a:effectLst/>
                <a:latin typeface="Consolas" panose="020B0609020204030204" pitchFamily="49" charset="0"/>
              </a:rPr>
              <a:t> cilindrata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cambioManuale</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"Cambiando marcia..."</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6EF9371F-8A25-EF47-2B13-F5844AB3058A}"/>
              </a:ext>
            </a:extLst>
          </p:cNvPr>
          <p:cNvSpPr txBox="1"/>
          <p:nvPr/>
        </p:nvSpPr>
        <p:spPr>
          <a:xfrm>
            <a:off x="5245076" y="3003953"/>
            <a:ext cx="6097978" cy="2169825"/>
          </a:xfrm>
          <a:prstGeom prst="rect">
            <a:avLst/>
          </a:prstGeom>
          <a:solidFill>
            <a:schemeClr val="bg1">
              <a:lumMod val="95000"/>
            </a:schemeClr>
          </a:solidFill>
        </p:spPr>
        <p:txBody>
          <a:bodyPr wrap="square">
            <a:spAutoFit/>
          </a:bodyPr>
          <a:lstStyle/>
          <a:p>
            <a:r>
              <a:rPr lang="it-IT" sz="1500" dirty="0"/>
              <a:t>In questo caso, la classe Auto estende la classe Veicolo utilizzando la parola chiave </a:t>
            </a:r>
            <a:r>
              <a:rPr lang="it-IT" sz="1500" dirty="0" err="1"/>
              <a:t>extends</a:t>
            </a:r>
            <a:r>
              <a:rPr lang="it-IT" sz="1500" dirty="0"/>
              <a:t>. La classe Auto eredita i campi e i metodi della classe Veicolo, come ad esempio i campi marca, modello, anno e i metodi </a:t>
            </a:r>
            <a:r>
              <a:rPr lang="it-IT" sz="1500" dirty="0" err="1"/>
              <a:t>getMarca</a:t>
            </a:r>
            <a:r>
              <a:rPr lang="it-IT" sz="1500" dirty="0"/>
              <a:t>(), </a:t>
            </a:r>
            <a:r>
              <a:rPr lang="it-IT" sz="1500" dirty="0" err="1"/>
              <a:t>getModello</a:t>
            </a:r>
            <a:r>
              <a:rPr lang="it-IT" sz="1500" dirty="0"/>
              <a:t>(), </a:t>
            </a:r>
            <a:r>
              <a:rPr lang="it-IT" sz="1500" dirty="0" err="1"/>
              <a:t>getAnno</a:t>
            </a:r>
            <a:r>
              <a:rPr lang="it-IT" sz="1500" dirty="0"/>
              <a:t>(), accelera() e freno(). Inoltre, la classe Auto aggiunge un nuovo campo cilindrata e un nuovo metodo </a:t>
            </a:r>
            <a:r>
              <a:rPr lang="it-IT" sz="1500" dirty="0" err="1"/>
              <a:t>cambioManuale</a:t>
            </a:r>
            <a:r>
              <a:rPr lang="it-IT" sz="1500" dirty="0"/>
              <a:t>(), che sono specifici per le auto.</a:t>
            </a:r>
          </a:p>
          <a:p>
            <a:endParaRPr lang="it-IT" sz="1500" dirty="0"/>
          </a:p>
          <a:p>
            <a:r>
              <a:rPr lang="it-IT" sz="1500" dirty="0"/>
              <a:t>In questo modo</a:t>
            </a:r>
            <a:r>
              <a:rPr lang="it-IT" sz="1500"/>
              <a:t>, l'ereditarietà </a:t>
            </a:r>
            <a:r>
              <a:rPr lang="it-IT" sz="1500" dirty="0"/>
              <a:t>consente di creare gerarchie di classi e di organizzare il codice in modo più modulare e riutilizzabile.</a:t>
            </a:r>
          </a:p>
        </p:txBody>
      </p:sp>
    </p:spTree>
    <p:extLst>
      <p:ext uri="{BB962C8B-B14F-4D97-AF65-F5344CB8AC3E}">
        <p14:creationId xmlns:p14="http://schemas.microsoft.com/office/powerpoint/2010/main" val="8433992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Cosa accade ai metodi privati?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04935"/>
            <a:ext cx="7385239" cy="707886"/>
          </a:xfrm>
          <a:prstGeom prst="rect">
            <a:avLst/>
          </a:prstGeom>
          <a:noFill/>
        </p:spPr>
        <p:txBody>
          <a:bodyPr wrap="square">
            <a:spAutoFit/>
          </a:bodyPr>
          <a:lstStyle/>
          <a:p>
            <a:pPr algn="l"/>
            <a:r>
              <a:rPr lang="it-IT" sz="2000" b="0" i="0" dirty="0">
                <a:solidFill>
                  <a:srgbClr val="050E17"/>
                </a:solidFill>
                <a:effectLst/>
                <a:latin typeface="-apple-system"/>
              </a:rPr>
              <a:t>Quando si eredita una classe in Java, i metodi e i campi privati della classe genitore non sono direttamente accessibili dalla sottoclasse. </a:t>
            </a:r>
          </a:p>
        </p:txBody>
      </p:sp>
      <p:sp>
        <p:nvSpPr>
          <p:cNvPr id="9" name="CasellaDiTesto 8">
            <a:extLst>
              <a:ext uri="{FF2B5EF4-FFF2-40B4-BE49-F238E27FC236}">
                <a16:creationId xmlns:a16="http://schemas.microsoft.com/office/drawing/2014/main" id="{DDD339FF-E452-D591-CC7F-B83D28FFF1D2}"/>
              </a:ext>
            </a:extLst>
          </p:cNvPr>
          <p:cNvSpPr txBox="1"/>
          <p:nvPr/>
        </p:nvSpPr>
        <p:spPr>
          <a:xfrm>
            <a:off x="282039" y="1417713"/>
            <a:ext cx="10350616" cy="369332"/>
          </a:xfrm>
          <a:prstGeom prst="rect">
            <a:avLst/>
          </a:prstGeom>
          <a:noFill/>
        </p:spPr>
        <p:txBody>
          <a:bodyPr wrap="square">
            <a:spAutoFit/>
          </a:bodyPr>
          <a:lstStyle/>
          <a:p>
            <a:pPr algn="l"/>
            <a:r>
              <a:rPr lang="it-IT" sz="1800" b="0" i="0" dirty="0">
                <a:solidFill>
                  <a:srgbClr val="050E17"/>
                </a:solidFill>
                <a:effectLst/>
                <a:latin typeface="-apple-system"/>
              </a:rPr>
              <a:t>Ciò significa che la sottoclasse non può accedere ai campi privati o ai metodi privati della classe genitore.</a:t>
            </a:r>
          </a:p>
        </p:txBody>
      </p:sp>
    </p:spTree>
    <p:extLst>
      <p:ext uri="{BB962C8B-B14F-4D97-AF65-F5344CB8AC3E}">
        <p14:creationId xmlns:p14="http://schemas.microsoft.com/office/powerpoint/2010/main" val="41933111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Cosa accade ai metodi privati?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04935"/>
            <a:ext cx="7385239" cy="707886"/>
          </a:xfrm>
          <a:prstGeom prst="rect">
            <a:avLst/>
          </a:prstGeom>
          <a:noFill/>
        </p:spPr>
        <p:txBody>
          <a:bodyPr wrap="square">
            <a:spAutoFit/>
          </a:bodyPr>
          <a:lstStyle/>
          <a:p>
            <a:pPr algn="l"/>
            <a:r>
              <a:rPr lang="it-IT" sz="2000" b="0" i="0" dirty="0">
                <a:solidFill>
                  <a:srgbClr val="050E17"/>
                </a:solidFill>
                <a:effectLst/>
                <a:latin typeface="-apple-system"/>
              </a:rPr>
              <a:t>Quando si eredita una classe in Java, i metodi e i campi privati della classe genitore non sono direttamente accessibili dalla sottoclasse. </a:t>
            </a:r>
          </a:p>
        </p:txBody>
      </p:sp>
      <p:sp>
        <p:nvSpPr>
          <p:cNvPr id="9" name="CasellaDiTesto 8">
            <a:extLst>
              <a:ext uri="{FF2B5EF4-FFF2-40B4-BE49-F238E27FC236}">
                <a16:creationId xmlns:a16="http://schemas.microsoft.com/office/drawing/2014/main" id="{DDD339FF-E452-D591-CC7F-B83D28FFF1D2}"/>
              </a:ext>
            </a:extLst>
          </p:cNvPr>
          <p:cNvSpPr txBox="1"/>
          <p:nvPr/>
        </p:nvSpPr>
        <p:spPr>
          <a:xfrm>
            <a:off x="282039" y="1417713"/>
            <a:ext cx="10350616" cy="1200329"/>
          </a:xfrm>
          <a:prstGeom prst="rect">
            <a:avLst/>
          </a:prstGeom>
          <a:noFill/>
        </p:spPr>
        <p:txBody>
          <a:bodyPr wrap="square">
            <a:spAutoFit/>
          </a:bodyPr>
          <a:lstStyle/>
          <a:p>
            <a:pPr algn="l"/>
            <a:r>
              <a:rPr lang="it-IT" sz="1800" b="0" i="0" dirty="0">
                <a:solidFill>
                  <a:srgbClr val="050E17"/>
                </a:solidFill>
                <a:effectLst/>
                <a:latin typeface="-apple-system"/>
              </a:rPr>
              <a:t>Ciò significa che la sottoclasse non può accedere ai campi privati o ai metodi privati della classe genitore.</a:t>
            </a:r>
          </a:p>
          <a:p>
            <a:pPr algn="l"/>
            <a:r>
              <a:rPr lang="it-IT" sz="1800" b="0" i="0" dirty="0">
                <a:solidFill>
                  <a:srgbClr val="050E17"/>
                </a:solidFill>
                <a:effectLst/>
                <a:latin typeface="-apple-system"/>
              </a:rPr>
              <a:t>Tuttavia, se la classe genitore ha definito dei metodi pubblici o protetti che accedono ai campi privati, la sottoclasse può utilizzare questi metodi per accedere ai campi privati. Ad esempio, consideriamo la seguente classe genitore:</a:t>
            </a:r>
          </a:p>
        </p:txBody>
      </p:sp>
    </p:spTree>
    <p:extLst>
      <p:ext uri="{BB962C8B-B14F-4D97-AF65-F5344CB8AC3E}">
        <p14:creationId xmlns:p14="http://schemas.microsoft.com/office/powerpoint/2010/main" val="832240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Cosa accade ai metodi privati?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04935"/>
            <a:ext cx="7385239" cy="707886"/>
          </a:xfrm>
          <a:prstGeom prst="rect">
            <a:avLst/>
          </a:prstGeom>
          <a:noFill/>
        </p:spPr>
        <p:txBody>
          <a:bodyPr wrap="square">
            <a:spAutoFit/>
          </a:bodyPr>
          <a:lstStyle/>
          <a:p>
            <a:pPr algn="l"/>
            <a:r>
              <a:rPr lang="it-IT" sz="2000" b="0" i="0" dirty="0">
                <a:solidFill>
                  <a:srgbClr val="050E17"/>
                </a:solidFill>
                <a:effectLst/>
                <a:latin typeface="-apple-system"/>
              </a:rPr>
              <a:t>Quando si eredita una classe in Java, i metodi e i campi privati della classe genitore non sono direttamente accessibili dalla sottoclasse. </a:t>
            </a:r>
          </a:p>
        </p:txBody>
      </p:sp>
      <p:sp>
        <p:nvSpPr>
          <p:cNvPr id="9" name="CasellaDiTesto 8">
            <a:extLst>
              <a:ext uri="{FF2B5EF4-FFF2-40B4-BE49-F238E27FC236}">
                <a16:creationId xmlns:a16="http://schemas.microsoft.com/office/drawing/2014/main" id="{DDD339FF-E452-D591-CC7F-B83D28FFF1D2}"/>
              </a:ext>
            </a:extLst>
          </p:cNvPr>
          <p:cNvSpPr txBox="1"/>
          <p:nvPr/>
        </p:nvSpPr>
        <p:spPr>
          <a:xfrm>
            <a:off x="282039" y="1417713"/>
            <a:ext cx="10350616" cy="1200329"/>
          </a:xfrm>
          <a:prstGeom prst="rect">
            <a:avLst/>
          </a:prstGeom>
          <a:noFill/>
        </p:spPr>
        <p:txBody>
          <a:bodyPr wrap="square">
            <a:spAutoFit/>
          </a:bodyPr>
          <a:lstStyle/>
          <a:p>
            <a:pPr algn="l"/>
            <a:r>
              <a:rPr lang="it-IT" sz="1800" b="0" i="0" dirty="0">
                <a:solidFill>
                  <a:srgbClr val="050E17"/>
                </a:solidFill>
                <a:effectLst/>
                <a:latin typeface="-apple-system"/>
              </a:rPr>
              <a:t>Ciò significa che la sottoclasse non può accedere ai campi privati o ai metodi privati della classe genitore.</a:t>
            </a:r>
          </a:p>
          <a:p>
            <a:pPr algn="l"/>
            <a:r>
              <a:rPr lang="it-IT" sz="1800" b="0" i="0" dirty="0">
                <a:solidFill>
                  <a:srgbClr val="050E17"/>
                </a:solidFill>
                <a:effectLst/>
                <a:latin typeface="-apple-system"/>
              </a:rPr>
              <a:t>Tuttavia, se la classe genitore ha definito dei metodi pubblici o protetti che accedono ai campi privati, la sottoclasse può utilizzare questi metodi per accedere ai campi privati. Ad esempio, consideriamo la seguente classe genitore:</a:t>
            </a:r>
          </a:p>
        </p:txBody>
      </p:sp>
      <p:sp>
        <p:nvSpPr>
          <p:cNvPr id="11" name="CasellaDiTesto 10">
            <a:extLst>
              <a:ext uri="{FF2B5EF4-FFF2-40B4-BE49-F238E27FC236}">
                <a16:creationId xmlns:a16="http://schemas.microsoft.com/office/drawing/2014/main" id="{15ECB89B-0CA3-9AD8-13CF-0BF59EE20C11}"/>
              </a:ext>
            </a:extLst>
          </p:cNvPr>
          <p:cNvSpPr txBox="1"/>
          <p:nvPr/>
        </p:nvSpPr>
        <p:spPr>
          <a:xfrm>
            <a:off x="282039" y="2670298"/>
            <a:ext cx="6097978" cy="923330"/>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Genitore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0621061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Cosa accade ai metodi privati?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04935"/>
            <a:ext cx="7385239" cy="707886"/>
          </a:xfrm>
          <a:prstGeom prst="rect">
            <a:avLst/>
          </a:prstGeom>
          <a:noFill/>
        </p:spPr>
        <p:txBody>
          <a:bodyPr wrap="square">
            <a:spAutoFit/>
          </a:bodyPr>
          <a:lstStyle/>
          <a:p>
            <a:pPr algn="l"/>
            <a:r>
              <a:rPr lang="it-IT" sz="2000" b="0" i="0" dirty="0">
                <a:solidFill>
                  <a:srgbClr val="050E17"/>
                </a:solidFill>
                <a:effectLst/>
                <a:latin typeface="-apple-system"/>
              </a:rPr>
              <a:t>Quando si eredita una classe in Java, i metodi e i campi privati della classe genitore non sono direttamente accessibili dalla sottoclasse. </a:t>
            </a:r>
          </a:p>
        </p:txBody>
      </p:sp>
      <p:sp>
        <p:nvSpPr>
          <p:cNvPr id="9" name="CasellaDiTesto 8">
            <a:extLst>
              <a:ext uri="{FF2B5EF4-FFF2-40B4-BE49-F238E27FC236}">
                <a16:creationId xmlns:a16="http://schemas.microsoft.com/office/drawing/2014/main" id="{DDD339FF-E452-D591-CC7F-B83D28FFF1D2}"/>
              </a:ext>
            </a:extLst>
          </p:cNvPr>
          <p:cNvSpPr txBox="1"/>
          <p:nvPr/>
        </p:nvSpPr>
        <p:spPr>
          <a:xfrm>
            <a:off x="282039" y="1417713"/>
            <a:ext cx="10350616" cy="1200329"/>
          </a:xfrm>
          <a:prstGeom prst="rect">
            <a:avLst/>
          </a:prstGeom>
          <a:noFill/>
        </p:spPr>
        <p:txBody>
          <a:bodyPr wrap="square">
            <a:spAutoFit/>
          </a:bodyPr>
          <a:lstStyle/>
          <a:p>
            <a:pPr algn="l"/>
            <a:r>
              <a:rPr lang="it-IT" sz="1800" b="0" i="0" dirty="0">
                <a:solidFill>
                  <a:srgbClr val="050E17"/>
                </a:solidFill>
                <a:effectLst/>
                <a:latin typeface="-apple-system"/>
              </a:rPr>
              <a:t>Ciò significa che la sottoclasse non può accedere ai campi privati o ai metodi privati della classe genitore.</a:t>
            </a:r>
          </a:p>
          <a:p>
            <a:pPr algn="l"/>
            <a:r>
              <a:rPr lang="it-IT" sz="1800" b="0" i="0" dirty="0">
                <a:solidFill>
                  <a:srgbClr val="050E17"/>
                </a:solidFill>
                <a:effectLst/>
                <a:latin typeface="-apple-system"/>
              </a:rPr>
              <a:t>Tuttavia, se la classe genitore ha definito dei metodi pubblici o protetti che accedono ai campi privati, la sottoclasse può utilizzare questi metodi per accedere ai campi privati. Ad esempio, consideriamo la seguente classe genitore:</a:t>
            </a:r>
          </a:p>
        </p:txBody>
      </p:sp>
      <p:sp>
        <p:nvSpPr>
          <p:cNvPr id="11" name="CasellaDiTesto 10">
            <a:extLst>
              <a:ext uri="{FF2B5EF4-FFF2-40B4-BE49-F238E27FC236}">
                <a16:creationId xmlns:a16="http://schemas.microsoft.com/office/drawing/2014/main" id="{15ECB89B-0CA3-9AD8-13CF-0BF59EE20C11}"/>
              </a:ext>
            </a:extLst>
          </p:cNvPr>
          <p:cNvSpPr txBox="1"/>
          <p:nvPr/>
        </p:nvSpPr>
        <p:spPr>
          <a:xfrm>
            <a:off x="282039" y="2670298"/>
            <a:ext cx="6097978" cy="923330"/>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Genitore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campoPrivato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7780175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Cosa accade ai metodi privati?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04935"/>
            <a:ext cx="7385239" cy="707886"/>
          </a:xfrm>
          <a:prstGeom prst="rect">
            <a:avLst/>
          </a:prstGeom>
          <a:noFill/>
        </p:spPr>
        <p:txBody>
          <a:bodyPr wrap="square">
            <a:spAutoFit/>
          </a:bodyPr>
          <a:lstStyle/>
          <a:p>
            <a:pPr algn="l"/>
            <a:r>
              <a:rPr lang="it-IT" sz="2000" b="0" i="0" dirty="0">
                <a:solidFill>
                  <a:srgbClr val="050E17"/>
                </a:solidFill>
                <a:effectLst/>
                <a:latin typeface="-apple-system"/>
              </a:rPr>
              <a:t>Quando si eredita una classe in Java, i metodi e i campi privati della classe genitore non sono direttamente accessibili dalla sottoclasse. </a:t>
            </a:r>
          </a:p>
        </p:txBody>
      </p:sp>
      <p:sp>
        <p:nvSpPr>
          <p:cNvPr id="9" name="CasellaDiTesto 8">
            <a:extLst>
              <a:ext uri="{FF2B5EF4-FFF2-40B4-BE49-F238E27FC236}">
                <a16:creationId xmlns:a16="http://schemas.microsoft.com/office/drawing/2014/main" id="{DDD339FF-E452-D591-CC7F-B83D28FFF1D2}"/>
              </a:ext>
            </a:extLst>
          </p:cNvPr>
          <p:cNvSpPr txBox="1"/>
          <p:nvPr/>
        </p:nvSpPr>
        <p:spPr>
          <a:xfrm>
            <a:off x="282039" y="1417713"/>
            <a:ext cx="10350616" cy="1200329"/>
          </a:xfrm>
          <a:prstGeom prst="rect">
            <a:avLst/>
          </a:prstGeom>
          <a:noFill/>
        </p:spPr>
        <p:txBody>
          <a:bodyPr wrap="square">
            <a:spAutoFit/>
          </a:bodyPr>
          <a:lstStyle/>
          <a:p>
            <a:pPr algn="l"/>
            <a:r>
              <a:rPr lang="it-IT" sz="1800" b="0" i="0" dirty="0">
                <a:solidFill>
                  <a:srgbClr val="050E17"/>
                </a:solidFill>
                <a:effectLst/>
                <a:latin typeface="-apple-system"/>
              </a:rPr>
              <a:t>Ciò significa che la sottoclasse non può accedere ai campi privati o ai metodi privati della classe genitore.</a:t>
            </a:r>
          </a:p>
          <a:p>
            <a:pPr algn="l"/>
            <a:r>
              <a:rPr lang="it-IT" sz="1800" b="0" i="0" dirty="0">
                <a:solidFill>
                  <a:srgbClr val="050E17"/>
                </a:solidFill>
                <a:effectLst/>
                <a:latin typeface="-apple-system"/>
              </a:rPr>
              <a:t>Tuttavia, se la classe genitore ha definito dei metodi pubblici o protetti che accedono ai campi privati, la sottoclasse può utilizzare questi metodi per accedere ai campi privati. Ad esempio, consideriamo la seguente classe genitore:</a:t>
            </a:r>
          </a:p>
        </p:txBody>
      </p:sp>
      <p:sp>
        <p:nvSpPr>
          <p:cNvPr id="11" name="CasellaDiTesto 10">
            <a:extLst>
              <a:ext uri="{FF2B5EF4-FFF2-40B4-BE49-F238E27FC236}">
                <a16:creationId xmlns:a16="http://schemas.microsoft.com/office/drawing/2014/main" id="{15ECB89B-0CA3-9AD8-13CF-0BF59EE20C11}"/>
              </a:ext>
            </a:extLst>
          </p:cNvPr>
          <p:cNvSpPr txBox="1"/>
          <p:nvPr/>
        </p:nvSpPr>
        <p:spPr>
          <a:xfrm>
            <a:off x="282039" y="2670298"/>
            <a:ext cx="6097978" cy="2031325"/>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Genitore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campoPrivato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getCampoPrivato</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return</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campoPrivato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518186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Cosa accade ai metodi privati?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04935"/>
            <a:ext cx="7385239" cy="707886"/>
          </a:xfrm>
          <a:prstGeom prst="rect">
            <a:avLst/>
          </a:prstGeom>
          <a:noFill/>
        </p:spPr>
        <p:txBody>
          <a:bodyPr wrap="square">
            <a:spAutoFit/>
          </a:bodyPr>
          <a:lstStyle/>
          <a:p>
            <a:pPr algn="l"/>
            <a:r>
              <a:rPr lang="it-IT" sz="2000" b="0" i="0" dirty="0">
                <a:solidFill>
                  <a:srgbClr val="050E17"/>
                </a:solidFill>
                <a:effectLst/>
                <a:latin typeface="-apple-system"/>
              </a:rPr>
              <a:t>Quando si eredita una classe in Java, i metodi e i campi privati della classe genitore non sono direttamente accessibili dalla sottoclasse. </a:t>
            </a:r>
          </a:p>
        </p:txBody>
      </p:sp>
      <p:sp>
        <p:nvSpPr>
          <p:cNvPr id="9" name="CasellaDiTesto 8">
            <a:extLst>
              <a:ext uri="{FF2B5EF4-FFF2-40B4-BE49-F238E27FC236}">
                <a16:creationId xmlns:a16="http://schemas.microsoft.com/office/drawing/2014/main" id="{DDD339FF-E452-D591-CC7F-B83D28FFF1D2}"/>
              </a:ext>
            </a:extLst>
          </p:cNvPr>
          <p:cNvSpPr txBox="1"/>
          <p:nvPr/>
        </p:nvSpPr>
        <p:spPr>
          <a:xfrm>
            <a:off x="282039" y="1417713"/>
            <a:ext cx="10350616" cy="1200329"/>
          </a:xfrm>
          <a:prstGeom prst="rect">
            <a:avLst/>
          </a:prstGeom>
          <a:noFill/>
        </p:spPr>
        <p:txBody>
          <a:bodyPr wrap="square">
            <a:spAutoFit/>
          </a:bodyPr>
          <a:lstStyle/>
          <a:p>
            <a:pPr algn="l"/>
            <a:r>
              <a:rPr lang="it-IT" sz="1800" b="0" i="0" dirty="0">
                <a:solidFill>
                  <a:srgbClr val="050E17"/>
                </a:solidFill>
                <a:effectLst/>
                <a:latin typeface="-apple-system"/>
              </a:rPr>
              <a:t>Ciò significa che la sottoclasse non può accedere ai campi privati o ai metodi privati della classe genitore.</a:t>
            </a:r>
          </a:p>
          <a:p>
            <a:pPr algn="l"/>
            <a:r>
              <a:rPr lang="it-IT" sz="1800" b="0" i="0" dirty="0">
                <a:solidFill>
                  <a:srgbClr val="050E17"/>
                </a:solidFill>
                <a:effectLst/>
                <a:latin typeface="-apple-system"/>
              </a:rPr>
              <a:t>Tuttavia, se la classe genitore ha definito dei metodi pubblici o protetti che accedono ai campi privati, la sottoclasse può utilizzare questi metodi per accedere ai campi privati. Ad esempio, consideriamo la seguente classe genitore:</a:t>
            </a:r>
          </a:p>
        </p:txBody>
      </p:sp>
      <p:sp>
        <p:nvSpPr>
          <p:cNvPr id="11" name="CasellaDiTesto 10">
            <a:extLst>
              <a:ext uri="{FF2B5EF4-FFF2-40B4-BE49-F238E27FC236}">
                <a16:creationId xmlns:a16="http://schemas.microsoft.com/office/drawing/2014/main" id="{15ECB89B-0CA3-9AD8-13CF-0BF59EE20C11}"/>
              </a:ext>
            </a:extLst>
          </p:cNvPr>
          <p:cNvSpPr txBox="1"/>
          <p:nvPr/>
        </p:nvSpPr>
        <p:spPr>
          <a:xfrm>
            <a:off x="282039" y="2670298"/>
            <a:ext cx="6097978" cy="3139321"/>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Genitore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campoPrivato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getCampoPrivato</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return</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campoPrivato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setCampoPrivato</a:t>
            </a:r>
            <a:r>
              <a:rPr lang="it-IT" b="0" dirty="0">
                <a:solidFill>
                  <a:srgbClr val="D4D4D4"/>
                </a:solidFill>
                <a:effectLst/>
                <a:latin typeface="Consolas" panose="020B0609020204030204" pitchFamily="49" charset="0"/>
              </a:rPr>
              <a:t>(</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valore) {</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campoPrivato</a:t>
            </a:r>
            <a:r>
              <a:rPr lang="it-IT" b="0" dirty="0">
                <a:solidFill>
                  <a:srgbClr val="D4D4D4"/>
                </a:solidFill>
                <a:effectLst/>
                <a:latin typeface="Consolas" panose="020B0609020204030204" pitchFamily="49" charset="0"/>
              </a:rPr>
              <a:t> = valore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5886814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Cosa accade ai metodi privati?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04935"/>
            <a:ext cx="7385239" cy="707886"/>
          </a:xfrm>
          <a:prstGeom prst="rect">
            <a:avLst/>
          </a:prstGeom>
          <a:noFill/>
        </p:spPr>
        <p:txBody>
          <a:bodyPr wrap="square">
            <a:spAutoFit/>
          </a:bodyPr>
          <a:lstStyle/>
          <a:p>
            <a:pPr algn="l"/>
            <a:r>
              <a:rPr lang="it-IT" sz="2000" b="0" i="0" dirty="0">
                <a:solidFill>
                  <a:srgbClr val="050E17"/>
                </a:solidFill>
                <a:effectLst/>
                <a:latin typeface="-apple-system"/>
              </a:rPr>
              <a:t>Quando si eredita una classe in Java, i metodi e i campi privati della classe genitore non sono direttamente accessibili dalla sottoclasse. </a:t>
            </a:r>
          </a:p>
        </p:txBody>
      </p:sp>
      <p:sp>
        <p:nvSpPr>
          <p:cNvPr id="9" name="CasellaDiTesto 8">
            <a:extLst>
              <a:ext uri="{FF2B5EF4-FFF2-40B4-BE49-F238E27FC236}">
                <a16:creationId xmlns:a16="http://schemas.microsoft.com/office/drawing/2014/main" id="{DDD339FF-E452-D591-CC7F-B83D28FFF1D2}"/>
              </a:ext>
            </a:extLst>
          </p:cNvPr>
          <p:cNvSpPr txBox="1"/>
          <p:nvPr/>
        </p:nvSpPr>
        <p:spPr>
          <a:xfrm>
            <a:off x="282039" y="1417713"/>
            <a:ext cx="10350616" cy="1200329"/>
          </a:xfrm>
          <a:prstGeom prst="rect">
            <a:avLst/>
          </a:prstGeom>
          <a:noFill/>
        </p:spPr>
        <p:txBody>
          <a:bodyPr wrap="square">
            <a:spAutoFit/>
          </a:bodyPr>
          <a:lstStyle/>
          <a:p>
            <a:pPr algn="l"/>
            <a:r>
              <a:rPr lang="it-IT" sz="1800" b="0" i="0" dirty="0">
                <a:solidFill>
                  <a:srgbClr val="050E17"/>
                </a:solidFill>
                <a:effectLst/>
                <a:latin typeface="-apple-system"/>
              </a:rPr>
              <a:t>Ciò significa che la sottoclasse non può accedere ai campi privati o ai metodi privati della classe genitore.</a:t>
            </a:r>
          </a:p>
          <a:p>
            <a:pPr algn="l"/>
            <a:r>
              <a:rPr lang="it-IT" sz="1800" b="0" i="0" dirty="0">
                <a:solidFill>
                  <a:srgbClr val="050E17"/>
                </a:solidFill>
                <a:effectLst/>
                <a:latin typeface="-apple-system"/>
              </a:rPr>
              <a:t>Tuttavia, se la classe genitore ha definito dei metodi pubblici o protetti che accedono ai campi privati, la sottoclasse può utilizzare questi metodi per accedere ai campi privati. Ad esempio, consideriamo la seguente classe genitore:</a:t>
            </a:r>
          </a:p>
        </p:txBody>
      </p:sp>
      <p:sp>
        <p:nvSpPr>
          <p:cNvPr id="11" name="CasellaDiTesto 10">
            <a:extLst>
              <a:ext uri="{FF2B5EF4-FFF2-40B4-BE49-F238E27FC236}">
                <a16:creationId xmlns:a16="http://schemas.microsoft.com/office/drawing/2014/main" id="{15ECB89B-0CA3-9AD8-13CF-0BF59EE20C11}"/>
              </a:ext>
            </a:extLst>
          </p:cNvPr>
          <p:cNvSpPr txBox="1"/>
          <p:nvPr/>
        </p:nvSpPr>
        <p:spPr>
          <a:xfrm>
            <a:off x="282039" y="2670298"/>
            <a:ext cx="6097978" cy="3139321"/>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Genitore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campoPrivato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getCampoPrivato</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return</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campoPrivato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setCampoPrivato</a:t>
            </a:r>
            <a:r>
              <a:rPr lang="it-IT" b="0" dirty="0">
                <a:solidFill>
                  <a:srgbClr val="D4D4D4"/>
                </a:solidFill>
                <a:effectLst/>
                <a:latin typeface="Consolas" panose="020B0609020204030204" pitchFamily="49" charset="0"/>
              </a:rPr>
              <a:t>(</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valore) {</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campoPrivato</a:t>
            </a:r>
            <a:r>
              <a:rPr lang="it-IT" b="0" dirty="0">
                <a:solidFill>
                  <a:srgbClr val="D4D4D4"/>
                </a:solidFill>
                <a:effectLst/>
                <a:latin typeface="Consolas" panose="020B0609020204030204" pitchFamily="49" charset="0"/>
              </a:rPr>
              <a:t> = valore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AE37B53D-DD6F-BB91-F86D-6274C768060A}"/>
              </a:ext>
            </a:extLst>
          </p:cNvPr>
          <p:cNvSpPr txBox="1"/>
          <p:nvPr/>
        </p:nvSpPr>
        <p:spPr>
          <a:xfrm>
            <a:off x="6600070" y="2618042"/>
            <a:ext cx="4003681" cy="1754326"/>
          </a:xfrm>
          <a:prstGeom prst="rect">
            <a:avLst/>
          </a:prstGeom>
          <a:noFill/>
        </p:spPr>
        <p:txBody>
          <a:bodyPr wrap="square">
            <a:spAutoFit/>
          </a:bodyPr>
          <a:lstStyle/>
          <a:p>
            <a:r>
              <a:rPr lang="it-IT" dirty="0"/>
              <a:t>In questo caso, la classe Genitore ha un campo privato </a:t>
            </a:r>
            <a:r>
              <a:rPr lang="it-IT" dirty="0" err="1"/>
              <a:t>campoPrivato</a:t>
            </a:r>
            <a:r>
              <a:rPr lang="it-IT" dirty="0"/>
              <a:t> e due metodi pubblici </a:t>
            </a:r>
            <a:r>
              <a:rPr lang="it-IT" dirty="0" err="1"/>
              <a:t>getCampoPrivato</a:t>
            </a:r>
            <a:r>
              <a:rPr lang="it-IT" dirty="0"/>
              <a:t>() e </a:t>
            </a:r>
            <a:r>
              <a:rPr lang="it-IT" dirty="0" err="1"/>
              <a:t>setCampoPrivato</a:t>
            </a:r>
            <a:r>
              <a:rPr lang="it-IT" dirty="0"/>
              <a:t>() che consentono di accedere e modificare il valore del campo privato.</a:t>
            </a:r>
          </a:p>
        </p:txBody>
      </p:sp>
    </p:spTree>
    <p:extLst>
      <p:ext uri="{BB962C8B-B14F-4D97-AF65-F5344CB8AC3E}">
        <p14:creationId xmlns:p14="http://schemas.microsoft.com/office/powerpoint/2010/main" val="30125467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Cosa accade ai metodi privati?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46005"/>
            <a:ext cx="7385239" cy="707886"/>
          </a:xfrm>
          <a:prstGeom prst="rect">
            <a:avLst/>
          </a:prstGeom>
          <a:noFill/>
        </p:spPr>
        <p:txBody>
          <a:bodyPr wrap="square">
            <a:spAutoFit/>
          </a:bodyPr>
          <a:lstStyle/>
          <a:p>
            <a:pPr algn="l"/>
            <a:r>
              <a:rPr lang="it-IT" sz="2000" b="0" i="0" dirty="0">
                <a:solidFill>
                  <a:srgbClr val="050E17"/>
                </a:solidFill>
                <a:effectLst/>
                <a:latin typeface="-apple-system"/>
              </a:rPr>
              <a:t>Possiamo quindi creare una sottoclasse di Genitore chiamata Figlio che eredita la classe genitore:</a:t>
            </a:r>
          </a:p>
        </p:txBody>
      </p:sp>
      <p:sp>
        <p:nvSpPr>
          <p:cNvPr id="11" name="CasellaDiTesto 10">
            <a:extLst>
              <a:ext uri="{FF2B5EF4-FFF2-40B4-BE49-F238E27FC236}">
                <a16:creationId xmlns:a16="http://schemas.microsoft.com/office/drawing/2014/main" id="{15ECB89B-0CA3-9AD8-13CF-0BF59EE20C11}"/>
              </a:ext>
            </a:extLst>
          </p:cNvPr>
          <p:cNvSpPr txBox="1"/>
          <p:nvPr/>
        </p:nvSpPr>
        <p:spPr>
          <a:xfrm>
            <a:off x="282039" y="1780878"/>
            <a:ext cx="10350616" cy="923330"/>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Figlio </a:t>
            </a:r>
            <a:r>
              <a:rPr lang="it-IT" b="0" dirty="0" err="1">
                <a:solidFill>
                  <a:srgbClr val="569CD6"/>
                </a:solidFill>
                <a:effectLst/>
                <a:latin typeface="Consolas" panose="020B0609020204030204" pitchFamily="49" charset="0"/>
              </a:rPr>
              <a:t>extends</a:t>
            </a:r>
            <a:r>
              <a:rPr lang="it-IT" b="0" dirty="0">
                <a:solidFill>
                  <a:srgbClr val="D4D4D4"/>
                </a:solidFill>
                <a:effectLst/>
                <a:latin typeface="Consolas" panose="020B0609020204030204" pitchFamily="49" charset="0"/>
              </a:rPr>
              <a:t> Genitore {</a:t>
            </a:r>
          </a:p>
          <a:p>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9349609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Cosa accade ai metodi privati?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46005"/>
            <a:ext cx="7385239" cy="707886"/>
          </a:xfrm>
          <a:prstGeom prst="rect">
            <a:avLst/>
          </a:prstGeom>
          <a:noFill/>
        </p:spPr>
        <p:txBody>
          <a:bodyPr wrap="square">
            <a:spAutoFit/>
          </a:bodyPr>
          <a:lstStyle/>
          <a:p>
            <a:pPr algn="l"/>
            <a:r>
              <a:rPr lang="it-IT" sz="2000" b="0" i="0" dirty="0">
                <a:solidFill>
                  <a:srgbClr val="050E17"/>
                </a:solidFill>
                <a:effectLst/>
                <a:latin typeface="-apple-system"/>
              </a:rPr>
              <a:t>Possiamo quindi creare una sottoclasse di Genitore chiamata Figlio che eredita la classe genitore:</a:t>
            </a:r>
          </a:p>
        </p:txBody>
      </p:sp>
    </p:spTree>
    <p:extLst>
      <p:ext uri="{BB962C8B-B14F-4D97-AF65-F5344CB8AC3E}">
        <p14:creationId xmlns:p14="http://schemas.microsoft.com/office/powerpoint/2010/main" val="12525387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Cosa accade ai metodi privati?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46005"/>
            <a:ext cx="7385239" cy="707886"/>
          </a:xfrm>
          <a:prstGeom prst="rect">
            <a:avLst/>
          </a:prstGeom>
          <a:noFill/>
        </p:spPr>
        <p:txBody>
          <a:bodyPr wrap="square">
            <a:spAutoFit/>
          </a:bodyPr>
          <a:lstStyle/>
          <a:p>
            <a:pPr algn="l"/>
            <a:r>
              <a:rPr lang="it-IT" sz="2000" b="0" i="0" dirty="0">
                <a:solidFill>
                  <a:srgbClr val="050E17"/>
                </a:solidFill>
                <a:effectLst/>
                <a:latin typeface="-apple-system"/>
              </a:rPr>
              <a:t>Possiamo quindi creare una sottoclasse di Genitore chiamata Figlio che eredita la classe genitore:</a:t>
            </a:r>
          </a:p>
        </p:txBody>
      </p:sp>
      <p:sp>
        <p:nvSpPr>
          <p:cNvPr id="11" name="CasellaDiTesto 10">
            <a:extLst>
              <a:ext uri="{FF2B5EF4-FFF2-40B4-BE49-F238E27FC236}">
                <a16:creationId xmlns:a16="http://schemas.microsoft.com/office/drawing/2014/main" id="{15ECB89B-0CA3-9AD8-13CF-0BF59EE20C11}"/>
              </a:ext>
            </a:extLst>
          </p:cNvPr>
          <p:cNvSpPr txBox="1"/>
          <p:nvPr/>
        </p:nvSpPr>
        <p:spPr>
          <a:xfrm>
            <a:off x="282039" y="1780878"/>
            <a:ext cx="10350616" cy="923330"/>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Figlio {</a:t>
            </a:r>
          </a:p>
          <a:p>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8991924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Cosa accade ai metodi privati?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46005"/>
            <a:ext cx="7385239" cy="707886"/>
          </a:xfrm>
          <a:prstGeom prst="rect">
            <a:avLst/>
          </a:prstGeom>
          <a:noFill/>
        </p:spPr>
        <p:txBody>
          <a:bodyPr wrap="square">
            <a:spAutoFit/>
          </a:bodyPr>
          <a:lstStyle/>
          <a:p>
            <a:pPr algn="l"/>
            <a:r>
              <a:rPr lang="it-IT" sz="2000" b="0" i="0" dirty="0">
                <a:solidFill>
                  <a:srgbClr val="050E17"/>
                </a:solidFill>
                <a:effectLst/>
                <a:latin typeface="-apple-system"/>
              </a:rPr>
              <a:t>Possiamo quindi creare una sottoclasse di Genitore chiamata Figlio che eredita la classe genitore:</a:t>
            </a:r>
          </a:p>
        </p:txBody>
      </p:sp>
      <p:sp>
        <p:nvSpPr>
          <p:cNvPr id="11" name="CasellaDiTesto 10">
            <a:extLst>
              <a:ext uri="{FF2B5EF4-FFF2-40B4-BE49-F238E27FC236}">
                <a16:creationId xmlns:a16="http://schemas.microsoft.com/office/drawing/2014/main" id="{15ECB89B-0CA3-9AD8-13CF-0BF59EE20C11}"/>
              </a:ext>
            </a:extLst>
          </p:cNvPr>
          <p:cNvSpPr txBox="1"/>
          <p:nvPr/>
        </p:nvSpPr>
        <p:spPr>
          <a:xfrm>
            <a:off x="282039" y="1780878"/>
            <a:ext cx="10350616" cy="1754326"/>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Figlio </a:t>
            </a:r>
            <a:r>
              <a:rPr lang="it-IT" b="0" dirty="0" err="1">
                <a:solidFill>
                  <a:srgbClr val="569CD6"/>
                </a:solidFill>
                <a:effectLst/>
                <a:latin typeface="Consolas" panose="020B0609020204030204" pitchFamily="49" charset="0"/>
              </a:rPr>
              <a:t>extends</a:t>
            </a:r>
            <a:r>
              <a:rPr lang="it-IT" b="0" dirty="0">
                <a:solidFill>
                  <a:srgbClr val="D4D4D4"/>
                </a:solidFill>
                <a:effectLst/>
                <a:latin typeface="Consolas" panose="020B0609020204030204" pitchFamily="49" charset="0"/>
              </a:rPr>
              <a:t> Genitore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esempio()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valore = </a:t>
            </a:r>
            <a:r>
              <a:rPr lang="it-IT" b="0" dirty="0" err="1">
                <a:solidFill>
                  <a:srgbClr val="D4D4D4"/>
                </a:solidFill>
                <a:effectLst/>
                <a:latin typeface="Consolas" panose="020B0609020204030204" pitchFamily="49" charset="0"/>
              </a:rPr>
              <a:t>getCampoPrivato</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setCampoPrivato</a:t>
            </a:r>
            <a:r>
              <a:rPr lang="it-IT" b="0" dirty="0">
                <a:solidFill>
                  <a:srgbClr val="D4D4D4"/>
                </a:solidFill>
                <a:effectLst/>
                <a:latin typeface="Consolas" panose="020B0609020204030204" pitchFamily="49" charset="0"/>
              </a:rPr>
              <a:t>(valore + </a:t>
            </a:r>
            <a:r>
              <a:rPr lang="it-IT" b="0" dirty="0">
                <a:solidFill>
                  <a:srgbClr val="B5CEA8"/>
                </a:solidFill>
                <a:effectLst/>
                <a:latin typeface="Consolas" panose="020B0609020204030204" pitchFamily="49" charset="0"/>
              </a:rPr>
              <a:t>1</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252728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Cosa accade ai metodi privati?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46005"/>
            <a:ext cx="7385239" cy="707886"/>
          </a:xfrm>
          <a:prstGeom prst="rect">
            <a:avLst/>
          </a:prstGeom>
          <a:noFill/>
        </p:spPr>
        <p:txBody>
          <a:bodyPr wrap="square">
            <a:spAutoFit/>
          </a:bodyPr>
          <a:lstStyle/>
          <a:p>
            <a:pPr algn="l"/>
            <a:r>
              <a:rPr lang="it-IT" sz="2000" b="0" i="0" dirty="0">
                <a:solidFill>
                  <a:srgbClr val="050E17"/>
                </a:solidFill>
                <a:effectLst/>
                <a:latin typeface="-apple-system"/>
              </a:rPr>
              <a:t>Possiamo quindi creare una sottoclasse di Genitore chiamata Figlio che eredita la classe genitore:</a:t>
            </a:r>
          </a:p>
        </p:txBody>
      </p:sp>
      <p:sp>
        <p:nvSpPr>
          <p:cNvPr id="11" name="CasellaDiTesto 10">
            <a:extLst>
              <a:ext uri="{FF2B5EF4-FFF2-40B4-BE49-F238E27FC236}">
                <a16:creationId xmlns:a16="http://schemas.microsoft.com/office/drawing/2014/main" id="{15ECB89B-0CA3-9AD8-13CF-0BF59EE20C11}"/>
              </a:ext>
            </a:extLst>
          </p:cNvPr>
          <p:cNvSpPr txBox="1"/>
          <p:nvPr/>
        </p:nvSpPr>
        <p:spPr>
          <a:xfrm>
            <a:off x="282039" y="1780878"/>
            <a:ext cx="10350616" cy="1754326"/>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Figlio </a:t>
            </a:r>
            <a:r>
              <a:rPr lang="it-IT" b="0" dirty="0" err="1">
                <a:solidFill>
                  <a:srgbClr val="569CD6"/>
                </a:solidFill>
                <a:effectLst/>
                <a:latin typeface="Consolas" panose="020B0609020204030204" pitchFamily="49" charset="0"/>
              </a:rPr>
              <a:t>extends</a:t>
            </a:r>
            <a:r>
              <a:rPr lang="it-IT" b="0" dirty="0">
                <a:solidFill>
                  <a:srgbClr val="D4D4D4"/>
                </a:solidFill>
                <a:effectLst/>
                <a:latin typeface="Consolas" panose="020B0609020204030204" pitchFamily="49" charset="0"/>
              </a:rPr>
              <a:t> Genitore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esempio()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valore = </a:t>
            </a:r>
            <a:r>
              <a:rPr lang="it-IT" b="0" dirty="0" err="1">
                <a:solidFill>
                  <a:srgbClr val="D4D4D4"/>
                </a:solidFill>
                <a:effectLst/>
                <a:latin typeface="Consolas" panose="020B0609020204030204" pitchFamily="49" charset="0"/>
              </a:rPr>
              <a:t>getCampoPrivato</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setCampoPrivato</a:t>
            </a:r>
            <a:r>
              <a:rPr lang="it-IT" b="0" dirty="0">
                <a:solidFill>
                  <a:srgbClr val="D4D4D4"/>
                </a:solidFill>
                <a:effectLst/>
                <a:latin typeface="Consolas" panose="020B0609020204030204" pitchFamily="49" charset="0"/>
              </a:rPr>
              <a:t>(valore + </a:t>
            </a:r>
            <a:r>
              <a:rPr lang="it-IT" b="0" dirty="0">
                <a:solidFill>
                  <a:srgbClr val="B5CEA8"/>
                </a:solidFill>
                <a:effectLst/>
                <a:latin typeface="Consolas" panose="020B0609020204030204" pitchFamily="49" charset="0"/>
              </a:rPr>
              <a:t>1</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AE37B53D-DD6F-BB91-F86D-6274C768060A}"/>
              </a:ext>
            </a:extLst>
          </p:cNvPr>
          <p:cNvSpPr txBox="1"/>
          <p:nvPr/>
        </p:nvSpPr>
        <p:spPr>
          <a:xfrm>
            <a:off x="282039" y="3836221"/>
            <a:ext cx="10350616" cy="400110"/>
          </a:xfrm>
          <a:prstGeom prst="rect">
            <a:avLst/>
          </a:prstGeom>
          <a:noFill/>
        </p:spPr>
        <p:txBody>
          <a:bodyPr wrap="square">
            <a:spAutoFit/>
          </a:bodyPr>
          <a:lstStyle/>
          <a:p>
            <a:r>
              <a:rPr lang="it-IT" sz="2000" dirty="0"/>
              <a:t>In questo caso, la classe Figlio eredita la classe Genitore utilizzando la parola chiave </a:t>
            </a:r>
            <a:r>
              <a:rPr lang="it-IT" sz="2000" dirty="0" err="1"/>
              <a:t>extends</a:t>
            </a:r>
            <a:r>
              <a:rPr lang="it-IT" sz="2000" dirty="0"/>
              <a:t>. </a:t>
            </a:r>
          </a:p>
        </p:txBody>
      </p:sp>
    </p:spTree>
    <p:extLst>
      <p:ext uri="{BB962C8B-B14F-4D97-AF65-F5344CB8AC3E}">
        <p14:creationId xmlns:p14="http://schemas.microsoft.com/office/powerpoint/2010/main" val="25418004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Cosa accade ai metodi privati?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46005"/>
            <a:ext cx="7385239" cy="707886"/>
          </a:xfrm>
          <a:prstGeom prst="rect">
            <a:avLst/>
          </a:prstGeom>
          <a:noFill/>
        </p:spPr>
        <p:txBody>
          <a:bodyPr wrap="square">
            <a:spAutoFit/>
          </a:bodyPr>
          <a:lstStyle/>
          <a:p>
            <a:pPr algn="l"/>
            <a:r>
              <a:rPr lang="it-IT" sz="2000" b="0" i="0" dirty="0">
                <a:solidFill>
                  <a:srgbClr val="050E17"/>
                </a:solidFill>
                <a:effectLst/>
                <a:latin typeface="-apple-system"/>
              </a:rPr>
              <a:t>Possiamo quindi creare una sottoclasse di Genitore chiamata Figlio che eredita la classe genitore:</a:t>
            </a:r>
          </a:p>
        </p:txBody>
      </p:sp>
      <p:sp>
        <p:nvSpPr>
          <p:cNvPr id="11" name="CasellaDiTesto 10">
            <a:extLst>
              <a:ext uri="{FF2B5EF4-FFF2-40B4-BE49-F238E27FC236}">
                <a16:creationId xmlns:a16="http://schemas.microsoft.com/office/drawing/2014/main" id="{15ECB89B-0CA3-9AD8-13CF-0BF59EE20C11}"/>
              </a:ext>
            </a:extLst>
          </p:cNvPr>
          <p:cNvSpPr txBox="1"/>
          <p:nvPr/>
        </p:nvSpPr>
        <p:spPr>
          <a:xfrm>
            <a:off x="282039" y="1780878"/>
            <a:ext cx="10350616" cy="1754326"/>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Figlio </a:t>
            </a:r>
            <a:r>
              <a:rPr lang="it-IT" b="0" dirty="0" err="1">
                <a:solidFill>
                  <a:srgbClr val="569CD6"/>
                </a:solidFill>
                <a:effectLst/>
                <a:latin typeface="Consolas" panose="020B0609020204030204" pitchFamily="49" charset="0"/>
              </a:rPr>
              <a:t>extends</a:t>
            </a:r>
            <a:r>
              <a:rPr lang="it-IT" b="0" dirty="0">
                <a:solidFill>
                  <a:srgbClr val="D4D4D4"/>
                </a:solidFill>
                <a:effectLst/>
                <a:latin typeface="Consolas" panose="020B0609020204030204" pitchFamily="49" charset="0"/>
              </a:rPr>
              <a:t> Genitore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esempio()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valore = </a:t>
            </a:r>
            <a:r>
              <a:rPr lang="it-IT" b="0" dirty="0" err="1">
                <a:solidFill>
                  <a:srgbClr val="D4D4D4"/>
                </a:solidFill>
                <a:effectLst/>
                <a:latin typeface="Consolas" panose="020B0609020204030204" pitchFamily="49" charset="0"/>
              </a:rPr>
              <a:t>getCampoPrivato</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setCampoPrivato</a:t>
            </a:r>
            <a:r>
              <a:rPr lang="it-IT" b="0" dirty="0">
                <a:solidFill>
                  <a:srgbClr val="D4D4D4"/>
                </a:solidFill>
                <a:effectLst/>
                <a:latin typeface="Consolas" panose="020B0609020204030204" pitchFamily="49" charset="0"/>
              </a:rPr>
              <a:t>(valore + </a:t>
            </a:r>
            <a:r>
              <a:rPr lang="it-IT" b="0" dirty="0">
                <a:solidFill>
                  <a:srgbClr val="B5CEA8"/>
                </a:solidFill>
                <a:effectLst/>
                <a:latin typeface="Consolas" panose="020B0609020204030204" pitchFamily="49" charset="0"/>
              </a:rPr>
              <a:t>1</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AE37B53D-DD6F-BB91-F86D-6274C768060A}"/>
              </a:ext>
            </a:extLst>
          </p:cNvPr>
          <p:cNvSpPr txBox="1"/>
          <p:nvPr/>
        </p:nvSpPr>
        <p:spPr>
          <a:xfrm>
            <a:off x="282039" y="3836221"/>
            <a:ext cx="10350616" cy="1323439"/>
          </a:xfrm>
          <a:prstGeom prst="rect">
            <a:avLst/>
          </a:prstGeom>
          <a:noFill/>
        </p:spPr>
        <p:txBody>
          <a:bodyPr wrap="square">
            <a:spAutoFit/>
          </a:bodyPr>
          <a:lstStyle/>
          <a:p>
            <a:r>
              <a:rPr lang="it-IT" sz="2000" dirty="0"/>
              <a:t>In questo caso, la classe Figlio eredita la classe Genitore utilizzando la parola chiave </a:t>
            </a:r>
            <a:r>
              <a:rPr lang="it-IT" sz="2000" dirty="0" err="1"/>
              <a:t>extends</a:t>
            </a:r>
            <a:r>
              <a:rPr lang="it-IT" sz="2000" dirty="0"/>
              <a:t>. La classe Figlio non può accedere direttamente al campo privato </a:t>
            </a:r>
            <a:r>
              <a:rPr lang="it-IT" sz="2000" dirty="0" err="1"/>
              <a:t>campoPrivato</a:t>
            </a:r>
            <a:r>
              <a:rPr lang="it-IT" sz="2000" dirty="0"/>
              <a:t>, ma può utilizzare il metodo pubblico </a:t>
            </a:r>
            <a:r>
              <a:rPr lang="it-IT" sz="2000" dirty="0" err="1"/>
              <a:t>getCampoPrivato</a:t>
            </a:r>
            <a:r>
              <a:rPr lang="it-IT" sz="2000" dirty="0"/>
              <a:t>() per accedere al valore del campo e il metodo pubblico </a:t>
            </a:r>
            <a:r>
              <a:rPr lang="it-IT" sz="2000" dirty="0" err="1"/>
              <a:t>setCampoPrivato</a:t>
            </a:r>
            <a:r>
              <a:rPr lang="it-IT" sz="2000" dirty="0"/>
              <a:t>() per modificarlo.</a:t>
            </a:r>
          </a:p>
        </p:txBody>
      </p:sp>
    </p:spTree>
    <p:extLst>
      <p:ext uri="{BB962C8B-B14F-4D97-AF65-F5344CB8AC3E}">
        <p14:creationId xmlns:p14="http://schemas.microsoft.com/office/powerpoint/2010/main" val="41001768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Cosa accade ai metodi privati?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46005"/>
            <a:ext cx="7385239" cy="707886"/>
          </a:xfrm>
          <a:prstGeom prst="rect">
            <a:avLst/>
          </a:prstGeom>
          <a:noFill/>
        </p:spPr>
        <p:txBody>
          <a:bodyPr wrap="square">
            <a:spAutoFit/>
          </a:bodyPr>
          <a:lstStyle/>
          <a:p>
            <a:pPr algn="l"/>
            <a:r>
              <a:rPr lang="it-IT" sz="2000" b="0" i="0" dirty="0">
                <a:solidFill>
                  <a:srgbClr val="050E17"/>
                </a:solidFill>
                <a:effectLst/>
                <a:latin typeface="-apple-system"/>
              </a:rPr>
              <a:t>Possiamo quindi creare una sottoclasse di Genitore chiamata Figlio che eredita la classe genitore:</a:t>
            </a:r>
          </a:p>
        </p:txBody>
      </p:sp>
      <p:sp>
        <p:nvSpPr>
          <p:cNvPr id="11" name="CasellaDiTesto 10">
            <a:extLst>
              <a:ext uri="{FF2B5EF4-FFF2-40B4-BE49-F238E27FC236}">
                <a16:creationId xmlns:a16="http://schemas.microsoft.com/office/drawing/2014/main" id="{15ECB89B-0CA3-9AD8-13CF-0BF59EE20C11}"/>
              </a:ext>
            </a:extLst>
          </p:cNvPr>
          <p:cNvSpPr txBox="1"/>
          <p:nvPr/>
        </p:nvSpPr>
        <p:spPr>
          <a:xfrm>
            <a:off x="282039" y="1780878"/>
            <a:ext cx="10350616" cy="1754326"/>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Figlio </a:t>
            </a:r>
            <a:r>
              <a:rPr lang="it-IT" b="0" dirty="0" err="1">
                <a:solidFill>
                  <a:srgbClr val="569CD6"/>
                </a:solidFill>
                <a:effectLst/>
                <a:latin typeface="Consolas" panose="020B0609020204030204" pitchFamily="49" charset="0"/>
              </a:rPr>
              <a:t>extends</a:t>
            </a:r>
            <a:r>
              <a:rPr lang="it-IT" b="0" dirty="0">
                <a:solidFill>
                  <a:srgbClr val="D4D4D4"/>
                </a:solidFill>
                <a:effectLst/>
                <a:latin typeface="Consolas" panose="020B0609020204030204" pitchFamily="49" charset="0"/>
              </a:rPr>
              <a:t> Genitore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esempio()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valore = </a:t>
            </a:r>
            <a:r>
              <a:rPr lang="it-IT" b="0" dirty="0" err="1">
                <a:solidFill>
                  <a:srgbClr val="D4D4D4"/>
                </a:solidFill>
                <a:effectLst/>
                <a:latin typeface="Consolas" panose="020B0609020204030204" pitchFamily="49" charset="0"/>
              </a:rPr>
              <a:t>getCampoPrivato</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setCampoPrivato</a:t>
            </a:r>
            <a:r>
              <a:rPr lang="it-IT" b="0" dirty="0">
                <a:solidFill>
                  <a:srgbClr val="D4D4D4"/>
                </a:solidFill>
                <a:effectLst/>
                <a:latin typeface="Consolas" panose="020B0609020204030204" pitchFamily="49" charset="0"/>
              </a:rPr>
              <a:t>(valore + </a:t>
            </a:r>
            <a:r>
              <a:rPr lang="it-IT" b="0" dirty="0">
                <a:solidFill>
                  <a:srgbClr val="B5CEA8"/>
                </a:solidFill>
                <a:effectLst/>
                <a:latin typeface="Consolas" panose="020B0609020204030204" pitchFamily="49" charset="0"/>
              </a:rPr>
              <a:t>1</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AE37B53D-DD6F-BB91-F86D-6274C768060A}"/>
              </a:ext>
            </a:extLst>
          </p:cNvPr>
          <p:cNvSpPr txBox="1"/>
          <p:nvPr/>
        </p:nvSpPr>
        <p:spPr>
          <a:xfrm>
            <a:off x="282039" y="3836221"/>
            <a:ext cx="10350616" cy="2554545"/>
          </a:xfrm>
          <a:prstGeom prst="rect">
            <a:avLst/>
          </a:prstGeom>
          <a:noFill/>
        </p:spPr>
        <p:txBody>
          <a:bodyPr wrap="square">
            <a:spAutoFit/>
          </a:bodyPr>
          <a:lstStyle/>
          <a:p>
            <a:r>
              <a:rPr lang="it-IT" sz="2000" dirty="0"/>
              <a:t>In questo caso, la classe Figlio eredita la classe Genitore utilizzando la parola chiave </a:t>
            </a:r>
            <a:r>
              <a:rPr lang="it-IT" sz="2000" dirty="0" err="1"/>
              <a:t>extends</a:t>
            </a:r>
            <a:r>
              <a:rPr lang="it-IT" sz="2000" dirty="0"/>
              <a:t>. La classe Figlio non può accedere direttamente al campo privato </a:t>
            </a:r>
            <a:r>
              <a:rPr lang="it-IT" sz="2000" dirty="0" err="1"/>
              <a:t>campoPrivato</a:t>
            </a:r>
            <a:r>
              <a:rPr lang="it-IT" sz="2000" dirty="0"/>
              <a:t>, ma può utilizzare il metodo pubblico </a:t>
            </a:r>
            <a:r>
              <a:rPr lang="it-IT" sz="2000" dirty="0" err="1"/>
              <a:t>getCampoPrivato</a:t>
            </a:r>
            <a:r>
              <a:rPr lang="it-IT" sz="2000" dirty="0"/>
              <a:t>() per accedere al valore del campo e il metodo pubblico </a:t>
            </a:r>
            <a:r>
              <a:rPr lang="it-IT" sz="2000" dirty="0" err="1"/>
              <a:t>setCampoPrivato</a:t>
            </a:r>
            <a:r>
              <a:rPr lang="it-IT" sz="2000" dirty="0"/>
              <a:t>() per modificarlo.</a:t>
            </a:r>
          </a:p>
          <a:p>
            <a:endParaRPr lang="it-IT" sz="2000" dirty="0"/>
          </a:p>
          <a:p>
            <a:r>
              <a:rPr lang="it-IT" sz="2000" dirty="0"/>
              <a:t>In generale, la visibilità dei campi e dei metodi della classe genitore deve essere scelta con attenzione per garantire che la sottoclasse possa accedere ai campi e ai metodi necessari senza compromettere l'incapsulamento e la sicurezza del codice.</a:t>
            </a:r>
          </a:p>
        </p:txBody>
      </p:sp>
    </p:spTree>
    <p:extLst>
      <p:ext uri="{BB962C8B-B14F-4D97-AF65-F5344CB8AC3E}">
        <p14:creationId xmlns:p14="http://schemas.microsoft.com/office/powerpoint/2010/main" val="3509923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FF30E4E0-BE22-B3B6-9519-8AD2FE59043D}"/>
              </a:ext>
            </a:extLst>
          </p:cNvPr>
          <p:cNvSpPr txBox="1"/>
          <p:nvPr/>
        </p:nvSpPr>
        <p:spPr>
          <a:xfrm>
            <a:off x="3048719" y="2690336"/>
            <a:ext cx="6094562" cy="1477328"/>
          </a:xfrm>
          <a:prstGeom prst="rect">
            <a:avLst/>
          </a:prstGeom>
          <a:noFill/>
        </p:spPr>
        <p:txBody>
          <a:bodyPr wrap="square">
            <a:spAutoFit/>
          </a:bodyPr>
          <a:lstStyle/>
          <a:p>
            <a:r>
              <a:rPr lang="it-IT" sz="3000" dirty="0"/>
              <a:t>In Java, ci sono due tipi di scope dei metodi: public e non-public (privato, protetto e pacchetto).</a:t>
            </a:r>
          </a:p>
        </p:txBody>
      </p:sp>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pic>
        <p:nvPicPr>
          <p:cNvPr id="16" name="Picture 2" descr="Java Logo, symbol, meaning, history, PNG, brand">
            <a:extLst>
              <a:ext uri="{FF2B5EF4-FFF2-40B4-BE49-F238E27FC236}">
                <a16:creationId xmlns:a16="http://schemas.microsoft.com/office/drawing/2014/main" id="{49B1541D-A7F7-4977-E539-C94073374C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1524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9976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FF30E4E0-BE22-B3B6-9519-8AD2FE59043D}"/>
              </a:ext>
            </a:extLst>
          </p:cNvPr>
          <p:cNvSpPr txBox="1"/>
          <p:nvPr/>
        </p:nvSpPr>
        <p:spPr>
          <a:xfrm>
            <a:off x="3894108" y="1728131"/>
            <a:ext cx="6094562" cy="707886"/>
          </a:xfrm>
          <a:prstGeom prst="rect">
            <a:avLst/>
          </a:prstGeom>
          <a:noFill/>
        </p:spPr>
        <p:txBody>
          <a:bodyPr wrap="square">
            <a:spAutoFit/>
          </a:bodyPr>
          <a:lstStyle/>
          <a:p>
            <a:r>
              <a:rPr lang="it-IT" sz="2000" b="1" dirty="0"/>
              <a:t>Public</a:t>
            </a:r>
            <a:r>
              <a:rPr lang="it-IT" sz="2000" dirty="0"/>
              <a:t>: i metodi con questo tipo di scope sono accessibili ovunque nel codice, anche da classi esterne. </a:t>
            </a:r>
          </a:p>
        </p:txBody>
      </p:sp>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Public</a:t>
            </a:r>
            <a:endParaRPr lang="it-IT" dirty="0"/>
          </a:p>
        </p:txBody>
      </p:sp>
      <p:pic>
        <p:nvPicPr>
          <p:cNvPr id="3" name="Picture 2" descr="Java Logo, symbol, meaning, history, PNG, brand">
            <a:extLst>
              <a:ext uri="{FF2B5EF4-FFF2-40B4-BE49-F238E27FC236}">
                <a16:creationId xmlns:a16="http://schemas.microsoft.com/office/drawing/2014/main" id="{F6D5E2C4-E5D7-8198-CEAE-0FC5F36C98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89252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FF30E4E0-BE22-B3B6-9519-8AD2FE59043D}"/>
              </a:ext>
            </a:extLst>
          </p:cNvPr>
          <p:cNvSpPr txBox="1"/>
          <p:nvPr/>
        </p:nvSpPr>
        <p:spPr>
          <a:xfrm>
            <a:off x="3894108" y="1728131"/>
            <a:ext cx="6094562" cy="1631216"/>
          </a:xfrm>
          <a:prstGeom prst="rect">
            <a:avLst/>
          </a:prstGeom>
          <a:noFill/>
        </p:spPr>
        <p:txBody>
          <a:bodyPr wrap="square">
            <a:spAutoFit/>
          </a:bodyPr>
          <a:lstStyle/>
          <a:p>
            <a:r>
              <a:rPr lang="it-IT" sz="2000" b="1" dirty="0"/>
              <a:t>Public</a:t>
            </a:r>
            <a:r>
              <a:rPr lang="it-IT" sz="2000" dirty="0"/>
              <a:t>: i metodi con questo tipo di scope sono accessibili ovunque nel codice, anche da classi esterne. Un metodo pubblico viene utilizzato per fornire l'interfaccia di una classe ai suoi utenti e quindi espone il comportamento della classe al mondo esterno. </a:t>
            </a:r>
          </a:p>
        </p:txBody>
      </p:sp>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Public</a:t>
            </a:r>
            <a:endParaRPr lang="it-IT" dirty="0"/>
          </a:p>
        </p:txBody>
      </p:sp>
      <p:pic>
        <p:nvPicPr>
          <p:cNvPr id="3" name="Picture 2" descr="Java Logo, symbol, meaning, history, PNG, brand">
            <a:extLst>
              <a:ext uri="{FF2B5EF4-FFF2-40B4-BE49-F238E27FC236}">
                <a16:creationId xmlns:a16="http://schemas.microsoft.com/office/drawing/2014/main" id="{68C9CC5D-A98D-51DA-31D7-32697993AC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42189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FF30E4E0-BE22-B3B6-9519-8AD2FE59043D}"/>
              </a:ext>
            </a:extLst>
          </p:cNvPr>
          <p:cNvSpPr txBox="1"/>
          <p:nvPr/>
        </p:nvSpPr>
        <p:spPr>
          <a:xfrm>
            <a:off x="3894108" y="1728131"/>
            <a:ext cx="6094562" cy="2554545"/>
          </a:xfrm>
          <a:prstGeom prst="rect">
            <a:avLst/>
          </a:prstGeom>
          <a:noFill/>
        </p:spPr>
        <p:txBody>
          <a:bodyPr wrap="square">
            <a:spAutoFit/>
          </a:bodyPr>
          <a:lstStyle/>
          <a:p>
            <a:r>
              <a:rPr lang="it-IT" sz="2000" b="1" dirty="0"/>
              <a:t>Public</a:t>
            </a:r>
            <a:r>
              <a:rPr lang="it-IT" sz="2000" dirty="0"/>
              <a:t>: i metodi con questo tipo di scope sono accessibili ovunque nel codice, anche da classi esterne. Un metodo pubblico viene utilizzato per fornire l'interfaccia di una classe ai suoi utenti e quindi espone il comportamento della classe al mondo esterno. La classe diventa più estendibile poiché i suoi utenti possono utilizzare il metodo pubblico per interagire con la classe e utilizzare le sue funzionalità in modi diversi.</a:t>
            </a:r>
          </a:p>
        </p:txBody>
      </p:sp>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Public</a:t>
            </a:r>
            <a:endParaRPr lang="it-IT" dirty="0"/>
          </a:p>
        </p:txBody>
      </p:sp>
    </p:spTree>
    <p:extLst>
      <p:ext uri="{BB962C8B-B14F-4D97-AF65-F5344CB8AC3E}">
        <p14:creationId xmlns:p14="http://schemas.microsoft.com/office/powerpoint/2010/main" val="26991056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FF30E4E0-BE22-B3B6-9519-8AD2FE59043D}"/>
              </a:ext>
            </a:extLst>
          </p:cNvPr>
          <p:cNvSpPr txBox="1"/>
          <p:nvPr/>
        </p:nvSpPr>
        <p:spPr>
          <a:xfrm>
            <a:off x="3048719" y="2921168"/>
            <a:ext cx="6094562" cy="1015663"/>
          </a:xfrm>
          <a:prstGeom prst="rect">
            <a:avLst/>
          </a:prstGeom>
          <a:noFill/>
        </p:spPr>
        <p:txBody>
          <a:bodyPr wrap="square">
            <a:spAutoFit/>
          </a:bodyPr>
          <a:lstStyle/>
          <a:p>
            <a:pPr algn="ctr"/>
            <a:r>
              <a:rPr lang="it-IT" sz="3000" dirty="0"/>
              <a:t>Non-public: ci sono tre tipi di scope di metodi non pubblici</a:t>
            </a:r>
          </a:p>
        </p:txBody>
      </p:sp>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a:t>
            </a:r>
            <a:endParaRPr lang="it-IT" dirty="0"/>
          </a:p>
        </p:txBody>
      </p:sp>
      <p:pic>
        <p:nvPicPr>
          <p:cNvPr id="3" name="Picture 2" descr="Java Logo, symbol, meaning, history, PNG, brand">
            <a:extLst>
              <a:ext uri="{FF2B5EF4-FFF2-40B4-BE49-F238E27FC236}">
                <a16:creationId xmlns:a16="http://schemas.microsoft.com/office/drawing/2014/main" id="{D8C7EDE0-E9DA-ABE2-B58A-AA1254D816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94135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FF30E4E0-BE22-B3B6-9519-8AD2FE59043D}"/>
              </a:ext>
            </a:extLst>
          </p:cNvPr>
          <p:cNvSpPr txBox="1"/>
          <p:nvPr/>
        </p:nvSpPr>
        <p:spPr>
          <a:xfrm>
            <a:off x="4429305" y="2305615"/>
            <a:ext cx="6094562" cy="707886"/>
          </a:xfrm>
          <a:prstGeom prst="rect">
            <a:avLst/>
          </a:prstGeom>
          <a:noFill/>
        </p:spPr>
        <p:txBody>
          <a:bodyPr wrap="square">
            <a:spAutoFit/>
          </a:bodyPr>
          <a:lstStyle/>
          <a:p>
            <a:r>
              <a:rPr lang="it-IT" sz="2000" b="1" dirty="0"/>
              <a:t>Private</a:t>
            </a:r>
            <a:r>
              <a:rPr lang="it-IT" sz="2000" dirty="0"/>
              <a:t>: i metodi con questo tipo di scope sono accessibili solo all'interno della classe in cui sono definiti. </a:t>
            </a:r>
          </a:p>
        </p:txBody>
      </p:sp>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Private</a:t>
            </a:r>
            <a:endParaRPr lang="it-IT" dirty="0"/>
          </a:p>
        </p:txBody>
      </p:sp>
      <p:pic>
        <p:nvPicPr>
          <p:cNvPr id="3" name="Picture 2" descr="Java Logo, symbol, meaning, history, PNG, brand">
            <a:extLst>
              <a:ext uri="{FF2B5EF4-FFF2-40B4-BE49-F238E27FC236}">
                <a16:creationId xmlns:a16="http://schemas.microsoft.com/office/drawing/2014/main" id="{4FC7A194-CD64-5F44-6188-B8E1864E56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00735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FF30E4E0-BE22-B3B6-9519-8AD2FE59043D}"/>
              </a:ext>
            </a:extLst>
          </p:cNvPr>
          <p:cNvSpPr txBox="1"/>
          <p:nvPr/>
        </p:nvSpPr>
        <p:spPr>
          <a:xfrm>
            <a:off x="4429305" y="2305615"/>
            <a:ext cx="6094562" cy="1631216"/>
          </a:xfrm>
          <a:prstGeom prst="rect">
            <a:avLst/>
          </a:prstGeom>
          <a:noFill/>
        </p:spPr>
        <p:txBody>
          <a:bodyPr wrap="square">
            <a:spAutoFit/>
          </a:bodyPr>
          <a:lstStyle/>
          <a:p>
            <a:r>
              <a:rPr lang="it-IT" sz="2000" b="1" dirty="0"/>
              <a:t>Private</a:t>
            </a:r>
            <a:r>
              <a:rPr lang="it-IT" sz="2000" dirty="0"/>
              <a:t>: i metodi con questo tipo di scope sono accessibili solo all'interno della classe in cui sono definiti. Questi metodi sono utilizzati per implementare il comportamento della classe e non possono essere richiamati direttamente dall'esterno della classe.</a:t>
            </a:r>
          </a:p>
        </p:txBody>
      </p:sp>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Private</a:t>
            </a:r>
            <a:endParaRPr lang="it-IT" dirty="0"/>
          </a:p>
        </p:txBody>
      </p:sp>
      <p:pic>
        <p:nvPicPr>
          <p:cNvPr id="3" name="Picture 2" descr="Java Logo, symbol, meaning, history, PNG, brand">
            <a:extLst>
              <a:ext uri="{FF2B5EF4-FFF2-40B4-BE49-F238E27FC236}">
                <a16:creationId xmlns:a16="http://schemas.microsoft.com/office/drawing/2014/main" id="{EB84CCC1-8991-C6ED-1BF0-902BB179BB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64345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FF30E4E0-BE22-B3B6-9519-8AD2FE59043D}"/>
              </a:ext>
            </a:extLst>
          </p:cNvPr>
          <p:cNvSpPr txBox="1"/>
          <p:nvPr/>
        </p:nvSpPr>
        <p:spPr>
          <a:xfrm>
            <a:off x="4429305" y="2305615"/>
            <a:ext cx="6094562" cy="2246769"/>
          </a:xfrm>
          <a:prstGeom prst="rect">
            <a:avLst/>
          </a:prstGeom>
          <a:noFill/>
        </p:spPr>
        <p:txBody>
          <a:bodyPr wrap="square">
            <a:spAutoFit/>
          </a:bodyPr>
          <a:lstStyle/>
          <a:p>
            <a:r>
              <a:rPr lang="it-IT" sz="2000" b="1" dirty="0"/>
              <a:t>Private</a:t>
            </a:r>
            <a:r>
              <a:rPr lang="it-IT" sz="2000" dirty="0"/>
              <a:t>: i metodi con questo tipo di scope sono accessibili solo all'interno della classe in cui sono definiti. Questi metodi sono utilizzati per implementare il comportamento della classe e non possono essere richiamati direttamente dall'esterno della classe. La classe diventa meno estendibile poiché i suoi utenti non possono accedere a questi metodi.</a:t>
            </a:r>
          </a:p>
        </p:txBody>
      </p:sp>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Private</a:t>
            </a:r>
            <a:endParaRPr lang="it-IT" dirty="0"/>
          </a:p>
        </p:txBody>
      </p:sp>
      <p:pic>
        <p:nvPicPr>
          <p:cNvPr id="5" name="Picture 2" descr="Java Logo, symbol, meaning, history, PNG, brand">
            <a:extLst>
              <a:ext uri="{FF2B5EF4-FFF2-40B4-BE49-F238E27FC236}">
                <a16:creationId xmlns:a16="http://schemas.microsoft.com/office/drawing/2014/main" id="{81A71F31-DADC-B24F-0CE3-BB9347FD18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Java Logo, symbol, meaning, history, PNG, brand">
            <a:extLst>
              <a:ext uri="{FF2B5EF4-FFF2-40B4-BE49-F238E27FC236}">
                <a16:creationId xmlns:a16="http://schemas.microsoft.com/office/drawing/2014/main" id="{94EEB1E0-32F2-38FF-6A2A-70FDB291A5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85055" y="15240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0634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Private</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private e di estensione di una classe in Java:</a:t>
            </a:r>
          </a:p>
        </p:txBody>
      </p:sp>
      <p:pic>
        <p:nvPicPr>
          <p:cNvPr id="3" name="Picture 2" descr="Java Logo, symbol, meaning, history, PNG, brand">
            <a:extLst>
              <a:ext uri="{FF2B5EF4-FFF2-40B4-BE49-F238E27FC236}">
                <a16:creationId xmlns:a16="http://schemas.microsoft.com/office/drawing/2014/main" id="{386C2423-9293-1EA3-9285-7D40D88123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8058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Private</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private e di estensione di una classe in Java:</a:t>
            </a:r>
          </a:p>
        </p:txBody>
      </p:sp>
      <p:sp>
        <p:nvSpPr>
          <p:cNvPr id="10" name="CasellaDiTesto 9">
            <a:extLst>
              <a:ext uri="{FF2B5EF4-FFF2-40B4-BE49-F238E27FC236}">
                <a16:creationId xmlns:a16="http://schemas.microsoft.com/office/drawing/2014/main" id="{FA65A9B2-A292-D5C9-2234-BFC067696624}"/>
              </a:ext>
            </a:extLst>
          </p:cNvPr>
          <p:cNvSpPr txBox="1"/>
          <p:nvPr/>
        </p:nvSpPr>
        <p:spPr>
          <a:xfrm>
            <a:off x="277727" y="2078407"/>
            <a:ext cx="9353304" cy="461665"/>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F4632ADB-3639-6407-A768-0C42A63A43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14263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Private</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private e di estensione di una classe in Java:</a:t>
            </a:r>
          </a:p>
        </p:txBody>
      </p:sp>
      <p:sp>
        <p:nvSpPr>
          <p:cNvPr id="10" name="CasellaDiTesto 9">
            <a:extLst>
              <a:ext uri="{FF2B5EF4-FFF2-40B4-BE49-F238E27FC236}">
                <a16:creationId xmlns:a16="http://schemas.microsoft.com/office/drawing/2014/main" id="{FA65A9B2-A292-D5C9-2234-BFC067696624}"/>
              </a:ext>
            </a:extLst>
          </p:cNvPr>
          <p:cNvSpPr txBox="1"/>
          <p:nvPr/>
        </p:nvSpPr>
        <p:spPr>
          <a:xfrm>
            <a:off x="277727" y="2078407"/>
            <a:ext cx="9353304" cy="830997"/>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a:t>
            </a:r>
          </a:p>
          <a:p>
            <a:endParaRPr lang="it-IT" sz="1200" b="0" dirty="0">
              <a:solidFill>
                <a:srgbClr val="D4D4D4"/>
              </a:solidFill>
              <a:effectLst/>
              <a:latin typeface="Consolas" panose="020B0609020204030204" pitchFamily="49" charset="0"/>
            </a:endParaRPr>
          </a:p>
        </p:txBody>
      </p:sp>
      <p:pic>
        <p:nvPicPr>
          <p:cNvPr id="3" name="Picture 2" descr="Java Logo, symbol, meaning, history, PNG, brand">
            <a:extLst>
              <a:ext uri="{FF2B5EF4-FFF2-40B4-BE49-F238E27FC236}">
                <a16:creationId xmlns:a16="http://schemas.microsoft.com/office/drawing/2014/main" id="{BDA0CA93-25F8-8F18-F046-0B51C0DA97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23712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Private</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private e di estensione di una classe in Java:</a:t>
            </a:r>
          </a:p>
        </p:txBody>
      </p:sp>
      <p:sp>
        <p:nvSpPr>
          <p:cNvPr id="10" name="CasellaDiTesto 9">
            <a:extLst>
              <a:ext uri="{FF2B5EF4-FFF2-40B4-BE49-F238E27FC236}">
                <a16:creationId xmlns:a16="http://schemas.microsoft.com/office/drawing/2014/main" id="{FA65A9B2-A292-D5C9-2234-BFC067696624}"/>
              </a:ext>
            </a:extLst>
          </p:cNvPr>
          <p:cNvSpPr txBox="1"/>
          <p:nvPr/>
        </p:nvSpPr>
        <p:spPr>
          <a:xfrm>
            <a:off x="277727" y="2078407"/>
            <a:ext cx="9353304" cy="156966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this</a:t>
            </a:r>
            <a:r>
              <a:rPr lang="it-IT" sz="1200" b="0" dirty="0">
                <a:solidFill>
                  <a:srgbClr val="D4D4D4"/>
                </a:solidFill>
                <a:effectLst/>
                <a:latin typeface="Consolas" panose="020B0609020204030204" pitchFamily="49" charset="0"/>
              </a:rPr>
              <a:t>.name =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a:p>
            <a:endParaRPr lang="it-IT" sz="1200" b="0" dirty="0">
              <a:solidFill>
                <a:srgbClr val="D4D4D4"/>
              </a:solidFill>
              <a:effectLst/>
              <a:latin typeface="Consolas" panose="020B0609020204030204" pitchFamily="49" charset="0"/>
            </a:endParaRPr>
          </a:p>
        </p:txBody>
      </p:sp>
      <p:pic>
        <p:nvPicPr>
          <p:cNvPr id="3" name="Picture 2" descr="Java Logo, symbol, meaning, history, PNG, brand">
            <a:extLst>
              <a:ext uri="{FF2B5EF4-FFF2-40B4-BE49-F238E27FC236}">
                <a16:creationId xmlns:a16="http://schemas.microsoft.com/office/drawing/2014/main" id="{20CDD08D-2196-521E-9F1D-C0F68D64B7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21413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Private</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private e di estensione di una classe in Java:</a:t>
            </a:r>
          </a:p>
        </p:txBody>
      </p:sp>
      <p:sp>
        <p:nvSpPr>
          <p:cNvPr id="10" name="CasellaDiTesto 9">
            <a:extLst>
              <a:ext uri="{FF2B5EF4-FFF2-40B4-BE49-F238E27FC236}">
                <a16:creationId xmlns:a16="http://schemas.microsoft.com/office/drawing/2014/main" id="{FA65A9B2-A292-D5C9-2234-BFC067696624}"/>
              </a:ext>
            </a:extLst>
          </p:cNvPr>
          <p:cNvSpPr txBox="1"/>
          <p:nvPr/>
        </p:nvSpPr>
        <p:spPr>
          <a:xfrm>
            <a:off x="277727" y="2078407"/>
            <a:ext cx="9353304" cy="2308324"/>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this</a:t>
            </a:r>
            <a:r>
              <a:rPr lang="it-IT" sz="1200" b="0" dirty="0">
                <a:solidFill>
                  <a:srgbClr val="D4D4D4"/>
                </a:solidFill>
                <a:effectLst/>
                <a:latin typeface="Consolas" panose="020B0609020204030204" pitchFamily="49" charset="0"/>
              </a:rPr>
              <a:t>.name =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sayHello</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"Ciao, sono "</a:t>
            </a:r>
            <a:r>
              <a:rPr lang="it-IT" sz="1200" b="0" dirty="0">
                <a:solidFill>
                  <a:srgbClr val="D4D4D4"/>
                </a:solidFill>
                <a:effectLst/>
                <a:latin typeface="Consolas" panose="020B0609020204030204" pitchFamily="49" charset="0"/>
              </a:rPr>
              <a:t> +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a:p>
            <a:endParaRPr lang="it-IT" sz="1200" b="0" dirty="0">
              <a:solidFill>
                <a:srgbClr val="D4D4D4"/>
              </a:solidFill>
              <a:effectLst/>
              <a:latin typeface="Consolas" panose="020B0609020204030204" pitchFamily="49" charset="0"/>
            </a:endParaRPr>
          </a:p>
        </p:txBody>
      </p:sp>
      <p:pic>
        <p:nvPicPr>
          <p:cNvPr id="3" name="Picture 2" descr="Java Logo, symbol, meaning, history, PNG, brand">
            <a:extLst>
              <a:ext uri="{FF2B5EF4-FFF2-40B4-BE49-F238E27FC236}">
                <a16:creationId xmlns:a16="http://schemas.microsoft.com/office/drawing/2014/main" id="{2D266EDF-553E-0EC0-BCA0-C32D023034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47175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Private</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private e di estensione di una classe in Java:</a:t>
            </a:r>
          </a:p>
        </p:txBody>
      </p:sp>
      <p:sp>
        <p:nvSpPr>
          <p:cNvPr id="10" name="CasellaDiTesto 9">
            <a:extLst>
              <a:ext uri="{FF2B5EF4-FFF2-40B4-BE49-F238E27FC236}">
                <a16:creationId xmlns:a16="http://schemas.microsoft.com/office/drawing/2014/main" id="{FA65A9B2-A292-D5C9-2234-BFC067696624}"/>
              </a:ext>
            </a:extLst>
          </p:cNvPr>
          <p:cNvSpPr txBox="1"/>
          <p:nvPr/>
        </p:nvSpPr>
        <p:spPr>
          <a:xfrm>
            <a:off x="277727" y="2078407"/>
            <a:ext cx="9353304" cy="2308324"/>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this</a:t>
            </a:r>
            <a:r>
              <a:rPr lang="it-IT" sz="1200" b="0" dirty="0">
                <a:solidFill>
                  <a:srgbClr val="D4D4D4"/>
                </a:solidFill>
                <a:effectLst/>
                <a:latin typeface="Consolas" panose="020B0609020204030204" pitchFamily="49" charset="0"/>
              </a:rPr>
              <a:t>.name =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sayHello</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"Ciao, sono "</a:t>
            </a:r>
            <a:r>
              <a:rPr lang="it-IT" sz="1200" b="0" dirty="0">
                <a:solidFill>
                  <a:srgbClr val="D4D4D4"/>
                </a:solidFill>
                <a:effectLst/>
                <a:latin typeface="Consolas" panose="020B0609020204030204" pitchFamily="49" charset="0"/>
              </a:rPr>
              <a:t> +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a:p>
            <a:endParaRPr lang="it-IT" sz="1200" b="0" dirty="0">
              <a:solidFill>
                <a:srgbClr val="D4D4D4"/>
              </a:solidFill>
              <a:effectLst/>
              <a:latin typeface="Consolas" panose="020B0609020204030204" pitchFamily="49" charset="0"/>
            </a:endParaRPr>
          </a:p>
        </p:txBody>
      </p:sp>
      <p:sp>
        <p:nvSpPr>
          <p:cNvPr id="13" name="CasellaDiTesto 12">
            <a:extLst>
              <a:ext uri="{FF2B5EF4-FFF2-40B4-BE49-F238E27FC236}">
                <a16:creationId xmlns:a16="http://schemas.microsoft.com/office/drawing/2014/main" id="{FFAE8FDB-DD30-7C60-04B3-201B0E238458}"/>
              </a:ext>
            </a:extLst>
          </p:cNvPr>
          <p:cNvSpPr txBox="1"/>
          <p:nvPr/>
        </p:nvSpPr>
        <p:spPr>
          <a:xfrm>
            <a:off x="300404" y="4506040"/>
            <a:ext cx="9330628" cy="461665"/>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Student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C9DE8CDE-E01C-B767-12A8-8FC003D95E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46614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Private</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private e di estensione di una classe in Java:</a:t>
            </a:r>
          </a:p>
        </p:txBody>
      </p:sp>
      <p:sp>
        <p:nvSpPr>
          <p:cNvPr id="10" name="CasellaDiTesto 9">
            <a:extLst>
              <a:ext uri="{FF2B5EF4-FFF2-40B4-BE49-F238E27FC236}">
                <a16:creationId xmlns:a16="http://schemas.microsoft.com/office/drawing/2014/main" id="{FA65A9B2-A292-D5C9-2234-BFC067696624}"/>
              </a:ext>
            </a:extLst>
          </p:cNvPr>
          <p:cNvSpPr txBox="1"/>
          <p:nvPr/>
        </p:nvSpPr>
        <p:spPr>
          <a:xfrm>
            <a:off x="277727" y="2078407"/>
            <a:ext cx="9353304" cy="2308324"/>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this</a:t>
            </a:r>
            <a:r>
              <a:rPr lang="it-IT" sz="1200" b="0" dirty="0">
                <a:solidFill>
                  <a:srgbClr val="D4D4D4"/>
                </a:solidFill>
                <a:effectLst/>
                <a:latin typeface="Consolas" panose="020B0609020204030204" pitchFamily="49" charset="0"/>
              </a:rPr>
              <a:t>.name =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sayHello</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"Ciao, sono "</a:t>
            </a:r>
            <a:r>
              <a:rPr lang="it-IT" sz="1200" b="0" dirty="0">
                <a:solidFill>
                  <a:srgbClr val="D4D4D4"/>
                </a:solidFill>
                <a:effectLst/>
                <a:latin typeface="Consolas" panose="020B0609020204030204" pitchFamily="49" charset="0"/>
              </a:rPr>
              <a:t> +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a:p>
            <a:endParaRPr lang="it-IT" sz="1200" b="0" dirty="0">
              <a:solidFill>
                <a:srgbClr val="D4D4D4"/>
              </a:solidFill>
              <a:effectLst/>
              <a:latin typeface="Consolas" panose="020B0609020204030204" pitchFamily="49" charset="0"/>
            </a:endParaRPr>
          </a:p>
        </p:txBody>
      </p:sp>
      <p:sp>
        <p:nvSpPr>
          <p:cNvPr id="13" name="CasellaDiTesto 12">
            <a:extLst>
              <a:ext uri="{FF2B5EF4-FFF2-40B4-BE49-F238E27FC236}">
                <a16:creationId xmlns:a16="http://schemas.microsoft.com/office/drawing/2014/main" id="{FFAE8FDB-DD30-7C60-04B3-201B0E238458}"/>
              </a:ext>
            </a:extLst>
          </p:cNvPr>
          <p:cNvSpPr txBox="1"/>
          <p:nvPr/>
        </p:nvSpPr>
        <p:spPr>
          <a:xfrm>
            <a:off x="300404" y="4506040"/>
            <a:ext cx="9330628" cy="646331"/>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Student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grade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0437CB03-2B94-6421-EC95-38FAD125E7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77455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Private</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private e di estensione di una classe in Java:</a:t>
            </a:r>
          </a:p>
        </p:txBody>
      </p:sp>
      <p:sp>
        <p:nvSpPr>
          <p:cNvPr id="10" name="CasellaDiTesto 9">
            <a:extLst>
              <a:ext uri="{FF2B5EF4-FFF2-40B4-BE49-F238E27FC236}">
                <a16:creationId xmlns:a16="http://schemas.microsoft.com/office/drawing/2014/main" id="{FA65A9B2-A292-D5C9-2234-BFC067696624}"/>
              </a:ext>
            </a:extLst>
          </p:cNvPr>
          <p:cNvSpPr txBox="1"/>
          <p:nvPr/>
        </p:nvSpPr>
        <p:spPr>
          <a:xfrm>
            <a:off x="277727" y="2078407"/>
            <a:ext cx="9353304" cy="2308324"/>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this</a:t>
            </a:r>
            <a:r>
              <a:rPr lang="it-IT" sz="1200" b="0" dirty="0">
                <a:solidFill>
                  <a:srgbClr val="D4D4D4"/>
                </a:solidFill>
                <a:effectLst/>
                <a:latin typeface="Consolas" panose="020B0609020204030204" pitchFamily="49" charset="0"/>
              </a:rPr>
              <a:t>.name =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sayHello</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"Ciao, sono "</a:t>
            </a:r>
            <a:r>
              <a:rPr lang="it-IT" sz="1200" b="0" dirty="0">
                <a:solidFill>
                  <a:srgbClr val="D4D4D4"/>
                </a:solidFill>
                <a:effectLst/>
                <a:latin typeface="Consolas" panose="020B0609020204030204" pitchFamily="49" charset="0"/>
              </a:rPr>
              <a:t> +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a:p>
            <a:endParaRPr lang="it-IT" sz="1200" b="0" dirty="0">
              <a:solidFill>
                <a:srgbClr val="D4D4D4"/>
              </a:solidFill>
              <a:effectLst/>
              <a:latin typeface="Consolas" panose="020B0609020204030204" pitchFamily="49" charset="0"/>
            </a:endParaRPr>
          </a:p>
        </p:txBody>
      </p:sp>
      <p:sp>
        <p:nvSpPr>
          <p:cNvPr id="13" name="CasellaDiTesto 12">
            <a:extLst>
              <a:ext uri="{FF2B5EF4-FFF2-40B4-BE49-F238E27FC236}">
                <a16:creationId xmlns:a16="http://schemas.microsoft.com/office/drawing/2014/main" id="{FFAE8FDB-DD30-7C60-04B3-201B0E238458}"/>
              </a:ext>
            </a:extLst>
          </p:cNvPr>
          <p:cNvSpPr txBox="1"/>
          <p:nvPr/>
        </p:nvSpPr>
        <p:spPr>
          <a:xfrm>
            <a:off x="300404" y="4506040"/>
            <a:ext cx="9330628" cy="156966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Student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grade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Student</a:t>
            </a:r>
            <a:r>
              <a:rPr lang="it-IT" sz="1200" b="0" dirty="0">
                <a:solidFill>
                  <a:srgbClr val="D4D4D4"/>
                </a:solidFill>
                <a:effectLst/>
                <a:latin typeface="Consolas" panose="020B0609020204030204" pitchFamily="49" charset="0"/>
              </a:rPr>
              <a:t>(</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grade)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super</a:t>
            </a:r>
            <a:r>
              <a:rPr lang="it-IT" sz="1200" b="0" dirty="0">
                <a:solidFill>
                  <a:srgbClr val="D4D4D4"/>
                </a:solidFill>
                <a:effectLst/>
                <a:latin typeface="Consolas" panose="020B0609020204030204" pitchFamily="49" charset="0"/>
              </a:rPr>
              <a:t>(name)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.grade</a:t>
            </a:r>
            <a:r>
              <a:rPr lang="it-IT" sz="1200" b="0" dirty="0">
                <a:solidFill>
                  <a:srgbClr val="D4D4D4"/>
                </a:solidFill>
                <a:effectLst/>
                <a:latin typeface="Consolas" panose="020B0609020204030204" pitchFamily="49" charset="0"/>
              </a:rPr>
              <a:t> = grade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ECD60CB4-45E1-019A-E74D-85FC859D8B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031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Private</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private e di estensione di una classe in Java:</a:t>
            </a:r>
          </a:p>
        </p:txBody>
      </p:sp>
      <p:sp>
        <p:nvSpPr>
          <p:cNvPr id="10" name="CasellaDiTesto 9">
            <a:extLst>
              <a:ext uri="{FF2B5EF4-FFF2-40B4-BE49-F238E27FC236}">
                <a16:creationId xmlns:a16="http://schemas.microsoft.com/office/drawing/2014/main" id="{FA65A9B2-A292-D5C9-2234-BFC067696624}"/>
              </a:ext>
            </a:extLst>
          </p:cNvPr>
          <p:cNvSpPr txBox="1"/>
          <p:nvPr/>
        </p:nvSpPr>
        <p:spPr>
          <a:xfrm>
            <a:off x="277727" y="2078407"/>
            <a:ext cx="9353304" cy="2308324"/>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this</a:t>
            </a:r>
            <a:r>
              <a:rPr lang="it-IT" sz="1200" b="0" dirty="0">
                <a:solidFill>
                  <a:srgbClr val="D4D4D4"/>
                </a:solidFill>
                <a:effectLst/>
                <a:latin typeface="Consolas" panose="020B0609020204030204" pitchFamily="49" charset="0"/>
              </a:rPr>
              <a:t>.name =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sayHello</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"Ciao, sono "</a:t>
            </a:r>
            <a:r>
              <a:rPr lang="it-IT" sz="1200" b="0" dirty="0">
                <a:solidFill>
                  <a:srgbClr val="D4D4D4"/>
                </a:solidFill>
                <a:effectLst/>
                <a:latin typeface="Consolas" panose="020B0609020204030204" pitchFamily="49" charset="0"/>
              </a:rPr>
              <a:t> +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a:p>
            <a:endParaRPr lang="it-IT" sz="1200" b="0" dirty="0">
              <a:solidFill>
                <a:srgbClr val="D4D4D4"/>
              </a:solidFill>
              <a:effectLst/>
              <a:latin typeface="Consolas" panose="020B0609020204030204" pitchFamily="49" charset="0"/>
            </a:endParaRPr>
          </a:p>
        </p:txBody>
      </p:sp>
      <p:sp>
        <p:nvSpPr>
          <p:cNvPr id="13" name="CasellaDiTesto 12">
            <a:extLst>
              <a:ext uri="{FF2B5EF4-FFF2-40B4-BE49-F238E27FC236}">
                <a16:creationId xmlns:a16="http://schemas.microsoft.com/office/drawing/2014/main" id="{FFAE8FDB-DD30-7C60-04B3-201B0E238458}"/>
              </a:ext>
            </a:extLst>
          </p:cNvPr>
          <p:cNvSpPr txBox="1"/>
          <p:nvPr/>
        </p:nvSpPr>
        <p:spPr>
          <a:xfrm>
            <a:off x="300404" y="4506040"/>
            <a:ext cx="9330628" cy="2308324"/>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Student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grade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Student</a:t>
            </a:r>
            <a:r>
              <a:rPr lang="it-IT" sz="1200" b="0" dirty="0">
                <a:solidFill>
                  <a:srgbClr val="D4D4D4"/>
                </a:solidFill>
                <a:effectLst/>
                <a:latin typeface="Consolas" panose="020B0609020204030204" pitchFamily="49" charset="0"/>
              </a:rPr>
              <a:t>(</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grade)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super</a:t>
            </a:r>
            <a:r>
              <a:rPr lang="it-IT" sz="1200" b="0" dirty="0">
                <a:solidFill>
                  <a:srgbClr val="D4D4D4"/>
                </a:solidFill>
                <a:effectLst/>
                <a:latin typeface="Consolas" panose="020B0609020204030204" pitchFamily="49" charset="0"/>
              </a:rPr>
              <a:t>(name)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.grade</a:t>
            </a:r>
            <a:r>
              <a:rPr lang="it-IT" sz="1200" b="0" dirty="0">
                <a:solidFill>
                  <a:srgbClr val="D4D4D4"/>
                </a:solidFill>
                <a:effectLst/>
                <a:latin typeface="Consolas" panose="020B0609020204030204" pitchFamily="49" charset="0"/>
              </a:rPr>
              <a:t> = grade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printInfo</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"Sono uno studente di nome "</a:t>
            </a:r>
            <a:r>
              <a:rPr lang="it-IT" sz="1200" b="0" dirty="0">
                <a:solidFill>
                  <a:srgbClr val="D4D4D4"/>
                </a:solidFill>
                <a:effectLst/>
                <a:latin typeface="Consolas" panose="020B0609020204030204" pitchFamily="49" charset="0"/>
              </a:rPr>
              <a:t> + </a:t>
            </a:r>
            <a:r>
              <a:rPr lang="it-IT" sz="1200" b="0" dirty="0">
                <a:solidFill>
                  <a:srgbClr val="569CD6"/>
                </a:solidFill>
                <a:effectLst/>
                <a:latin typeface="Consolas" panose="020B0609020204030204" pitchFamily="49" charset="0"/>
              </a:rPr>
              <a:t>this</a:t>
            </a:r>
            <a:r>
              <a:rPr lang="it-IT" sz="1200" b="0" dirty="0">
                <a:solidFill>
                  <a:srgbClr val="D4D4D4"/>
                </a:solidFill>
                <a:effectLst/>
                <a:latin typeface="Consolas" panose="020B0609020204030204" pitchFamily="49" charset="0"/>
              </a:rPr>
              <a:t>.name + </a:t>
            </a:r>
            <a:r>
              <a:rPr lang="it-IT" sz="1200" b="0" dirty="0">
                <a:solidFill>
                  <a:srgbClr val="CE9178"/>
                </a:solidFill>
                <a:effectLst/>
                <a:latin typeface="Consolas" panose="020B0609020204030204" pitchFamily="49" charset="0"/>
              </a:rPr>
              <a:t>" e ho la media del "</a:t>
            </a:r>
            <a:r>
              <a:rPr lang="it-IT" sz="1200" b="0" dirty="0">
                <a:solidFill>
                  <a:srgbClr val="D4D4D4"/>
                </a:solidFill>
                <a:effectLst/>
                <a:latin typeface="Consolas" panose="020B0609020204030204" pitchFamily="49" charset="0"/>
              </a:rPr>
              <a:t> +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.grade</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CA99646E-6CAB-FBEA-CED2-3BD08835D2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91768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Private</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private e di estensione di una classe in Java:</a:t>
            </a:r>
          </a:p>
        </p:txBody>
      </p:sp>
      <p:sp>
        <p:nvSpPr>
          <p:cNvPr id="10" name="CasellaDiTesto 9">
            <a:extLst>
              <a:ext uri="{FF2B5EF4-FFF2-40B4-BE49-F238E27FC236}">
                <a16:creationId xmlns:a16="http://schemas.microsoft.com/office/drawing/2014/main" id="{FA65A9B2-A292-D5C9-2234-BFC067696624}"/>
              </a:ext>
            </a:extLst>
          </p:cNvPr>
          <p:cNvSpPr txBox="1"/>
          <p:nvPr/>
        </p:nvSpPr>
        <p:spPr>
          <a:xfrm>
            <a:off x="277727" y="2078407"/>
            <a:ext cx="9353304" cy="2308324"/>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this</a:t>
            </a:r>
            <a:r>
              <a:rPr lang="it-IT" sz="1200" b="0" dirty="0">
                <a:solidFill>
                  <a:srgbClr val="D4D4D4"/>
                </a:solidFill>
                <a:effectLst/>
                <a:latin typeface="Consolas" panose="020B0609020204030204" pitchFamily="49" charset="0"/>
              </a:rPr>
              <a:t>.name =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sayHello</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"Ciao, sono "</a:t>
            </a:r>
            <a:r>
              <a:rPr lang="it-IT" sz="1200" b="0" dirty="0">
                <a:solidFill>
                  <a:srgbClr val="D4D4D4"/>
                </a:solidFill>
                <a:effectLst/>
                <a:latin typeface="Consolas" panose="020B0609020204030204" pitchFamily="49" charset="0"/>
              </a:rPr>
              <a:t> +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a:p>
            <a:endParaRPr lang="it-IT" sz="1200" b="0" dirty="0">
              <a:solidFill>
                <a:srgbClr val="D4D4D4"/>
              </a:solidFill>
              <a:effectLst/>
              <a:latin typeface="Consolas" panose="020B0609020204030204" pitchFamily="49" charset="0"/>
            </a:endParaRPr>
          </a:p>
        </p:txBody>
      </p:sp>
      <p:sp>
        <p:nvSpPr>
          <p:cNvPr id="13" name="CasellaDiTesto 12">
            <a:extLst>
              <a:ext uri="{FF2B5EF4-FFF2-40B4-BE49-F238E27FC236}">
                <a16:creationId xmlns:a16="http://schemas.microsoft.com/office/drawing/2014/main" id="{FFAE8FDB-DD30-7C60-04B3-201B0E238458}"/>
              </a:ext>
            </a:extLst>
          </p:cNvPr>
          <p:cNvSpPr txBox="1"/>
          <p:nvPr/>
        </p:nvSpPr>
        <p:spPr>
          <a:xfrm>
            <a:off x="300404" y="4506040"/>
            <a:ext cx="9330628" cy="2308324"/>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Student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grade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Student</a:t>
            </a:r>
            <a:r>
              <a:rPr lang="it-IT" sz="1200" b="0" dirty="0">
                <a:solidFill>
                  <a:srgbClr val="D4D4D4"/>
                </a:solidFill>
                <a:effectLst/>
                <a:latin typeface="Consolas" panose="020B0609020204030204" pitchFamily="49" charset="0"/>
              </a:rPr>
              <a:t>(</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grade)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super</a:t>
            </a:r>
            <a:r>
              <a:rPr lang="it-IT" sz="1200" b="0" dirty="0">
                <a:solidFill>
                  <a:srgbClr val="D4D4D4"/>
                </a:solidFill>
                <a:effectLst/>
                <a:latin typeface="Consolas" panose="020B0609020204030204" pitchFamily="49" charset="0"/>
              </a:rPr>
              <a:t>(name)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.grade</a:t>
            </a:r>
            <a:r>
              <a:rPr lang="it-IT" sz="1200" b="0" dirty="0">
                <a:solidFill>
                  <a:srgbClr val="D4D4D4"/>
                </a:solidFill>
                <a:effectLst/>
                <a:latin typeface="Consolas" panose="020B0609020204030204" pitchFamily="49" charset="0"/>
              </a:rPr>
              <a:t> = grade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printInfo</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"Sono uno studente di nome "</a:t>
            </a:r>
            <a:r>
              <a:rPr lang="it-IT" sz="1200" b="0" dirty="0">
                <a:solidFill>
                  <a:srgbClr val="D4D4D4"/>
                </a:solidFill>
                <a:effectLst/>
                <a:latin typeface="Consolas" panose="020B0609020204030204" pitchFamily="49" charset="0"/>
              </a:rPr>
              <a:t> + </a:t>
            </a:r>
            <a:r>
              <a:rPr lang="it-IT" sz="1200" b="0" dirty="0">
                <a:solidFill>
                  <a:srgbClr val="569CD6"/>
                </a:solidFill>
                <a:effectLst/>
                <a:latin typeface="Consolas" panose="020B0609020204030204" pitchFamily="49" charset="0"/>
              </a:rPr>
              <a:t>this</a:t>
            </a:r>
            <a:r>
              <a:rPr lang="it-IT" sz="1200" b="0" dirty="0">
                <a:solidFill>
                  <a:srgbClr val="D4D4D4"/>
                </a:solidFill>
                <a:effectLst/>
                <a:latin typeface="Consolas" panose="020B0609020204030204" pitchFamily="49" charset="0"/>
              </a:rPr>
              <a:t>.name + </a:t>
            </a:r>
            <a:r>
              <a:rPr lang="it-IT" sz="1200" b="0" dirty="0">
                <a:solidFill>
                  <a:srgbClr val="CE9178"/>
                </a:solidFill>
                <a:effectLst/>
                <a:latin typeface="Consolas" panose="020B0609020204030204" pitchFamily="49" charset="0"/>
              </a:rPr>
              <a:t>" e ho la media del "</a:t>
            </a:r>
            <a:r>
              <a:rPr lang="it-IT" sz="1200" b="0" dirty="0">
                <a:solidFill>
                  <a:srgbClr val="D4D4D4"/>
                </a:solidFill>
                <a:effectLst/>
                <a:latin typeface="Consolas" panose="020B0609020204030204" pitchFamily="49" charset="0"/>
              </a:rPr>
              <a:t> +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.grade</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4" name="Rectangle 2">
            <a:extLst>
              <a:ext uri="{FF2B5EF4-FFF2-40B4-BE49-F238E27FC236}">
                <a16:creationId xmlns:a16="http://schemas.microsoft.com/office/drawing/2014/main" id="{78B216BF-DE46-D867-9E14-72ADCB14A054}"/>
              </a:ext>
            </a:extLst>
          </p:cNvPr>
          <p:cNvSpPr>
            <a:spLocks noChangeArrowheads="1"/>
          </p:cNvSpPr>
          <p:nvPr/>
        </p:nvSpPr>
        <p:spPr bwMode="auto">
          <a:xfrm>
            <a:off x="6297227" y="2078407"/>
            <a:ext cx="5894773" cy="738664"/>
          </a:xfrm>
          <a:prstGeom prst="rect">
            <a:avLst/>
          </a:prstGeom>
          <a:solidFill>
            <a:srgbClr val="F7F7F8"/>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dirty="0">
                <a:ln>
                  <a:noFill/>
                </a:ln>
                <a:solidFill>
                  <a:srgbClr val="374151"/>
                </a:solidFill>
                <a:effectLst/>
                <a:latin typeface="Söhne"/>
              </a:rPr>
              <a:t>In questo esempio, la classe </a:t>
            </a:r>
            <a:r>
              <a:rPr kumimoji="0" lang="it-IT" altLang="it-IT" sz="1400" b="1" i="0" u="none" strike="noStrike" cap="none" normalizeH="0" baseline="0" dirty="0" err="1">
                <a:ln>
                  <a:noFill/>
                </a:ln>
                <a:solidFill>
                  <a:srgbClr val="374151"/>
                </a:solidFill>
                <a:effectLst/>
                <a:latin typeface="Söhne Mono"/>
              </a:rPr>
              <a:t>Person</a:t>
            </a:r>
            <a:r>
              <a:rPr kumimoji="0" lang="it-IT" altLang="it-IT" sz="1400" b="0" i="0" u="none" strike="noStrike" cap="none" normalizeH="0" baseline="0" dirty="0">
                <a:ln>
                  <a:noFill/>
                </a:ln>
                <a:solidFill>
                  <a:srgbClr val="374151"/>
                </a:solidFill>
                <a:effectLst/>
                <a:latin typeface="Söhne"/>
              </a:rPr>
              <a:t> ha un campo </a:t>
            </a:r>
            <a:r>
              <a:rPr kumimoji="0" lang="it-IT" altLang="it-IT" sz="1400" b="1" i="0" u="none" strike="noStrike" cap="none" normalizeH="0" baseline="0" dirty="0">
                <a:ln>
                  <a:noFill/>
                </a:ln>
                <a:solidFill>
                  <a:srgbClr val="374151"/>
                </a:solidFill>
                <a:effectLst/>
                <a:latin typeface="Söhne Mono"/>
              </a:rPr>
              <a:t>private</a:t>
            </a:r>
            <a:r>
              <a:rPr kumimoji="0" lang="it-IT" altLang="it-IT" sz="1400" b="0" i="0" u="none" strike="noStrike" cap="none" normalizeH="0" baseline="0" dirty="0">
                <a:ln>
                  <a:noFill/>
                </a:ln>
                <a:solidFill>
                  <a:srgbClr val="374151"/>
                </a:solidFill>
                <a:effectLst/>
                <a:latin typeface="Söhne"/>
              </a:rPr>
              <a:t> chiamato </a:t>
            </a:r>
            <a:r>
              <a:rPr kumimoji="0" lang="it-IT" altLang="it-IT" sz="1400" b="1" i="0" u="none" strike="noStrike" cap="none" normalizeH="0" baseline="0" dirty="0">
                <a:ln>
                  <a:noFill/>
                </a:ln>
                <a:solidFill>
                  <a:srgbClr val="374151"/>
                </a:solidFill>
                <a:effectLst/>
                <a:latin typeface="Söhne Mono"/>
              </a:rPr>
              <a:t>name</a:t>
            </a:r>
            <a:r>
              <a:rPr kumimoji="0" lang="it-IT" altLang="it-IT" sz="1400" b="0" i="0" u="none" strike="noStrike" cap="none" normalizeH="0" baseline="0" dirty="0">
                <a:ln>
                  <a:noFill/>
                </a:ln>
                <a:solidFill>
                  <a:srgbClr val="374151"/>
                </a:solidFill>
                <a:effectLst/>
                <a:latin typeface="Söhne"/>
              </a:rPr>
              <a:t>, il che significa che può essere acceduto solo all'interno della classe stessa. La classe </a:t>
            </a:r>
            <a:r>
              <a:rPr kumimoji="0" lang="it-IT" altLang="it-IT" sz="1400" b="1" i="0" u="none" strike="noStrike" cap="none" normalizeH="0" baseline="0" dirty="0" err="1">
                <a:ln>
                  <a:noFill/>
                </a:ln>
                <a:solidFill>
                  <a:srgbClr val="374151"/>
                </a:solidFill>
                <a:effectLst/>
                <a:latin typeface="Söhne Mono"/>
              </a:rPr>
              <a:t>Student</a:t>
            </a:r>
            <a:r>
              <a:rPr kumimoji="0" lang="it-IT" altLang="it-IT" sz="1400" b="0" i="0" u="none" strike="noStrike" cap="none" normalizeH="0" baseline="0" dirty="0">
                <a:ln>
                  <a:noFill/>
                </a:ln>
                <a:solidFill>
                  <a:srgbClr val="374151"/>
                </a:solidFill>
                <a:effectLst/>
                <a:latin typeface="Söhne"/>
              </a:rPr>
              <a:t> estende </a:t>
            </a:r>
            <a:r>
              <a:rPr kumimoji="0" lang="it-IT" altLang="it-IT" sz="1400" b="1" i="0" u="none" strike="noStrike" cap="none" normalizeH="0" baseline="0" dirty="0" err="1">
                <a:ln>
                  <a:noFill/>
                </a:ln>
                <a:solidFill>
                  <a:srgbClr val="374151"/>
                </a:solidFill>
                <a:effectLst/>
                <a:latin typeface="Söhne Mono"/>
              </a:rPr>
              <a:t>Person</a:t>
            </a:r>
            <a:r>
              <a:rPr kumimoji="0" lang="it-IT" altLang="it-IT" sz="1400" b="0" i="0" u="none" strike="noStrike" cap="none" normalizeH="0" baseline="0" dirty="0">
                <a:ln>
                  <a:noFill/>
                </a:ln>
                <a:solidFill>
                  <a:srgbClr val="374151"/>
                </a:solidFill>
                <a:effectLst/>
                <a:latin typeface="Söhne"/>
              </a:rPr>
              <a:t> e ha anche un campo </a:t>
            </a:r>
            <a:r>
              <a:rPr kumimoji="0" lang="it-IT" altLang="it-IT" sz="1400" b="1" i="0" u="none" strike="noStrike" cap="none" normalizeH="0" baseline="0" dirty="0">
                <a:ln>
                  <a:noFill/>
                </a:ln>
                <a:solidFill>
                  <a:srgbClr val="374151"/>
                </a:solidFill>
                <a:effectLst/>
                <a:latin typeface="Söhne Mono"/>
              </a:rPr>
              <a:t>private</a:t>
            </a:r>
            <a:r>
              <a:rPr kumimoji="0" lang="it-IT" altLang="it-IT" sz="1400" b="0" i="0" u="none" strike="noStrike" cap="none" normalizeH="0" baseline="0" dirty="0">
                <a:ln>
                  <a:noFill/>
                </a:ln>
                <a:solidFill>
                  <a:srgbClr val="374151"/>
                </a:solidFill>
                <a:effectLst/>
                <a:latin typeface="Söhne"/>
              </a:rPr>
              <a:t> chiamato </a:t>
            </a:r>
            <a:r>
              <a:rPr kumimoji="0" lang="it-IT" altLang="it-IT" sz="1400" b="1" i="0" u="none" strike="noStrike" cap="none" normalizeH="0" baseline="0" dirty="0">
                <a:ln>
                  <a:noFill/>
                </a:ln>
                <a:solidFill>
                  <a:srgbClr val="374151"/>
                </a:solidFill>
                <a:effectLst/>
                <a:latin typeface="Söhne Mono"/>
              </a:rPr>
              <a:t>grade</a:t>
            </a:r>
            <a:r>
              <a:rPr kumimoji="0" lang="it-IT" altLang="it-IT" sz="1400" b="0" i="0" u="none" strike="noStrike" cap="none" normalizeH="0" baseline="0" dirty="0">
                <a:ln>
                  <a:noFill/>
                </a:ln>
                <a:solidFill>
                  <a:srgbClr val="374151"/>
                </a:solidFill>
                <a:effectLst/>
                <a:latin typeface="Söhne"/>
              </a:rPr>
              <a:t>.</a:t>
            </a:r>
            <a:endParaRPr kumimoji="0" lang="it-IT" altLang="it-IT" sz="1400" b="0" i="0" u="none" strike="noStrike" cap="none" normalizeH="0" baseline="0" dirty="0">
              <a:ln>
                <a:noFill/>
              </a:ln>
              <a:solidFill>
                <a:schemeClr val="tx1"/>
              </a:solidFill>
              <a:effectLst/>
            </a:endParaRPr>
          </a:p>
        </p:txBody>
      </p:sp>
      <p:pic>
        <p:nvPicPr>
          <p:cNvPr id="3" name="Picture 2" descr="Java Logo, symbol, meaning, history, PNG, brand">
            <a:extLst>
              <a:ext uri="{FF2B5EF4-FFF2-40B4-BE49-F238E27FC236}">
                <a16:creationId xmlns:a16="http://schemas.microsoft.com/office/drawing/2014/main" id="{7C2B6487-9F5E-6A5E-2FB9-5B1E90BE61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49347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Private</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private e di estensione di una classe in Java:</a:t>
            </a:r>
          </a:p>
        </p:txBody>
      </p:sp>
      <p:sp>
        <p:nvSpPr>
          <p:cNvPr id="10" name="CasellaDiTesto 9">
            <a:extLst>
              <a:ext uri="{FF2B5EF4-FFF2-40B4-BE49-F238E27FC236}">
                <a16:creationId xmlns:a16="http://schemas.microsoft.com/office/drawing/2014/main" id="{FA65A9B2-A292-D5C9-2234-BFC067696624}"/>
              </a:ext>
            </a:extLst>
          </p:cNvPr>
          <p:cNvSpPr txBox="1"/>
          <p:nvPr/>
        </p:nvSpPr>
        <p:spPr>
          <a:xfrm>
            <a:off x="277727" y="2078407"/>
            <a:ext cx="9353304" cy="2308324"/>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this</a:t>
            </a:r>
            <a:r>
              <a:rPr lang="it-IT" sz="1200" b="0" dirty="0">
                <a:solidFill>
                  <a:srgbClr val="D4D4D4"/>
                </a:solidFill>
                <a:effectLst/>
                <a:latin typeface="Consolas" panose="020B0609020204030204" pitchFamily="49" charset="0"/>
              </a:rPr>
              <a:t>.name =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sayHello</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"Ciao, sono "</a:t>
            </a:r>
            <a:r>
              <a:rPr lang="it-IT" sz="1200" b="0" dirty="0">
                <a:solidFill>
                  <a:srgbClr val="D4D4D4"/>
                </a:solidFill>
                <a:effectLst/>
                <a:latin typeface="Consolas" panose="020B0609020204030204" pitchFamily="49" charset="0"/>
              </a:rPr>
              <a:t> +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a:p>
            <a:endParaRPr lang="it-IT" sz="1200" b="0" dirty="0">
              <a:solidFill>
                <a:srgbClr val="D4D4D4"/>
              </a:solidFill>
              <a:effectLst/>
              <a:latin typeface="Consolas" panose="020B0609020204030204" pitchFamily="49" charset="0"/>
            </a:endParaRPr>
          </a:p>
        </p:txBody>
      </p:sp>
      <p:sp>
        <p:nvSpPr>
          <p:cNvPr id="13" name="CasellaDiTesto 12">
            <a:extLst>
              <a:ext uri="{FF2B5EF4-FFF2-40B4-BE49-F238E27FC236}">
                <a16:creationId xmlns:a16="http://schemas.microsoft.com/office/drawing/2014/main" id="{FFAE8FDB-DD30-7C60-04B3-201B0E238458}"/>
              </a:ext>
            </a:extLst>
          </p:cNvPr>
          <p:cNvSpPr txBox="1"/>
          <p:nvPr/>
        </p:nvSpPr>
        <p:spPr>
          <a:xfrm>
            <a:off x="300404" y="4506040"/>
            <a:ext cx="9330628" cy="2308324"/>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Student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grade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Student</a:t>
            </a:r>
            <a:r>
              <a:rPr lang="it-IT" sz="1200" b="0" dirty="0">
                <a:solidFill>
                  <a:srgbClr val="D4D4D4"/>
                </a:solidFill>
                <a:effectLst/>
                <a:latin typeface="Consolas" panose="020B0609020204030204" pitchFamily="49" charset="0"/>
              </a:rPr>
              <a:t>(</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grade)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super</a:t>
            </a:r>
            <a:r>
              <a:rPr lang="it-IT" sz="1200" b="0" dirty="0">
                <a:solidFill>
                  <a:srgbClr val="D4D4D4"/>
                </a:solidFill>
                <a:effectLst/>
                <a:latin typeface="Consolas" panose="020B0609020204030204" pitchFamily="49" charset="0"/>
              </a:rPr>
              <a:t>(name)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.grade</a:t>
            </a:r>
            <a:r>
              <a:rPr lang="it-IT" sz="1200" b="0" dirty="0">
                <a:solidFill>
                  <a:srgbClr val="D4D4D4"/>
                </a:solidFill>
                <a:effectLst/>
                <a:latin typeface="Consolas" panose="020B0609020204030204" pitchFamily="49" charset="0"/>
              </a:rPr>
              <a:t> = grade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printInfo</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"Sono uno studente di nome "</a:t>
            </a:r>
            <a:r>
              <a:rPr lang="it-IT" sz="1200" b="0" dirty="0">
                <a:solidFill>
                  <a:srgbClr val="D4D4D4"/>
                </a:solidFill>
                <a:effectLst/>
                <a:latin typeface="Consolas" panose="020B0609020204030204" pitchFamily="49" charset="0"/>
              </a:rPr>
              <a:t> + </a:t>
            </a:r>
            <a:r>
              <a:rPr lang="it-IT" sz="1200" b="0" dirty="0">
                <a:solidFill>
                  <a:srgbClr val="569CD6"/>
                </a:solidFill>
                <a:effectLst/>
                <a:latin typeface="Consolas" panose="020B0609020204030204" pitchFamily="49" charset="0"/>
              </a:rPr>
              <a:t>this</a:t>
            </a:r>
            <a:r>
              <a:rPr lang="it-IT" sz="1200" b="0" dirty="0">
                <a:solidFill>
                  <a:srgbClr val="D4D4D4"/>
                </a:solidFill>
                <a:effectLst/>
                <a:latin typeface="Consolas" panose="020B0609020204030204" pitchFamily="49" charset="0"/>
              </a:rPr>
              <a:t>.name + </a:t>
            </a:r>
            <a:r>
              <a:rPr lang="it-IT" sz="1200" b="0" dirty="0">
                <a:solidFill>
                  <a:srgbClr val="CE9178"/>
                </a:solidFill>
                <a:effectLst/>
                <a:latin typeface="Consolas" panose="020B0609020204030204" pitchFamily="49" charset="0"/>
              </a:rPr>
              <a:t>" e ho la media del "</a:t>
            </a:r>
            <a:r>
              <a:rPr lang="it-IT" sz="1200" b="0" dirty="0">
                <a:solidFill>
                  <a:srgbClr val="D4D4D4"/>
                </a:solidFill>
                <a:effectLst/>
                <a:latin typeface="Consolas" panose="020B0609020204030204" pitchFamily="49" charset="0"/>
              </a:rPr>
              <a:t> +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.grade</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4" name="Rectangle 2">
            <a:extLst>
              <a:ext uri="{FF2B5EF4-FFF2-40B4-BE49-F238E27FC236}">
                <a16:creationId xmlns:a16="http://schemas.microsoft.com/office/drawing/2014/main" id="{78B216BF-DE46-D867-9E14-72ADCB14A054}"/>
              </a:ext>
            </a:extLst>
          </p:cNvPr>
          <p:cNvSpPr>
            <a:spLocks noChangeArrowheads="1"/>
          </p:cNvSpPr>
          <p:nvPr/>
        </p:nvSpPr>
        <p:spPr bwMode="auto">
          <a:xfrm>
            <a:off x="6297227" y="2078407"/>
            <a:ext cx="5894773" cy="2031325"/>
          </a:xfrm>
          <a:prstGeom prst="rect">
            <a:avLst/>
          </a:prstGeom>
          <a:solidFill>
            <a:srgbClr val="F7F7F8"/>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dirty="0">
                <a:ln>
                  <a:noFill/>
                </a:ln>
                <a:solidFill>
                  <a:srgbClr val="374151"/>
                </a:solidFill>
                <a:effectLst/>
                <a:latin typeface="Söhne"/>
              </a:rPr>
              <a:t>In questo esempio, la classe </a:t>
            </a:r>
            <a:r>
              <a:rPr kumimoji="0" lang="it-IT" altLang="it-IT" sz="1400" b="1" i="0" u="none" strike="noStrike" cap="none" normalizeH="0" baseline="0" dirty="0" err="1">
                <a:ln>
                  <a:noFill/>
                </a:ln>
                <a:solidFill>
                  <a:srgbClr val="374151"/>
                </a:solidFill>
                <a:effectLst/>
                <a:latin typeface="Söhne Mono"/>
              </a:rPr>
              <a:t>Person</a:t>
            </a:r>
            <a:r>
              <a:rPr kumimoji="0" lang="it-IT" altLang="it-IT" sz="1400" b="0" i="0" u="none" strike="noStrike" cap="none" normalizeH="0" baseline="0" dirty="0">
                <a:ln>
                  <a:noFill/>
                </a:ln>
                <a:solidFill>
                  <a:srgbClr val="374151"/>
                </a:solidFill>
                <a:effectLst/>
                <a:latin typeface="Söhne"/>
              </a:rPr>
              <a:t> ha un campo </a:t>
            </a:r>
            <a:r>
              <a:rPr kumimoji="0" lang="it-IT" altLang="it-IT" sz="1400" b="1" i="0" u="none" strike="noStrike" cap="none" normalizeH="0" baseline="0" dirty="0">
                <a:ln>
                  <a:noFill/>
                </a:ln>
                <a:solidFill>
                  <a:srgbClr val="374151"/>
                </a:solidFill>
                <a:effectLst/>
                <a:latin typeface="Söhne Mono"/>
              </a:rPr>
              <a:t>private</a:t>
            </a:r>
            <a:r>
              <a:rPr kumimoji="0" lang="it-IT" altLang="it-IT" sz="1400" b="0" i="0" u="none" strike="noStrike" cap="none" normalizeH="0" baseline="0" dirty="0">
                <a:ln>
                  <a:noFill/>
                </a:ln>
                <a:solidFill>
                  <a:srgbClr val="374151"/>
                </a:solidFill>
                <a:effectLst/>
                <a:latin typeface="Söhne"/>
              </a:rPr>
              <a:t> chiamato </a:t>
            </a:r>
            <a:r>
              <a:rPr kumimoji="0" lang="it-IT" altLang="it-IT" sz="1400" b="1" i="0" u="none" strike="noStrike" cap="none" normalizeH="0" baseline="0" dirty="0">
                <a:ln>
                  <a:noFill/>
                </a:ln>
                <a:solidFill>
                  <a:srgbClr val="374151"/>
                </a:solidFill>
                <a:effectLst/>
                <a:latin typeface="Söhne Mono"/>
              </a:rPr>
              <a:t>name</a:t>
            </a:r>
            <a:r>
              <a:rPr kumimoji="0" lang="it-IT" altLang="it-IT" sz="1400" b="0" i="0" u="none" strike="noStrike" cap="none" normalizeH="0" baseline="0" dirty="0">
                <a:ln>
                  <a:noFill/>
                </a:ln>
                <a:solidFill>
                  <a:srgbClr val="374151"/>
                </a:solidFill>
                <a:effectLst/>
                <a:latin typeface="Söhne"/>
              </a:rPr>
              <a:t>, il che significa che può essere acceduto solo all'interno della classe stessa. La classe </a:t>
            </a:r>
            <a:r>
              <a:rPr kumimoji="0" lang="it-IT" altLang="it-IT" sz="1400" b="1" i="0" u="none" strike="noStrike" cap="none" normalizeH="0" baseline="0" dirty="0" err="1">
                <a:ln>
                  <a:noFill/>
                </a:ln>
                <a:solidFill>
                  <a:srgbClr val="374151"/>
                </a:solidFill>
                <a:effectLst/>
                <a:latin typeface="Söhne Mono"/>
              </a:rPr>
              <a:t>Student</a:t>
            </a:r>
            <a:r>
              <a:rPr kumimoji="0" lang="it-IT" altLang="it-IT" sz="1400" b="0" i="0" u="none" strike="noStrike" cap="none" normalizeH="0" baseline="0" dirty="0">
                <a:ln>
                  <a:noFill/>
                </a:ln>
                <a:solidFill>
                  <a:srgbClr val="374151"/>
                </a:solidFill>
                <a:effectLst/>
                <a:latin typeface="Söhne"/>
              </a:rPr>
              <a:t> estende </a:t>
            </a:r>
            <a:r>
              <a:rPr kumimoji="0" lang="it-IT" altLang="it-IT" sz="1400" b="1" i="0" u="none" strike="noStrike" cap="none" normalizeH="0" baseline="0" dirty="0" err="1">
                <a:ln>
                  <a:noFill/>
                </a:ln>
                <a:solidFill>
                  <a:srgbClr val="374151"/>
                </a:solidFill>
                <a:effectLst/>
                <a:latin typeface="Söhne Mono"/>
              </a:rPr>
              <a:t>Person</a:t>
            </a:r>
            <a:r>
              <a:rPr kumimoji="0" lang="it-IT" altLang="it-IT" sz="1400" b="0" i="0" u="none" strike="noStrike" cap="none" normalizeH="0" baseline="0" dirty="0">
                <a:ln>
                  <a:noFill/>
                </a:ln>
                <a:solidFill>
                  <a:srgbClr val="374151"/>
                </a:solidFill>
                <a:effectLst/>
                <a:latin typeface="Söhne"/>
              </a:rPr>
              <a:t> e ha anche un campo </a:t>
            </a:r>
            <a:r>
              <a:rPr kumimoji="0" lang="it-IT" altLang="it-IT" sz="1400" b="1" i="0" u="none" strike="noStrike" cap="none" normalizeH="0" baseline="0" dirty="0">
                <a:ln>
                  <a:noFill/>
                </a:ln>
                <a:solidFill>
                  <a:srgbClr val="374151"/>
                </a:solidFill>
                <a:effectLst/>
                <a:latin typeface="Söhne Mono"/>
              </a:rPr>
              <a:t>private</a:t>
            </a:r>
            <a:r>
              <a:rPr kumimoji="0" lang="it-IT" altLang="it-IT" sz="1400" b="0" i="0" u="none" strike="noStrike" cap="none" normalizeH="0" baseline="0" dirty="0">
                <a:ln>
                  <a:noFill/>
                </a:ln>
                <a:solidFill>
                  <a:srgbClr val="374151"/>
                </a:solidFill>
                <a:effectLst/>
                <a:latin typeface="Söhne"/>
              </a:rPr>
              <a:t> chiamato </a:t>
            </a:r>
            <a:r>
              <a:rPr kumimoji="0" lang="it-IT" altLang="it-IT" sz="1400" b="1" i="0" u="none" strike="noStrike" cap="none" normalizeH="0" baseline="0" dirty="0">
                <a:ln>
                  <a:noFill/>
                </a:ln>
                <a:solidFill>
                  <a:srgbClr val="374151"/>
                </a:solidFill>
                <a:effectLst/>
                <a:latin typeface="Söhne Mono"/>
              </a:rPr>
              <a:t>grade</a:t>
            </a:r>
            <a:r>
              <a:rPr kumimoji="0" lang="it-IT" altLang="it-IT" sz="1400" b="0" i="0" u="none" strike="noStrike" cap="none" normalizeH="0" baseline="0" dirty="0">
                <a:ln>
                  <a:noFill/>
                </a:ln>
                <a:solidFill>
                  <a:srgbClr val="374151"/>
                </a:solidFill>
                <a:effectLst/>
                <a:latin typeface="Söhne"/>
              </a:rPr>
              <a:t>.</a:t>
            </a:r>
            <a:endParaRPr kumimoji="0" lang="it-IT" altLang="it-IT"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dirty="0">
                <a:ln>
                  <a:noFill/>
                </a:ln>
                <a:solidFill>
                  <a:srgbClr val="374151"/>
                </a:solidFill>
                <a:effectLst/>
                <a:latin typeface="Söhne"/>
              </a:rPr>
              <a:t>Nella classe </a:t>
            </a:r>
            <a:r>
              <a:rPr kumimoji="0" lang="it-IT" altLang="it-IT" sz="1400" b="1" i="0" u="none" strike="noStrike" cap="none" normalizeH="0" baseline="0" dirty="0" err="1">
                <a:ln>
                  <a:noFill/>
                </a:ln>
                <a:solidFill>
                  <a:srgbClr val="374151"/>
                </a:solidFill>
                <a:effectLst/>
                <a:latin typeface="Söhne Mono"/>
              </a:rPr>
              <a:t>Student</a:t>
            </a:r>
            <a:r>
              <a:rPr kumimoji="0" lang="it-IT" altLang="it-IT" sz="1400" b="0" i="0" u="none" strike="noStrike" cap="none" normalizeH="0" baseline="0" dirty="0">
                <a:ln>
                  <a:noFill/>
                </a:ln>
                <a:solidFill>
                  <a:srgbClr val="374151"/>
                </a:solidFill>
                <a:effectLst/>
                <a:latin typeface="Söhne"/>
              </a:rPr>
              <a:t>, il costruttore chiama il costruttore della classe padre </a:t>
            </a:r>
            <a:r>
              <a:rPr kumimoji="0" lang="it-IT" altLang="it-IT" sz="1400" b="1" i="0" u="none" strike="noStrike" cap="none" normalizeH="0" baseline="0" dirty="0" err="1">
                <a:ln>
                  <a:noFill/>
                </a:ln>
                <a:solidFill>
                  <a:srgbClr val="374151"/>
                </a:solidFill>
                <a:effectLst/>
                <a:latin typeface="Söhne Mono"/>
              </a:rPr>
              <a:t>Person</a:t>
            </a:r>
            <a:r>
              <a:rPr kumimoji="0" lang="it-IT" altLang="it-IT" sz="1400" b="0" i="0" u="none" strike="noStrike" cap="none" normalizeH="0" baseline="0" dirty="0">
                <a:ln>
                  <a:noFill/>
                </a:ln>
                <a:solidFill>
                  <a:srgbClr val="374151"/>
                </a:solidFill>
                <a:effectLst/>
                <a:latin typeface="Söhne"/>
              </a:rPr>
              <a:t> usando la parola chiave </a:t>
            </a:r>
            <a:r>
              <a:rPr kumimoji="0" lang="it-IT" altLang="it-IT" sz="1400" b="1" i="0" u="none" strike="noStrike" cap="none" normalizeH="0" baseline="0" dirty="0">
                <a:ln>
                  <a:noFill/>
                </a:ln>
                <a:solidFill>
                  <a:srgbClr val="374151"/>
                </a:solidFill>
                <a:effectLst/>
                <a:latin typeface="Söhne Mono"/>
              </a:rPr>
              <a:t>super</a:t>
            </a:r>
            <a:r>
              <a:rPr kumimoji="0" lang="it-IT" altLang="it-IT" sz="1400" b="0" i="0" u="none" strike="noStrike" cap="none" normalizeH="0" baseline="0" dirty="0">
                <a:ln>
                  <a:noFill/>
                </a:ln>
                <a:solidFill>
                  <a:srgbClr val="374151"/>
                </a:solidFill>
                <a:effectLst/>
                <a:latin typeface="Söhne"/>
              </a:rPr>
              <a:t>, che è necessaria poiché la classe </a:t>
            </a:r>
            <a:r>
              <a:rPr kumimoji="0" lang="it-IT" altLang="it-IT" sz="1400" b="1" i="0" u="none" strike="noStrike" cap="none" normalizeH="0" baseline="0" dirty="0" err="1">
                <a:ln>
                  <a:noFill/>
                </a:ln>
                <a:solidFill>
                  <a:srgbClr val="374151"/>
                </a:solidFill>
                <a:effectLst/>
                <a:latin typeface="Söhne Mono"/>
              </a:rPr>
              <a:t>Person</a:t>
            </a:r>
            <a:r>
              <a:rPr kumimoji="0" lang="it-IT" altLang="it-IT" sz="1400" b="0" i="0" u="none" strike="noStrike" cap="none" normalizeH="0" baseline="0" dirty="0">
                <a:ln>
                  <a:noFill/>
                </a:ln>
                <a:solidFill>
                  <a:srgbClr val="374151"/>
                </a:solidFill>
                <a:effectLst/>
                <a:latin typeface="Söhne"/>
              </a:rPr>
              <a:t> non ha un costruttore vuoto.</a:t>
            </a:r>
            <a:endParaRPr kumimoji="0" lang="it-IT" altLang="it-IT"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dirty="0">
                <a:ln>
                  <a:noFill/>
                </a:ln>
                <a:solidFill>
                  <a:srgbClr val="374151"/>
                </a:solidFill>
                <a:effectLst/>
                <a:latin typeface="Söhne"/>
              </a:rPr>
              <a:t>Infine, la classe </a:t>
            </a:r>
            <a:r>
              <a:rPr kumimoji="0" lang="it-IT" altLang="it-IT" sz="1400" b="1" i="0" u="none" strike="noStrike" cap="none" normalizeH="0" baseline="0" dirty="0" err="1">
                <a:ln>
                  <a:noFill/>
                </a:ln>
                <a:solidFill>
                  <a:srgbClr val="374151"/>
                </a:solidFill>
                <a:effectLst/>
                <a:latin typeface="Söhne Mono"/>
              </a:rPr>
              <a:t>Student</a:t>
            </a:r>
            <a:r>
              <a:rPr kumimoji="0" lang="it-IT" altLang="it-IT" sz="1400" b="0" i="0" u="none" strike="noStrike" cap="none" normalizeH="0" baseline="0" dirty="0">
                <a:ln>
                  <a:noFill/>
                </a:ln>
                <a:solidFill>
                  <a:srgbClr val="374151"/>
                </a:solidFill>
                <a:effectLst/>
                <a:latin typeface="Söhne"/>
              </a:rPr>
              <a:t> ha un metodo </a:t>
            </a:r>
            <a:r>
              <a:rPr kumimoji="0" lang="it-IT" altLang="it-IT" sz="1400" b="1" i="0" u="none" strike="noStrike" cap="none" normalizeH="0" baseline="0" dirty="0" err="1">
                <a:ln>
                  <a:noFill/>
                </a:ln>
                <a:solidFill>
                  <a:srgbClr val="374151"/>
                </a:solidFill>
                <a:effectLst/>
                <a:latin typeface="Söhne Mono"/>
              </a:rPr>
              <a:t>printInfo</a:t>
            </a:r>
            <a:r>
              <a:rPr kumimoji="0" lang="it-IT" altLang="it-IT" sz="1400" b="1" i="0" u="none" strike="noStrike" cap="none" normalizeH="0" baseline="0" dirty="0">
                <a:ln>
                  <a:noFill/>
                </a:ln>
                <a:solidFill>
                  <a:srgbClr val="374151"/>
                </a:solidFill>
                <a:effectLst/>
                <a:latin typeface="Söhne Mono"/>
              </a:rPr>
              <a:t>()</a:t>
            </a:r>
            <a:r>
              <a:rPr kumimoji="0" lang="it-IT" altLang="it-IT" sz="1400" b="0" i="0" u="none" strike="noStrike" cap="none" normalizeH="0" baseline="0" dirty="0">
                <a:ln>
                  <a:noFill/>
                </a:ln>
                <a:solidFill>
                  <a:srgbClr val="374151"/>
                </a:solidFill>
                <a:effectLst/>
                <a:latin typeface="Söhne"/>
              </a:rPr>
              <a:t> che utilizza la parola chiave </a:t>
            </a:r>
            <a:r>
              <a:rPr kumimoji="0" lang="it-IT" altLang="it-IT" sz="1400" b="1" i="0" u="none" strike="noStrike" cap="none" normalizeH="0" baseline="0" dirty="0" err="1">
                <a:ln>
                  <a:noFill/>
                </a:ln>
                <a:solidFill>
                  <a:srgbClr val="374151"/>
                </a:solidFill>
                <a:effectLst/>
                <a:latin typeface="Söhne Mono"/>
              </a:rPr>
              <a:t>this</a:t>
            </a:r>
            <a:r>
              <a:rPr kumimoji="0" lang="it-IT" altLang="it-IT" sz="1400" b="0" i="0" u="none" strike="noStrike" cap="none" normalizeH="0" baseline="0" dirty="0">
                <a:ln>
                  <a:noFill/>
                </a:ln>
                <a:solidFill>
                  <a:srgbClr val="374151"/>
                </a:solidFill>
                <a:effectLst/>
                <a:latin typeface="Söhne"/>
              </a:rPr>
              <a:t> per riferirsi al campo </a:t>
            </a:r>
            <a:r>
              <a:rPr kumimoji="0" lang="it-IT" altLang="it-IT" sz="1400" b="1" i="0" u="none" strike="noStrike" cap="none" normalizeH="0" baseline="0" dirty="0">
                <a:ln>
                  <a:noFill/>
                </a:ln>
                <a:solidFill>
                  <a:srgbClr val="374151"/>
                </a:solidFill>
                <a:effectLst/>
                <a:latin typeface="Söhne Mono"/>
              </a:rPr>
              <a:t>name</a:t>
            </a:r>
            <a:r>
              <a:rPr kumimoji="0" lang="it-IT" altLang="it-IT" sz="1400" b="0" i="0" u="none" strike="noStrike" cap="none" normalizeH="0" baseline="0" dirty="0">
                <a:ln>
                  <a:noFill/>
                </a:ln>
                <a:solidFill>
                  <a:srgbClr val="374151"/>
                </a:solidFill>
                <a:effectLst/>
                <a:latin typeface="Söhne"/>
              </a:rPr>
              <a:t> della classe </a:t>
            </a:r>
            <a:r>
              <a:rPr kumimoji="0" lang="it-IT" altLang="it-IT" sz="1400" b="1" i="0" u="none" strike="noStrike" cap="none" normalizeH="0" baseline="0" dirty="0" err="1">
                <a:ln>
                  <a:noFill/>
                </a:ln>
                <a:solidFill>
                  <a:srgbClr val="374151"/>
                </a:solidFill>
                <a:effectLst/>
                <a:latin typeface="Söhne Mono"/>
              </a:rPr>
              <a:t>Person</a:t>
            </a:r>
            <a:r>
              <a:rPr kumimoji="0" lang="it-IT" altLang="it-IT" sz="1400" b="0" i="0" u="none" strike="noStrike" cap="none" normalizeH="0" baseline="0" dirty="0">
                <a:ln>
                  <a:noFill/>
                </a:ln>
                <a:solidFill>
                  <a:srgbClr val="374151"/>
                </a:solidFill>
                <a:effectLst/>
                <a:latin typeface="Söhne"/>
              </a:rPr>
              <a:t>, poiché </a:t>
            </a:r>
            <a:r>
              <a:rPr kumimoji="0" lang="it-IT" altLang="it-IT" sz="1400" b="1" i="0" u="none" strike="noStrike" cap="none" normalizeH="0" baseline="0" dirty="0">
                <a:ln>
                  <a:noFill/>
                </a:ln>
                <a:solidFill>
                  <a:srgbClr val="374151"/>
                </a:solidFill>
                <a:effectLst/>
                <a:latin typeface="Söhne Mono"/>
              </a:rPr>
              <a:t>name</a:t>
            </a:r>
            <a:r>
              <a:rPr kumimoji="0" lang="it-IT" altLang="it-IT" sz="1400" b="0" i="0" u="none" strike="noStrike" cap="none" normalizeH="0" baseline="0" dirty="0">
                <a:ln>
                  <a:noFill/>
                </a:ln>
                <a:solidFill>
                  <a:srgbClr val="374151"/>
                </a:solidFill>
                <a:effectLst/>
                <a:latin typeface="Söhne"/>
              </a:rPr>
              <a:t> è </a:t>
            </a:r>
            <a:r>
              <a:rPr kumimoji="0" lang="it-IT" altLang="it-IT" sz="1400" b="1" i="0" u="none" strike="noStrike" cap="none" normalizeH="0" baseline="0" dirty="0">
                <a:ln>
                  <a:noFill/>
                </a:ln>
                <a:solidFill>
                  <a:srgbClr val="374151"/>
                </a:solidFill>
                <a:effectLst/>
                <a:latin typeface="Söhne Mono"/>
              </a:rPr>
              <a:t>private</a:t>
            </a:r>
            <a:r>
              <a:rPr kumimoji="0" lang="it-IT" altLang="it-IT" sz="1400" b="0" i="0" u="none" strike="noStrike" cap="none" normalizeH="0" baseline="0" dirty="0">
                <a:ln>
                  <a:noFill/>
                </a:ln>
                <a:solidFill>
                  <a:srgbClr val="374151"/>
                </a:solidFill>
                <a:effectLst/>
                <a:latin typeface="Söhne"/>
              </a:rPr>
              <a:t> e non accessibile direttamente dalla classe figlia.</a:t>
            </a:r>
          </a:p>
        </p:txBody>
      </p:sp>
      <p:pic>
        <p:nvPicPr>
          <p:cNvPr id="3" name="Picture 2" descr="Java Logo, symbol, meaning, history, PNG, brand">
            <a:extLst>
              <a:ext uri="{FF2B5EF4-FFF2-40B4-BE49-F238E27FC236}">
                <a16:creationId xmlns:a16="http://schemas.microsoft.com/office/drawing/2014/main" id="{CC3F4B35-6325-4AD8-31A7-D3DB46FF6E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66328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Private</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private e di estensione di una classe in Java:</a:t>
            </a:r>
          </a:p>
        </p:txBody>
      </p:sp>
      <p:sp>
        <p:nvSpPr>
          <p:cNvPr id="10" name="CasellaDiTesto 9">
            <a:extLst>
              <a:ext uri="{FF2B5EF4-FFF2-40B4-BE49-F238E27FC236}">
                <a16:creationId xmlns:a16="http://schemas.microsoft.com/office/drawing/2014/main" id="{FA65A9B2-A292-D5C9-2234-BFC067696624}"/>
              </a:ext>
            </a:extLst>
          </p:cNvPr>
          <p:cNvSpPr txBox="1"/>
          <p:nvPr/>
        </p:nvSpPr>
        <p:spPr>
          <a:xfrm>
            <a:off x="277727" y="2078407"/>
            <a:ext cx="9353304" cy="2308324"/>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this</a:t>
            </a:r>
            <a:r>
              <a:rPr lang="it-IT" sz="1200" b="0" dirty="0">
                <a:solidFill>
                  <a:srgbClr val="D4D4D4"/>
                </a:solidFill>
                <a:effectLst/>
                <a:latin typeface="Consolas" panose="020B0609020204030204" pitchFamily="49" charset="0"/>
              </a:rPr>
              <a:t>.name =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sayHello</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"Ciao, sono "</a:t>
            </a:r>
            <a:r>
              <a:rPr lang="it-IT" sz="1200" b="0" dirty="0">
                <a:solidFill>
                  <a:srgbClr val="D4D4D4"/>
                </a:solidFill>
                <a:effectLst/>
                <a:latin typeface="Consolas" panose="020B0609020204030204" pitchFamily="49" charset="0"/>
              </a:rPr>
              <a:t> +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a:p>
            <a:endParaRPr lang="it-IT" sz="1200" b="0" dirty="0">
              <a:solidFill>
                <a:srgbClr val="D4D4D4"/>
              </a:solidFill>
              <a:effectLst/>
              <a:latin typeface="Consolas" panose="020B0609020204030204" pitchFamily="49" charset="0"/>
            </a:endParaRPr>
          </a:p>
        </p:txBody>
      </p:sp>
      <p:sp>
        <p:nvSpPr>
          <p:cNvPr id="13" name="CasellaDiTesto 12">
            <a:extLst>
              <a:ext uri="{FF2B5EF4-FFF2-40B4-BE49-F238E27FC236}">
                <a16:creationId xmlns:a16="http://schemas.microsoft.com/office/drawing/2014/main" id="{FFAE8FDB-DD30-7C60-04B3-201B0E238458}"/>
              </a:ext>
            </a:extLst>
          </p:cNvPr>
          <p:cNvSpPr txBox="1"/>
          <p:nvPr/>
        </p:nvSpPr>
        <p:spPr>
          <a:xfrm>
            <a:off x="300404" y="4506040"/>
            <a:ext cx="9330628" cy="2308324"/>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Student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grade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Student</a:t>
            </a:r>
            <a:r>
              <a:rPr lang="it-IT" sz="1200" b="0" dirty="0">
                <a:solidFill>
                  <a:srgbClr val="D4D4D4"/>
                </a:solidFill>
                <a:effectLst/>
                <a:latin typeface="Consolas" panose="020B0609020204030204" pitchFamily="49" charset="0"/>
              </a:rPr>
              <a:t>(</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grade)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super</a:t>
            </a:r>
            <a:r>
              <a:rPr lang="it-IT" sz="1200" b="0" dirty="0">
                <a:solidFill>
                  <a:srgbClr val="D4D4D4"/>
                </a:solidFill>
                <a:effectLst/>
                <a:latin typeface="Consolas" panose="020B0609020204030204" pitchFamily="49" charset="0"/>
              </a:rPr>
              <a:t>(name)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.grade</a:t>
            </a:r>
            <a:r>
              <a:rPr lang="it-IT" sz="1200" b="0" dirty="0">
                <a:solidFill>
                  <a:srgbClr val="D4D4D4"/>
                </a:solidFill>
                <a:effectLst/>
                <a:latin typeface="Consolas" panose="020B0609020204030204" pitchFamily="49" charset="0"/>
              </a:rPr>
              <a:t> = grade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printInfo</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"Sono uno studente di nome "</a:t>
            </a:r>
            <a:r>
              <a:rPr lang="it-IT" sz="1200" b="0" dirty="0">
                <a:solidFill>
                  <a:srgbClr val="D4D4D4"/>
                </a:solidFill>
                <a:effectLst/>
                <a:latin typeface="Consolas" panose="020B0609020204030204" pitchFamily="49" charset="0"/>
              </a:rPr>
              <a:t> + </a:t>
            </a:r>
            <a:r>
              <a:rPr lang="it-IT" sz="1200" b="0" dirty="0">
                <a:solidFill>
                  <a:srgbClr val="569CD6"/>
                </a:solidFill>
                <a:effectLst/>
                <a:latin typeface="Consolas" panose="020B0609020204030204" pitchFamily="49" charset="0"/>
              </a:rPr>
              <a:t>this</a:t>
            </a:r>
            <a:r>
              <a:rPr lang="it-IT" sz="1200" b="0" dirty="0">
                <a:solidFill>
                  <a:srgbClr val="D4D4D4"/>
                </a:solidFill>
                <a:effectLst/>
                <a:latin typeface="Consolas" panose="020B0609020204030204" pitchFamily="49" charset="0"/>
              </a:rPr>
              <a:t>.name + </a:t>
            </a:r>
            <a:r>
              <a:rPr lang="it-IT" sz="1200" b="0" dirty="0">
                <a:solidFill>
                  <a:srgbClr val="CE9178"/>
                </a:solidFill>
                <a:effectLst/>
                <a:latin typeface="Consolas" panose="020B0609020204030204" pitchFamily="49" charset="0"/>
              </a:rPr>
              <a:t>" e ho la media del "</a:t>
            </a:r>
            <a:r>
              <a:rPr lang="it-IT" sz="1200" b="0" dirty="0">
                <a:solidFill>
                  <a:srgbClr val="D4D4D4"/>
                </a:solidFill>
                <a:effectLst/>
                <a:latin typeface="Consolas" panose="020B0609020204030204" pitchFamily="49" charset="0"/>
              </a:rPr>
              <a:t> +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.grade</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4" name="Rectangle 2">
            <a:extLst>
              <a:ext uri="{FF2B5EF4-FFF2-40B4-BE49-F238E27FC236}">
                <a16:creationId xmlns:a16="http://schemas.microsoft.com/office/drawing/2014/main" id="{78B216BF-DE46-D867-9E14-72ADCB14A054}"/>
              </a:ext>
            </a:extLst>
          </p:cNvPr>
          <p:cNvSpPr>
            <a:spLocks noChangeArrowheads="1"/>
          </p:cNvSpPr>
          <p:nvPr/>
        </p:nvSpPr>
        <p:spPr bwMode="auto">
          <a:xfrm>
            <a:off x="6297227" y="2078407"/>
            <a:ext cx="5894773" cy="2677656"/>
          </a:xfrm>
          <a:prstGeom prst="rect">
            <a:avLst/>
          </a:prstGeom>
          <a:solidFill>
            <a:srgbClr val="F7F7F8"/>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dirty="0">
                <a:ln>
                  <a:noFill/>
                </a:ln>
                <a:solidFill>
                  <a:srgbClr val="374151"/>
                </a:solidFill>
                <a:effectLst/>
                <a:latin typeface="Söhne"/>
              </a:rPr>
              <a:t>In questo esempio, la classe </a:t>
            </a:r>
            <a:r>
              <a:rPr kumimoji="0" lang="it-IT" altLang="it-IT" sz="1400" b="1" i="0" u="none" strike="noStrike" cap="none" normalizeH="0" baseline="0" dirty="0" err="1">
                <a:ln>
                  <a:noFill/>
                </a:ln>
                <a:solidFill>
                  <a:srgbClr val="374151"/>
                </a:solidFill>
                <a:effectLst/>
                <a:latin typeface="Söhne Mono"/>
              </a:rPr>
              <a:t>Person</a:t>
            </a:r>
            <a:r>
              <a:rPr kumimoji="0" lang="it-IT" altLang="it-IT" sz="1400" b="0" i="0" u="none" strike="noStrike" cap="none" normalizeH="0" baseline="0" dirty="0">
                <a:ln>
                  <a:noFill/>
                </a:ln>
                <a:solidFill>
                  <a:srgbClr val="374151"/>
                </a:solidFill>
                <a:effectLst/>
                <a:latin typeface="Söhne"/>
              </a:rPr>
              <a:t> ha un campo </a:t>
            </a:r>
            <a:r>
              <a:rPr kumimoji="0" lang="it-IT" altLang="it-IT" sz="1400" b="1" i="0" u="none" strike="noStrike" cap="none" normalizeH="0" baseline="0" dirty="0">
                <a:ln>
                  <a:noFill/>
                </a:ln>
                <a:solidFill>
                  <a:srgbClr val="374151"/>
                </a:solidFill>
                <a:effectLst/>
                <a:latin typeface="Söhne Mono"/>
              </a:rPr>
              <a:t>private</a:t>
            </a:r>
            <a:r>
              <a:rPr kumimoji="0" lang="it-IT" altLang="it-IT" sz="1400" b="0" i="0" u="none" strike="noStrike" cap="none" normalizeH="0" baseline="0" dirty="0">
                <a:ln>
                  <a:noFill/>
                </a:ln>
                <a:solidFill>
                  <a:srgbClr val="374151"/>
                </a:solidFill>
                <a:effectLst/>
                <a:latin typeface="Söhne"/>
              </a:rPr>
              <a:t> chiamato </a:t>
            </a:r>
            <a:r>
              <a:rPr kumimoji="0" lang="it-IT" altLang="it-IT" sz="1400" b="1" i="0" u="none" strike="noStrike" cap="none" normalizeH="0" baseline="0" dirty="0">
                <a:ln>
                  <a:noFill/>
                </a:ln>
                <a:solidFill>
                  <a:srgbClr val="374151"/>
                </a:solidFill>
                <a:effectLst/>
                <a:latin typeface="Söhne Mono"/>
              </a:rPr>
              <a:t>name</a:t>
            </a:r>
            <a:r>
              <a:rPr kumimoji="0" lang="it-IT" altLang="it-IT" sz="1400" b="0" i="0" u="none" strike="noStrike" cap="none" normalizeH="0" baseline="0" dirty="0">
                <a:ln>
                  <a:noFill/>
                </a:ln>
                <a:solidFill>
                  <a:srgbClr val="374151"/>
                </a:solidFill>
                <a:effectLst/>
                <a:latin typeface="Söhne"/>
              </a:rPr>
              <a:t>, il che significa che può essere acceduto solo all'interno della classe stessa. La classe </a:t>
            </a:r>
            <a:r>
              <a:rPr kumimoji="0" lang="it-IT" altLang="it-IT" sz="1400" b="1" i="0" u="none" strike="noStrike" cap="none" normalizeH="0" baseline="0" dirty="0" err="1">
                <a:ln>
                  <a:noFill/>
                </a:ln>
                <a:solidFill>
                  <a:srgbClr val="374151"/>
                </a:solidFill>
                <a:effectLst/>
                <a:latin typeface="Söhne Mono"/>
              </a:rPr>
              <a:t>Student</a:t>
            </a:r>
            <a:r>
              <a:rPr kumimoji="0" lang="it-IT" altLang="it-IT" sz="1400" b="0" i="0" u="none" strike="noStrike" cap="none" normalizeH="0" baseline="0" dirty="0">
                <a:ln>
                  <a:noFill/>
                </a:ln>
                <a:solidFill>
                  <a:srgbClr val="374151"/>
                </a:solidFill>
                <a:effectLst/>
                <a:latin typeface="Söhne"/>
              </a:rPr>
              <a:t> estende </a:t>
            </a:r>
            <a:r>
              <a:rPr kumimoji="0" lang="it-IT" altLang="it-IT" sz="1400" b="1" i="0" u="none" strike="noStrike" cap="none" normalizeH="0" baseline="0" dirty="0" err="1">
                <a:ln>
                  <a:noFill/>
                </a:ln>
                <a:solidFill>
                  <a:srgbClr val="374151"/>
                </a:solidFill>
                <a:effectLst/>
                <a:latin typeface="Söhne Mono"/>
              </a:rPr>
              <a:t>Person</a:t>
            </a:r>
            <a:r>
              <a:rPr kumimoji="0" lang="it-IT" altLang="it-IT" sz="1400" b="0" i="0" u="none" strike="noStrike" cap="none" normalizeH="0" baseline="0" dirty="0">
                <a:ln>
                  <a:noFill/>
                </a:ln>
                <a:solidFill>
                  <a:srgbClr val="374151"/>
                </a:solidFill>
                <a:effectLst/>
                <a:latin typeface="Söhne"/>
              </a:rPr>
              <a:t> e ha anche un campo </a:t>
            </a:r>
            <a:r>
              <a:rPr kumimoji="0" lang="it-IT" altLang="it-IT" sz="1400" b="1" i="0" u="none" strike="noStrike" cap="none" normalizeH="0" baseline="0" dirty="0">
                <a:ln>
                  <a:noFill/>
                </a:ln>
                <a:solidFill>
                  <a:srgbClr val="374151"/>
                </a:solidFill>
                <a:effectLst/>
                <a:latin typeface="Söhne Mono"/>
              </a:rPr>
              <a:t>private</a:t>
            </a:r>
            <a:r>
              <a:rPr kumimoji="0" lang="it-IT" altLang="it-IT" sz="1400" b="0" i="0" u="none" strike="noStrike" cap="none" normalizeH="0" baseline="0" dirty="0">
                <a:ln>
                  <a:noFill/>
                </a:ln>
                <a:solidFill>
                  <a:srgbClr val="374151"/>
                </a:solidFill>
                <a:effectLst/>
                <a:latin typeface="Söhne"/>
              </a:rPr>
              <a:t> chiamato </a:t>
            </a:r>
            <a:r>
              <a:rPr kumimoji="0" lang="it-IT" altLang="it-IT" sz="1400" b="1" i="0" u="none" strike="noStrike" cap="none" normalizeH="0" baseline="0" dirty="0">
                <a:ln>
                  <a:noFill/>
                </a:ln>
                <a:solidFill>
                  <a:srgbClr val="374151"/>
                </a:solidFill>
                <a:effectLst/>
                <a:latin typeface="Söhne Mono"/>
              </a:rPr>
              <a:t>grade</a:t>
            </a:r>
            <a:r>
              <a:rPr kumimoji="0" lang="it-IT" altLang="it-IT" sz="1400" b="0" i="0" u="none" strike="noStrike" cap="none" normalizeH="0" baseline="0" dirty="0">
                <a:ln>
                  <a:noFill/>
                </a:ln>
                <a:solidFill>
                  <a:srgbClr val="374151"/>
                </a:solidFill>
                <a:effectLst/>
                <a:latin typeface="Söhne"/>
              </a:rPr>
              <a:t>.</a:t>
            </a:r>
            <a:endParaRPr kumimoji="0" lang="it-IT" altLang="it-IT"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dirty="0">
                <a:ln>
                  <a:noFill/>
                </a:ln>
                <a:solidFill>
                  <a:srgbClr val="374151"/>
                </a:solidFill>
                <a:effectLst/>
                <a:latin typeface="Söhne"/>
              </a:rPr>
              <a:t>Nella classe </a:t>
            </a:r>
            <a:r>
              <a:rPr kumimoji="0" lang="it-IT" altLang="it-IT" sz="1400" b="1" i="0" u="none" strike="noStrike" cap="none" normalizeH="0" baseline="0" dirty="0" err="1">
                <a:ln>
                  <a:noFill/>
                </a:ln>
                <a:solidFill>
                  <a:srgbClr val="374151"/>
                </a:solidFill>
                <a:effectLst/>
                <a:latin typeface="Söhne Mono"/>
              </a:rPr>
              <a:t>Student</a:t>
            </a:r>
            <a:r>
              <a:rPr kumimoji="0" lang="it-IT" altLang="it-IT" sz="1400" b="0" i="0" u="none" strike="noStrike" cap="none" normalizeH="0" baseline="0" dirty="0">
                <a:ln>
                  <a:noFill/>
                </a:ln>
                <a:solidFill>
                  <a:srgbClr val="374151"/>
                </a:solidFill>
                <a:effectLst/>
                <a:latin typeface="Söhne"/>
              </a:rPr>
              <a:t>, il costruttore chiama il costruttore della classe padre </a:t>
            </a:r>
            <a:r>
              <a:rPr kumimoji="0" lang="it-IT" altLang="it-IT" sz="1400" b="1" i="0" u="none" strike="noStrike" cap="none" normalizeH="0" baseline="0" dirty="0" err="1">
                <a:ln>
                  <a:noFill/>
                </a:ln>
                <a:solidFill>
                  <a:srgbClr val="374151"/>
                </a:solidFill>
                <a:effectLst/>
                <a:latin typeface="Söhne Mono"/>
              </a:rPr>
              <a:t>Person</a:t>
            </a:r>
            <a:r>
              <a:rPr kumimoji="0" lang="it-IT" altLang="it-IT" sz="1400" b="0" i="0" u="none" strike="noStrike" cap="none" normalizeH="0" baseline="0" dirty="0">
                <a:ln>
                  <a:noFill/>
                </a:ln>
                <a:solidFill>
                  <a:srgbClr val="374151"/>
                </a:solidFill>
                <a:effectLst/>
                <a:latin typeface="Söhne"/>
              </a:rPr>
              <a:t> usando la parola chiave </a:t>
            </a:r>
            <a:r>
              <a:rPr kumimoji="0" lang="it-IT" altLang="it-IT" sz="1400" b="1" i="0" u="none" strike="noStrike" cap="none" normalizeH="0" baseline="0" dirty="0">
                <a:ln>
                  <a:noFill/>
                </a:ln>
                <a:solidFill>
                  <a:srgbClr val="374151"/>
                </a:solidFill>
                <a:effectLst/>
                <a:latin typeface="Söhne Mono"/>
              </a:rPr>
              <a:t>super</a:t>
            </a:r>
            <a:r>
              <a:rPr kumimoji="0" lang="it-IT" altLang="it-IT" sz="1400" b="0" i="0" u="none" strike="noStrike" cap="none" normalizeH="0" baseline="0" dirty="0">
                <a:ln>
                  <a:noFill/>
                </a:ln>
                <a:solidFill>
                  <a:srgbClr val="374151"/>
                </a:solidFill>
                <a:effectLst/>
                <a:latin typeface="Söhne"/>
              </a:rPr>
              <a:t>, che è necessaria poiché la classe </a:t>
            </a:r>
            <a:r>
              <a:rPr kumimoji="0" lang="it-IT" altLang="it-IT" sz="1400" b="1" i="0" u="none" strike="noStrike" cap="none" normalizeH="0" baseline="0" dirty="0" err="1">
                <a:ln>
                  <a:noFill/>
                </a:ln>
                <a:solidFill>
                  <a:srgbClr val="374151"/>
                </a:solidFill>
                <a:effectLst/>
                <a:latin typeface="Söhne Mono"/>
              </a:rPr>
              <a:t>Person</a:t>
            </a:r>
            <a:r>
              <a:rPr kumimoji="0" lang="it-IT" altLang="it-IT" sz="1400" b="0" i="0" u="none" strike="noStrike" cap="none" normalizeH="0" baseline="0" dirty="0">
                <a:ln>
                  <a:noFill/>
                </a:ln>
                <a:solidFill>
                  <a:srgbClr val="374151"/>
                </a:solidFill>
                <a:effectLst/>
                <a:latin typeface="Söhne"/>
              </a:rPr>
              <a:t> non ha un costruttore vuoto.</a:t>
            </a:r>
            <a:endParaRPr kumimoji="0" lang="it-IT" altLang="it-IT"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dirty="0">
                <a:ln>
                  <a:noFill/>
                </a:ln>
                <a:solidFill>
                  <a:srgbClr val="374151"/>
                </a:solidFill>
                <a:effectLst/>
                <a:latin typeface="Söhne"/>
              </a:rPr>
              <a:t>Infine, la classe </a:t>
            </a:r>
            <a:r>
              <a:rPr kumimoji="0" lang="it-IT" altLang="it-IT" sz="1400" b="1" i="0" u="none" strike="noStrike" cap="none" normalizeH="0" baseline="0" dirty="0" err="1">
                <a:ln>
                  <a:noFill/>
                </a:ln>
                <a:solidFill>
                  <a:srgbClr val="374151"/>
                </a:solidFill>
                <a:effectLst/>
                <a:latin typeface="Söhne Mono"/>
              </a:rPr>
              <a:t>Student</a:t>
            </a:r>
            <a:r>
              <a:rPr kumimoji="0" lang="it-IT" altLang="it-IT" sz="1400" b="0" i="0" u="none" strike="noStrike" cap="none" normalizeH="0" baseline="0" dirty="0">
                <a:ln>
                  <a:noFill/>
                </a:ln>
                <a:solidFill>
                  <a:srgbClr val="374151"/>
                </a:solidFill>
                <a:effectLst/>
                <a:latin typeface="Söhne"/>
              </a:rPr>
              <a:t> ha un metodo </a:t>
            </a:r>
            <a:r>
              <a:rPr kumimoji="0" lang="it-IT" altLang="it-IT" sz="1400" b="1" i="0" u="none" strike="noStrike" cap="none" normalizeH="0" baseline="0" dirty="0" err="1">
                <a:ln>
                  <a:noFill/>
                </a:ln>
                <a:solidFill>
                  <a:srgbClr val="374151"/>
                </a:solidFill>
                <a:effectLst/>
                <a:latin typeface="Söhne Mono"/>
              </a:rPr>
              <a:t>printInfo</a:t>
            </a:r>
            <a:r>
              <a:rPr kumimoji="0" lang="it-IT" altLang="it-IT" sz="1400" b="1" i="0" u="none" strike="noStrike" cap="none" normalizeH="0" baseline="0" dirty="0">
                <a:ln>
                  <a:noFill/>
                </a:ln>
                <a:solidFill>
                  <a:srgbClr val="374151"/>
                </a:solidFill>
                <a:effectLst/>
                <a:latin typeface="Söhne Mono"/>
              </a:rPr>
              <a:t>()</a:t>
            </a:r>
            <a:r>
              <a:rPr kumimoji="0" lang="it-IT" altLang="it-IT" sz="1400" b="0" i="0" u="none" strike="noStrike" cap="none" normalizeH="0" baseline="0" dirty="0">
                <a:ln>
                  <a:noFill/>
                </a:ln>
                <a:solidFill>
                  <a:srgbClr val="374151"/>
                </a:solidFill>
                <a:effectLst/>
                <a:latin typeface="Söhne"/>
              </a:rPr>
              <a:t> che utilizza la parola chiave </a:t>
            </a:r>
            <a:r>
              <a:rPr kumimoji="0" lang="it-IT" altLang="it-IT" sz="1400" b="1" i="0" u="none" strike="noStrike" cap="none" normalizeH="0" baseline="0" dirty="0" err="1">
                <a:ln>
                  <a:noFill/>
                </a:ln>
                <a:solidFill>
                  <a:srgbClr val="374151"/>
                </a:solidFill>
                <a:effectLst/>
                <a:latin typeface="Söhne Mono"/>
              </a:rPr>
              <a:t>this</a:t>
            </a:r>
            <a:r>
              <a:rPr kumimoji="0" lang="it-IT" altLang="it-IT" sz="1400" b="0" i="0" u="none" strike="noStrike" cap="none" normalizeH="0" baseline="0" dirty="0">
                <a:ln>
                  <a:noFill/>
                </a:ln>
                <a:solidFill>
                  <a:srgbClr val="374151"/>
                </a:solidFill>
                <a:effectLst/>
                <a:latin typeface="Söhne"/>
              </a:rPr>
              <a:t> per riferirsi al campo </a:t>
            </a:r>
            <a:r>
              <a:rPr kumimoji="0" lang="it-IT" altLang="it-IT" sz="1400" b="1" i="0" u="none" strike="noStrike" cap="none" normalizeH="0" baseline="0" dirty="0">
                <a:ln>
                  <a:noFill/>
                </a:ln>
                <a:solidFill>
                  <a:srgbClr val="374151"/>
                </a:solidFill>
                <a:effectLst/>
                <a:latin typeface="Söhne Mono"/>
              </a:rPr>
              <a:t>name</a:t>
            </a:r>
            <a:r>
              <a:rPr kumimoji="0" lang="it-IT" altLang="it-IT" sz="1400" b="0" i="0" u="none" strike="noStrike" cap="none" normalizeH="0" baseline="0" dirty="0">
                <a:ln>
                  <a:noFill/>
                </a:ln>
                <a:solidFill>
                  <a:srgbClr val="374151"/>
                </a:solidFill>
                <a:effectLst/>
                <a:latin typeface="Söhne"/>
              </a:rPr>
              <a:t> della classe </a:t>
            </a:r>
            <a:r>
              <a:rPr kumimoji="0" lang="it-IT" altLang="it-IT" sz="1400" b="1" i="0" u="none" strike="noStrike" cap="none" normalizeH="0" baseline="0" dirty="0" err="1">
                <a:ln>
                  <a:noFill/>
                </a:ln>
                <a:solidFill>
                  <a:srgbClr val="374151"/>
                </a:solidFill>
                <a:effectLst/>
                <a:latin typeface="Söhne Mono"/>
              </a:rPr>
              <a:t>Person</a:t>
            </a:r>
            <a:r>
              <a:rPr kumimoji="0" lang="it-IT" altLang="it-IT" sz="1400" b="0" i="0" u="none" strike="noStrike" cap="none" normalizeH="0" baseline="0" dirty="0">
                <a:ln>
                  <a:noFill/>
                </a:ln>
                <a:solidFill>
                  <a:srgbClr val="374151"/>
                </a:solidFill>
                <a:effectLst/>
                <a:latin typeface="Söhne"/>
              </a:rPr>
              <a:t>, poiché </a:t>
            </a:r>
            <a:r>
              <a:rPr kumimoji="0" lang="it-IT" altLang="it-IT" sz="1400" b="1" i="0" u="none" strike="noStrike" cap="none" normalizeH="0" baseline="0" dirty="0">
                <a:ln>
                  <a:noFill/>
                </a:ln>
                <a:solidFill>
                  <a:srgbClr val="374151"/>
                </a:solidFill>
                <a:effectLst/>
                <a:latin typeface="Söhne Mono"/>
              </a:rPr>
              <a:t>name</a:t>
            </a:r>
            <a:r>
              <a:rPr kumimoji="0" lang="it-IT" altLang="it-IT" sz="1400" b="0" i="0" u="none" strike="noStrike" cap="none" normalizeH="0" baseline="0" dirty="0">
                <a:ln>
                  <a:noFill/>
                </a:ln>
                <a:solidFill>
                  <a:srgbClr val="374151"/>
                </a:solidFill>
                <a:effectLst/>
                <a:latin typeface="Söhne"/>
              </a:rPr>
              <a:t> è </a:t>
            </a:r>
            <a:r>
              <a:rPr kumimoji="0" lang="it-IT" altLang="it-IT" sz="1400" b="1" i="0" u="none" strike="noStrike" cap="none" normalizeH="0" baseline="0" dirty="0">
                <a:ln>
                  <a:noFill/>
                </a:ln>
                <a:solidFill>
                  <a:srgbClr val="374151"/>
                </a:solidFill>
                <a:effectLst/>
                <a:latin typeface="Söhne Mono"/>
              </a:rPr>
              <a:t>private</a:t>
            </a:r>
            <a:r>
              <a:rPr kumimoji="0" lang="it-IT" altLang="it-IT" sz="1400" b="0" i="0" u="none" strike="noStrike" cap="none" normalizeH="0" baseline="0" dirty="0">
                <a:ln>
                  <a:noFill/>
                </a:ln>
                <a:solidFill>
                  <a:srgbClr val="374151"/>
                </a:solidFill>
                <a:effectLst/>
                <a:latin typeface="Söhne"/>
              </a:rPr>
              <a:t> e non accessibile direttamente dalla classe figlia.</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dirty="0">
                <a:ln>
                  <a:noFill/>
                </a:ln>
                <a:solidFill>
                  <a:srgbClr val="374151"/>
                </a:solidFill>
                <a:effectLst/>
                <a:latin typeface="Söhne"/>
              </a:rPr>
              <a:t>L'utilizzo di </a:t>
            </a:r>
            <a:r>
              <a:rPr kumimoji="0" lang="it-IT" altLang="it-IT" sz="1400" b="1" i="0" u="none" strike="noStrike" cap="none" normalizeH="0" baseline="0" dirty="0">
                <a:ln>
                  <a:noFill/>
                </a:ln>
                <a:solidFill>
                  <a:srgbClr val="374151"/>
                </a:solidFill>
                <a:effectLst/>
                <a:latin typeface="Söhne Mono"/>
              </a:rPr>
              <a:t>private</a:t>
            </a:r>
            <a:r>
              <a:rPr kumimoji="0" lang="it-IT" altLang="it-IT" sz="1400" b="0" i="0" u="none" strike="noStrike" cap="none" normalizeH="0" baseline="0" dirty="0">
                <a:ln>
                  <a:noFill/>
                </a:ln>
                <a:solidFill>
                  <a:srgbClr val="374151"/>
                </a:solidFill>
                <a:effectLst/>
                <a:latin typeface="Söhne"/>
              </a:rPr>
              <a:t> e l'estensione di una classe sono utili perché aiutano a proteggere i campi e i metodi di una classe da accessi non autorizzati o modifiche indesiderate da parte di altre classi. </a:t>
            </a:r>
            <a:endParaRPr kumimoji="0" lang="it-IT" altLang="it-IT" sz="1400" b="0" i="0" u="none" strike="noStrike" cap="none" normalizeH="0" baseline="0" dirty="0">
              <a:ln>
                <a:noFill/>
              </a:ln>
              <a:solidFill>
                <a:schemeClr val="tx1"/>
              </a:solidFill>
              <a:effectLst/>
              <a:latin typeface="Arial" panose="020B0604020202020204" pitchFamily="34" charset="0"/>
            </a:endParaRPr>
          </a:p>
        </p:txBody>
      </p:sp>
      <p:pic>
        <p:nvPicPr>
          <p:cNvPr id="3" name="Picture 2" descr="Java Logo, symbol, meaning, history, PNG, brand">
            <a:extLst>
              <a:ext uri="{FF2B5EF4-FFF2-40B4-BE49-F238E27FC236}">
                <a16:creationId xmlns:a16="http://schemas.microsoft.com/office/drawing/2014/main" id="{0A647075-6EE8-87FD-85E9-22B76DF2D9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77494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Private</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private e di estensione di una classe in Java:</a:t>
            </a:r>
          </a:p>
        </p:txBody>
      </p:sp>
      <p:sp>
        <p:nvSpPr>
          <p:cNvPr id="10" name="CasellaDiTesto 9">
            <a:extLst>
              <a:ext uri="{FF2B5EF4-FFF2-40B4-BE49-F238E27FC236}">
                <a16:creationId xmlns:a16="http://schemas.microsoft.com/office/drawing/2014/main" id="{FA65A9B2-A292-D5C9-2234-BFC067696624}"/>
              </a:ext>
            </a:extLst>
          </p:cNvPr>
          <p:cNvSpPr txBox="1"/>
          <p:nvPr/>
        </p:nvSpPr>
        <p:spPr>
          <a:xfrm>
            <a:off x="277727" y="2078407"/>
            <a:ext cx="9353304" cy="2308324"/>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this</a:t>
            </a:r>
            <a:r>
              <a:rPr lang="it-IT" sz="1200" b="0" dirty="0">
                <a:solidFill>
                  <a:srgbClr val="D4D4D4"/>
                </a:solidFill>
                <a:effectLst/>
                <a:latin typeface="Consolas" panose="020B0609020204030204" pitchFamily="49" charset="0"/>
              </a:rPr>
              <a:t>.name =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sayHello</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"Ciao, sono "</a:t>
            </a:r>
            <a:r>
              <a:rPr lang="it-IT" sz="1200" b="0" dirty="0">
                <a:solidFill>
                  <a:srgbClr val="D4D4D4"/>
                </a:solidFill>
                <a:effectLst/>
                <a:latin typeface="Consolas" panose="020B0609020204030204" pitchFamily="49" charset="0"/>
              </a:rPr>
              <a:t> + 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a:p>
            <a:endParaRPr lang="it-IT" sz="1200" b="0" dirty="0">
              <a:solidFill>
                <a:srgbClr val="D4D4D4"/>
              </a:solidFill>
              <a:effectLst/>
              <a:latin typeface="Consolas" panose="020B0609020204030204" pitchFamily="49" charset="0"/>
            </a:endParaRPr>
          </a:p>
        </p:txBody>
      </p:sp>
      <p:sp>
        <p:nvSpPr>
          <p:cNvPr id="13" name="CasellaDiTesto 12">
            <a:extLst>
              <a:ext uri="{FF2B5EF4-FFF2-40B4-BE49-F238E27FC236}">
                <a16:creationId xmlns:a16="http://schemas.microsoft.com/office/drawing/2014/main" id="{FFAE8FDB-DD30-7C60-04B3-201B0E238458}"/>
              </a:ext>
            </a:extLst>
          </p:cNvPr>
          <p:cNvSpPr txBox="1"/>
          <p:nvPr/>
        </p:nvSpPr>
        <p:spPr>
          <a:xfrm>
            <a:off x="300404" y="4506040"/>
            <a:ext cx="9330628" cy="2308324"/>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Student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Person</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grade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Student</a:t>
            </a:r>
            <a:r>
              <a:rPr lang="it-IT" sz="1200" b="0" dirty="0">
                <a:solidFill>
                  <a:srgbClr val="D4D4D4"/>
                </a:solidFill>
                <a:effectLst/>
                <a:latin typeface="Consolas" panose="020B0609020204030204" pitchFamily="49" charset="0"/>
              </a:rPr>
              <a:t>(</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name</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grade)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super</a:t>
            </a:r>
            <a:r>
              <a:rPr lang="it-IT" sz="1200" b="0" dirty="0">
                <a:solidFill>
                  <a:srgbClr val="D4D4D4"/>
                </a:solidFill>
                <a:effectLst/>
                <a:latin typeface="Consolas" panose="020B0609020204030204" pitchFamily="49" charset="0"/>
              </a:rPr>
              <a:t>(name)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.grade</a:t>
            </a:r>
            <a:r>
              <a:rPr lang="it-IT" sz="1200" b="0" dirty="0">
                <a:solidFill>
                  <a:srgbClr val="D4D4D4"/>
                </a:solidFill>
                <a:effectLst/>
                <a:latin typeface="Consolas" panose="020B0609020204030204" pitchFamily="49" charset="0"/>
              </a:rPr>
              <a:t> = grade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printInfo</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"Sono uno studente di nome "</a:t>
            </a:r>
            <a:r>
              <a:rPr lang="it-IT" sz="1200" b="0" dirty="0">
                <a:solidFill>
                  <a:srgbClr val="D4D4D4"/>
                </a:solidFill>
                <a:effectLst/>
                <a:latin typeface="Consolas" panose="020B0609020204030204" pitchFamily="49" charset="0"/>
              </a:rPr>
              <a:t> + </a:t>
            </a:r>
            <a:r>
              <a:rPr lang="it-IT" sz="1200" b="0" dirty="0">
                <a:solidFill>
                  <a:srgbClr val="569CD6"/>
                </a:solidFill>
                <a:effectLst/>
                <a:latin typeface="Consolas" panose="020B0609020204030204" pitchFamily="49" charset="0"/>
              </a:rPr>
              <a:t>this</a:t>
            </a:r>
            <a:r>
              <a:rPr lang="it-IT" sz="1200" b="0" dirty="0">
                <a:solidFill>
                  <a:srgbClr val="D4D4D4"/>
                </a:solidFill>
                <a:effectLst/>
                <a:latin typeface="Consolas" panose="020B0609020204030204" pitchFamily="49" charset="0"/>
              </a:rPr>
              <a:t>.name + </a:t>
            </a:r>
            <a:r>
              <a:rPr lang="it-IT" sz="1200" b="0" dirty="0">
                <a:solidFill>
                  <a:srgbClr val="CE9178"/>
                </a:solidFill>
                <a:effectLst/>
                <a:latin typeface="Consolas" panose="020B0609020204030204" pitchFamily="49" charset="0"/>
              </a:rPr>
              <a:t>" e ho la media del "</a:t>
            </a:r>
            <a:r>
              <a:rPr lang="it-IT" sz="1200" b="0" dirty="0">
                <a:solidFill>
                  <a:srgbClr val="D4D4D4"/>
                </a:solidFill>
                <a:effectLst/>
                <a:latin typeface="Consolas" panose="020B0609020204030204" pitchFamily="49" charset="0"/>
              </a:rPr>
              <a:t> +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.grade</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4" name="Rectangle 2">
            <a:extLst>
              <a:ext uri="{FF2B5EF4-FFF2-40B4-BE49-F238E27FC236}">
                <a16:creationId xmlns:a16="http://schemas.microsoft.com/office/drawing/2014/main" id="{78B216BF-DE46-D867-9E14-72ADCB14A054}"/>
              </a:ext>
            </a:extLst>
          </p:cNvPr>
          <p:cNvSpPr>
            <a:spLocks noChangeArrowheads="1"/>
          </p:cNvSpPr>
          <p:nvPr/>
        </p:nvSpPr>
        <p:spPr bwMode="auto">
          <a:xfrm>
            <a:off x="6297227" y="2078407"/>
            <a:ext cx="5894773" cy="3108543"/>
          </a:xfrm>
          <a:prstGeom prst="rect">
            <a:avLst/>
          </a:prstGeom>
          <a:solidFill>
            <a:srgbClr val="F7F7F8"/>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dirty="0">
                <a:ln>
                  <a:noFill/>
                </a:ln>
                <a:solidFill>
                  <a:srgbClr val="374151"/>
                </a:solidFill>
                <a:effectLst/>
                <a:latin typeface="Söhne"/>
              </a:rPr>
              <a:t>In questo esempio, la classe </a:t>
            </a:r>
            <a:r>
              <a:rPr kumimoji="0" lang="it-IT" altLang="it-IT" sz="1400" b="1" i="0" u="none" strike="noStrike" cap="none" normalizeH="0" baseline="0" dirty="0" err="1">
                <a:ln>
                  <a:noFill/>
                </a:ln>
                <a:solidFill>
                  <a:srgbClr val="374151"/>
                </a:solidFill>
                <a:effectLst/>
                <a:latin typeface="Söhne Mono"/>
              </a:rPr>
              <a:t>Person</a:t>
            </a:r>
            <a:r>
              <a:rPr kumimoji="0" lang="it-IT" altLang="it-IT" sz="1400" b="0" i="0" u="none" strike="noStrike" cap="none" normalizeH="0" baseline="0" dirty="0">
                <a:ln>
                  <a:noFill/>
                </a:ln>
                <a:solidFill>
                  <a:srgbClr val="374151"/>
                </a:solidFill>
                <a:effectLst/>
                <a:latin typeface="Söhne"/>
              </a:rPr>
              <a:t> ha un campo </a:t>
            </a:r>
            <a:r>
              <a:rPr kumimoji="0" lang="it-IT" altLang="it-IT" sz="1400" b="1" i="0" u="none" strike="noStrike" cap="none" normalizeH="0" baseline="0" dirty="0">
                <a:ln>
                  <a:noFill/>
                </a:ln>
                <a:solidFill>
                  <a:srgbClr val="374151"/>
                </a:solidFill>
                <a:effectLst/>
                <a:latin typeface="Söhne Mono"/>
              </a:rPr>
              <a:t>private</a:t>
            </a:r>
            <a:r>
              <a:rPr kumimoji="0" lang="it-IT" altLang="it-IT" sz="1400" b="0" i="0" u="none" strike="noStrike" cap="none" normalizeH="0" baseline="0" dirty="0">
                <a:ln>
                  <a:noFill/>
                </a:ln>
                <a:solidFill>
                  <a:srgbClr val="374151"/>
                </a:solidFill>
                <a:effectLst/>
                <a:latin typeface="Söhne"/>
              </a:rPr>
              <a:t> chiamato </a:t>
            </a:r>
            <a:r>
              <a:rPr kumimoji="0" lang="it-IT" altLang="it-IT" sz="1400" b="1" i="0" u="none" strike="noStrike" cap="none" normalizeH="0" baseline="0" dirty="0">
                <a:ln>
                  <a:noFill/>
                </a:ln>
                <a:solidFill>
                  <a:srgbClr val="374151"/>
                </a:solidFill>
                <a:effectLst/>
                <a:latin typeface="Söhne Mono"/>
              </a:rPr>
              <a:t>name</a:t>
            </a:r>
            <a:r>
              <a:rPr kumimoji="0" lang="it-IT" altLang="it-IT" sz="1400" b="0" i="0" u="none" strike="noStrike" cap="none" normalizeH="0" baseline="0" dirty="0">
                <a:ln>
                  <a:noFill/>
                </a:ln>
                <a:solidFill>
                  <a:srgbClr val="374151"/>
                </a:solidFill>
                <a:effectLst/>
                <a:latin typeface="Söhne"/>
              </a:rPr>
              <a:t>, il che significa che può essere acceduto solo all'interno della classe stessa. La classe </a:t>
            </a:r>
            <a:r>
              <a:rPr kumimoji="0" lang="it-IT" altLang="it-IT" sz="1400" b="1" i="0" u="none" strike="noStrike" cap="none" normalizeH="0" baseline="0" dirty="0" err="1">
                <a:ln>
                  <a:noFill/>
                </a:ln>
                <a:solidFill>
                  <a:srgbClr val="374151"/>
                </a:solidFill>
                <a:effectLst/>
                <a:latin typeface="Söhne Mono"/>
              </a:rPr>
              <a:t>Student</a:t>
            </a:r>
            <a:r>
              <a:rPr kumimoji="0" lang="it-IT" altLang="it-IT" sz="1400" b="0" i="0" u="none" strike="noStrike" cap="none" normalizeH="0" baseline="0" dirty="0">
                <a:ln>
                  <a:noFill/>
                </a:ln>
                <a:solidFill>
                  <a:srgbClr val="374151"/>
                </a:solidFill>
                <a:effectLst/>
                <a:latin typeface="Söhne"/>
              </a:rPr>
              <a:t> estende </a:t>
            </a:r>
            <a:r>
              <a:rPr kumimoji="0" lang="it-IT" altLang="it-IT" sz="1400" b="1" i="0" u="none" strike="noStrike" cap="none" normalizeH="0" baseline="0" dirty="0" err="1">
                <a:ln>
                  <a:noFill/>
                </a:ln>
                <a:solidFill>
                  <a:srgbClr val="374151"/>
                </a:solidFill>
                <a:effectLst/>
                <a:latin typeface="Söhne Mono"/>
              </a:rPr>
              <a:t>Person</a:t>
            </a:r>
            <a:r>
              <a:rPr kumimoji="0" lang="it-IT" altLang="it-IT" sz="1400" b="0" i="0" u="none" strike="noStrike" cap="none" normalizeH="0" baseline="0" dirty="0">
                <a:ln>
                  <a:noFill/>
                </a:ln>
                <a:solidFill>
                  <a:srgbClr val="374151"/>
                </a:solidFill>
                <a:effectLst/>
                <a:latin typeface="Söhne"/>
              </a:rPr>
              <a:t> e ha anche un campo </a:t>
            </a:r>
            <a:r>
              <a:rPr kumimoji="0" lang="it-IT" altLang="it-IT" sz="1400" b="1" i="0" u="none" strike="noStrike" cap="none" normalizeH="0" baseline="0" dirty="0">
                <a:ln>
                  <a:noFill/>
                </a:ln>
                <a:solidFill>
                  <a:srgbClr val="374151"/>
                </a:solidFill>
                <a:effectLst/>
                <a:latin typeface="Söhne Mono"/>
              </a:rPr>
              <a:t>private</a:t>
            </a:r>
            <a:r>
              <a:rPr kumimoji="0" lang="it-IT" altLang="it-IT" sz="1400" b="0" i="0" u="none" strike="noStrike" cap="none" normalizeH="0" baseline="0" dirty="0">
                <a:ln>
                  <a:noFill/>
                </a:ln>
                <a:solidFill>
                  <a:srgbClr val="374151"/>
                </a:solidFill>
                <a:effectLst/>
                <a:latin typeface="Söhne"/>
              </a:rPr>
              <a:t> chiamato </a:t>
            </a:r>
            <a:r>
              <a:rPr kumimoji="0" lang="it-IT" altLang="it-IT" sz="1400" b="1" i="0" u="none" strike="noStrike" cap="none" normalizeH="0" baseline="0" dirty="0">
                <a:ln>
                  <a:noFill/>
                </a:ln>
                <a:solidFill>
                  <a:srgbClr val="374151"/>
                </a:solidFill>
                <a:effectLst/>
                <a:latin typeface="Söhne Mono"/>
              </a:rPr>
              <a:t>grade</a:t>
            </a:r>
            <a:r>
              <a:rPr kumimoji="0" lang="it-IT" altLang="it-IT" sz="1400" b="0" i="0" u="none" strike="noStrike" cap="none" normalizeH="0" baseline="0" dirty="0">
                <a:ln>
                  <a:noFill/>
                </a:ln>
                <a:solidFill>
                  <a:srgbClr val="374151"/>
                </a:solidFill>
                <a:effectLst/>
                <a:latin typeface="Söhne"/>
              </a:rPr>
              <a:t>.</a:t>
            </a:r>
            <a:endParaRPr kumimoji="0" lang="it-IT" altLang="it-IT"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dirty="0">
                <a:ln>
                  <a:noFill/>
                </a:ln>
                <a:solidFill>
                  <a:srgbClr val="374151"/>
                </a:solidFill>
                <a:effectLst/>
                <a:latin typeface="Söhne"/>
              </a:rPr>
              <a:t>Nella classe </a:t>
            </a:r>
            <a:r>
              <a:rPr kumimoji="0" lang="it-IT" altLang="it-IT" sz="1400" b="1" i="0" u="none" strike="noStrike" cap="none" normalizeH="0" baseline="0" dirty="0" err="1">
                <a:ln>
                  <a:noFill/>
                </a:ln>
                <a:solidFill>
                  <a:srgbClr val="374151"/>
                </a:solidFill>
                <a:effectLst/>
                <a:latin typeface="Söhne Mono"/>
              </a:rPr>
              <a:t>Student</a:t>
            </a:r>
            <a:r>
              <a:rPr kumimoji="0" lang="it-IT" altLang="it-IT" sz="1400" b="0" i="0" u="none" strike="noStrike" cap="none" normalizeH="0" baseline="0" dirty="0">
                <a:ln>
                  <a:noFill/>
                </a:ln>
                <a:solidFill>
                  <a:srgbClr val="374151"/>
                </a:solidFill>
                <a:effectLst/>
                <a:latin typeface="Söhne"/>
              </a:rPr>
              <a:t>, il costruttore chiama il costruttore della classe padre </a:t>
            </a:r>
            <a:r>
              <a:rPr kumimoji="0" lang="it-IT" altLang="it-IT" sz="1400" b="1" i="0" u="none" strike="noStrike" cap="none" normalizeH="0" baseline="0" dirty="0" err="1">
                <a:ln>
                  <a:noFill/>
                </a:ln>
                <a:solidFill>
                  <a:srgbClr val="374151"/>
                </a:solidFill>
                <a:effectLst/>
                <a:latin typeface="Söhne Mono"/>
              </a:rPr>
              <a:t>Person</a:t>
            </a:r>
            <a:r>
              <a:rPr kumimoji="0" lang="it-IT" altLang="it-IT" sz="1400" b="0" i="0" u="none" strike="noStrike" cap="none" normalizeH="0" baseline="0" dirty="0">
                <a:ln>
                  <a:noFill/>
                </a:ln>
                <a:solidFill>
                  <a:srgbClr val="374151"/>
                </a:solidFill>
                <a:effectLst/>
                <a:latin typeface="Söhne"/>
              </a:rPr>
              <a:t> usando la parola chiave </a:t>
            </a:r>
            <a:r>
              <a:rPr kumimoji="0" lang="it-IT" altLang="it-IT" sz="1400" b="1" i="0" u="none" strike="noStrike" cap="none" normalizeH="0" baseline="0" dirty="0">
                <a:ln>
                  <a:noFill/>
                </a:ln>
                <a:solidFill>
                  <a:srgbClr val="374151"/>
                </a:solidFill>
                <a:effectLst/>
                <a:latin typeface="Söhne Mono"/>
              </a:rPr>
              <a:t>super</a:t>
            </a:r>
            <a:r>
              <a:rPr kumimoji="0" lang="it-IT" altLang="it-IT" sz="1400" b="0" i="0" u="none" strike="noStrike" cap="none" normalizeH="0" baseline="0" dirty="0">
                <a:ln>
                  <a:noFill/>
                </a:ln>
                <a:solidFill>
                  <a:srgbClr val="374151"/>
                </a:solidFill>
                <a:effectLst/>
                <a:latin typeface="Söhne"/>
              </a:rPr>
              <a:t>, che è necessaria poiché la classe </a:t>
            </a:r>
            <a:r>
              <a:rPr kumimoji="0" lang="it-IT" altLang="it-IT" sz="1400" b="1" i="0" u="none" strike="noStrike" cap="none" normalizeH="0" baseline="0" dirty="0" err="1">
                <a:ln>
                  <a:noFill/>
                </a:ln>
                <a:solidFill>
                  <a:srgbClr val="374151"/>
                </a:solidFill>
                <a:effectLst/>
                <a:latin typeface="Söhne Mono"/>
              </a:rPr>
              <a:t>Person</a:t>
            </a:r>
            <a:r>
              <a:rPr kumimoji="0" lang="it-IT" altLang="it-IT" sz="1400" b="0" i="0" u="none" strike="noStrike" cap="none" normalizeH="0" baseline="0" dirty="0">
                <a:ln>
                  <a:noFill/>
                </a:ln>
                <a:solidFill>
                  <a:srgbClr val="374151"/>
                </a:solidFill>
                <a:effectLst/>
                <a:latin typeface="Söhne"/>
              </a:rPr>
              <a:t> non ha un costruttore vuoto.</a:t>
            </a:r>
            <a:endParaRPr kumimoji="0" lang="it-IT" altLang="it-IT"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dirty="0">
                <a:ln>
                  <a:noFill/>
                </a:ln>
                <a:solidFill>
                  <a:srgbClr val="374151"/>
                </a:solidFill>
                <a:effectLst/>
                <a:latin typeface="Söhne"/>
              </a:rPr>
              <a:t>Infine, la classe </a:t>
            </a:r>
            <a:r>
              <a:rPr kumimoji="0" lang="it-IT" altLang="it-IT" sz="1400" b="1" i="0" u="none" strike="noStrike" cap="none" normalizeH="0" baseline="0" dirty="0" err="1">
                <a:ln>
                  <a:noFill/>
                </a:ln>
                <a:solidFill>
                  <a:srgbClr val="374151"/>
                </a:solidFill>
                <a:effectLst/>
                <a:latin typeface="Söhne Mono"/>
              </a:rPr>
              <a:t>Student</a:t>
            </a:r>
            <a:r>
              <a:rPr kumimoji="0" lang="it-IT" altLang="it-IT" sz="1400" b="0" i="0" u="none" strike="noStrike" cap="none" normalizeH="0" baseline="0" dirty="0">
                <a:ln>
                  <a:noFill/>
                </a:ln>
                <a:solidFill>
                  <a:srgbClr val="374151"/>
                </a:solidFill>
                <a:effectLst/>
                <a:latin typeface="Söhne"/>
              </a:rPr>
              <a:t> ha un metodo </a:t>
            </a:r>
            <a:r>
              <a:rPr kumimoji="0" lang="it-IT" altLang="it-IT" sz="1400" b="1" i="0" u="none" strike="noStrike" cap="none" normalizeH="0" baseline="0" dirty="0" err="1">
                <a:ln>
                  <a:noFill/>
                </a:ln>
                <a:solidFill>
                  <a:srgbClr val="374151"/>
                </a:solidFill>
                <a:effectLst/>
                <a:latin typeface="Söhne Mono"/>
              </a:rPr>
              <a:t>printInfo</a:t>
            </a:r>
            <a:r>
              <a:rPr kumimoji="0" lang="it-IT" altLang="it-IT" sz="1400" b="1" i="0" u="none" strike="noStrike" cap="none" normalizeH="0" baseline="0" dirty="0">
                <a:ln>
                  <a:noFill/>
                </a:ln>
                <a:solidFill>
                  <a:srgbClr val="374151"/>
                </a:solidFill>
                <a:effectLst/>
                <a:latin typeface="Söhne Mono"/>
              </a:rPr>
              <a:t>()</a:t>
            </a:r>
            <a:r>
              <a:rPr kumimoji="0" lang="it-IT" altLang="it-IT" sz="1400" b="0" i="0" u="none" strike="noStrike" cap="none" normalizeH="0" baseline="0" dirty="0">
                <a:ln>
                  <a:noFill/>
                </a:ln>
                <a:solidFill>
                  <a:srgbClr val="374151"/>
                </a:solidFill>
                <a:effectLst/>
                <a:latin typeface="Söhne"/>
              </a:rPr>
              <a:t> che utilizza la parola chiave </a:t>
            </a:r>
            <a:r>
              <a:rPr kumimoji="0" lang="it-IT" altLang="it-IT" sz="1400" b="1" i="0" u="none" strike="noStrike" cap="none" normalizeH="0" baseline="0" dirty="0" err="1">
                <a:ln>
                  <a:noFill/>
                </a:ln>
                <a:solidFill>
                  <a:srgbClr val="374151"/>
                </a:solidFill>
                <a:effectLst/>
                <a:latin typeface="Söhne Mono"/>
              </a:rPr>
              <a:t>this</a:t>
            </a:r>
            <a:r>
              <a:rPr kumimoji="0" lang="it-IT" altLang="it-IT" sz="1400" b="0" i="0" u="none" strike="noStrike" cap="none" normalizeH="0" baseline="0" dirty="0">
                <a:ln>
                  <a:noFill/>
                </a:ln>
                <a:solidFill>
                  <a:srgbClr val="374151"/>
                </a:solidFill>
                <a:effectLst/>
                <a:latin typeface="Söhne"/>
              </a:rPr>
              <a:t> per riferirsi al campo </a:t>
            </a:r>
            <a:r>
              <a:rPr kumimoji="0" lang="it-IT" altLang="it-IT" sz="1400" b="1" i="0" u="none" strike="noStrike" cap="none" normalizeH="0" baseline="0" dirty="0">
                <a:ln>
                  <a:noFill/>
                </a:ln>
                <a:solidFill>
                  <a:srgbClr val="374151"/>
                </a:solidFill>
                <a:effectLst/>
                <a:latin typeface="Söhne Mono"/>
              </a:rPr>
              <a:t>name</a:t>
            </a:r>
            <a:r>
              <a:rPr kumimoji="0" lang="it-IT" altLang="it-IT" sz="1400" b="0" i="0" u="none" strike="noStrike" cap="none" normalizeH="0" baseline="0" dirty="0">
                <a:ln>
                  <a:noFill/>
                </a:ln>
                <a:solidFill>
                  <a:srgbClr val="374151"/>
                </a:solidFill>
                <a:effectLst/>
                <a:latin typeface="Söhne"/>
              </a:rPr>
              <a:t> della classe </a:t>
            </a:r>
            <a:r>
              <a:rPr kumimoji="0" lang="it-IT" altLang="it-IT" sz="1400" b="1" i="0" u="none" strike="noStrike" cap="none" normalizeH="0" baseline="0" dirty="0" err="1">
                <a:ln>
                  <a:noFill/>
                </a:ln>
                <a:solidFill>
                  <a:srgbClr val="374151"/>
                </a:solidFill>
                <a:effectLst/>
                <a:latin typeface="Söhne Mono"/>
              </a:rPr>
              <a:t>Person</a:t>
            </a:r>
            <a:r>
              <a:rPr kumimoji="0" lang="it-IT" altLang="it-IT" sz="1400" b="0" i="0" u="none" strike="noStrike" cap="none" normalizeH="0" baseline="0" dirty="0">
                <a:ln>
                  <a:noFill/>
                </a:ln>
                <a:solidFill>
                  <a:srgbClr val="374151"/>
                </a:solidFill>
                <a:effectLst/>
                <a:latin typeface="Söhne"/>
              </a:rPr>
              <a:t>, poiché </a:t>
            </a:r>
            <a:r>
              <a:rPr kumimoji="0" lang="it-IT" altLang="it-IT" sz="1400" b="1" i="0" u="none" strike="noStrike" cap="none" normalizeH="0" baseline="0" dirty="0">
                <a:ln>
                  <a:noFill/>
                </a:ln>
                <a:solidFill>
                  <a:srgbClr val="374151"/>
                </a:solidFill>
                <a:effectLst/>
                <a:latin typeface="Söhne Mono"/>
              </a:rPr>
              <a:t>name</a:t>
            </a:r>
            <a:r>
              <a:rPr kumimoji="0" lang="it-IT" altLang="it-IT" sz="1400" b="0" i="0" u="none" strike="noStrike" cap="none" normalizeH="0" baseline="0" dirty="0">
                <a:ln>
                  <a:noFill/>
                </a:ln>
                <a:solidFill>
                  <a:srgbClr val="374151"/>
                </a:solidFill>
                <a:effectLst/>
                <a:latin typeface="Söhne"/>
              </a:rPr>
              <a:t> è </a:t>
            </a:r>
            <a:r>
              <a:rPr kumimoji="0" lang="it-IT" altLang="it-IT" sz="1400" b="1" i="0" u="none" strike="noStrike" cap="none" normalizeH="0" baseline="0" dirty="0">
                <a:ln>
                  <a:noFill/>
                </a:ln>
                <a:solidFill>
                  <a:srgbClr val="374151"/>
                </a:solidFill>
                <a:effectLst/>
                <a:latin typeface="Söhne Mono"/>
              </a:rPr>
              <a:t>private</a:t>
            </a:r>
            <a:r>
              <a:rPr kumimoji="0" lang="it-IT" altLang="it-IT" sz="1400" b="0" i="0" u="none" strike="noStrike" cap="none" normalizeH="0" baseline="0" dirty="0">
                <a:ln>
                  <a:noFill/>
                </a:ln>
                <a:solidFill>
                  <a:srgbClr val="374151"/>
                </a:solidFill>
                <a:effectLst/>
                <a:latin typeface="Söhne"/>
              </a:rPr>
              <a:t> e non accessibile direttamente dalla classe figlia.</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dirty="0">
                <a:ln>
                  <a:noFill/>
                </a:ln>
                <a:solidFill>
                  <a:srgbClr val="374151"/>
                </a:solidFill>
                <a:effectLst/>
                <a:latin typeface="Söhne"/>
              </a:rPr>
              <a:t>L'utilizzo di </a:t>
            </a:r>
            <a:r>
              <a:rPr kumimoji="0" lang="it-IT" altLang="it-IT" sz="1400" b="1" i="0" u="none" strike="noStrike" cap="none" normalizeH="0" baseline="0" dirty="0">
                <a:ln>
                  <a:noFill/>
                </a:ln>
                <a:solidFill>
                  <a:srgbClr val="374151"/>
                </a:solidFill>
                <a:effectLst/>
                <a:latin typeface="Söhne Mono"/>
              </a:rPr>
              <a:t>private</a:t>
            </a:r>
            <a:r>
              <a:rPr kumimoji="0" lang="it-IT" altLang="it-IT" sz="1400" b="0" i="0" u="none" strike="noStrike" cap="none" normalizeH="0" baseline="0" dirty="0">
                <a:ln>
                  <a:noFill/>
                </a:ln>
                <a:solidFill>
                  <a:srgbClr val="374151"/>
                </a:solidFill>
                <a:effectLst/>
                <a:latin typeface="Söhne"/>
              </a:rPr>
              <a:t> e l'estensione di una classe sono utili perché aiutano a proteggere i campi e i metodi di una classe da accessi non autorizzati o modifiche indesiderate da parte di altre classi. Tuttavia, è importante tenere presente che l'estensione può portare all'</a:t>
            </a:r>
            <a:r>
              <a:rPr kumimoji="0" lang="it-IT" altLang="it-IT" sz="1400" b="0" i="0" u="none" strike="noStrike" cap="none" normalizeH="0" baseline="0" dirty="0" err="1">
                <a:ln>
                  <a:noFill/>
                </a:ln>
                <a:solidFill>
                  <a:srgbClr val="374151"/>
                </a:solidFill>
                <a:effectLst/>
                <a:latin typeface="Söhne"/>
              </a:rPr>
              <a:t>overriding</a:t>
            </a:r>
            <a:r>
              <a:rPr kumimoji="0" lang="it-IT" altLang="it-IT" sz="1400" b="0" i="0" u="none" strike="noStrike" cap="none" normalizeH="0" baseline="0" dirty="0">
                <a:ln>
                  <a:noFill/>
                </a:ln>
                <a:solidFill>
                  <a:srgbClr val="374151"/>
                </a:solidFill>
                <a:effectLst/>
                <a:latin typeface="Söhne"/>
              </a:rPr>
              <a:t> dei metodi della classe padre, che può causare problemi se non gestito correttamente.</a:t>
            </a:r>
            <a:endParaRPr kumimoji="0" lang="it-IT" altLang="it-IT" sz="1400" b="0" i="0" u="none" strike="noStrike" cap="none" normalizeH="0" baseline="0" dirty="0">
              <a:ln>
                <a:noFill/>
              </a:ln>
              <a:solidFill>
                <a:schemeClr val="tx1"/>
              </a:solidFill>
              <a:effectLst/>
              <a:latin typeface="Arial" panose="020B0604020202020204" pitchFamily="34" charset="0"/>
            </a:endParaRPr>
          </a:p>
        </p:txBody>
      </p:sp>
      <p:pic>
        <p:nvPicPr>
          <p:cNvPr id="16" name="Picture 2" descr="Java Logo, symbol, meaning, history, PNG, brand">
            <a:extLst>
              <a:ext uri="{FF2B5EF4-FFF2-40B4-BE49-F238E27FC236}">
                <a16:creationId xmlns:a16="http://schemas.microsoft.com/office/drawing/2014/main" id="{1254C7D9-18F2-3C13-1052-0BC11DB7E2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56681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FF30E4E0-BE22-B3B6-9519-8AD2FE59043D}"/>
              </a:ext>
            </a:extLst>
          </p:cNvPr>
          <p:cNvSpPr txBox="1"/>
          <p:nvPr/>
        </p:nvSpPr>
        <p:spPr>
          <a:xfrm>
            <a:off x="4429305" y="1997839"/>
            <a:ext cx="6094562" cy="1015663"/>
          </a:xfrm>
          <a:prstGeom prst="rect">
            <a:avLst/>
          </a:prstGeom>
          <a:noFill/>
        </p:spPr>
        <p:txBody>
          <a:bodyPr wrap="square">
            <a:spAutoFit/>
          </a:bodyPr>
          <a:lstStyle/>
          <a:p>
            <a:r>
              <a:rPr lang="it-IT" sz="2000" b="1" dirty="0" err="1"/>
              <a:t>Protected</a:t>
            </a:r>
            <a:r>
              <a:rPr lang="it-IT" sz="2000" dirty="0"/>
              <a:t>: i metodi con questo tipo di scope sono accessibili all'interno della classe in cui sono definiti e dalle sottoclassi che ereditano dalla classe.</a:t>
            </a:r>
          </a:p>
        </p:txBody>
      </p:sp>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pic>
        <p:nvPicPr>
          <p:cNvPr id="3" name="Picture 2" descr="Java Logo, symbol, meaning, history, PNG, brand">
            <a:extLst>
              <a:ext uri="{FF2B5EF4-FFF2-40B4-BE49-F238E27FC236}">
                <a16:creationId xmlns:a16="http://schemas.microsoft.com/office/drawing/2014/main" id="{B0AC925E-A49C-DE3C-8EB1-3002C9B64C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57960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FF30E4E0-BE22-B3B6-9519-8AD2FE59043D}"/>
              </a:ext>
            </a:extLst>
          </p:cNvPr>
          <p:cNvSpPr txBox="1"/>
          <p:nvPr/>
        </p:nvSpPr>
        <p:spPr>
          <a:xfrm>
            <a:off x="4429305" y="1997839"/>
            <a:ext cx="6094562" cy="1938992"/>
          </a:xfrm>
          <a:prstGeom prst="rect">
            <a:avLst/>
          </a:prstGeom>
          <a:noFill/>
        </p:spPr>
        <p:txBody>
          <a:bodyPr wrap="square">
            <a:spAutoFit/>
          </a:bodyPr>
          <a:lstStyle/>
          <a:p>
            <a:r>
              <a:rPr lang="it-IT" sz="2000" b="1" dirty="0" err="1"/>
              <a:t>Protected</a:t>
            </a:r>
            <a:r>
              <a:rPr lang="it-IT" sz="2000" dirty="0"/>
              <a:t>: i metodi con questo tipo di scope sono accessibili all'interno della classe in cui sono definiti e dalle sottoclassi che ereditano dalla classe. Questi metodi sono utilizzati per implementare il comportamento della classe e fornire una base per la creazione di nuove classi derivate.</a:t>
            </a:r>
          </a:p>
        </p:txBody>
      </p:sp>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pic>
        <p:nvPicPr>
          <p:cNvPr id="3" name="Picture 2" descr="Java Logo, symbol, meaning, history, PNG, brand">
            <a:extLst>
              <a:ext uri="{FF2B5EF4-FFF2-40B4-BE49-F238E27FC236}">
                <a16:creationId xmlns:a16="http://schemas.microsoft.com/office/drawing/2014/main" id="{1675EC1E-9D7D-1022-959E-4965FCBD5B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42148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FF30E4E0-BE22-B3B6-9519-8AD2FE59043D}"/>
              </a:ext>
            </a:extLst>
          </p:cNvPr>
          <p:cNvSpPr txBox="1"/>
          <p:nvPr/>
        </p:nvSpPr>
        <p:spPr>
          <a:xfrm>
            <a:off x="4429305" y="1997839"/>
            <a:ext cx="6094562" cy="2862322"/>
          </a:xfrm>
          <a:prstGeom prst="rect">
            <a:avLst/>
          </a:prstGeom>
          <a:noFill/>
        </p:spPr>
        <p:txBody>
          <a:bodyPr wrap="square">
            <a:spAutoFit/>
          </a:bodyPr>
          <a:lstStyle/>
          <a:p>
            <a:r>
              <a:rPr lang="it-IT" sz="2000" b="1" dirty="0" err="1"/>
              <a:t>Protected</a:t>
            </a:r>
            <a:r>
              <a:rPr lang="it-IT" sz="2000" dirty="0"/>
              <a:t>: i metodi con questo tipo di scope sono accessibili all'interno della classe in cui sono definiti e dalle sottoclassi che ereditano dalla classe. Questi metodi sono utilizzati per implementare il comportamento della classe e fornire una base per la creazione di nuove classi derivate. La classe diventa più estendibile poiché le sottoclassi possono utilizzare i metodi protetti per personalizzare il comportamento della classe madre.</a:t>
            </a:r>
          </a:p>
        </p:txBody>
      </p:sp>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pic>
        <p:nvPicPr>
          <p:cNvPr id="3" name="Picture 2" descr="Java Logo, symbol, meaning, history, PNG, brand">
            <a:extLst>
              <a:ext uri="{FF2B5EF4-FFF2-40B4-BE49-F238E27FC236}">
                <a16:creationId xmlns:a16="http://schemas.microsoft.com/office/drawing/2014/main" id="{7692E7F1-EA20-DA0E-A083-2711CD1DEB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28259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a:t>
            </a:r>
            <a:r>
              <a:rPr lang="it-IT" dirty="0" err="1"/>
              <a:t>protected</a:t>
            </a:r>
            <a:r>
              <a:rPr lang="it-IT" dirty="0"/>
              <a:t> e di estensione di una classe in Java.</a:t>
            </a:r>
          </a:p>
        </p:txBody>
      </p:sp>
      <p:pic>
        <p:nvPicPr>
          <p:cNvPr id="3" name="Picture 2" descr="Java Logo, symbol, meaning, history, PNG, brand">
            <a:extLst>
              <a:ext uri="{FF2B5EF4-FFF2-40B4-BE49-F238E27FC236}">
                <a16:creationId xmlns:a16="http://schemas.microsoft.com/office/drawing/2014/main" id="{EE61D916-09F7-C1DB-1F48-CD2A410FA3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8834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a:t>
            </a:r>
            <a:r>
              <a:rPr lang="it-IT" dirty="0" err="1"/>
              <a:t>protected</a:t>
            </a:r>
            <a:r>
              <a:rPr lang="it-IT" dirty="0"/>
              <a:t> e di estensione di una classe in Java.</a:t>
            </a:r>
          </a:p>
        </p:txBody>
      </p:sp>
      <p:sp>
        <p:nvSpPr>
          <p:cNvPr id="4" name="CasellaDiTesto 3">
            <a:extLst>
              <a:ext uri="{FF2B5EF4-FFF2-40B4-BE49-F238E27FC236}">
                <a16:creationId xmlns:a16="http://schemas.microsoft.com/office/drawing/2014/main" id="{D8A04ADC-A62B-57C7-C793-300E13474AB9}"/>
              </a:ext>
            </a:extLst>
          </p:cNvPr>
          <p:cNvSpPr txBox="1"/>
          <p:nvPr/>
        </p:nvSpPr>
        <p:spPr>
          <a:xfrm>
            <a:off x="282039" y="1896351"/>
            <a:ext cx="11384711" cy="646331"/>
          </a:xfrm>
          <a:prstGeom prst="rect">
            <a:avLst/>
          </a:prstGeom>
          <a:noFill/>
        </p:spPr>
        <p:txBody>
          <a:bodyPr wrap="square">
            <a:spAutoFit/>
          </a:bodyPr>
          <a:lstStyle/>
          <a:p>
            <a:r>
              <a:rPr lang="it-IT" dirty="0"/>
              <a:t>Il modificatore di accesso </a:t>
            </a:r>
            <a:r>
              <a:rPr lang="it-IT" dirty="0" err="1"/>
              <a:t>protected</a:t>
            </a:r>
            <a:r>
              <a:rPr lang="it-IT" dirty="0"/>
              <a:t> è simile al modificatore private, ma consente alle sottoclassi di accedere alle variabili e ai metodi della classe genitore. Ecco un esempio:</a:t>
            </a:r>
          </a:p>
        </p:txBody>
      </p:sp>
      <p:pic>
        <p:nvPicPr>
          <p:cNvPr id="3" name="Picture 2" descr="Java Logo, symbol, meaning, history, PNG, brand">
            <a:extLst>
              <a:ext uri="{FF2B5EF4-FFF2-40B4-BE49-F238E27FC236}">
                <a16:creationId xmlns:a16="http://schemas.microsoft.com/office/drawing/2014/main" id="{9A296F83-6518-B7E3-6FD5-2C6803093F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76601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a:t>
            </a:r>
            <a:r>
              <a:rPr lang="it-IT" dirty="0" err="1"/>
              <a:t>protected</a:t>
            </a:r>
            <a:r>
              <a:rPr lang="it-IT" dirty="0"/>
              <a:t> e di estensione di una classe in Java.</a:t>
            </a:r>
          </a:p>
        </p:txBody>
      </p:sp>
      <p:sp>
        <p:nvSpPr>
          <p:cNvPr id="4" name="CasellaDiTesto 3">
            <a:extLst>
              <a:ext uri="{FF2B5EF4-FFF2-40B4-BE49-F238E27FC236}">
                <a16:creationId xmlns:a16="http://schemas.microsoft.com/office/drawing/2014/main" id="{D8A04ADC-A62B-57C7-C793-300E13474AB9}"/>
              </a:ext>
            </a:extLst>
          </p:cNvPr>
          <p:cNvSpPr txBox="1"/>
          <p:nvPr/>
        </p:nvSpPr>
        <p:spPr>
          <a:xfrm>
            <a:off x="282039" y="1896351"/>
            <a:ext cx="11384711" cy="646331"/>
          </a:xfrm>
          <a:prstGeom prst="rect">
            <a:avLst/>
          </a:prstGeom>
          <a:noFill/>
        </p:spPr>
        <p:txBody>
          <a:bodyPr wrap="square">
            <a:spAutoFit/>
          </a:bodyPr>
          <a:lstStyle/>
          <a:p>
            <a:r>
              <a:rPr lang="it-IT" dirty="0"/>
              <a:t>Il modificatore di accesso </a:t>
            </a:r>
            <a:r>
              <a:rPr lang="it-IT" dirty="0" err="1"/>
              <a:t>protected</a:t>
            </a:r>
            <a:r>
              <a:rPr lang="it-IT" dirty="0"/>
              <a:t> è simile al modificatore private, ma consente alle sottoclassi di accedere alle variabili e ai metodi della classe genitore. Ecco un esempio:</a:t>
            </a:r>
          </a:p>
        </p:txBody>
      </p:sp>
      <p:sp>
        <p:nvSpPr>
          <p:cNvPr id="11" name="CasellaDiTesto 10">
            <a:extLst>
              <a:ext uri="{FF2B5EF4-FFF2-40B4-BE49-F238E27FC236}">
                <a16:creationId xmlns:a16="http://schemas.microsoft.com/office/drawing/2014/main" id="{437813BA-297F-56E7-7156-9972DB5E2ECC}"/>
              </a:ext>
            </a:extLst>
          </p:cNvPr>
          <p:cNvSpPr txBox="1"/>
          <p:nvPr/>
        </p:nvSpPr>
        <p:spPr>
          <a:xfrm>
            <a:off x="344463" y="2518025"/>
            <a:ext cx="4218911" cy="461665"/>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F435DAEA-60B5-26BD-8AE6-8733B46A0B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92983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a:t>
            </a:r>
            <a:r>
              <a:rPr lang="it-IT" dirty="0" err="1"/>
              <a:t>protected</a:t>
            </a:r>
            <a:r>
              <a:rPr lang="it-IT" dirty="0"/>
              <a:t> e di estensione di una classe in Java.</a:t>
            </a:r>
          </a:p>
        </p:txBody>
      </p:sp>
      <p:sp>
        <p:nvSpPr>
          <p:cNvPr id="4" name="CasellaDiTesto 3">
            <a:extLst>
              <a:ext uri="{FF2B5EF4-FFF2-40B4-BE49-F238E27FC236}">
                <a16:creationId xmlns:a16="http://schemas.microsoft.com/office/drawing/2014/main" id="{D8A04ADC-A62B-57C7-C793-300E13474AB9}"/>
              </a:ext>
            </a:extLst>
          </p:cNvPr>
          <p:cNvSpPr txBox="1"/>
          <p:nvPr/>
        </p:nvSpPr>
        <p:spPr>
          <a:xfrm>
            <a:off x="282039" y="1896351"/>
            <a:ext cx="11384711" cy="646331"/>
          </a:xfrm>
          <a:prstGeom prst="rect">
            <a:avLst/>
          </a:prstGeom>
          <a:noFill/>
        </p:spPr>
        <p:txBody>
          <a:bodyPr wrap="square">
            <a:spAutoFit/>
          </a:bodyPr>
          <a:lstStyle/>
          <a:p>
            <a:r>
              <a:rPr lang="it-IT" dirty="0"/>
              <a:t>Il modificatore di accesso </a:t>
            </a:r>
            <a:r>
              <a:rPr lang="it-IT" dirty="0" err="1"/>
              <a:t>protected</a:t>
            </a:r>
            <a:r>
              <a:rPr lang="it-IT" dirty="0"/>
              <a:t> è simile al modificatore private, ma consente alle sottoclassi di accedere alle variabili e ai metodi della classe genitore. Ecco un esempio:</a:t>
            </a:r>
          </a:p>
        </p:txBody>
      </p:sp>
      <p:sp>
        <p:nvSpPr>
          <p:cNvPr id="11" name="CasellaDiTesto 10">
            <a:extLst>
              <a:ext uri="{FF2B5EF4-FFF2-40B4-BE49-F238E27FC236}">
                <a16:creationId xmlns:a16="http://schemas.microsoft.com/office/drawing/2014/main" id="{437813BA-297F-56E7-7156-9972DB5E2ECC}"/>
              </a:ext>
            </a:extLst>
          </p:cNvPr>
          <p:cNvSpPr txBox="1"/>
          <p:nvPr/>
        </p:nvSpPr>
        <p:spPr>
          <a:xfrm>
            <a:off x="344463" y="2518025"/>
            <a:ext cx="4218911" cy="830997"/>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CFB6725D-17DC-7566-D1C0-C41310B00E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65369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a:t>
            </a:r>
            <a:r>
              <a:rPr lang="it-IT" dirty="0" err="1"/>
              <a:t>protected</a:t>
            </a:r>
            <a:r>
              <a:rPr lang="it-IT" dirty="0"/>
              <a:t> e di estensione di una classe in Java.</a:t>
            </a:r>
          </a:p>
        </p:txBody>
      </p:sp>
      <p:sp>
        <p:nvSpPr>
          <p:cNvPr id="4" name="CasellaDiTesto 3">
            <a:extLst>
              <a:ext uri="{FF2B5EF4-FFF2-40B4-BE49-F238E27FC236}">
                <a16:creationId xmlns:a16="http://schemas.microsoft.com/office/drawing/2014/main" id="{D8A04ADC-A62B-57C7-C793-300E13474AB9}"/>
              </a:ext>
            </a:extLst>
          </p:cNvPr>
          <p:cNvSpPr txBox="1"/>
          <p:nvPr/>
        </p:nvSpPr>
        <p:spPr>
          <a:xfrm>
            <a:off x="282039" y="1896351"/>
            <a:ext cx="11384711" cy="646331"/>
          </a:xfrm>
          <a:prstGeom prst="rect">
            <a:avLst/>
          </a:prstGeom>
          <a:noFill/>
        </p:spPr>
        <p:txBody>
          <a:bodyPr wrap="square">
            <a:spAutoFit/>
          </a:bodyPr>
          <a:lstStyle/>
          <a:p>
            <a:r>
              <a:rPr lang="it-IT" dirty="0"/>
              <a:t>Il modificatore di accesso </a:t>
            </a:r>
            <a:r>
              <a:rPr lang="it-IT" dirty="0" err="1"/>
              <a:t>protected</a:t>
            </a:r>
            <a:r>
              <a:rPr lang="it-IT" dirty="0"/>
              <a:t> è simile al modificatore private, ma consente alle sottoclassi di accedere alle variabili e ai metodi della classe genitore. Ecco un esempio:</a:t>
            </a:r>
          </a:p>
        </p:txBody>
      </p:sp>
      <p:sp>
        <p:nvSpPr>
          <p:cNvPr id="11" name="CasellaDiTesto 10">
            <a:extLst>
              <a:ext uri="{FF2B5EF4-FFF2-40B4-BE49-F238E27FC236}">
                <a16:creationId xmlns:a16="http://schemas.microsoft.com/office/drawing/2014/main" id="{437813BA-297F-56E7-7156-9972DB5E2ECC}"/>
              </a:ext>
            </a:extLst>
          </p:cNvPr>
          <p:cNvSpPr txBox="1"/>
          <p:nvPr/>
        </p:nvSpPr>
        <p:spPr>
          <a:xfrm>
            <a:off x="344463" y="2518025"/>
            <a:ext cx="4218911" cy="1384995"/>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B5CBAF9E-FEB3-F444-1118-EEA8F0AE22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229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a:t>
            </a:r>
            <a:r>
              <a:rPr lang="it-IT" dirty="0" err="1"/>
              <a:t>protected</a:t>
            </a:r>
            <a:r>
              <a:rPr lang="it-IT" dirty="0"/>
              <a:t> e di estensione di una classe in Java.</a:t>
            </a:r>
          </a:p>
        </p:txBody>
      </p:sp>
      <p:sp>
        <p:nvSpPr>
          <p:cNvPr id="4" name="CasellaDiTesto 3">
            <a:extLst>
              <a:ext uri="{FF2B5EF4-FFF2-40B4-BE49-F238E27FC236}">
                <a16:creationId xmlns:a16="http://schemas.microsoft.com/office/drawing/2014/main" id="{D8A04ADC-A62B-57C7-C793-300E13474AB9}"/>
              </a:ext>
            </a:extLst>
          </p:cNvPr>
          <p:cNvSpPr txBox="1"/>
          <p:nvPr/>
        </p:nvSpPr>
        <p:spPr>
          <a:xfrm>
            <a:off x="282039" y="1896351"/>
            <a:ext cx="11384711" cy="646331"/>
          </a:xfrm>
          <a:prstGeom prst="rect">
            <a:avLst/>
          </a:prstGeom>
          <a:noFill/>
        </p:spPr>
        <p:txBody>
          <a:bodyPr wrap="square">
            <a:spAutoFit/>
          </a:bodyPr>
          <a:lstStyle/>
          <a:p>
            <a:r>
              <a:rPr lang="it-IT" dirty="0"/>
              <a:t>Il modificatore di accesso </a:t>
            </a:r>
            <a:r>
              <a:rPr lang="it-IT" dirty="0" err="1"/>
              <a:t>protected</a:t>
            </a:r>
            <a:r>
              <a:rPr lang="it-IT" dirty="0"/>
              <a:t> è simile al modificatore private, ma consente alle sottoclassi di accedere alle variabili e ai metodi della classe genitore. Ecco un esempio:</a:t>
            </a:r>
          </a:p>
        </p:txBody>
      </p:sp>
      <p:sp>
        <p:nvSpPr>
          <p:cNvPr id="11" name="CasellaDiTesto 10">
            <a:extLst>
              <a:ext uri="{FF2B5EF4-FFF2-40B4-BE49-F238E27FC236}">
                <a16:creationId xmlns:a16="http://schemas.microsoft.com/office/drawing/2014/main" id="{437813BA-297F-56E7-7156-9972DB5E2ECC}"/>
              </a:ext>
            </a:extLst>
          </p:cNvPr>
          <p:cNvSpPr txBox="1"/>
          <p:nvPr/>
        </p:nvSpPr>
        <p:spPr>
          <a:xfrm>
            <a:off x="344463" y="2518025"/>
            <a:ext cx="4218911" cy="1754326"/>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369B608F-E9D6-BFE2-4B47-CCED56A4EA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91867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a:t>
            </a:r>
            <a:r>
              <a:rPr lang="it-IT" dirty="0" err="1"/>
              <a:t>protected</a:t>
            </a:r>
            <a:r>
              <a:rPr lang="it-IT" dirty="0"/>
              <a:t> e di estensione di una classe in Java.</a:t>
            </a:r>
          </a:p>
        </p:txBody>
      </p:sp>
      <p:sp>
        <p:nvSpPr>
          <p:cNvPr id="4" name="CasellaDiTesto 3">
            <a:extLst>
              <a:ext uri="{FF2B5EF4-FFF2-40B4-BE49-F238E27FC236}">
                <a16:creationId xmlns:a16="http://schemas.microsoft.com/office/drawing/2014/main" id="{D8A04ADC-A62B-57C7-C793-300E13474AB9}"/>
              </a:ext>
            </a:extLst>
          </p:cNvPr>
          <p:cNvSpPr txBox="1"/>
          <p:nvPr/>
        </p:nvSpPr>
        <p:spPr>
          <a:xfrm>
            <a:off x="282039" y="1896351"/>
            <a:ext cx="11384711" cy="646331"/>
          </a:xfrm>
          <a:prstGeom prst="rect">
            <a:avLst/>
          </a:prstGeom>
          <a:noFill/>
        </p:spPr>
        <p:txBody>
          <a:bodyPr wrap="square">
            <a:spAutoFit/>
          </a:bodyPr>
          <a:lstStyle/>
          <a:p>
            <a:r>
              <a:rPr lang="it-IT" dirty="0"/>
              <a:t>Il modificatore di accesso </a:t>
            </a:r>
            <a:r>
              <a:rPr lang="it-IT" dirty="0" err="1"/>
              <a:t>protected</a:t>
            </a:r>
            <a:r>
              <a:rPr lang="it-IT" dirty="0"/>
              <a:t> è simile al modificatore private, ma consente alle sottoclassi di accedere alle variabili e ai metodi della classe genitore. Ecco un esempio:</a:t>
            </a:r>
          </a:p>
        </p:txBody>
      </p:sp>
      <p:sp>
        <p:nvSpPr>
          <p:cNvPr id="11" name="CasellaDiTesto 10">
            <a:extLst>
              <a:ext uri="{FF2B5EF4-FFF2-40B4-BE49-F238E27FC236}">
                <a16:creationId xmlns:a16="http://schemas.microsoft.com/office/drawing/2014/main" id="{437813BA-297F-56E7-7156-9972DB5E2ECC}"/>
              </a:ext>
            </a:extLst>
          </p:cNvPr>
          <p:cNvSpPr txBox="1"/>
          <p:nvPr/>
        </p:nvSpPr>
        <p:spPr>
          <a:xfrm>
            <a:off x="344463" y="2518025"/>
            <a:ext cx="4218911"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"Motore avviato"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66251D8A-DA24-30F2-BF55-1BD5986D0D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175199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a:t>
            </a:r>
            <a:r>
              <a:rPr lang="it-IT" dirty="0" err="1"/>
              <a:t>protected</a:t>
            </a:r>
            <a:r>
              <a:rPr lang="it-IT" dirty="0"/>
              <a:t> e di estensione di una classe in Java.</a:t>
            </a:r>
          </a:p>
        </p:txBody>
      </p:sp>
      <p:sp>
        <p:nvSpPr>
          <p:cNvPr id="4" name="CasellaDiTesto 3">
            <a:extLst>
              <a:ext uri="{FF2B5EF4-FFF2-40B4-BE49-F238E27FC236}">
                <a16:creationId xmlns:a16="http://schemas.microsoft.com/office/drawing/2014/main" id="{D8A04ADC-A62B-57C7-C793-300E13474AB9}"/>
              </a:ext>
            </a:extLst>
          </p:cNvPr>
          <p:cNvSpPr txBox="1"/>
          <p:nvPr/>
        </p:nvSpPr>
        <p:spPr>
          <a:xfrm>
            <a:off x="282039" y="1896351"/>
            <a:ext cx="11384711" cy="646331"/>
          </a:xfrm>
          <a:prstGeom prst="rect">
            <a:avLst/>
          </a:prstGeom>
          <a:noFill/>
        </p:spPr>
        <p:txBody>
          <a:bodyPr wrap="square">
            <a:spAutoFit/>
          </a:bodyPr>
          <a:lstStyle/>
          <a:p>
            <a:r>
              <a:rPr lang="it-IT" dirty="0"/>
              <a:t>Il modificatore di accesso </a:t>
            </a:r>
            <a:r>
              <a:rPr lang="it-IT" dirty="0" err="1"/>
              <a:t>protected</a:t>
            </a:r>
            <a:r>
              <a:rPr lang="it-IT" dirty="0"/>
              <a:t> è simile al modificatore private, ma consente alle sottoclassi di accedere alle variabili e ai metodi della classe genitore. Ecco un esempio:</a:t>
            </a:r>
          </a:p>
        </p:txBody>
      </p:sp>
      <p:sp>
        <p:nvSpPr>
          <p:cNvPr id="11" name="CasellaDiTesto 10">
            <a:extLst>
              <a:ext uri="{FF2B5EF4-FFF2-40B4-BE49-F238E27FC236}">
                <a16:creationId xmlns:a16="http://schemas.microsoft.com/office/drawing/2014/main" id="{437813BA-297F-56E7-7156-9972DB5E2ECC}"/>
              </a:ext>
            </a:extLst>
          </p:cNvPr>
          <p:cNvSpPr txBox="1"/>
          <p:nvPr/>
        </p:nvSpPr>
        <p:spPr>
          <a:xfrm>
            <a:off x="344463" y="2518025"/>
            <a:ext cx="4218911"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"Motore avviato"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A5823001-165E-6D73-7959-2CCE15149EA7}"/>
              </a:ext>
            </a:extLst>
          </p:cNvPr>
          <p:cNvSpPr txBox="1"/>
          <p:nvPr/>
        </p:nvSpPr>
        <p:spPr>
          <a:xfrm>
            <a:off x="4625798" y="2530354"/>
            <a:ext cx="6094562" cy="461665"/>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Auto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AC334987-54F8-C229-9B23-449F862466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6879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a:t>
            </a:r>
            <a:r>
              <a:rPr lang="it-IT" dirty="0" err="1"/>
              <a:t>protected</a:t>
            </a:r>
            <a:r>
              <a:rPr lang="it-IT" dirty="0"/>
              <a:t> e di estensione di una classe in Java.</a:t>
            </a:r>
          </a:p>
        </p:txBody>
      </p:sp>
      <p:sp>
        <p:nvSpPr>
          <p:cNvPr id="4" name="CasellaDiTesto 3">
            <a:extLst>
              <a:ext uri="{FF2B5EF4-FFF2-40B4-BE49-F238E27FC236}">
                <a16:creationId xmlns:a16="http://schemas.microsoft.com/office/drawing/2014/main" id="{D8A04ADC-A62B-57C7-C793-300E13474AB9}"/>
              </a:ext>
            </a:extLst>
          </p:cNvPr>
          <p:cNvSpPr txBox="1"/>
          <p:nvPr/>
        </p:nvSpPr>
        <p:spPr>
          <a:xfrm>
            <a:off x="282039" y="1896351"/>
            <a:ext cx="11384711" cy="646331"/>
          </a:xfrm>
          <a:prstGeom prst="rect">
            <a:avLst/>
          </a:prstGeom>
          <a:noFill/>
        </p:spPr>
        <p:txBody>
          <a:bodyPr wrap="square">
            <a:spAutoFit/>
          </a:bodyPr>
          <a:lstStyle/>
          <a:p>
            <a:r>
              <a:rPr lang="it-IT" dirty="0"/>
              <a:t>Il modificatore di accesso </a:t>
            </a:r>
            <a:r>
              <a:rPr lang="it-IT" dirty="0" err="1"/>
              <a:t>protected</a:t>
            </a:r>
            <a:r>
              <a:rPr lang="it-IT" dirty="0"/>
              <a:t> è simile al modificatore private, ma consente alle sottoclassi di accedere alle variabili e ai metodi della classe genitore. Ecco un esempio:</a:t>
            </a:r>
          </a:p>
        </p:txBody>
      </p:sp>
      <p:sp>
        <p:nvSpPr>
          <p:cNvPr id="11" name="CasellaDiTesto 10">
            <a:extLst>
              <a:ext uri="{FF2B5EF4-FFF2-40B4-BE49-F238E27FC236}">
                <a16:creationId xmlns:a16="http://schemas.microsoft.com/office/drawing/2014/main" id="{437813BA-297F-56E7-7156-9972DB5E2ECC}"/>
              </a:ext>
            </a:extLst>
          </p:cNvPr>
          <p:cNvSpPr txBox="1"/>
          <p:nvPr/>
        </p:nvSpPr>
        <p:spPr>
          <a:xfrm>
            <a:off x="344463" y="2518025"/>
            <a:ext cx="4218911"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"Motore avviato"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A5823001-165E-6D73-7959-2CCE15149EA7}"/>
              </a:ext>
            </a:extLst>
          </p:cNvPr>
          <p:cNvSpPr txBox="1"/>
          <p:nvPr/>
        </p:nvSpPr>
        <p:spPr>
          <a:xfrm>
            <a:off x="4625798" y="2530354"/>
            <a:ext cx="6094562" cy="646331"/>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Auto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30AC2865-6DFB-0A85-1C26-FE547166FF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483926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a:t>
            </a:r>
            <a:r>
              <a:rPr lang="it-IT" dirty="0" err="1"/>
              <a:t>protected</a:t>
            </a:r>
            <a:r>
              <a:rPr lang="it-IT" dirty="0"/>
              <a:t> e di estensione di una classe in Java.</a:t>
            </a:r>
          </a:p>
        </p:txBody>
      </p:sp>
      <p:sp>
        <p:nvSpPr>
          <p:cNvPr id="4" name="CasellaDiTesto 3">
            <a:extLst>
              <a:ext uri="{FF2B5EF4-FFF2-40B4-BE49-F238E27FC236}">
                <a16:creationId xmlns:a16="http://schemas.microsoft.com/office/drawing/2014/main" id="{D8A04ADC-A62B-57C7-C793-300E13474AB9}"/>
              </a:ext>
            </a:extLst>
          </p:cNvPr>
          <p:cNvSpPr txBox="1"/>
          <p:nvPr/>
        </p:nvSpPr>
        <p:spPr>
          <a:xfrm>
            <a:off x="282039" y="1896351"/>
            <a:ext cx="11384711" cy="646331"/>
          </a:xfrm>
          <a:prstGeom prst="rect">
            <a:avLst/>
          </a:prstGeom>
          <a:noFill/>
        </p:spPr>
        <p:txBody>
          <a:bodyPr wrap="square">
            <a:spAutoFit/>
          </a:bodyPr>
          <a:lstStyle/>
          <a:p>
            <a:r>
              <a:rPr lang="it-IT" dirty="0"/>
              <a:t>Il modificatore di accesso </a:t>
            </a:r>
            <a:r>
              <a:rPr lang="it-IT" dirty="0" err="1"/>
              <a:t>protected</a:t>
            </a:r>
            <a:r>
              <a:rPr lang="it-IT" dirty="0"/>
              <a:t> è simile al modificatore private, ma consente alle sottoclassi di accedere alle variabili e ai metodi della classe genitore. Ecco un esempio:</a:t>
            </a:r>
          </a:p>
        </p:txBody>
      </p:sp>
      <p:sp>
        <p:nvSpPr>
          <p:cNvPr id="11" name="CasellaDiTesto 10">
            <a:extLst>
              <a:ext uri="{FF2B5EF4-FFF2-40B4-BE49-F238E27FC236}">
                <a16:creationId xmlns:a16="http://schemas.microsoft.com/office/drawing/2014/main" id="{437813BA-297F-56E7-7156-9972DB5E2ECC}"/>
              </a:ext>
            </a:extLst>
          </p:cNvPr>
          <p:cNvSpPr txBox="1"/>
          <p:nvPr/>
        </p:nvSpPr>
        <p:spPr>
          <a:xfrm>
            <a:off x="344463" y="2518025"/>
            <a:ext cx="4218911"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"Motore avviato"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A5823001-165E-6D73-7959-2CCE15149EA7}"/>
              </a:ext>
            </a:extLst>
          </p:cNvPr>
          <p:cNvSpPr txBox="1"/>
          <p:nvPr/>
        </p:nvSpPr>
        <p:spPr>
          <a:xfrm>
            <a:off x="4625798" y="2530354"/>
            <a:ext cx="6094562" cy="1200329"/>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Auto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Auto(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76E81F88-5C17-DAEE-BDE4-728C8E2549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64724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a:t>
            </a:r>
            <a:r>
              <a:rPr lang="it-IT" dirty="0" err="1"/>
              <a:t>protected</a:t>
            </a:r>
            <a:r>
              <a:rPr lang="it-IT" dirty="0"/>
              <a:t> e di estensione di una classe in Java.</a:t>
            </a:r>
          </a:p>
        </p:txBody>
      </p:sp>
      <p:sp>
        <p:nvSpPr>
          <p:cNvPr id="4" name="CasellaDiTesto 3">
            <a:extLst>
              <a:ext uri="{FF2B5EF4-FFF2-40B4-BE49-F238E27FC236}">
                <a16:creationId xmlns:a16="http://schemas.microsoft.com/office/drawing/2014/main" id="{D8A04ADC-A62B-57C7-C793-300E13474AB9}"/>
              </a:ext>
            </a:extLst>
          </p:cNvPr>
          <p:cNvSpPr txBox="1"/>
          <p:nvPr/>
        </p:nvSpPr>
        <p:spPr>
          <a:xfrm>
            <a:off x="282039" y="1896351"/>
            <a:ext cx="11384711" cy="646331"/>
          </a:xfrm>
          <a:prstGeom prst="rect">
            <a:avLst/>
          </a:prstGeom>
          <a:noFill/>
        </p:spPr>
        <p:txBody>
          <a:bodyPr wrap="square">
            <a:spAutoFit/>
          </a:bodyPr>
          <a:lstStyle/>
          <a:p>
            <a:r>
              <a:rPr lang="it-IT" dirty="0"/>
              <a:t>Il modificatore di accesso </a:t>
            </a:r>
            <a:r>
              <a:rPr lang="it-IT" dirty="0" err="1"/>
              <a:t>protected</a:t>
            </a:r>
            <a:r>
              <a:rPr lang="it-IT" dirty="0"/>
              <a:t> è simile al modificatore private, ma consente alle sottoclassi di accedere alle variabili e ai metodi della classe genitore. Ecco un esempio:</a:t>
            </a:r>
          </a:p>
        </p:txBody>
      </p:sp>
      <p:sp>
        <p:nvSpPr>
          <p:cNvPr id="11" name="CasellaDiTesto 10">
            <a:extLst>
              <a:ext uri="{FF2B5EF4-FFF2-40B4-BE49-F238E27FC236}">
                <a16:creationId xmlns:a16="http://schemas.microsoft.com/office/drawing/2014/main" id="{437813BA-297F-56E7-7156-9972DB5E2ECC}"/>
              </a:ext>
            </a:extLst>
          </p:cNvPr>
          <p:cNvSpPr txBox="1"/>
          <p:nvPr/>
        </p:nvSpPr>
        <p:spPr>
          <a:xfrm>
            <a:off x="344463" y="2518025"/>
            <a:ext cx="4218911"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"Motore avviato"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A5823001-165E-6D73-7959-2CCE15149EA7}"/>
              </a:ext>
            </a:extLst>
          </p:cNvPr>
          <p:cNvSpPr txBox="1"/>
          <p:nvPr/>
        </p:nvSpPr>
        <p:spPr>
          <a:xfrm>
            <a:off x="4625798" y="2530354"/>
            <a:ext cx="6094562" cy="1384995"/>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Auto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Auto(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super</a:t>
            </a:r>
            <a:r>
              <a:rPr lang="it-IT" sz="1200" b="0" dirty="0">
                <a:solidFill>
                  <a:srgbClr val="D4D4D4"/>
                </a:solidFill>
                <a:effectLst/>
                <a:latin typeface="Consolas" panose="020B0609020204030204" pitchFamily="49" charset="0"/>
              </a:rPr>
              <a:t>(modello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77900355-D5CF-680B-3AB0-CBF89CC95F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57923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a:t>
            </a:r>
            <a:r>
              <a:rPr lang="it-IT" dirty="0" err="1"/>
              <a:t>protected</a:t>
            </a:r>
            <a:r>
              <a:rPr lang="it-IT" dirty="0"/>
              <a:t> e di estensione di una classe in Java.</a:t>
            </a:r>
          </a:p>
        </p:txBody>
      </p:sp>
      <p:sp>
        <p:nvSpPr>
          <p:cNvPr id="4" name="CasellaDiTesto 3">
            <a:extLst>
              <a:ext uri="{FF2B5EF4-FFF2-40B4-BE49-F238E27FC236}">
                <a16:creationId xmlns:a16="http://schemas.microsoft.com/office/drawing/2014/main" id="{D8A04ADC-A62B-57C7-C793-300E13474AB9}"/>
              </a:ext>
            </a:extLst>
          </p:cNvPr>
          <p:cNvSpPr txBox="1"/>
          <p:nvPr/>
        </p:nvSpPr>
        <p:spPr>
          <a:xfrm>
            <a:off x="282039" y="1896351"/>
            <a:ext cx="11384711" cy="646331"/>
          </a:xfrm>
          <a:prstGeom prst="rect">
            <a:avLst/>
          </a:prstGeom>
          <a:noFill/>
        </p:spPr>
        <p:txBody>
          <a:bodyPr wrap="square">
            <a:spAutoFit/>
          </a:bodyPr>
          <a:lstStyle/>
          <a:p>
            <a:r>
              <a:rPr lang="it-IT" dirty="0"/>
              <a:t>Il modificatore di accesso </a:t>
            </a:r>
            <a:r>
              <a:rPr lang="it-IT" dirty="0" err="1"/>
              <a:t>protected</a:t>
            </a:r>
            <a:r>
              <a:rPr lang="it-IT" dirty="0"/>
              <a:t> è simile al modificatore private, ma consente alle sottoclassi di accedere alle variabili e ai metodi della classe genitore. Ecco un esempio:</a:t>
            </a:r>
          </a:p>
        </p:txBody>
      </p:sp>
      <p:sp>
        <p:nvSpPr>
          <p:cNvPr id="11" name="CasellaDiTesto 10">
            <a:extLst>
              <a:ext uri="{FF2B5EF4-FFF2-40B4-BE49-F238E27FC236}">
                <a16:creationId xmlns:a16="http://schemas.microsoft.com/office/drawing/2014/main" id="{437813BA-297F-56E7-7156-9972DB5E2ECC}"/>
              </a:ext>
            </a:extLst>
          </p:cNvPr>
          <p:cNvSpPr txBox="1"/>
          <p:nvPr/>
        </p:nvSpPr>
        <p:spPr>
          <a:xfrm>
            <a:off x="344463" y="2518025"/>
            <a:ext cx="4218911"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"Motore avviato"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A5823001-165E-6D73-7959-2CCE15149EA7}"/>
              </a:ext>
            </a:extLst>
          </p:cNvPr>
          <p:cNvSpPr txBox="1"/>
          <p:nvPr/>
        </p:nvSpPr>
        <p:spPr>
          <a:xfrm>
            <a:off x="4625798" y="2530354"/>
            <a:ext cx="6094562" cy="156966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Auto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Auto(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super</a:t>
            </a:r>
            <a:r>
              <a:rPr lang="it-IT" sz="1200" b="0" dirty="0">
                <a:solidFill>
                  <a:srgbClr val="D4D4D4"/>
                </a:solidFill>
                <a:effectLst/>
                <a:latin typeface="Consolas" panose="020B0609020204030204" pitchFamily="49" charset="0"/>
              </a:rPr>
              <a:t>(modello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C3CC8A3F-A5B5-4D81-FFCA-16F3A9BBEE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44998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a:t>
            </a:r>
            <a:r>
              <a:rPr lang="it-IT" dirty="0" err="1"/>
              <a:t>protected</a:t>
            </a:r>
            <a:r>
              <a:rPr lang="it-IT" dirty="0"/>
              <a:t> e di estensione di una classe in Java.</a:t>
            </a:r>
          </a:p>
        </p:txBody>
      </p:sp>
      <p:sp>
        <p:nvSpPr>
          <p:cNvPr id="4" name="CasellaDiTesto 3">
            <a:extLst>
              <a:ext uri="{FF2B5EF4-FFF2-40B4-BE49-F238E27FC236}">
                <a16:creationId xmlns:a16="http://schemas.microsoft.com/office/drawing/2014/main" id="{D8A04ADC-A62B-57C7-C793-300E13474AB9}"/>
              </a:ext>
            </a:extLst>
          </p:cNvPr>
          <p:cNvSpPr txBox="1"/>
          <p:nvPr/>
        </p:nvSpPr>
        <p:spPr>
          <a:xfrm>
            <a:off x="282039" y="1896351"/>
            <a:ext cx="11384711" cy="646331"/>
          </a:xfrm>
          <a:prstGeom prst="rect">
            <a:avLst/>
          </a:prstGeom>
          <a:noFill/>
        </p:spPr>
        <p:txBody>
          <a:bodyPr wrap="square">
            <a:spAutoFit/>
          </a:bodyPr>
          <a:lstStyle/>
          <a:p>
            <a:r>
              <a:rPr lang="it-IT" dirty="0"/>
              <a:t>Il modificatore di accesso </a:t>
            </a:r>
            <a:r>
              <a:rPr lang="it-IT" dirty="0" err="1"/>
              <a:t>protected</a:t>
            </a:r>
            <a:r>
              <a:rPr lang="it-IT" dirty="0"/>
              <a:t> è simile al modificatore private, ma consente alle sottoclassi di accedere alle variabili e ai metodi della classe genitore. Ecco un esempio:</a:t>
            </a:r>
          </a:p>
        </p:txBody>
      </p:sp>
      <p:sp>
        <p:nvSpPr>
          <p:cNvPr id="11" name="CasellaDiTesto 10">
            <a:extLst>
              <a:ext uri="{FF2B5EF4-FFF2-40B4-BE49-F238E27FC236}">
                <a16:creationId xmlns:a16="http://schemas.microsoft.com/office/drawing/2014/main" id="{437813BA-297F-56E7-7156-9972DB5E2ECC}"/>
              </a:ext>
            </a:extLst>
          </p:cNvPr>
          <p:cNvSpPr txBox="1"/>
          <p:nvPr/>
        </p:nvSpPr>
        <p:spPr>
          <a:xfrm>
            <a:off x="344463" y="2518025"/>
            <a:ext cx="4218911"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"Motore avviato"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A5823001-165E-6D73-7959-2CCE15149EA7}"/>
              </a:ext>
            </a:extLst>
          </p:cNvPr>
          <p:cNvSpPr txBox="1"/>
          <p:nvPr/>
        </p:nvSpPr>
        <p:spPr>
          <a:xfrm>
            <a:off x="4625798" y="2530354"/>
            <a:ext cx="6094562" cy="156966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Auto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Auto(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super</a:t>
            </a:r>
            <a:r>
              <a:rPr lang="it-IT" sz="1200" b="0" dirty="0">
                <a:solidFill>
                  <a:srgbClr val="D4D4D4"/>
                </a:solidFill>
                <a:effectLst/>
                <a:latin typeface="Consolas" panose="020B0609020204030204" pitchFamily="49" charset="0"/>
              </a:rPr>
              <a:t>(modello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43735EDB-DD61-7727-5018-FAA66DCFA4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47030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a:t>
            </a:r>
            <a:r>
              <a:rPr lang="it-IT" dirty="0" err="1"/>
              <a:t>protected</a:t>
            </a:r>
            <a:r>
              <a:rPr lang="it-IT" dirty="0"/>
              <a:t> e di estensione di una classe in Java.</a:t>
            </a:r>
          </a:p>
        </p:txBody>
      </p:sp>
      <p:sp>
        <p:nvSpPr>
          <p:cNvPr id="4" name="CasellaDiTesto 3">
            <a:extLst>
              <a:ext uri="{FF2B5EF4-FFF2-40B4-BE49-F238E27FC236}">
                <a16:creationId xmlns:a16="http://schemas.microsoft.com/office/drawing/2014/main" id="{D8A04ADC-A62B-57C7-C793-300E13474AB9}"/>
              </a:ext>
            </a:extLst>
          </p:cNvPr>
          <p:cNvSpPr txBox="1"/>
          <p:nvPr/>
        </p:nvSpPr>
        <p:spPr>
          <a:xfrm>
            <a:off x="282039" y="1896351"/>
            <a:ext cx="11384711" cy="646331"/>
          </a:xfrm>
          <a:prstGeom prst="rect">
            <a:avLst/>
          </a:prstGeom>
          <a:noFill/>
        </p:spPr>
        <p:txBody>
          <a:bodyPr wrap="square">
            <a:spAutoFit/>
          </a:bodyPr>
          <a:lstStyle/>
          <a:p>
            <a:r>
              <a:rPr lang="it-IT" dirty="0"/>
              <a:t>Il modificatore di accesso </a:t>
            </a:r>
            <a:r>
              <a:rPr lang="it-IT" dirty="0" err="1"/>
              <a:t>protected</a:t>
            </a:r>
            <a:r>
              <a:rPr lang="it-IT" dirty="0"/>
              <a:t> è simile al modificatore private, ma consente alle sottoclassi di accedere alle variabili e ai metodi della classe genitore. Ecco un esempio:</a:t>
            </a:r>
          </a:p>
        </p:txBody>
      </p:sp>
      <p:sp>
        <p:nvSpPr>
          <p:cNvPr id="11" name="CasellaDiTesto 10">
            <a:extLst>
              <a:ext uri="{FF2B5EF4-FFF2-40B4-BE49-F238E27FC236}">
                <a16:creationId xmlns:a16="http://schemas.microsoft.com/office/drawing/2014/main" id="{437813BA-297F-56E7-7156-9972DB5E2ECC}"/>
              </a:ext>
            </a:extLst>
          </p:cNvPr>
          <p:cNvSpPr txBox="1"/>
          <p:nvPr/>
        </p:nvSpPr>
        <p:spPr>
          <a:xfrm>
            <a:off x="344463" y="2518025"/>
            <a:ext cx="4218911"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"Motore avviato"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A5823001-165E-6D73-7959-2CCE15149EA7}"/>
              </a:ext>
            </a:extLst>
          </p:cNvPr>
          <p:cNvSpPr txBox="1"/>
          <p:nvPr/>
        </p:nvSpPr>
        <p:spPr>
          <a:xfrm>
            <a:off x="4625798" y="2530354"/>
            <a:ext cx="6094562" cy="2123658"/>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Auto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Auto(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super</a:t>
            </a:r>
            <a:r>
              <a:rPr lang="it-IT" sz="1200" b="0" dirty="0">
                <a:solidFill>
                  <a:srgbClr val="D4D4D4"/>
                </a:solidFill>
                <a:effectLst/>
                <a:latin typeface="Consolas" panose="020B0609020204030204" pitchFamily="49" charset="0"/>
              </a:rPr>
              <a:t>(modello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guida() {       </a:t>
            </a: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C19601B5-F287-FBFA-087B-6FB829CE97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366734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a:t>
            </a:r>
            <a:r>
              <a:rPr lang="it-IT" dirty="0" err="1"/>
              <a:t>protected</a:t>
            </a:r>
            <a:r>
              <a:rPr lang="it-IT" dirty="0"/>
              <a:t> e di estensione di una classe in Java.</a:t>
            </a:r>
          </a:p>
        </p:txBody>
      </p:sp>
      <p:sp>
        <p:nvSpPr>
          <p:cNvPr id="4" name="CasellaDiTesto 3">
            <a:extLst>
              <a:ext uri="{FF2B5EF4-FFF2-40B4-BE49-F238E27FC236}">
                <a16:creationId xmlns:a16="http://schemas.microsoft.com/office/drawing/2014/main" id="{D8A04ADC-A62B-57C7-C793-300E13474AB9}"/>
              </a:ext>
            </a:extLst>
          </p:cNvPr>
          <p:cNvSpPr txBox="1"/>
          <p:nvPr/>
        </p:nvSpPr>
        <p:spPr>
          <a:xfrm>
            <a:off x="282039" y="1896351"/>
            <a:ext cx="11384711" cy="646331"/>
          </a:xfrm>
          <a:prstGeom prst="rect">
            <a:avLst/>
          </a:prstGeom>
          <a:noFill/>
        </p:spPr>
        <p:txBody>
          <a:bodyPr wrap="square">
            <a:spAutoFit/>
          </a:bodyPr>
          <a:lstStyle/>
          <a:p>
            <a:r>
              <a:rPr lang="it-IT" dirty="0"/>
              <a:t>Il modificatore di accesso </a:t>
            </a:r>
            <a:r>
              <a:rPr lang="it-IT" dirty="0" err="1"/>
              <a:t>protected</a:t>
            </a:r>
            <a:r>
              <a:rPr lang="it-IT" dirty="0"/>
              <a:t> è simile al modificatore private, ma consente alle sottoclassi di accedere alle variabili e ai metodi della classe genitore. Ecco un esempio:</a:t>
            </a:r>
          </a:p>
        </p:txBody>
      </p:sp>
      <p:sp>
        <p:nvSpPr>
          <p:cNvPr id="11" name="CasellaDiTesto 10">
            <a:extLst>
              <a:ext uri="{FF2B5EF4-FFF2-40B4-BE49-F238E27FC236}">
                <a16:creationId xmlns:a16="http://schemas.microsoft.com/office/drawing/2014/main" id="{437813BA-297F-56E7-7156-9972DB5E2ECC}"/>
              </a:ext>
            </a:extLst>
          </p:cNvPr>
          <p:cNvSpPr txBox="1"/>
          <p:nvPr/>
        </p:nvSpPr>
        <p:spPr>
          <a:xfrm>
            <a:off x="344463" y="2518025"/>
            <a:ext cx="4218911"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"Motore avviato"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A5823001-165E-6D73-7959-2CCE15149EA7}"/>
              </a:ext>
            </a:extLst>
          </p:cNvPr>
          <p:cNvSpPr txBox="1"/>
          <p:nvPr/>
        </p:nvSpPr>
        <p:spPr>
          <a:xfrm>
            <a:off x="4625798" y="2530354"/>
            <a:ext cx="6094562"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Auto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Auto(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super</a:t>
            </a:r>
            <a:r>
              <a:rPr lang="it-IT" sz="1200" b="0" dirty="0">
                <a:solidFill>
                  <a:srgbClr val="D4D4D4"/>
                </a:solidFill>
                <a:effectLst/>
                <a:latin typeface="Consolas" panose="020B0609020204030204" pitchFamily="49" charset="0"/>
              </a:rPr>
              <a:t>(modello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guida()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"Guidando l'auto"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4B690366-5F22-A981-34E6-58E7E82C89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499911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a:t>
            </a:r>
            <a:r>
              <a:rPr lang="it-IT" dirty="0" err="1"/>
              <a:t>protected</a:t>
            </a:r>
            <a:r>
              <a:rPr lang="it-IT" dirty="0"/>
              <a:t> e di estensione di una classe in Java.</a:t>
            </a:r>
          </a:p>
        </p:txBody>
      </p:sp>
      <p:sp>
        <p:nvSpPr>
          <p:cNvPr id="4" name="CasellaDiTesto 3">
            <a:extLst>
              <a:ext uri="{FF2B5EF4-FFF2-40B4-BE49-F238E27FC236}">
                <a16:creationId xmlns:a16="http://schemas.microsoft.com/office/drawing/2014/main" id="{D8A04ADC-A62B-57C7-C793-300E13474AB9}"/>
              </a:ext>
            </a:extLst>
          </p:cNvPr>
          <p:cNvSpPr txBox="1"/>
          <p:nvPr/>
        </p:nvSpPr>
        <p:spPr>
          <a:xfrm>
            <a:off x="282039" y="1896351"/>
            <a:ext cx="11384711" cy="646331"/>
          </a:xfrm>
          <a:prstGeom prst="rect">
            <a:avLst/>
          </a:prstGeom>
          <a:noFill/>
        </p:spPr>
        <p:txBody>
          <a:bodyPr wrap="square">
            <a:spAutoFit/>
          </a:bodyPr>
          <a:lstStyle/>
          <a:p>
            <a:r>
              <a:rPr lang="it-IT" dirty="0"/>
              <a:t>Il modificatore di accesso </a:t>
            </a:r>
            <a:r>
              <a:rPr lang="it-IT" dirty="0" err="1"/>
              <a:t>protected</a:t>
            </a:r>
            <a:r>
              <a:rPr lang="it-IT" dirty="0"/>
              <a:t> è simile al modificatore private, ma consente alle sottoclassi di accedere alle variabili e ai metodi della classe genitore. Ecco un esempio:</a:t>
            </a:r>
          </a:p>
        </p:txBody>
      </p:sp>
      <p:sp>
        <p:nvSpPr>
          <p:cNvPr id="11" name="CasellaDiTesto 10">
            <a:extLst>
              <a:ext uri="{FF2B5EF4-FFF2-40B4-BE49-F238E27FC236}">
                <a16:creationId xmlns:a16="http://schemas.microsoft.com/office/drawing/2014/main" id="{437813BA-297F-56E7-7156-9972DB5E2ECC}"/>
              </a:ext>
            </a:extLst>
          </p:cNvPr>
          <p:cNvSpPr txBox="1"/>
          <p:nvPr/>
        </p:nvSpPr>
        <p:spPr>
          <a:xfrm>
            <a:off x="344463" y="2518025"/>
            <a:ext cx="4218911"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"Motore avviato"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A5823001-165E-6D73-7959-2CCE15149EA7}"/>
              </a:ext>
            </a:extLst>
          </p:cNvPr>
          <p:cNvSpPr txBox="1"/>
          <p:nvPr/>
        </p:nvSpPr>
        <p:spPr>
          <a:xfrm>
            <a:off x="4625798" y="2530354"/>
            <a:ext cx="6094562"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Auto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Auto(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super</a:t>
            </a:r>
            <a:r>
              <a:rPr lang="it-IT" sz="1200" b="0" dirty="0">
                <a:solidFill>
                  <a:srgbClr val="D4D4D4"/>
                </a:solidFill>
                <a:effectLst/>
                <a:latin typeface="Consolas" panose="020B0609020204030204" pitchFamily="49" charset="0"/>
              </a:rPr>
              <a:t>(modello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guida()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"Guidando l'auto"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6" name="CasellaDiTesto 15">
            <a:extLst>
              <a:ext uri="{FF2B5EF4-FFF2-40B4-BE49-F238E27FC236}">
                <a16:creationId xmlns:a16="http://schemas.microsoft.com/office/drawing/2014/main" id="{C5441425-C795-DF6C-E148-858F71AEF8D9}"/>
              </a:ext>
            </a:extLst>
          </p:cNvPr>
          <p:cNvSpPr txBox="1"/>
          <p:nvPr/>
        </p:nvSpPr>
        <p:spPr>
          <a:xfrm>
            <a:off x="344463" y="5057182"/>
            <a:ext cx="6094562" cy="461665"/>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Test {</a:t>
            </a:r>
          </a:p>
          <a:p>
            <a:r>
              <a:rPr lang="it-IT" sz="1200"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A1A7159A-BBA1-93B4-7258-ADA13E87C6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878130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a:t>
            </a:r>
            <a:r>
              <a:rPr lang="it-IT" dirty="0" err="1"/>
              <a:t>protected</a:t>
            </a:r>
            <a:r>
              <a:rPr lang="it-IT" dirty="0"/>
              <a:t> e di estensione di una classe in Java.</a:t>
            </a:r>
          </a:p>
        </p:txBody>
      </p:sp>
      <p:sp>
        <p:nvSpPr>
          <p:cNvPr id="4" name="CasellaDiTesto 3">
            <a:extLst>
              <a:ext uri="{FF2B5EF4-FFF2-40B4-BE49-F238E27FC236}">
                <a16:creationId xmlns:a16="http://schemas.microsoft.com/office/drawing/2014/main" id="{D8A04ADC-A62B-57C7-C793-300E13474AB9}"/>
              </a:ext>
            </a:extLst>
          </p:cNvPr>
          <p:cNvSpPr txBox="1"/>
          <p:nvPr/>
        </p:nvSpPr>
        <p:spPr>
          <a:xfrm>
            <a:off x="282039" y="1896351"/>
            <a:ext cx="11384711" cy="646331"/>
          </a:xfrm>
          <a:prstGeom prst="rect">
            <a:avLst/>
          </a:prstGeom>
          <a:noFill/>
        </p:spPr>
        <p:txBody>
          <a:bodyPr wrap="square">
            <a:spAutoFit/>
          </a:bodyPr>
          <a:lstStyle/>
          <a:p>
            <a:r>
              <a:rPr lang="it-IT" dirty="0"/>
              <a:t>Il modificatore di accesso </a:t>
            </a:r>
            <a:r>
              <a:rPr lang="it-IT" dirty="0" err="1"/>
              <a:t>protected</a:t>
            </a:r>
            <a:r>
              <a:rPr lang="it-IT" dirty="0"/>
              <a:t> è simile al modificatore private, ma consente alle sottoclassi di accedere alle variabili e ai metodi della classe genitore. Ecco un esempio:</a:t>
            </a:r>
          </a:p>
        </p:txBody>
      </p:sp>
      <p:sp>
        <p:nvSpPr>
          <p:cNvPr id="11" name="CasellaDiTesto 10">
            <a:extLst>
              <a:ext uri="{FF2B5EF4-FFF2-40B4-BE49-F238E27FC236}">
                <a16:creationId xmlns:a16="http://schemas.microsoft.com/office/drawing/2014/main" id="{437813BA-297F-56E7-7156-9972DB5E2ECC}"/>
              </a:ext>
            </a:extLst>
          </p:cNvPr>
          <p:cNvSpPr txBox="1"/>
          <p:nvPr/>
        </p:nvSpPr>
        <p:spPr>
          <a:xfrm>
            <a:off x="344463" y="2518025"/>
            <a:ext cx="4218911"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"Motore avviato"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A5823001-165E-6D73-7959-2CCE15149EA7}"/>
              </a:ext>
            </a:extLst>
          </p:cNvPr>
          <p:cNvSpPr txBox="1"/>
          <p:nvPr/>
        </p:nvSpPr>
        <p:spPr>
          <a:xfrm>
            <a:off x="4625798" y="2530354"/>
            <a:ext cx="6094562"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Auto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Auto(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super</a:t>
            </a:r>
            <a:r>
              <a:rPr lang="it-IT" sz="1200" b="0" dirty="0">
                <a:solidFill>
                  <a:srgbClr val="D4D4D4"/>
                </a:solidFill>
                <a:effectLst/>
                <a:latin typeface="Consolas" panose="020B0609020204030204" pitchFamily="49" charset="0"/>
              </a:rPr>
              <a:t>(modello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guida()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"Guidando l'auto"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6" name="CasellaDiTesto 15">
            <a:extLst>
              <a:ext uri="{FF2B5EF4-FFF2-40B4-BE49-F238E27FC236}">
                <a16:creationId xmlns:a16="http://schemas.microsoft.com/office/drawing/2014/main" id="{C5441425-C795-DF6C-E148-858F71AEF8D9}"/>
              </a:ext>
            </a:extLst>
          </p:cNvPr>
          <p:cNvSpPr txBox="1"/>
          <p:nvPr/>
        </p:nvSpPr>
        <p:spPr>
          <a:xfrm>
            <a:off x="344463" y="5057182"/>
            <a:ext cx="6094562" cy="830997"/>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Test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static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main</a:t>
            </a:r>
            <a:r>
              <a:rPr lang="it-IT" sz="1200" b="0" dirty="0">
                <a:solidFill>
                  <a:srgbClr val="D4D4D4"/>
                </a:solidFill>
                <a:effectLst/>
                <a:latin typeface="Consolas" panose="020B0609020204030204" pitchFamily="49" charset="0"/>
              </a:rPr>
              <a:t>(</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args</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A3903C00-62D1-33BE-2AB8-2100558ED6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621046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a:t>
            </a:r>
            <a:r>
              <a:rPr lang="it-IT" dirty="0" err="1"/>
              <a:t>protected</a:t>
            </a:r>
            <a:r>
              <a:rPr lang="it-IT" dirty="0"/>
              <a:t> e di estensione di una classe in Java.</a:t>
            </a:r>
          </a:p>
        </p:txBody>
      </p:sp>
      <p:sp>
        <p:nvSpPr>
          <p:cNvPr id="4" name="CasellaDiTesto 3">
            <a:extLst>
              <a:ext uri="{FF2B5EF4-FFF2-40B4-BE49-F238E27FC236}">
                <a16:creationId xmlns:a16="http://schemas.microsoft.com/office/drawing/2014/main" id="{D8A04ADC-A62B-57C7-C793-300E13474AB9}"/>
              </a:ext>
            </a:extLst>
          </p:cNvPr>
          <p:cNvSpPr txBox="1"/>
          <p:nvPr/>
        </p:nvSpPr>
        <p:spPr>
          <a:xfrm>
            <a:off x="282039" y="1896351"/>
            <a:ext cx="11384711" cy="646331"/>
          </a:xfrm>
          <a:prstGeom prst="rect">
            <a:avLst/>
          </a:prstGeom>
          <a:noFill/>
        </p:spPr>
        <p:txBody>
          <a:bodyPr wrap="square">
            <a:spAutoFit/>
          </a:bodyPr>
          <a:lstStyle/>
          <a:p>
            <a:r>
              <a:rPr lang="it-IT" dirty="0"/>
              <a:t>Il modificatore di accesso </a:t>
            </a:r>
            <a:r>
              <a:rPr lang="it-IT" dirty="0" err="1"/>
              <a:t>protected</a:t>
            </a:r>
            <a:r>
              <a:rPr lang="it-IT" dirty="0"/>
              <a:t> è simile al modificatore private, ma consente alle sottoclassi di accedere alle variabili e ai metodi della classe genitore. Ecco un esempio:</a:t>
            </a:r>
          </a:p>
        </p:txBody>
      </p:sp>
      <p:sp>
        <p:nvSpPr>
          <p:cNvPr id="11" name="CasellaDiTesto 10">
            <a:extLst>
              <a:ext uri="{FF2B5EF4-FFF2-40B4-BE49-F238E27FC236}">
                <a16:creationId xmlns:a16="http://schemas.microsoft.com/office/drawing/2014/main" id="{437813BA-297F-56E7-7156-9972DB5E2ECC}"/>
              </a:ext>
            </a:extLst>
          </p:cNvPr>
          <p:cNvSpPr txBox="1"/>
          <p:nvPr/>
        </p:nvSpPr>
        <p:spPr>
          <a:xfrm>
            <a:off x="344463" y="2518025"/>
            <a:ext cx="4218911"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"Motore avviato"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A5823001-165E-6D73-7959-2CCE15149EA7}"/>
              </a:ext>
            </a:extLst>
          </p:cNvPr>
          <p:cNvSpPr txBox="1"/>
          <p:nvPr/>
        </p:nvSpPr>
        <p:spPr>
          <a:xfrm>
            <a:off x="4625798" y="2530354"/>
            <a:ext cx="6094562"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Auto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Auto(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super</a:t>
            </a:r>
            <a:r>
              <a:rPr lang="it-IT" sz="1200" b="0" dirty="0">
                <a:solidFill>
                  <a:srgbClr val="D4D4D4"/>
                </a:solidFill>
                <a:effectLst/>
                <a:latin typeface="Consolas" panose="020B0609020204030204" pitchFamily="49" charset="0"/>
              </a:rPr>
              <a:t>(modello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guida()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"Guidando l'auto"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6" name="CasellaDiTesto 15">
            <a:extLst>
              <a:ext uri="{FF2B5EF4-FFF2-40B4-BE49-F238E27FC236}">
                <a16:creationId xmlns:a16="http://schemas.microsoft.com/office/drawing/2014/main" id="{C5441425-C795-DF6C-E148-858F71AEF8D9}"/>
              </a:ext>
            </a:extLst>
          </p:cNvPr>
          <p:cNvSpPr txBox="1"/>
          <p:nvPr/>
        </p:nvSpPr>
        <p:spPr>
          <a:xfrm>
            <a:off x="344463" y="5057182"/>
            <a:ext cx="6094562" cy="1015663"/>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Test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static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main</a:t>
            </a:r>
            <a:r>
              <a:rPr lang="it-IT" sz="1200" b="0" dirty="0">
                <a:solidFill>
                  <a:srgbClr val="D4D4D4"/>
                </a:solidFill>
                <a:effectLst/>
                <a:latin typeface="Consolas" panose="020B0609020204030204" pitchFamily="49" charset="0"/>
              </a:rPr>
              <a:t>(</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args</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Auto </a:t>
            </a:r>
            <a:r>
              <a:rPr lang="it-IT" sz="1200" b="0" dirty="0" err="1">
                <a:solidFill>
                  <a:srgbClr val="D4D4D4"/>
                </a:solidFill>
                <a:effectLst/>
                <a:latin typeface="Consolas" panose="020B0609020204030204" pitchFamily="49" charset="0"/>
              </a:rPr>
              <a:t>miaAuto</a:t>
            </a:r>
            <a:r>
              <a:rPr lang="it-IT" sz="1200" b="0" dirty="0">
                <a:solidFill>
                  <a:srgbClr val="D4D4D4"/>
                </a:solidFill>
                <a:effectLst/>
                <a:latin typeface="Consolas" panose="020B0609020204030204" pitchFamily="49" charset="0"/>
              </a:rPr>
              <a:t> = </a:t>
            </a:r>
            <a:r>
              <a:rPr lang="it-IT" sz="1200" b="0" dirty="0">
                <a:solidFill>
                  <a:srgbClr val="569CD6"/>
                </a:solidFill>
                <a:effectLst/>
                <a:latin typeface="Consolas" panose="020B0609020204030204" pitchFamily="49" charset="0"/>
              </a:rPr>
              <a:t>new</a:t>
            </a:r>
            <a:r>
              <a:rPr lang="it-IT" sz="1200" b="0" dirty="0">
                <a:solidFill>
                  <a:srgbClr val="D4D4D4"/>
                </a:solidFill>
                <a:effectLst/>
                <a:latin typeface="Consolas" panose="020B0609020204030204" pitchFamily="49" charset="0"/>
              </a:rPr>
              <a:t> Auto(</a:t>
            </a:r>
            <a:r>
              <a:rPr lang="it-IT" sz="1200" b="0" dirty="0">
                <a:solidFill>
                  <a:srgbClr val="CE9178"/>
                </a:solidFill>
                <a:effectLst/>
                <a:latin typeface="Consolas" panose="020B0609020204030204" pitchFamily="49" charset="0"/>
              </a:rPr>
              <a:t>"Ford Focus"</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a:solidFill>
                  <a:srgbClr val="B5CEA8"/>
                </a:solidFill>
                <a:effectLst/>
                <a:latin typeface="Consolas" panose="020B0609020204030204" pitchFamily="49" charset="0"/>
              </a:rPr>
              <a:t>2010</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a:solidFill>
                  <a:srgbClr val="B5CEA8"/>
                </a:solidFill>
                <a:effectLst/>
                <a:latin typeface="Consolas" panose="020B0609020204030204" pitchFamily="49" charset="0"/>
              </a:rPr>
              <a:t>4</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E19FB434-35B5-F52C-2019-A64BCD076D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733715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a:t>
            </a:r>
            <a:r>
              <a:rPr lang="it-IT" dirty="0" err="1"/>
              <a:t>protected</a:t>
            </a:r>
            <a:r>
              <a:rPr lang="it-IT" dirty="0"/>
              <a:t> e di estensione di una classe in Java.</a:t>
            </a:r>
          </a:p>
        </p:txBody>
      </p:sp>
      <p:sp>
        <p:nvSpPr>
          <p:cNvPr id="4" name="CasellaDiTesto 3">
            <a:extLst>
              <a:ext uri="{FF2B5EF4-FFF2-40B4-BE49-F238E27FC236}">
                <a16:creationId xmlns:a16="http://schemas.microsoft.com/office/drawing/2014/main" id="{D8A04ADC-A62B-57C7-C793-300E13474AB9}"/>
              </a:ext>
            </a:extLst>
          </p:cNvPr>
          <p:cNvSpPr txBox="1"/>
          <p:nvPr/>
        </p:nvSpPr>
        <p:spPr>
          <a:xfrm>
            <a:off x="282039" y="1896351"/>
            <a:ext cx="11384711" cy="646331"/>
          </a:xfrm>
          <a:prstGeom prst="rect">
            <a:avLst/>
          </a:prstGeom>
          <a:noFill/>
        </p:spPr>
        <p:txBody>
          <a:bodyPr wrap="square">
            <a:spAutoFit/>
          </a:bodyPr>
          <a:lstStyle/>
          <a:p>
            <a:r>
              <a:rPr lang="it-IT" dirty="0"/>
              <a:t>Il modificatore di accesso </a:t>
            </a:r>
            <a:r>
              <a:rPr lang="it-IT" dirty="0" err="1"/>
              <a:t>protected</a:t>
            </a:r>
            <a:r>
              <a:rPr lang="it-IT" dirty="0"/>
              <a:t> è simile al modificatore private, ma consente alle sottoclassi di accedere alle variabili e ai metodi della classe genitore. Ecco un esempio:</a:t>
            </a:r>
          </a:p>
        </p:txBody>
      </p:sp>
      <p:sp>
        <p:nvSpPr>
          <p:cNvPr id="11" name="CasellaDiTesto 10">
            <a:extLst>
              <a:ext uri="{FF2B5EF4-FFF2-40B4-BE49-F238E27FC236}">
                <a16:creationId xmlns:a16="http://schemas.microsoft.com/office/drawing/2014/main" id="{437813BA-297F-56E7-7156-9972DB5E2ECC}"/>
              </a:ext>
            </a:extLst>
          </p:cNvPr>
          <p:cNvSpPr txBox="1"/>
          <p:nvPr/>
        </p:nvSpPr>
        <p:spPr>
          <a:xfrm>
            <a:off x="344463" y="2518025"/>
            <a:ext cx="4218911"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"Motore avviato"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A5823001-165E-6D73-7959-2CCE15149EA7}"/>
              </a:ext>
            </a:extLst>
          </p:cNvPr>
          <p:cNvSpPr txBox="1"/>
          <p:nvPr/>
        </p:nvSpPr>
        <p:spPr>
          <a:xfrm>
            <a:off x="4625798" y="2530354"/>
            <a:ext cx="6094562"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Auto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Auto(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super</a:t>
            </a:r>
            <a:r>
              <a:rPr lang="it-IT" sz="1200" b="0" dirty="0">
                <a:solidFill>
                  <a:srgbClr val="D4D4D4"/>
                </a:solidFill>
                <a:effectLst/>
                <a:latin typeface="Consolas" panose="020B0609020204030204" pitchFamily="49" charset="0"/>
              </a:rPr>
              <a:t>(modello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guida()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"Guidando l'auto"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6" name="CasellaDiTesto 15">
            <a:extLst>
              <a:ext uri="{FF2B5EF4-FFF2-40B4-BE49-F238E27FC236}">
                <a16:creationId xmlns:a16="http://schemas.microsoft.com/office/drawing/2014/main" id="{C5441425-C795-DF6C-E148-858F71AEF8D9}"/>
              </a:ext>
            </a:extLst>
          </p:cNvPr>
          <p:cNvSpPr txBox="1"/>
          <p:nvPr/>
        </p:nvSpPr>
        <p:spPr>
          <a:xfrm>
            <a:off x="344463" y="5057182"/>
            <a:ext cx="6094562" cy="1200329"/>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Test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static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main</a:t>
            </a:r>
            <a:r>
              <a:rPr lang="it-IT" sz="1200" b="0" dirty="0">
                <a:solidFill>
                  <a:srgbClr val="D4D4D4"/>
                </a:solidFill>
                <a:effectLst/>
                <a:latin typeface="Consolas" panose="020B0609020204030204" pitchFamily="49" charset="0"/>
              </a:rPr>
              <a:t>(</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args</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Auto </a:t>
            </a:r>
            <a:r>
              <a:rPr lang="it-IT" sz="1200" b="0" dirty="0" err="1">
                <a:solidFill>
                  <a:srgbClr val="D4D4D4"/>
                </a:solidFill>
                <a:effectLst/>
                <a:latin typeface="Consolas" panose="020B0609020204030204" pitchFamily="49" charset="0"/>
              </a:rPr>
              <a:t>miaAuto</a:t>
            </a:r>
            <a:r>
              <a:rPr lang="it-IT" sz="1200" b="0" dirty="0">
                <a:solidFill>
                  <a:srgbClr val="D4D4D4"/>
                </a:solidFill>
                <a:effectLst/>
                <a:latin typeface="Consolas" panose="020B0609020204030204" pitchFamily="49" charset="0"/>
              </a:rPr>
              <a:t> = </a:t>
            </a:r>
            <a:r>
              <a:rPr lang="it-IT" sz="1200" b="0" dirty="0">
                <a:solidFill>
                  <a:srgbClr val="569CD6"/>
                </a:solidFill>
                <a:effectLst/>
                <a:latin typeface="Consolas" panose="020B0609020204030204" pitchFamily="49" charset="0"/>
              </a:rPr>
              <a:t>new</a:t>
            </a:r>
            <a:r>
              <a:rPr lang="it-IT" sz="1200" b="0" dirty="0">
                <a:solidFill>
                  <a:srgbClr val="D4D4D4"/>
                </a:solidFill>
                <a:effectLst/>
                <a:latin typeface="Consolas" panose="020B0609020204030204" pitchFamily="49" charset="0"/>
              </a:rPr>
              <a:t> Auto(</a:t>
            </a:r>
            <a:r>
              <a:rPr lang="it-IT" sz="1200" b="0" dirty="0">
                <a:solidFill>
                  <a:srgbClr val="CE9178"/>
                </a:solidFill>
                <a:effectLst/>
                <a:latin typeface="Consolas" panose="020B0609020204030204" pitchFamily="49" charset="0"/>
              </a:rPr>
              <a:t>"Ford Focus"</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a:solidFill>
                  <a:srgbClr val="B5CEA8"/>
                </a:solidFill>
                <a:effectLst/>
                <a:latin typeface="Consolas" panose="020B0609020204030204" pitchFamily="49" charset="0"/>
              </a:rPr>
              <a:t>2010</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a:solidFill>
                  <a:srgbClr val="B5CEA8"/>
                </a:solidFill>
                <a:effectLst/>
                <a:latin typeface="Consolas" panose="020B0609020204030204" pitchFamily="49" charset="0"/>
              </a:rPr>
              <a:t>4</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miaAuto.guida</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210FC874-D09A-F8AB-43EF-FC65F7FE69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685990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a:t>
            </a:r>
            <a:r>
              <a:rPr lang="it-IT" dirty="0" err="1"/>
              <a:t>protected</a:t>
            </a:r>
            <a:r>
              <a:rPr lang="it-IT" dirty="0"/>
              <a:t> e di estensione di una classe in Java.</a:t>
            </a:r>
          </a:p>
        </p:txBody>
      </p:sp>
      <p:sp>
        <p:nvSpPr>
          <p:cNvPr id="4" name="CasellaDiTesto 3">
            <a:extLst>
              <a:ext uri="{FF2B5EF4-FFF2-40B4-BE49-F238E27FC236}">
                <a16:creationId xmlns:a16="http://schemas.microsoft.com/office/drawing/2014/main" id="{D8A04ADC-A62B-57C7-C793-300E13474AB9}"/>
              </a:ext>
            </a:extLst>
          </p:cNvPr>
          <p:cNvSpPr txBox="1"/>
          <p:nvPr/>
        </p:nvSpPr>
        <p:spPr>
          <a:xfrm>
            <a:off x="282039" y="1896351"/>
            <a:ext cx="11384711" cy="646331"/>
          </a:xfrm>
          <a:prstGeom prst="rect">
            <a:avLst/>
          </a:prstGeom>
          <a:noFill/>
        </p:spPr>
        <p:txBody>
          <a:bodyPr wrap="square">
            <a:spAutoFit/>
          </a:bodyPr>
          <a:lstStyle/>
          <a:p>
            <a:r>
              <a:rPr lang="it-IT" dirty="0"/>
              <a:t>Il modificatore di accesso </a:t>
            </a:r>
            <a:r>
              <a:rPr lang="it-IT" dirty="0" err="1"/>
              <a:t>protected</a:t>
            </a:r>
            <a:r>
              <a:rPr lang="it-IT" dirty="0"/>
              <a:t> è simile al modificatore private, ma consente alle sottoclassi di accedere alle variabili e ai metodi della classe genitore. Ecco un esempio:</a:t>
            </a:r>
          </a:p>
        </p:txBody>
      </p:sp>
      <p:sp>
        <p:nvSpPr>
          <p:cNvPr id="11" name="CasellaDiTesto 10">
            <a:extLst>
              <a:ext uri="{FF2B5EF4-FFF2-40B4-BE49-F238E27FC236}">
                <a16:creationId xmlns:a16="http://schemas.microsoft.com/office/drawing/2014/main" id="{437813BA-297F-56E7-7156-9972DB5E2ECC}"/>
              </a:ext>
            </a:extLst>
          </p:cNvPr>
          <p:cNvSpPr txBox="1"/>
          <p:nvPr/>
        </p:nvSpPr>
        <p:spPr>
          <a:xfrm>
            <a:off x="344463" y="2518025"/>
            <a:ext cx="4218911"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"Motore avviato"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A5823001-165E-6D73-7959-2CCE15149EA7}"/>
              </a:ext>
            </a:extLst>
          </p:cNvPr>
          <p:cNvSpPr txBox="1"/>
          <p:nvPr/>
        </p:nvSpPr>
        <p:spPr>
          <a:xfrm>
            <a:off x="4625798" y="2530354"/>
            <a:ext cx="6094562"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Auto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Auto(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super</a:t>
            </a:r>
            <a:r>
              <a:rPr lang="it-IT" sz="1200" b="0" dirty="0">
                <a:solidFill>
                  <a:srgbClr val="D4D4D4"/>
                </a:solidFill>
                <a:effectLst/>
                <a:latin typeface="Consolas" panose="020B0609020204030204" pitchFamily="49" charset="0"/>
              </a:rPr>
              <a:t>(modello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guida()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"Guidando l'auto"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6" name="CasellaDiTesto 15">
            <a:extLst>
              <a:ext uri="{FF2B5EF4-FFF2-40B4-BE49-F238E27FC236}">
                <a16:creationId xmlns:a16="http://schemas.microsoft.com/office/drawing/2014/main" id="{C5441425-C795-DF6C-E148-858F71AEF8D9}"/>
              </a:ext>
            </a:extLst>
          </p:cNvPr>
          <p:cNvSpPr txBox="1"/>
          <p:nvPr/>
        </p:nvSpPr>
        <p:spPr>
          <a:xfrm>
            <a:off x="344463" y="5057182"/>
            <a:ext cx="6094562" cy="1200329"/>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Test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static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main</a:t>
            </a:r>
            <a:r>
              <a:rPr lang="it-IT" sz="1200" b="0" dirty="0">
                <a:solidFill>
                  <a:srgbClr val="D4D4D4"/>
                </a:solidFill>
                <a:effectLst/>
                <a:latin typeface="Consolas" panose="020B0609020204030204" pitchFamily="49" charset="0"/>
              </a:rPr>
              <a:t>(</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args</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Auto </a:t>
            </a:r>
            <a:r>
              <a:rPr lang="it-IT" sz="1200" b="0" dirty="0" err="1">
                <a:solidFill>
                  <a:srgbClr val="D4D4D4"/>
                </a:solidFill>
                <a:effectLst/>
                <a:latin typeface="Consolas" panose="020B0609020204030204" pitchFamily="49" charset="0"/>
              </a:rPr>
              <a:t>miaAuto</a:t>
            </a:r>
            <a:r>
              <a:rPr lang="it-IT" sz="1200" b="0" dirty="0">
                <a:solidFill>
                  <a:srgbClr val="D4D4D4"/>
                </a:solidFill>
                <a:effectLst/>
                <a:latin typeface="Consolas" panose="020B0609020204030204" pitchFamily="49" charset="0"/>
              </a:rPr>
              <a:t> = </a:t>
            </a:r>
            <a:r>
              <a:rPr lang="it-IT" sz="1200" b="0" dirty="0">
                <a:solidFill>
                  <a:srgbClr val="569CD6"/>
                </a:solidFill>
                <a:effectLst/>
                <a:latin typeface="Consolas" panose="020B0609020204030204" pitchFamily="49" charset="0"/>
              </a:rPr>
              <a:t>new</a:t>
            </a:r>
            <a:r>
              <a:rPr lang="it-IT" sz="1200" b="0" dirty="0">
                <a:solidFill>
                  <a:srgbClr val="D4D4D4"/>
                </a:solidFill>
                <a:effectLst/>
                <a:latin typeface="Consolas" panose="020B0609020204030204" pitchFamily="49" charset="0"/>
              </a:rPr>
              <a:t> Auto(</a:t>
            </a:r>
            <a:r>
              <a:rPr lang="it-IT" sz="1200" b="0" dirty="0">
                <a:solidFill>
                  <a:srgbClr val="CE9178"/>
                </a:solidFill>
                <a:effectLst/>
                <a:latin typeface="Consolas" panose="020B0609020204030204" pitchFamily="49" charset="0"/>
              </a:rPr>
              <a:t>"Ford Focus"</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a:solidFill>
                  <a:srgbClr val="B5CEA8"/>
                </a:solidFill>
                <a:effectLst/>
                <a:latin typeface="Consolas" panose="020B0609020204030204" pitchFamily="49" charset="0"/>
              </a:rPr>
              <a:t>2010</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a:solidFill>
                  <a:srgbClr val="B5CEA8"/>
                </a:solidFill>
                <a:effectLst/>
                <a:latin typeface="Consolas" panose="020B0609020204030204" pitchFamily="49" charset="0"/>
              </a:rPr>
              <a:t>4</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miaAuto.guida</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7" name="Rectangle 1">
            <a:extLst>
              <a:ext uri="{FF2B5EF4-FFF2-40B4-BE49-F238E27FC236}">
                <a16:creationId xmlns:a16="http://schemas.microsoft.com/office/drawing/2014/main" id="{1A16C58A-32BB-F684-92E2-E93F26BA86D6}"/>
              </a:ext>
            </a:extLst>
          </p:cNvPr>
          <p:cNvSpPr>
            <a:spLocks noChangeArrowheads="1"/>
          </p:cNvSpPr>
          <p:nvPr/>
        </p:nvSpPr>
        <p:spPr bwMode="auto">
          <a:xfrm>
            <a:off x="6538823" y="5057182"/>
            <a:ext cx="5653177" cy="461665"/>
          </a:xfrm>
          <a:prstGeom prst="rect">
            <a:avLst/>
          </a:prstGeom>
          <a:solidFill>
            <a:srgbClr val="F7F7F8"/>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200" b="0" i="0" u="none" strike="noStrike" cap="none" normalizeH="0" baseline="0" dirty="0">
                <a:ln>
                  <a:noFill/>
                </a:ln>
                <a:solidFill>
                  <a:srgbClr val="374151"/>
                </a:solidFill>
                <a:effectLst/>
                <a:latin typeface="Söhne"/>
              </a:rPr>
              <a:t>In questo esempio, abbiamo definito una classe </a:t>
            </a:r>
            <a:r>
              <a:rPr kumimoji="0" lang="it-IT" altLang="it-IT" sz="1200" b="1" i="0" u="none" strike="noStrike" cap="none" normalizeH="0" baseline="0" dirty="0">
                <a:ln>
                  <a:noFill/>
                </a:ln>
                <a:solidFill>
                  <a:srgbClr val="374151"/>
                </a:solidFill>
                <a:effectLst/>
                <a:latin typeface="Söhne Mono"/>
              </a:rPr>
              <a:t>Veicolo</a:t>
            </a:r>
            <a:r>
              <a:rPr kumimoji="0" lang="it-IT" altLang="it-IT" sz="1200" b="0" i="0" u="none" strike="noStrike" cap="none" normalizeH="0" baseline="0" dirty="0">
                <a:ln>
                  <a:noFill/>
                </a:ln>
                <a:solidFill>
                  <a:srgbClr val="374151"/>
                </a:solidFill>
                <a:effectLst/>
                <a:latin typeface="Söhne"/>
              </a:rPr>
              <a:t> con due variabili protette </a:t>
            </a:r>
            <a:r>
              <a:rPr kumimoji="0" lang="it-IT" altLang="it-IT" sz="1200" b="1" i="0" u="none" strike="noStrike" cap="none" normalizeH="0" baseline="0" dirty="0">
                <a:ln>
                  <a:noFill/>
                </a:ln>
                <a:solidFill>
                  <a:srgbClr val="374151"/>
                </a:solidFill>
                <a:effectLst/>
                <a:latin typeface="Söhne Mono"/>
              </a:rPr>
              <a:t>modello</a:t>
            </a:r>
            <a:r>
              <a:rPr kumimoji="0" lang="it-IT" altLang="it-IT" sz="1200" b="0" i="0" u="none" strike="noStrike" cap="none" normalizeH="0" baseline="0" dirty="0">
                <a:ln>
                  <a:noFill/>
                </a:ln>
                <a:solidFill>
                  <a:srgbClr val="374151"/>
                </a:solidFill>
                <a:effectLst/>
                <a:latin typeface="Söhne"/>
              </a:rPr>
              <a:t> e </a:t>
            </a:r>
            <a:r>
              <a:rPr kumimoji="0" lang="it-IT" altLang="it-IT" sz="1200" b="1" i="0" u="none" strike="noStrike" cap="none" normalizeH="0" baseline="0" dirty="0">
                <a:ln>
                  <a:noFill/>
                </a:ln>
                <a:solidFill>
                  <a:srgbClr val="374151"/>
                </a:solidFill>
                <a:effectLst/>
                <a:latin typeface="Söhne Mono"/>
              </a:rPr>
              <a:t>anno</a:t>
            </a:r>
            <a:r>
              <a:rPr kumimoji="0" lang="it-IT" altLang="it-IT" sz="1200" b="0" i="0" u="none" strike="noStrike" cap="none" normalizeH="0" baseline="0" dirty="0">
                <a:ln>
                  <a:noFill/>
                </a:ln>
                <a:solidFill>
                  <a:srgbClr val="374151"/>
                </a:solidFill>
                <a:effectLst/>
                <a:latin typeface="Söhne"/>
              </a:rPr>
              <a:t> e un metodo protetto </a:t>
            </a:r>
            <a:r>
              <a:rPr kumimoji="0" lang="it-IT" altLang="it-IT" sz="1200" b="1" i="0" u="none" strike="noStrike" cap="none" normalizeH="0" baseline="0" dirty="0" err="1">
                <a:ln>
                  <a:noFill/>
                </a:ln>
                <a:solidFill>
                  <a:srgbClr val="374151"/>
                </a:solidFill>
                <a:effectLst/>
                <a:latin typeface="Söhne Mono"/>
              </a:rPr>
              <a:t>avviaMotore</a:t>
            </a:r>
            <a:r>
              <a:rPr kumimoji="0" lang="it-IT" altLang="it-IT" sz="1200" b="1" i="0" u="none" strike="noStrike" cap="none" normalizeH="0" baseline="0" dirty="0">
                <a:ln>
                  <a:noFill/>
                </a:ln>
                <a:solidFill>
                  <a:srgbClr val="374151"/>
                </a:solidFill>
                <a:effectLst/>
                <a:latin typeface="Söhne Mono"/>
              </a:rPr>
              <a:t>()</a:t>
            </a:r>
            <a:r>
              <a:rPr kumimoji="0" lang="it-IT" altLang="it-IT" sz="1200" b="0" i="0" u="none" strike="noStrike" cap="none" normalizeH="0" baseline="0" dirty="0">
                <a:ln>
                  <a:noFill/>
                </a:ln>
                <a:solidFill>
                  <a:srgbClr val="374151"/>
                </a:solidFill>
                <a:effectLst/>
                <a:latin typeface="Söhne"/>
              </a:rPr>
              <a:t>. </a:t>
            </a:r>
            <a:endParaRPr kumimoji="0" lang="it-IT" altLang="it-IT" sz="1200" b="0" i="0" u="none" strike="noStrike" cap="none" normalizeH="0" baseline="0" dirty="0">
              <a:ln>
                <a:noFill/>
              </a:ln>
              <a:solidFill>
                <a:schemeClr val="tx1"/>
              </a:solidFill>
              <a:effectLst/>
            </a:endParaRPr>
          </a:p>
        </p:txBody>
      </p:sp>
      <p:pic>
        <p:nvPicPr>
          <p:cNvPr id="3" name="Picture 2" descr="Java Logo, symbol, meaning, history, PNG, brand">
            <a:extLst>
              <a:ext uri="{FF2B5EF4-FFF2-40B4-BE49-F238E27FC236}">
                <a16:creationId xmlns:a16="http://schemas.microsoft.com/office/drawing/2014/main" id="{E4606DFA-D153-D5B5-4684-79AB752D21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206026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a:t>
            </a:r>
            <a:r>
              <a:rPr lang="it-IT" dirty="0" err="1"/>
              <a:t>protected</a:t>
            </a:r>
            <a:r>
              <a:rPr lang="it-IT" dirty="0"/>
              <a:t> e di estensione di una classe in Java.</a:t>
            </a:r>
          </a:p>
        </p:txBody>
      </p:sp>
      <p:sp>
        <p:nvSpPr>
          <p:cNvPr id="4" name="CasellaDiTesto 3">
            <a:extLst>
              <a:ext uri="{FF2B5EF4-FFF2-40B4-BE49-F238E27FC236}">
                <a16:creationId xmlns:a16="http://schemas.microsoft.com/office/drawing/2014/main" id="{D8A04ADC-A62B-57C7-C793-300E13474AB9}"/>
              </a:ext>
            </a:extLst>
          </p:cNvPr>
          <p:cNvSpPr txBox="1"/>
          <p:nvPr/>
        </p:nvSpPr>
        <p:spPr>
          <a:xfrm>
            <a:off x="282039" y="1896351"/>
            <a:ext cx="11384711" cy="646331"/>
          </a:xfrm>
          <a:prstGeom prst="rect">
            <a:avLst/>
          </a:prstGeom>
          <a:noFill/>
        </p:spPr>
        <p:txBody>
          <a:bodyPr wrap="square">
            <a:spAutoFit/>
          </a:bodyPr>
          <a:lstStyle/>
          <a:p>
            <a:r>
              <a:rPr lang="it-IT" dirty="0"/>
              <a:t>Il modificatore di accesso </a:t>
            </a:r>
            <a:r>
              <a:rPr lang="it-IT" dirty="0" err="1"/>
              <a:t>protected</a:t>
            </a:r>
            <a:r>
              <a:rPr lang="it-IT" dirty="0"/>
              <a:t> è simile al modificatore private, ma consente alle sottoclassi di accedere alle variabili e ai metodi della classe genitore. Ecco un esempio:</a:t>
            </a:r>
          </a:p>
        </p:txBody>
      </p:sp>
      <p:sp>
        <p:nvSpPr>
          <p:cNvPr id="11" name="CasellaDiTesto 10">
            <a:extLst>
              <a:ext uri="{FF2B5EF4-FFF2-40B4-BE49-F238E27FC236}">
                <a16:creationId xmlns:a16="http://schemas.microsoft.com/office/drawing/2014/main" id="{437813BA-297F-56E7-7156-9972DB5E2ECC}"/>
              </a:ext>
            </a:extLst>
          </p:cNvPr>
          <p:cNvSpPr txBox="1"/>
          <p:nvPr/>
        </p:nvSpPr>
        <p:spPr>
          <a:xfrm>
            <a:off x="344463" y="2518025"/>
            <a:ext cx="4218911"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"Motore avviato"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A5823001-165E-6D73-7959-2CCE15149EA7}"/>
              </a:ext>
            </a:extLst>
          </p:cNvPr>
          <p:cNvSpPr txBox="1"/>
          <p:nvPr/>
        </p:nvSpPr>
        <p:spPr>
          <a:xfrm>
            <a:off x="4625798" y="2530354"/>
            <a:ext cx="6094562"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Auto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Auto(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super</a:t>
            </a:r>
            <a:r>
              <a:rPr lang="it-IT" sz="1200" b="0" dirty="0">
                <a:solidFill>
                  <a:srgbClr val="D4D4D4"/>
                </a:solidFill>
                <a:effectLst/>
                <a:latin typeface="Consolas" panose="020B0609020204030204" pitchFamily="49" charset="0"/>
              </a:rPr>
              <a:t>(modello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guida()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"Guidando l'auto"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6" name="CasellaDiTesto 15">
            <a:extLst>
              <a:ext uri="{FF2B5EF4-FFF2-40B4-BE49-F238E27FC236}">
                <a16:creationId xmlns:a16="http://schemas.microsoft.com/office/drawing/2014/main" id="{C5441425-C795-DF6C-E148-858F71AEF8D9}"/>
              </a:ext>
            </a:extLst>
          </p:cNvPr>
          <p:cNvSpPr txBox="1"/>
          <p:nvPr/>
        </p:nvSpPr>
        <p:spPr>
          <a:xfrm>
            <a:off x="344463" y="5057182"/>
            <a:ext cx="6094562" cy="1200329"/>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Test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static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main</a:t>
            </a:r>
            <a:r>
              <a:rPr lang="it-IT" sz="1200" b="0" dirty="0">
                <a:solidFill>
                  <a:srgbClr val="D4D4D4"/>
                </a:solidFill>
                <a:effectLst/>
                <a:latin typeface="Consolas" panose="020B0609020204030204" pitchFamily="49" charset="0"/>
              </a:rPr>
              <a:t>(</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args</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Auto </a:t>
            </a:r>
            <a:r>
              <a:rPr lang="it-IT" sz="1200" b="0" dirty="0" err="1">
                <a:solidFill>
                  <a:srgbClr val="D4D4D4"/>
                </a:solidFill>
                <a:effectLst/>
                <a:latin typeface="Consolas" panose="020B0609020204030204" pitchFamily="49" charset="0"/>
              </a:rPr>
              <a:t>miaAuto</a:t>
            </a:r>
            <a:r>
              <a:rPr lang="it-IT" sz="1200" b="0" dirty="0">
                <a:solidFill>
                  <a:srgbClr val="D4D4D4"/>
                </a:solidFill>
                <a:effectLst/>
                <a:latin typeface="Consolas" panose="020B0609020204030204" pitchFamily="49" charset="0"/>
              </a:rPr>
              <a:t> = </a:t>
            </a:r>
            <a:r>
              <a:rPr lang="it-IT" sz="1200" b="0" dirty="0">
                <a:solidFill>
                  <a:srgbClr val="569CD6"/>
                </a:solidFill>
                <a:effectLst/>
                <a:latin typeface="Consolas" panose="020B0609020204030204" pitchFamily="49" charset="0"/>
              </a:rPr>
              <a:t>new</a:t>
            </a:r>
            <a:r>
              <a:rPr lang="it-IT" sz="1200" b="0" dirty="0">
                <a:solidFill>
                  <a:srgbClr val="D4D4D4"/>
                </a:solidFill>
                <a:effectLst/>
                <a:latin typeface="Consolas" panose="020B0609020204030204" pitchFamily="49" charset="0"/>
              </a:rPr>
              <a:t> Auto(</a:t>
            </a:r>
            <a:r>
              <a:rPr lang="it-IT" sz="1200" b="0" dirty="0">
                <a:solidFill>
                  <a:srgbClr val="CE9178"/>
                </a:solidFill>
                <a:effectLst/>
                <a:latin typeface="Consolas" panose="020B0609020204030204" pitchFamily="49" charset="0"/>
              </a:rPr>
              <a:t>"Ford Focus"</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a:solidFill>
                  <a:srgbClr val="B5CEA8"/>
                </a:solidFill>
                <a:effectLst/>
                <a:latin typeface="Consolas" panose="020B0609020204030204" pitchFamily="49" charset="0"/>
              </a:rPr>
              <a:t>2010</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a:solidFill>
                  <a:srgbClr val="B5CEA8"/>
                </a:solidFill>
                <a:effectLst/>
                <a:latin typeface="Consolas" panose="020B0609020204030204" pitchFamily="49" charset="0"/>
              </a:rPr>
              <a:t>4</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miaAuto.guida</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7" name="Rectangle 1">
            <a:extLst>
              <a:ext uri="{FF2B5EF4-FFF2-40B4-BE49-F238E27FC236}">
                <a16:creationId xmlns:a16="http://schemas.microsoft.com/office/drawing/2014/main" id="{1A16C58A-32BB-F684-92E2-E93F26BA86D6}"/>
              </a:ext>
            </a:extLst>
          </p:cNvPr>
          <p:cNvSpPr>
            <a:spLocks noChangeArrowheads="1"/>
          </p:cNvSpPr>
          <p:nvPr/>
        </p:nvSpPr>
        <p:spPr bwMode="auto">
          <a:xfrm>
            <a:off x="6538823" y="5057182"/>
            <a:ext cx="5653177" cy="830997"/>
          </a:xfrm>
          <a:prstGeom prst="rect">
            <a:avLst/>
          </a:prstGeom>
          <a:solidFill>
            <a:srgbClr val="F7F7F8"/>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200" b="0" i="0" u="none" strike="noStrike" cap="none" normalizeH="0" baseline="0" dirty="0">
                <a:ln>
                  <a:noFill/>
                </a:ln>
                <a:solidFill>
                  <a:srgbClr val="374151"/>
                </a:solidFill>
                <a:effectLst/>
                <a:latin typeface="Söhne"/>
              </a:rPr>
              <a:t>In questo esempio, abbiamo definito una classe </a:t>
            </a:r>
            <a:r>
              <a:rPr kumimoji="0" lang="it-IT" altLang="it-IT" sz="1200" b="1" i="0" u="none" strike="noStrike" cap="none" normalizeH="0" baseline="0" dirty="0">
                <a:ln>
                  <a:noFill/>
                </a:ln>
                <a:solidFill>
                  <a:srgbClr val="374151"/>
                </a:solidFill>
                <a:effectLst/>
                <a:latin typeface="Söhne Mono"/>
              </a:rPr>
              <a:t>Veicolo</a:t>
            </a:r>
            <a:r>
              <a:rPr kumimoji="0" lang="it-IT" altLang="it-IT" sz="1200" b="0" i="0" u="none" strike="noStrike" cap="none" normalizeH="0" baseline="0" dirty="0">
                <a:ln>
                  <a:noFill/>
                </a:ln>
                <a:solidFill>
                  <a:srgbClr val="374151"/>
                </a:solidFill>
                <a:effectLst/>
                <a:latin typeface="Söhne"/>
              </a:rPr>
              <a:t> con due variabili protette </a:t>
            </a:r>
            <a:r>
              <a:rPr kumimoji="0" lang="it-IT" altLang="it-IT" sz="1200" b="1" i="0" u="none" strike="noStrike" cap="none" normalizeH="0" baseline="0" dirty="0">
                <a:ln>
                  <a:noFill/>
                </a:ln>
                <a:solidFill>
                  <a:srgbClr val="374151"/>
                </a:solidFill>
                <a:effectLst/>
                <a:latin typeface="Söhne Mono"/>
              </a:rPr>
              <a:t>modello</a:t>
            </a:r>
            <a:r>
              <a:rPr kumimoji="0" lang="it-IT" altLang="it-IT" sz="1200" b="0" i="0" u="none" strike="noStrike" cap="none" normalizeH="0" baseline="0" dirty="0">
                <a:ln>
                  <a:noFill/>
                </a:ln>
                <a:solidFill>
                  <a:srgbClr val="374151"/>
                </a:solidFill>
                <a:effectLst/>
                <a:latin typeface="Söhne"/>
              </a:rPr>
              <a:t> e </a:t>
            </a:r>
            <a:r>
              <a:rPr kumimoji="0" lang="it-IT" altLang="it-IT" sz="1200" b="1" i="0" u="none" strike="noStrike" cap="none" normalizeH="0" baseline="0" dirty="0">
                <a:ln>
                  <a:noFill/>
                </a:ln>
                <a:solidFill>
                  <a:srgbClr val="374151"/>
                </a:solidFill>
                <a:effectLst/>
                <a:latin typeface="Söhne Mono"/>
              </a:rPr>
              <a:t>anno</a:t>
            </a:r>
            <a:r>
              <a:rPr kumimoji="0" lang="it-IT" altLang="it-IT" sz="1200" b="0" i="0" u="none" strike="noStrike" cap="none" normalizeH="0" baseline="0" dirty="0">
                <a:ln>
                  <a:noFill/>
                </a:ln>
                <a:solidFill>
                  <a:srgbClr val="374151"/>
                </a:solidFill>
                <a:effectLst/>
                <a:latin typeface="Söhne"/>
              </a:rPr>
              <a:t> e un metodo protetto </a:t>
            </a:r>
            <a:r>
              <a:rPr kumimoji="0" lang="it-IT" altLang="it-IT" sz="1200" b="1" i="0" u="none" strike="noStrike" cap="none" normalizeH="0" baseline="0" dirty="0" err="1">
                <a:ln>
                  <a:noFill/>
                </a:ln>
                <a:solidFill>
                  <a:srgbClr val="374151"/>
                </a:solidFill>
                <a:effectLst/>
                <a:latin typeface="Söhne Mono"/>
              </a:rPr>
              <a:t>avviaMotore</a:t>
            </a:r>
            <a:r>
              <a:rPr kumimoji="0" lang="it-IT" altLang="it-IT" sz="1200" b="1" i="0" u="none" strike="noStrike" cap="none" normalizeH="0" baseline="0" dirty="0">
                <a:ln>
                  <a:noFill/>
                </a:ln>
                <a:solidFill>
                  <a:srgbClr val="374151"/>
                </a:solidFill>
                <a:effectLst/>
                <a:latin typeface="Söhne Mono"/>
              </a:rPr>
              <a:t>()</a:t>
            </a:r>
            <a:r>
              <a:rPr kumimoji="0" lang="it-IT" altLang="it-IT" sz="1200" b="0" i="0" u="none" strike="noStrike" cap="none" normalizeH="0" baseline="0" dirty="0">
                <a:ln>
                  <a:noFill/>
                </a:ln>
                <a:solidFill>
                  <a:srgbClr val="374151"/>
                </a:solidFill>
                <a:effectLst/>
                <a:latin typeface="Söhne"/>
              </a:rPr>
              <a:t>. Abbiamo poi creato una classe </a:t>
            </a:r>
            <a:r>
              <a:rPr kumimoji="0" lang="it-IT" altLang="it-IT" sz="1200" b="1" i="0" u="none" strike="noStrike" cap="none" normalizeH="0" baseline="0" dirty="0">
                <a:ln>
                  <a:noFill/>
                </a:ln>
                <a:solidFill>
                  <a:srgbClr val="374151"/>
                </a:solidFill>
                <a:effectLst/>
                <a:latin typeface="Söhne Mono"/>
              </a:rPr>
              <a:t>Auto</a:t>
            </a:r>
            <a:r>
              <a:rPr kumimoji="0" lang="it-IT" altLang="it-IT" sz="1200" b="0" i="0" u="none" strike="noStrike" cap="none" normalizeH="0" baseline="0" dirty="0">
                <a:ln>
                  <a:noFill/>
                </a:ln>
                <a:solidFill>
                  <a:srgbClr val="374151"/>
                </a:solidFill>
                <a:effectLst/>
                <a:latin typeface="Söhne"/>
              </a:rPr>
              <a:t> che estende la classe </a:t>
            </a:r>
            <a:r>
              <a:rPr kumimoji="0" lang="it-IT" altLang="it-IT" sz="1200" b="1" i="0" u="none" strike="noStrike" cap="none" normalizeH="0" baseline="0" dirty="0">
                <a:ln>
                  <a:noFill/>
                </a:ln>
                <a:solidFill>
                  <a:srgbClr val="374151"/>
                </a:solidFill>
                <a:effectLst/>
                <a:latin typeface="Söhne Mono"/>
              </a:rPr>
              <a:t>Veicolo</a:t>
            </a:r>
            <a:r>
              <a:rPr kumimoji="0" lang="it-IT" altLang="it-IT" sz="1200" b="0" i="0" u="none" strike="noStrike" cap="none" normalizeH="0" baseline="0" dirty="0">
                <a:ln>
                  <a:noFill/>
                </a:ln>
                <a:solidFill>
                  <a:srgbClr val="374151"/>
                </a:solidFill>
                <a:effectLst/>
                <a:latin typeface="Söhne"/>
              </a:rPr>
              <a:t> e ha una variabile privata </a:t>
            </a:r>
            <a:r>
              <a:rPr kumimoji="0" lang="it-IT" altLang="it-IT" sz="1200" b="1" i="0" u="none" strike="noStrike" cap="none" normalizeH="0" baseline="0" dirty="0" err="1">
                <a:ln>
                  <a:noFill/>
                </a:ln>
                <a:solidFill>
                  <a:srgbClr val="374151"/>
                </a:solidFill>
                <a:effectLst/>
                <a:latin typeface="Söhne Mono"/>
              </a:rPr>
              <a:t>numeroPorte</a:t>
            </a:r>
            <a:r>
              <a:rPr kumimoji="0" lang="it-IT" altLang="it-IT" sz="1200" b="0" i="0" u="none" strike="noStrike" cap="none" normalizeH="0" baseline="0" dirty="0">
                <a:ln>
                  <a:noFill/>
                </a:ln>
                <a:solidFill>
                  <a:srgbClr val="374151"/>
                </a:solidFill>
                <a:effectLst/>
                <a:latin typeface="Söhne"/>
              </a:rPr>
              <a:t> e un metodo pubblico </a:t>
            </a:r>
            <a:r>
              <a:rPr kumimoji="0" lang="it-IT" altLang="it-IT" sz="1200" b="1" i="0" u="none" strike="noStrike" cap="none" normalizeH="0" baseline="0" dirty="0">
                <a:ln>
                  <a:noFill/>
                </a:ln>
                <a:solidFill>
                  <a:srgbClr val="374151"/>
                </a:solidFill>
                <a:effectLst/>
                <a:latin typeface="Söhne Mono"/>
              </a:rPr>
              <a:t>guida()</a:t>
            </a:r>
            <a:r>
              <a:rPr kumimoji="0" lang="it-IT" altLang="it-IT" sz="1200" b="0" i="0" u="none" strike="noStrike" cap="none" normalizeH="0" baseline="0" dirty="0">
                <a:ln>
                  <a:noFill/>
                </a:ln>
                <a:solidFill>
                  <a:srgbClr val="374151"/>
                </a:solidFill>
                <a:effectLst/>
                <a:latin typeface="Söhne"/>
              </a:rPr>
              <a:t>, che chiama il metodo </a:t>
            </a:r>
            <a:r>
              <a:rPr kumimoji="0" lang="it-IT" altLang="it-IT" sz="1200" b="1" i="0" u="none" strike="noStrike" cap="none" normalizeH="0" baseline="0" dirty="0" err="1">
                <a:ln>
                  <a:noFill/>
                </a:ln>
                <a:solidFill>
                  <a:srgbClr val="374151"/>
                </a:solidFill>
                <a:effectLst/>
                <a:latin typeface="Söhne Mono"/>
              </a:rPr>
              <a:t>avviaMotore</a:t>
            </a:r>
            <a:r>
              <a:rPr kumimoji="0" lang="it-IT" altLang="it-IT" sz="1200" b="1" i="0" u="none" strike="noStrike" cap="none" normalizeH="0" baseline="0" dirty="0">
                <a:ln>
                  <a:noFill/>
                </a:ln>
                <a:solidFill>
                  <a:srgbClr val="374151"/>
                </a:solidFill>
                <a:effectLst/>
                <a:latin typeface="Söhne Mono"/>
              </a:rPr>
              <a:t>()</a:t>
            </a:r>
            <a:r>
              <a:rPr kumimoji="0" lang="it-IT" altLang="it-IT" sz="1200" b="0" i="0" u="none" strike="noStrike" cap="none" normalizeH="0" baseline="0" dirty="0">
                <a:ln>
                  <a:noFill/>
                </a:ln>
                <a:solidFill>
                  <a:srgbClr val="374151"/>
                </a:solidFill>
                <a:effectLst/>
                <a:latin typeface="Söhne"/>
              </a:rPr>
              <a:t> della classe </a:t>
            </a:r>
            <a:r>
              <a:rPr kumimoji="0" lang="it-IT" altLang="it-IT" sz="1200" b="1" i="0" u="none" strike="noStrike" cap="none" normalizeH="0" baseline="0" dirty="0">
                <a:ln>
                  <a:noFill/>
                </a:ln>
                <a:solidFill>
                  <a:srgbClr val="374151"/>
                </a:solidFill>
                <a:effectLst/>
                <a:latin typeface="Söhne Mono"/>
              </a:rPr>
              <a:t>Veicolo</a:t>
            </a:r>
            <a:r>
              <a:rPr kumimoji="0" lang="it-IT" altLang="it-IT" sz="1200" b="0" i="0" u="none" strike="noStrike" cap="none" normalizeH="0" baseline="0" dirty="0">
                <a:ln>
                  <a:noFill/>
                </a:ln>
                <a:solidFill>
                  <a:srgbClr val="374151"/>
                </a:solidFill>
                <a:effectLst/>
                <a:latin typeface="Söhne"/>
              </a:rPr>
              <a:t>.</a:t>
            </a:r>
            <a:endParaRPr kumimoji="0" lang="it-IT" altLang="it-IT" sz="1200" b="0" i="0" u="none" strike="noStrike" cap="none" normalizeH="0" baseline="0" dirty="0">
              <a:ln>
                <a:noFill/>
              </a:ln>
              <a:solidFill>
                <a:schemeClr val="tx1"/>
              </a:solidFill>
              <a:effectLst/>
            </a:endParaRPr>
          </a:p>
        </p:txBody>
      </p:sp>
      <p:pic>
        <p:nvPicPr>
          <p:cNvPr id="3" name="Picture 2" descr="Java Logo, symbol, meaning, history, PNG, brand">
            <a:extLst>
              <a:ext uri="{FF2B5EF4-FFF2-40B4-BE49-F238E27FC236}">
                <a16:creationId xmlns:a16="http://schemas.microsoft.com/office/drawing/2014/main" id="{2ECD85C3-9D6B-9625-FCC8-063EF7878B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108914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a:t>
            </a:r>
            <a:r>
              <a:rPr lang="it-IT" dirty="0" err="1"/>
              <a:t>protected</a:t>
            </a:r>
            <a:r>
              <a:rPr lang="it-IT" dirty="0"/>
              <a:t> e di estensione di una classe in Java.</a:t>
            </a:r>
          </a:p>
        </p:txBody>
      </p:sp>
      <p:sp>
        <p:nvSpPr>
          <p:cNvPr id="4" name="CasellaDiTesto 3">
            <a:extLst>
              <a:ext uri="{FF2B5EF4-FFF2-40B4-BE49-F238E27FC236}">
                <a16:creationId xmlns:a16="http://schemas.microsoft.com/office/drawing/2014/main" id="{D8A04ADC-A62B-57C7-C793-300E13474AB9}"/>
              </a:ext>
            </a:extLst>
          </p:cNvPr>
          <p:cNvSpPr txBox="1"/>
          <p:nvPr/>
        </p:nvSpPr>
        <p:spPr>
          <a:xfrm>
            <a:off x="282039" y="1896351"/>
            <a:ext cx="11384711" cy="646331"/>
          </a:xfrm>
          <a:prstGeom prst="rect">
            <a:avLst/>
          </a:prstGeom>
          <a:noFill/>
        </p:spPr>
        <p:txBody>
          <a:bodyPr wrap="square">
            <a:spAutoFit/>
          </a:bodyPr>
          <a:lstStyle/>
          <a:p>
            <a:r>
              <a:rPr lang="it-IT" dirty="0"/>
              <a:t>Il modificatore di accesso </a:t>
            </a:r>
            <a:r>
              <a:rPr lang="it-IT" dirty="0" err="1"/>
              <a:t>protected</a:t>
            </a:r>
            <a:r>
              <a:rPr lang="it-IT" dirty="0"/>
              <a:t> è simile al modificatore private, ma consente alle sottoclassi di accedere alle variabili e ai metodi della classe genitore. Ecco un esempio:</a:t>
            </a:r>
          </a:p>
        </p:txBody>
      </p:sp>
      <p:sp>
        <p:nvSpPr>
          <p:cNvPr id="11" name="CasellaDiTesto 10">
            <a:extLst>
              <a:ext uri="{FF2B5EF4-FFF2-40B4-BE49-F238E27FC236}">
                <a16:creationId xmlns:a16="http://schemas.microsoft.com/office/drawing/2014/main" id="{437813BA-297F-56E7-7156-9972DB5E2ECC}"/>
              </a:ext>
            </a:extLst>
          </p:cNvPr>
          <p:cNvSpPr txBox="1"/>
          <p:nvPr/>
        </p:nvSpPr>
        <p:spPr>
          <a:xfrm>
            <a:off x="344463" y="2518025"/>
            <a:ext cx="4218911"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"Motore avviato"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A5823001-165E-6D73-7959-2CCE15149EA7}"/>
              </a:ext>
            </a:extLst>
          </p:cNvPr>
          <p:cNvSpPr txBox="1"/>
          <p:nvPr/>
        </p:nvSpPr>
        <p:spPr>
          <a:xfrm>
            <a:off x="4625798" y="2530354"/>
            <a:ext cx="6094562"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Auto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Auto(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super</a:t>
            </a:r>
            <a:r>
              <a:rPr lang="it-IT" sz="1200" b="0" dirty="0">
                <a:solidFill>
                  <a:srgbClr val="D4D4D4"/>
                </a:solidFill>
                <a:effectLst/>
                <a:latin typeface="Consolas" panose="020B0609020204030204" pitchFamily="49" charset="0"/>
              </a:rPr>
              <a:t>(modello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guida()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"Guidando l'auto"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6" name="CasellaDiTesto 15">
            <a:extLst>
              <a:ext uri="{FF2B5EF4-FFF2-40B4-BE49-F238E27FC236}">
                <a16:creationId xmlns:a16="http://schemas.microsoft.com/office/drawing/2014/main" id="{C5441425-C795-DF6C-E148-858F71AEF8D9}"/>
              </a:ext>
            </a:extLst>
          </p:cNvPr>
          <p:cNvSpPr txBox="1"/>
          <p:nvPr/>
        </p:nvSpPr>
        <p:spPr>
          <a:xfrm>
            <a:off x="344463" y="5057182"/>
            <a:ext cx="6094562" cy="1200329"/>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Test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static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main</a:t>
            </a:r>
            <a:r>
              <a:rPr lang="it-IT" sz="1200" b="0" dirty="0">
                <a:solidFill>
                  <a:srgbClr val="D4D4D4"/>
                </a:solidFill>
                <a:effectLst/>
                <a:latin typeface="Consolas" panose="020B0609020204030204" pitchFamily="49" charset="0"/>
              </a:rPr>
              <a:t>(</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args</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Auto </a:t>
            </a:r>
            <a:r>
              <a:rPr lang="it-IT" sz="1200" b="0" dirty="0" err="1">
                <a:solidFill>
                  <a:srgbClr val="D4D4D4"/>
                </a:solidFill>
                <a:effectLst/>
                <a:latin typeface="Consolas" panose="020B0609020204030204" pitchFamily="49" charset="0"/>
              </a:rPr>
              <a:t>miaAuto</a:t>
            </a:r>
            <a:r>
              <a:rPr lang="it-IT" sz="1200" b="0" dirty="0">
                <a:solidFill>
                  <a:srgbClr val="D4D4D4"/>
                </a:solidFill>
                <a:effectLst/>
                <a:latin typeface="Consolas" panose="020B0609020204030204" pitchFamily="49" charset="0"/>
              </a:rPr>
              <a:t> = </a:t>
            </a:r>
            <a:r>
              <a:rPr lang="it-IT" sz="1200" b="0" dirty="0">
                <a:solidFill>
                  <a:srgbClr val="569CD6"/>
                </a:solidFill>
                <a:effectLst/>
                <a:latin typeface="Consolas" panose="020B0609020204030204" pitchFamily="49" charset="0"/>
              </a:rPr>
              <a:t>new</a:t>
            </a:r>
            <a:r>
              <a:rPr lang="it-IT" sz="1200" b="0" dirty="0">
                <a:solidFill>
                  <a:srgbClr val="D4D4D4"/>
                </a:solidFill>
                <a:effectLst/>
                <a:latin typeface="Consolas" panose="020B0609020204030204" pitchFamily="49" charset="0"/>
              </a:rPr>
              <a:t> Auto(</a:t>
            </a:r>
            <a:r>
              <a:rPr lang="it-IT" sz="1200" b="0" dirty="0">
                <a:solidFill>
                  <a:srgbClr val="CE9178"/>
                </a:solidFill>
                <a:effectLst/>
                <a:latin typeface="Consolas" panose="020B0609020204030204" pitchFamily="49" charset="0"/>
              </a:rPr>
              <a:t>"Ford Focus"</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a:solidFill>
                  <a:srgbClr val="B5CEA8"/>
                </a:solidFill>
                <a:effectLst/>
                <a:latin typeface="Consolas" panose="020B0609020204030204" pitchFamily="49" charset="0"/>
              </a:rPr>
              <a:t>2010</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a:solidFill>
                  <a:srgbClr val="B5CEA8"/>
                </a:solidFill>
                <a:effectLst/>
                <a:latin typeface="Consolas" panose="020B0609020204030204" pitchFamily="49" charset="0"/>
              </a:rPr>
              <a:t>4</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miaAuto.guida</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7" name="Rectangle 1">
            <a:extLst>
              <a:ext uri="{FF2B5EF4-FFF2-40B4-BE49-F238E27FC236}">
                <a16:creationId xmlns:a16="http://schemas.microsoft.com/office/drawing/2014/main" id="{1A16C58A-32BB-F684-92E2-E93F26BA86D6}"/>
              </a:ext>
            </a:extLst>
          </p:cNvPr>
          <p:cNvSpPr>
            <a:spLocks noChangeArrowheads="1"/>
          </p:cNvSpPr>
          <p:nvPr/>
        </p:nvSpPr>
        <p:spPr bwMode="auto">
          <a:xfrm>
            <a:off x="6538823" y="5057182"/>
            <a:ext cx="5653177" cy="1384995"/>
          </a:xfrm>
          <a:prstGeom prst="rect">
            <a:avLst/>
          </a:prstGeom>
          <a:solidFill>
            <a:srgbClr val="F7F7F8"/>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200" b="0" i="0" u="none" strike="noStrike" cap="none" normalizeH="0" baseline="0" dirty="0">
                <a:ln>
                  <a:noFill/>
                </a:ln>
                <a:solidFill>
                  <a:srgbClr val="374151"/>
                </a:solidFill>
                <a:effectLst/>
                <a:latin typeface="Söhne"/>
              </a:rPr>
              <a:t>In questo esempio, abbiamo definito una classe </a:t>
            </a:r>
            <a:r>
              <a:rPr kumimoji="0" lang="it-IT" altLang="it-IT" sz="1200" b="1" i="0" u="none" strike="noStrike" cap="none" normalizeH="0" baseline="0" dirty="0">
                <a:ln>
                  <a:noFill/>
                </a:ln>
                <a:solidFill>
                  <a:srgbClr val="374151"/>
                </a:solidFill>
                <a:effectLst/>
                <a:latin typeface="Söhne Mono"/>
              </a:rPr>
              <a:t>Veicolo</a:t>
            </a:r>
            <a:r>
              <a:rPr kumimoji="0" lang="it-IT" altLang="it-IT" sz="1200" b="0" i="0" u="none" strike="noStrike" cap="none" normalizeH="0" baseline="0" dirty="0">
                <a:ln>
                  <a:noFill/>
                </a:ln>
                <a:solidFill>
                  <a:srgbClr val="374151"/>
                </a:solidFill>
                <a:effectLst/>
                <a:latin typeface="Söhne"/>
              </a:rPr>
              <a:t> con due variabili protette </a:t>
            </a:r>
            <a:r>
              <a:rPr kumimoji="0" lang="it-IT" altLang="it-IT" sz="1200" b="1" i="0" u="none" strike="noStrike" cap="none" normalizeH="0" baseline="0" dirty="0">
                <a:ln>
                  <a:noFill/>
                </a:ln>
                <a:solidFill>
                  <a:srgbClr val="374151"/>
                </a:solidFill>
                <a:effectLst/>
                <a:latin typeface="Söhne Mono"/>
              </a:rPr>
              <a:t>modello</a:t>
            </a:r>
            <a:r>
              <a:rPr kumimoji="0" lang="it-IT" altLang="it-IT" sz="1200" b="0" i="0" u="none" strike="noStrike" cap="none" normalizeH="0" baseline="0" dirty="0">
                <a:ln>
                  <a:noFill/>
                </a:ln>
                <a:solidFill>
                  <a:srgbClr val="374151"/>
                </a:solidFill>
                <a:effectLst/>
                <a:latin typeface="Söhne"/>
              </a:rPr>
              <a:t> e </a:t>
            </a:r>
            <a:r>
              <a:rPr kumimoji="0" lang="it-IT" altLang="it-IT" sz="1200" b="1" i="0" u="none" strike="noStrike" cap="none" normalizeH="0" baseline="0" dirty="0">
                <a:ln>
                  <a:noFill/>
                </a:ln>
                <a:solidFill>
                  <a:srgbClr val="374151"/>
                </a:solidFill>
                <a:effectLst/>
                <a:latin typeface="Söhne Mono"/>
              </a:rPr>
              <a:t>anno</a:t>
            </a:r>
            <a:r>
              <a:rPr kumimoji="0" lang="it-IT" altLang="it-IT" sz="1200" b="0" i="0" u="none" strike="noStrike" cap="none" normalizeH="0" baseline="0" dirty="0">
                <a:ln>
                  <a:noFill/>
                </a:ln>
                <a:solidFill>
                  <a:srgbClr val="374151"/>
                </a:solidFill>
                <a:effectLst/>
                <a:latin typeface="Söhne"/>
              </a:rPr>
              <a:t> e un metodo protetto </a:t>
            </a:r>
            <a:r>
              <a:rPr kumimoji="0" lang="it-IT" altLang="it-IT" sz="1200" b="1" i="0" u="none" strike="noStrike" cap="none" normalizeH="0" baseline="0" dirty="0" err="1">
                <a:ln>
                  <a:noFill/>
                </a:ln>
                <a:solidFill>
                  <a:srgbClr val="374151"/>
                </a:solidFill>
                <a:effectLst/>
                <a:latin typeface="Söhne Mono"/>
              </a:rPr>
              <a:t>avviaMotore</a:t>
            </a:r>
            <a:r>
              <a:rPr kumimoji="0" lang="it-IT" altLang="it-IT" sz="1200" b="1" i="0" u="none" strike="noStrike" cap="none" normalizeH="0" baseline="0" dirty="0">
                <a:ln>
                  <a:noFill/>
                </a:ln>
                <a:solidFill>
                  <a:srgbClr val="374151"/>
                </a:solidFill>
                <a:effectLst/>
                <a:latin typeface="Söhne Mono"/>
              </a:rPr>
              <a:t>()</a:t>
            </a:r>
            <a:r>
              <a:rPr kumimoji="0" lang="it-IT" altLang="it-IT" sz="1200" b="0" i="0" u="none" strike="noStrike" cap="none" normalizeH="0" baseline="0" dirty="0">
                <a:ln>
                  <a:noFill/>
                </a:ln>
                <a:solidFill>
                  <a:srgbClr val="374151"/>
                </a:solidFill>
                <a:effectLst/>
                <a:latin typeface="Söhne"/>
              </a:rPr>
              <a:t>. Abbiamo poi creato una classe </a:t>
            </a:r>
            <a:r>
              <a:rPr kumimoji="0" lang="it-IT" altLang="it-IT" sz="1200" b="1" i="0" u="none" strike="noStrike" cap="none" normalizeH="0" baseline="0" dirty="0">
                <a:ln>
                  <a:noFill/>
                </a:ln>
                <a:solidFill>
                  <a:srgbClr val="374151"/>
                </a:solidFill>
                <a:effectLst/>
                <a:latin typeface="Söhne Mono"/>
              </a:rPr>
              <a:t>Auto</a:t>
            </a:r>
            <a:r>
              <a:rPr kumimoji="0" lang="it-IT" altLang="it-IT" sz="1200" b="0" i="0" u="none" strike="noStrike" cap="none" normalizeH="0" baseline="0" dirty="0">
                <a:ln>
                  <a:noFill/>
                </a:ln>
                <a:solidFill>
                  <a:srgbClr val="374151"/>
                </a:solidFill>
                <a:effectLst/>
                <a:latin typeface="Söhne"/>
              </a:rPr>
              <a:t> che estende la classe </a:t>
            </a:r>
            <a:r>
              <a:rPr kumimoji="0" lang="it-IT" altLang="it-IT" sz="1200" b="1" i="0" u="none" strike="noStrike" cap="none" normalizeH="0" baseline="0" dirty="0">
                <a:ln>
                  <a:noFill/>
                </a:ln>
                <a:solidFill>
                  <a:srgbClr val="374151"/>
                </a:solidFill>
                <a:effectLst/>
                <a:latin typeface="Söhne Mono"/>
              </a:rPr>
              <a:t>Veicolo</a:t>
            </a:r>
            <a:r>
              <a:rPr kumimoji="0" lang="it-IT" altLang="it-IT" sz="1200" b="0" i="0" u="none" strike="noStrike" cap="none" normalizeH="0" baseline="0" dirty="0">
                <a:ln>
                  <a:noFill/>
                </a:ln>
                <a:solidFill>
                  <a:srgbClr val="374151"/>
                </a:solidFill>
                <a:effectLst/>
                <a:latin typeface="Söhne"/>
              </a:rPr>
              <a:t> e ha una variabile privata </a:t>
            </a:r>
            <a:r>
              <a:rPr kumimoji="0" lang="it-IT" altLang="it-IT" sz="1200" b="1" i="0" u="none" strike="noStrike" cap="none" normalizeH="0" baseline="0" dirty="0" err="1">
                <a:ln>
                  <a:noFill/>
                </a:ln>
                <a:solidFill>
                  <a:srgbClr val="374151"/>
                </a:solidFill>
                <a:effectLst/>
                <a:latin typeface="Söhne Mono"/>
              </a:rPr>
              <a:t>numeroPorte</a:t>
            </a:r>
            <a:r>
              <a:rPr kumimoji="0" lang="it-IT" altLang="it-IT" sz="1200" b="0" i="0" u="none" strike="noStrike" cap="none" normalizeH="0" baseline="0" dirty="0">
                <a:ln>
                  <a:noFill/>
                </a:ln>
                <a:solidFill>
                  <a:srgbClr val="374151"/>
                </a:solidFill>
                <a:effectLst/>
                <a:latin typeface="Söhne"/>
              </a:rPr>
              <a:t> e un metodo pubblico </a:t>
            </a:r>
            <a:r>
              <a:rPr kumimoji="0" lang="it-IT" altLang="it-IT" sz="1200" b="1" i="0" u="none" strike="noStrike" cap="none" normalizeH="0" baseline="0" dirty="0">
                <a:ln>
                  <a:noFill/>
                </a:ln>
                <a:solidFill>
                  <a:srgbClr val="374151"/>
                </a:solidFill>
                <a:effectLst/>
                <a:latin typeface="Söhne Mono"/>
              </a:rPr>
              <a:t>guida()</a:t>
            </a:r>
            <a:r>
              <a:rPr kumimoji="0" lang="it-IT" altLang="it-IT" sz="1200" b="0" i="0" u="none" strike="noStrike" cap="none" normalizeH="0" baseline="0" dirty="0">
                <a:ln>
                  <a:noFill/>
                </a:ln>
                <a:solidFill>
                  <a:srgbClr val="374151"/>
                </a:solidFill>
                <a:effectLst/>
                <a:latin typeface="Söhne"/>
              </a:rPr>
              <a:t>, che chiama il metodo </a:t>
            </a:r>
            <a:r>
              <a:rPr kumimoji="0" lang="it-IT" altLang="it-IT" sz="1200" b="1" i="0" u="none" strike="noStrike" cap="none" normalizeH="0" baseline="0" dirty="0" err="1">
                <a:ln>
                  <a:noFill/>
                </a:ln>
                <a:solidFill>
                  <a:srgbClr val="374151"/>
                </a:solidFill>
                <a:effectLst/>
                <a:latin typeface="Söhne Mono"/>
              </a:rPr>
              <a:t>avviaMotore</a:t>
            </a:r>
            <a:r>
              <a:rPr kumimoji="0" lang="it-IT" altLang="it-IT" sz="1200" b="1" i="0" u="none" strike="noStrike" cap="none" normalizeH="0" baseline="0" dirty="0">
                <a:ln>
                  <a:noFill/>
                </a:ln>
                <a:solidFill>
                  <a:srgbClr val="374151"/>
                </a:solidFill>
                <a:effectLst/>
                <a:latin typeface="Söhne Mono"/>
              </a:rPr>
              <a:t>()</a:t>
            </a:r>
            <a:r>
              <a:rPr kumimoji="0" lang="it-IT" altLang="it-IT" sz="1200" b="0" i="0" u="none" strike="noStrike" cap="none" normalizeH="0" baseline="0" dirty="0">
                <a:ln>
                  <a:noFill/>
                </a:ln>
                <a:solidFill>
                  <a:srgbClr val="374151"/>
                </a:solidFill>
                <a:effectLst/>
                <a:latin typeface="Söhne"/>
              </a:rPr>
              <a:t> della classe </a:t>
            </a:r>
            <a:r>
              <a:rPr kumimoji="0" lang="it-IT" altLang="it-IT" sz="1200" b="1" i="0" u="none" strike="noStrike" cap="none" normalizeH="0" baseline="0" dirty="0">
                <a:ln>
                  <a:noFill/>
                </a:ln>
                <a:solidFill>
                  <a:srgbClr val="374151"/>
                </a:solidFill>
                <a:effectLst/>
                <a:latin typeface="Söhne Mono"/>
              </a:rPr>
              <a:t>Veicolo</a:t>
            </a:r>
            <a:r>
              <a:rPr kumimoji="0" lang="it-IT" altLang="it-IT" sz="1200" b="0" i="0" u="none" strike="noStrike" cap="none" normalizeH="0" baseline="0" dirty="0">
                <a:ln>
                  <a:noFill/>
                </a:ln>
                <a:solidFill>
                  <a:srgbClr val="374151"/>
                </a:solidFill>
                <a:effectLst/>
                <a:latin typeface="Söhne"/>
              </a:rPr>
              <a:t>.</a:t>
            </a:r>
            <a:endParaRPr kumimoji="0" lang="it-IT" altLang="it-IT"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200" b="0" i="0" u="none" strike="noStrike" cap="none" normalizeH="0" baseline="0" dirty="0">
                <a:ln>
                  <a:noFill/>
                </a:ln>
                <a:solidFill>
                  <a:srgbClr val="374151"/>
                </a:solidFill>
                <a:effectLst/>
                <a:latin typeface="Söhne"/>
              </a:rPr>
              <a:t>Quando istanziamo un oggetto </a:t>
            </a:r>
            <a:r>
              <a:rPr kumimoji="0" lang="it-IT" altLang="it-IT" sz="1200" b="1" i="0" u="none" strike="noStrike" cap="none" normalizeH="0" baseline="0" dirty="0">
                <a:ln>
                  <a:noFill/>
                </a:ln>
                <a:solidFill>
                  <a:srgbClr val="374151"/>
                </a:solidFill>
                <a:effectLst/>
                <a:latin typeface="Söhne Mono"/>
              </a:rPr>
              <a:t>Auto</a:t>
            </a:r>
            <a:r>
              <a:rPr kumimoji="0" lang="it-IT" altLang="it-IT" sz="1200" b="0" i="0" u="none" strike="noStrike" cap="none" normalizeH="0" baseline="0" dirty="0">
                <a:ln>
                  <a:noFill/>
                </a:ln>
                <a:solidFill>
                  <a:srgbClr val="374151"/>
                </a:solidFill>
                <a:effectLst/>
                <a:latin typeface="Söhne"/>
              </a:rPr>
              <a:t> nel metodo </a:t>
            </a:r>
            <a:r>
              <a:rPr kumimoji="0" lang="it-IT" altLang="it-IT" sz="1200" b="1" i="0" u="none" strike="noStrike" cap="none" normalizeH="0" baseline="0" dirty="0" err="1">
                <a:ln>
                  <a:noFill/>
                </a:ln>
                <a:solidFill>
                  <a:srgbClr val="374151"/>
                </a:solidFill>
                <a:effectLst/>
                <a:latin typeface="Söhne Mono"/>
              </a:rPr>
              <a:t>main</a:t>
            </a:r>
            <a:r>
              <a:rPr kumimoji="0" lang="it-IT" altLang="it-IT" sz="1200" b="1" i="0" u="none" strike="noStrike" cap="none" normalizeH="0" baseline="0" dirty="0">
                <a:ln>
                  <a:noFill/>
                </a:ln>
                <a:solidFill>
                  <a:srgbClr val="374151"/>
                </a:solidFill>
                <a:effectLst/>
                <a:latin typeface="Söhne Mono"/>
              </a:rPr>
              <a:t>()</a:t>
            </a:r>
            <a:r>
              <a:rPr kumimoji="0" lang="it-IT" altLang="it-IT" sz="1200" b="0" i="0" u="none" strike="noStrike" cap="none" normalizeH="0" baseline="0" dirty="0">
                <a:ln>
                  <a:noFill/>
                </a:ln>
                <a:solidFill>
                  <a:srgbClr val="374151"/>
                </a:solidFill>
                <a:effectLst/>
                <a:latin typeface="Söhne"/>
              </a:rPr>
              <a:t>, possiamo accedere alle variabili protette </a:t>
            </a:r>
            <a:r>
              <a:rPr kumimoji="0" lang="it-IT" altLang="it-IT" sz="1200" b="1" i="0" u="none" strike="noStrike" cap="none" normalizeH="0" baseline="0" dirty="0">
                <a:ln>
                  <a:noFill/>
                </a:ln>
                <a:solidFill>
                  <a:srgbClr val="374151"/>
                </a:solidFill>
                <a:effectLst/>
                <a:latin typeface="Söhne Mono"/>
              </a:rPr>
              <a:t>modello</a:t>
            </a:r>
            <a:r>
              <a:rPr kumimoji="0" lang="it-IT" altLang="it-IT" sz="1200" b="0" i="0" u="none" strike="noStrike" cap="none" normalizeH="0" baseline="0" dirty="0">
                <a:ln>
                  <a:noFill/>
                </a:ln>
                <a:solidFill>
                  <a:srgbClr val="374151"/>
                </a:solidFill>
                <a:effectLst/>
                <a:latin typeface="Söhne"/>
              </a:rPr>
              <a:t> e </a:t>
            </a:r>
            <a:r>
              <a:rPr kumimoji="0" lang="it-IT" altLang="it-IT" sz="1200" b="1" i="0" u="none" strike="noStrike" cap="none" normalizeH="0" baseline="0" dirty="0">
                <a:ln>
                  <a:noFill/>
                </a:ln>
                <a:solidFill>
                  <a:srgbClr val="374151"/>
                </a:solidFill>
                <a:effectLst/>
                <a:latin typeface="Söhne Mono"/>
              </a:rPr>
              <a:t>anno</a:t>
            </a:r>
            <a:r>
              <a:rPr kumimoji="0" lang="it-IT" altLang="it-IT" sz="1200" b="0" i="0" u="none" strike="noStrike" cap="none" normalizeH="0" baseline="0" dirty="0">
                <a:ln>
                  <a:noFill/>
                </a:ln>
                <a:solidFill>
                  <a:srgbClr val="374151"/>
                </a:solidFill>
                <a:effectLst/>
                <a:latin typeface="Söhne"/>
              </a:rPr>
              <a:t> della classe </a:t>
            </a:r>
            <a:r>
              <a:rPr kumimoji="0" lang="it-IT" altLang="it-IT" sz="1200" b="1" i="0" u="none" strike="noStrike" cap="none" normalizeH="0" baseline="0" dirty="0">
                <a:ln>
                  <a:noFill/>
                </a:ln>
                <a:solidFill>
                  <a:srgbClr val="374151"/>
                </a:solidFill>
                <a:effectLst/>
                <a:latin typeface="Söhne Mono"/>
              </a:rPr>
              <a:t>Veicolo</a:t>
            </a:r>
            <a:r>
              <a:rPr kumimoji="0" lang="it-IT" altLang="it-IT" sz="1200" b="0" i="0" u="none" strike="noStrike" cap="none" normalizeH="0" baseline="0" dirty="0">
                <a:ln>
                  <a:noFill/>
                </a:ln>
                <a:solidFill>
                  <a:srgbClr val="374151"/>
                </a:solidFill>
                <a:effectLst/>
                <a:latin typeface="Söhne"/>
              </a:rPr>
              <a:t> tramite la sottoclasse </a:t>
            </a:r>
            <a:r>
              <a:rPr kumimoji="0" lang="it-IT" altLang="it-IT" sz="1200" b="1" i="0" u="none" strike="noStrike" cap="none" normalizeH="0" baseline="0" dirty="0">
                <a:ln>
                  <a:noFill/>
                </a:ln>
                <a:solidFill>
                  <a:srgbClr val="374151"/>
                </a:solidFill>
                <a:effectLst/>
                <a:latin typeface="Söhne Mono"/>
              </a:rPr>
              <a:t>Auto</a:t>
            </a:r>
            <a:r>
              <a:rPr kumimoji="0" lang="it-IT" altLang="it-IT" sz="1200" b="0" i="0" u="none" strike="noStrike" cap="none" normalizeH="0" baseline="0" dirty="0">
                <a:ln>
                  <a:noFill/>
                </a:ln>
                <a:solidFill>
                  <a:srgbClr val="374151"/>
                </a:solidFill>
                <a:effectLst/>
                <a:latin typeface="Söhne"/>
              </a:rPr>
              <a:t>, ma non possiamo accedere direttamente alle variabili private della classe </a:t>
            </a:r>
            <a:r>
              <a:rPr kumimoji="0" lang="it-IT" altLang="it-IT" sz="1200" b="1" i="0" u="none" strike="noStrike" cap="none" normalizeH="0" baseline="0" dirty="0">
                <a:ln>
                  <a:noFill/>
                </a:ln>
                <a:solidFill>
                  <a:srgbClr val="374151"/>
                </a:solidFill>
                <a:effectLst/>
                <a:latin typeface="Söhne Mono"/>
              </a:rPr>
              <a:t>Veicolo</a:t>
            </a:r>
            <a:r>
              <a:rPr kumimoji="0" lang="it-IT" altLang="it-IT" sz="1200" b="0" i="0" u="none" strike="noStrike" cap="none" normalizeH="0" baseline="0" dirty="0">
                <a:ln>
                  <a:noFill/>
                </a:ln>
                <a:solidFill>
                  <a:srgbClr val="374151"/>
                </a:solidFill>
                <a:effectLst/>
                <a:latin typeface="Söhne"/>
              </a:rPr>
              <a:t>.</a:t>
            </a:r>
            <a:endParaRPr kumimoji="0" lang="it-IT" altLang="it-IT" sz="1200" b="0" i="0" u="none" strike="noStrike" cap="none" normalizeH="0" baseline="0" dirty="0">
              <a:ln>
                <a:noFill/>
              </a:ln>
              <a:solidFill>
                <a:schemeClr val="tx1"/>
              </a:solidFill>
              <a:effectLst/>
              <a:latin typeface="Arial" panose="020B0604020202020204" pitchFamily="34" charset="0"/>
            </a:endParaRPr>
          </a:p>
        </p:txBody>
      </p:sp>
      <p:pic>
        <p:nvPicPr>
          <p:cNvPr id="3" name="Picture 2" descr="Java Logo, symbol, meaning, history, PNG, brand">
            <a:extLst>
              <a:ext uri="{FF2B5EF4-FFF2-40B4-BE49-F238E27FC236}">
                <a16:creationId xmlns:a16="http://schemas.microsoft.com/office/drawing/2014/main" id="{F48274A7-4661-9ACF-4CD0-1E818A07FE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721608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Protected</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a:t>
            </a:r>
            <a:r>
              <a:rPr lang="it-IT" dirty="0" err="1"/>
              <a:t>protected</a:t>
            </a:r>
            <a:r>
              <a:rPr lang="it-IT" dirty="0"/>
              <a:t> e di estensione di una classe in Java.</a:t>
            </a:r>
          </a:p>
        </p:txBody>
      </p:sp>
      <p:sp>
        <p:nvSpPr>
          <p:cNvPr id="4" name="CasellaDiTesto 3">
            <a:extLst>
              <a:ext uri="{FF2B5EF4-FFF2-40B4-BE49-F238E27FC236}">
                <a16:creationId xmlns:a16="http://schemas.microsoft.com/office/drawing/2014/main" id="{D8A04ADC-A62B-57C7-C793-300E13474AB9}"/>
              </a:ext>
            </a:extLst>
          </p:cNvPr>
          <p:cNvSpPr txBox="1"/>
          <p:nvPr/>
        </p:nvSpPr>
        <p:spPr>
          <a:xfrm>
            <a:off x="282039" y="1896351"/>
            <a:ext cx="11384711" cy="646331"/>
          </a:xfrm>
          <a:prstGeom prst="rect">
            <a:avLst/>
          </a:prstGeom>
          <a:noFill/>
        </p:spPr>
        <p:txBody>
          <a:bodyPr wrap="square">
            <a:spAutoFit/>
          </a:bodyPr>
          <a:lstStyle/>
          <a:p>
            <a:r>
              <a:rPr lang="it-IT" dirty="0"/>
              <a:t>Il modificatore di accesso </a:t>
            </a:r>
            <a:r>
              <a:rPr lang="it-IT" dirty="0" err="1"/>
              <a:t>protected</a:t>
            </a:r>
            <a:r>
              <a:rPr lang="it-IT" dirty="0"/>
              <a:t> è simile al modificatore private, ma consente alle sottoclassi di accedere alle variabili e ai metodi della classe genitore. Ecco un esempio:</a:t>
            </a:r>
          </a:p>
        </p:txBody>
      </p:sp>
      <p:sp>
        <p:nvSpPr>
          <p:cNvPr id="11" name="CasellaDiTesto 10">
            <a:extLst>
              <a:ext uri="{FF2B5EF4-FFF2-40B4-BE49-F238E27FC236}">
                <a16:creationId xmlns:a16="http://schemas.microsoft.com/office/drawing/2014/main" id="{437813BA-297F-56E7-7156-9972DB5E2ECC}"/>
              </a:ext>
            </a:extLst>
          </p:cNvPr>
          <p:cNvSpPr txBox="1"/>
          <p:nvPr/>
        </p:nvSpPr>
        <p:spPr>
          <a:xfrm>
            <a:off x="344463" y="2518025"/>
            <a:ext cx="4218911"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Veicolo(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 {</a:t>
            </a: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.modello</a:t>
            </a:r>
            <a:r>
              <a:rPr lang="it-IT" sz="1200" b="0" dirty="0">
                <a:solidFill>
                  <a:srgbClr val="D4D4D4"/>
                </a:solidFill>
                <a:effectLst/>
                <a:latin typeface="Consolas" panose="020B0609020204030204" pitchFamily="49" charset="0"/>
              </a:rPr>
              <a:t> = modello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.anno</a:t>
            </a:r>
            <a:r>
              <a:rPr lang="it-IT" sz="1200" b="0" dirty="0">
                <a:solidFill>
                  <a:srgbClr val="D4D4D4"/>
                </a:solidFill>
                <a:effectLst/>
                <a:latin typeface="Consolas" panose="020B0609020204030204" pitchFamily="49" charset="0"/>
              </a:rPr>
              <a:t> =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protected</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"Motore avviato"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A5823001-165E-6D73-7959-2CCE15149EA7}"/>
              </a:ext>
            </a:extLst>
          </p:cNvPr>
          <p:cNvSpPr txBox="1"/>
          <p:nvPr/>
        </p:nvSpPr>
        <p:spPr>
          <a:xfrm>
            <a:off x="4625798" y="2530354"/>
            <a:ext cx="6094562" cy="2492990"/>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Auto </a:t>
            </a:r>
            <a:r>
              <a:rPr lang="it-IT" sz="1200" b="0" dirty="0" err="1">
                <a:solidFill>
                  <a:srgbClr val="569CD6"/>
                </a:solidFill>
                <a:effectLst/>
                <a:latin typeface="Consolas" panose="020B0609020204030204" pitchFamily="49" charset="0"/>
              </a:rPr>
              <a:t>extends</a:t>
            </a:r>
            <a:r>
              <a:rPr lang="it-IT" sz="1200" b="0" dirty="0">
                <a:solidFill>
                  <a:srgbClr val="D4D4D4"/>
                </a:solidFill>
                <a:effectLst/>
                <a:latin typeface="Consolas" panose="020B0609020204030204" pitchFamily="49" charset="0"/>
              </a:rPr>
              <a:t> Veicolo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private</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Auto(</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int</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super</a:t>
            </a:r>
            <a:r>
              <a:rPr lang="it-IT" sz="1200" b="0" dirty="0">
                <a:solidFill>
                  <a:srgbClr val="D4D4D4"/>
                </a:solidFill>
                <a:effectLst/>
                <a:latin typeface="Consolas" panose="020B0609020204030204" pitchFamily="49" charset="0"/>
              </a:rPr>
              <a:t>(modello</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anno)</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this</a:t>
            </a:r>
            <a:r>
              <a:rPr lang="it-IT" sz="1200" b="0" dirty="0" err="1">
                <a:solidFill>
                  <a:srgbClr val="D4D4D4"/>
                </a:solidFill>
                <a:effectLst/>
                <a:latin typeface="Consolas" panose="020B0609020204030204" pitchFamily="49" charset="0"/>
              </a:rPr>
              <a:t>.numeroPorte</a:t>
            </a:r>
            <a:r>
              <a:rPr lang="it-IT" sz="1200" b="0" dirty="0">
                <a:solidFill>
                  <a:srgbClr val="D4D4D4"/>
                </a:solidFill>
                <a:effectLst/>
                <a:latin typeface="Consolas" panose="020B0609020204030204" pitchFamily="49" charset="0"/>
              </a:rPr>
              <a:t> = </a:t>
            </a:r>
            <a:r>
              <a:rPr lang="it-IT" sz="1200" b="0" dirty="0" err="1">
                <a:solidFill>
                  <a:srgbClr val="D4D4D4"/>
                </a:solidFill>
                <a:effectLst/>
                <a:latin typeface="Consolas" panose="020B0609020204030204" pitchFamily="49" charset="0"/>
              </a:rPr>
              <a:t>numeroPorte</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br>
              <a:rPr lang="it-IT" sz="1200" b="0" dirty="0">
                <a:solidFill>
                  <a:srgbClr val="D4D4D4"/>
                </a:solidFill>
                <a:effectLst/>
                <a:latin typeface="Consolas" panose="020B0609020204030204" pitchFamily="49" charset="0"/>
              </a:rPr>
            </a:b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guida() {</a:t>
            </a: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avviaMotore</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System.out.println</a:t>
            </a:r>
            <a:r>
              <a:rPr lang="it-IT" sz="1200" b="0" dirty="0">
                <a:solidFill>
                  <a:srgbClr val="D4D4D4"/>
                </a:solidFill>
                <a:effectLst/>
                <a:latin typeface="Consolas" panose="020B0609020204030204" pitchFamily="49" charset="0"/>
              </a:rPr>
              <a:t>(</a:t>
            </a:r>
            <a:r>
              <a:rPr lang="it-IT" sz="1200" b="0" dirty="0">
                <a:solidFill>
                  <a:srgbClr val="CE9178"/>
                </a:solidFill>
                <a:effectLst/>
                <a:latin typeface="Consolas" panose="020B0609020204030204" pitchFamily="49" charset="0"/>
              </a:rPr>
              <a:t>"Guidando l'auto"</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6" name="CasellaDiTesto 15">
            <a:extLst>
              <a:ext uri="{FF2B5EF4-FFF2-40B4-BE49-F238E27FC236}">
                <a16:creationId xmlns:a16="http://schemas.microsoft.com/office/drawing/2014/main" id="{C5441425-C795-DF6C-E148-858F71AEF8D9}"/>
              </a:ext>
            </a:extLst>
          </p:cNvPr>
          <p:cNvSpPr txBox="1"/>
          <p:nvPr/>
        </p:nvSpPr>
        <p:spPr>
          <a:xfrm>
            <a:off x="344463" y="5057182"/>
            <a:ext cx="6094562" cy="1200329"/>
          </a:xfrm>
          <a:prstGeom prst="rect">
            <a:avLst/>
          </a:prstGeom>
          <a:solidFill>
            <a:schemeClr val="tx1">
              <a:lumMod val="85000"/>
              <a:lumOff val="15000"/>
            </a:schemeClr>
          </a:solidFill>
        </p:spPr>
        <p:txBody>
          <a:bodyPr wrap="square">
            <a:spAutoFit/>
          </a:bodyPr>
          <a:lstStyle/>
          <a:p>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class</a:t>
            </a:r>
            <a:r>
              <a:rPr lang="it-IT" sz="1200" b="0" dirty="0">
                <a:solidFill>
                  <a:srgbClr val="D4D4D4"/>
                </a:solidFill>
                <a:effectLst/>
                <a:latin typeface="Consolas" panose="020B0609020204030204" pitchFamily="49" charset="0"/>
              </a:rPr>
              <a:t> Test {</a:t>
            </a:r>
          </a:p>
          <a:p>
            <a:r>
              <a:rPr lang="it-IT" sz="1200" b="0" dirty="0">
                <a:solidFill>
                  <a:srgbClr val="D4D4D4"/>
                </a:solidFill>
                <a:effectLst/>
                <a:latin typeface="Consolas" panose="020B0609020204030204" pitchFamily="49" charset="0"/>
              </a:rPr>
              <a:t>    </a:t>
            </a:r>
            <a:r>
              <a:rPr lang="it-IT" sz="1200" b="0" dirty="0">
                <a:solidFill>
                  <a:srgbClr val="569CD6"/>
                </a:solidFill>
                <a:effectLst/>
                <a:latin typeface="Consolas" panose="020B0609020204030204" pitchFamily="49" charset="0"/>
              </a:rPr>
              <a:t>public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static</a:t>
            </a:r>
            <a:r>
              <a:rPr lang="it-IT" sz="1200" b="0" dirty="0">
                <a:solidFill>
                  <a:srgbClr val="D4D4D4"/>
                </a:solidFill>
                <a:effectLst/>
                <a:latin typeface="Consolas" panose="020B0609020204030204" pitchFamily="49" charset="0"/>
              </a:rPr>
              <a:t> </a:t>
            </a:r>
            <a:r>
              <a:rPr lang="it-IT" sz="1200" b="0" dirty="0" err="1">
                <a:solidFill>
                  <a:srgbClr val="569CD6"/>
                </a:solidFill>
                <a:effectLst/>
                <a:latin typeface="Consolas" panose="020B0609020204030204" pitchFamily="49" charset="0"/>
              </a:rPr>
              <a:t>void</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main</a:t>
            </a:r>
            <a:r>
              <a:rPr lang="it-IT" sz="1200" b="0" dirty="0">
                <a:solidFill>
                  <a:srgbClr val="D4D4D4"/>
                </a:solidFill>
                <a:effectLst/>
                <a:latin typeface="Consolas" panose="020B0609020204030204" pitchFamily="49" charset="0"/>
              </a:rPr>
              <a:t>(</a:t>
            </a:r>
            <a:r>
              <a:rPr lang="it-IT" sz="1200" b="0" dirty="0" err="1">
                <a:solidFill>
                  <a:srgbClr val="D4D4D4"/>
                </a:solidFill>
                <a:effectLst/>
                <a:latin typeface="Consolas" panose="020B0609020204030204" pitchFamily="49" charset="0"/>
              </a:rPr>
              <a:t>String</a:t>
            </a:r>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args</a:t>
            </a:r>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        Auto </a:t>
            </a:r>
            <a:r>
              <a:rPr lang="it-IT" sz="1200" b="0" dirty="0" err="1">
                <a:solidFill>
                  <a:srgbClr val="D4D4D4"/>
                </a:solidFill>
                <a:effectLst/>
                <a:latin typeface="Consolas" panose="020B0609020204030204" pitchFamily="49" charset="0"/>
              </a:rPr>
              <a:t>miaAuto</a:t>
            </a:r>
            <a:r>
              <a:rPr lang="it-IT" sz="1200" b="0" dirty="0">
                <a:solidFill>
                  <a:srgbClr val="D4D4D4"/>
                </a:solidFill>
                <a:effectLst/>
                <a:latin typeface="Consolas" panose="020B0609020204030204" pitchFamily="49" charset="0"/>
              </a:rPr>
              <a:t> = </a:t>
            </a:r>
            <a:r>
              <a:rPr lang="it-IT" sz="1200" b="0" dirty="0">
                <a:solidFill>
                  <a:srgbClr val="569CD6"/>
                </a:solidFill>
                <a:effectLst/>
                <a:latin typeface="Consolas" panose="020B0609020204030204" pitchFamily="49" charset="0"/>
              </a:rPr>
              <a:t>new</a:t>
            </a:r>
            <a:r>
              <a:rPr lang="it-IT" sz="1200" b="0" dirty="0">
                <a:solidFill>
                  <a:srgbClr val="D4D4D4"/>
                </a:solidFill>
                <a:effectLst/>
                <a:latin typeface="Consolas" panose="020B0609020204030204" pitchFamily="49" charset="0"/>
              </a:rPr>
              <a:t> Auto(</a:t>
            </a:r>
            <a:r>
              <a:rPr lang="it-IT" sz="1200" b="0" dirty="0">
                <a:solidFill>
                  <a:srgbClr val="CE9178"/>
                </a:solidFill>
                <a:effectLst/>
                <a:latin typeface="Consolas" panose="020B0609020204030204" pitchFamily="49" charset="0"/>
              </a:rPr>
              <a:t>"Ford Focus"</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a:solidFill>
                  <a:srgbClr val="B5CEA8"/>
                </a:solidFill>
                <a:effectLst/>
                <a:latin typeface="Consolas" panose="020B0609020204030204" pitchFamily="49" charset="0"/>
              </a:rPr>
              <a:t>2010</a:t>
            </a:r>
            <a:r>
              <a:rPr lang="it-IT" sz="1200" b="0" dirty="0">
                <a:solidFill>
                  <a:srgbClr val="569CD6"/>
                </a:solidFill>
                <a:effectLst/>
                <a:latin typeface="Consolas" panose="020B0609020204030204" pitchFamily="49" charset="0"/>
              </a:rPr>
              <a:t>,</a:t>
            </a:r>
            <a:r>
              <a:rPr lang="it-IT" sz="1200" b="0" dirty="0">
                <a:solidFill>
                  <a:srgbClr val="D4D4D4"/>
                </a:solidFill>
                <a:effectLst/>
                <a:latin typeface="Consolas" panose="020B0609020204030204" pitchFamily="49" charset="0"/>
              </a:rPr>
              <a:t> </a:t>
            </a:r>
            <a:r>
              <a:rPr lang="it-IT" sz="1200" b="0" dirty="0">
                <a:solidFill>
                  <a:srgbClr val="B5CEA8"/>
                </a:solidFill>
                <a:effectLst/>
                <a:latin typeface="Consolas" panose="020B0609020204030204" pitchFamily="49" charset="0"/>
              </a:rPr>
              <a:t>4</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r>
              <a:rPr lang="it-IT" sz="1200" b="0" dirty="0" err="1">
                <a:solidFill>
                  <a:srgbClr val="D4D4D4"/>
                </a:solidFill>
                <a:effectLst/>
                <a:latin typeface="Consolas" panose="020B0609020204030204" pitchFamily="49" charset="0"/>
              </a:rPr>
              <a:t>miaAuto.guida</a:t>
            </a:r>
            <a:r>
              <a:rPr lang="it-IT" sz="1200" b="0" dirty="0">
                <a:solidFill>
                  <a:srgbClr val="D4D4D4"/>
                </a:solidFill>
                <a:effectLst/>
                <a:latin typeface="Consolas" panose="020B0609020204030204" pitchFamily="49" charset="0"/>
              </a:rPr>
              <a:t>()</a:t>
            </a:r>
            <a:r>
              <a:rPr lang="it-IT" sz="1200" b="0" dirty="0">
                <a:solidFill>
                  <a:srgbClr val="569CD6"/>
                </a:solidFill>
                <a:effectLst/>
                <a:latin typeface="Consolas" panose="020B0609020204030204" pitchFamily="49" charset="0"/>
              </a:rPr>
              <a:t>;</a:t>
            </a:r>
            <a:endParaRPr lang="it-IT" sz="1200" b="0" dirty="0">
              <a:solidFill>
                <a:srgbClr val="D4D4D4"/>
              </a:solidFill>
              <a:effectLst/>
              <a:latin typeface="Consolas" panose="020B0609020204030204" pitchFamily="49" charset="0"/>
            </a:endParaRPr>
          </a:p>
          <a:p>
            <a:r>
              <a:rPr lang="it-IT" sz="1200" b="0" dirty="0">
                <a:solidFill>
                  <a:srgbClr val="D4D4D4"/>
                </a:solidFill>
                <a:effectLst/>
                <a:latin typeface="Consolas" panose="020B0609020204030204" pitchFamily="49" charset="0"/>
              </a:rPr>
              <a:t>    }</a:t>
            </a:r>
          </a:p>
          <a:p>
            <a:r>
              <a:rPr lang="it-IT" sz="1200" b="0" dirty="0">
                <a:solidFill>
                  <a:srgbClr val="D4D4D4"/>
                </a:solidFill>
                <a:effectLst/>
                <a:latin typeface="Consolas" panose="020B0609020204030204" pitchFamily="49" charset="0"/>
              </a:rPr>
              <a:t>}</a:t>
            </a:r>
          </a:p>
        </p:txBody>
      </p:sp>
      <p:sp>
        <p:nvSpPr>
          <p:cNvPr id="17" name="Rectangle 1">
            <a:extLst>
              <a:ext uri="{FF2B5EF4-FFF2-40B4-BE49-F238E27FC236}">
                <a16:creationId xmlns:a16="http://schemas.microsoft.com/office/drawing/2014/main" id="{1A16C58A-32BB-F684-92E2-E93F26BA86D6}"/>
              </a:ext>
            </a:extLst>
          </p:cNvPr>
          <p:cNvSpPr>
            <a:spLocks noChangeArrowheads="1"/>
          </p:cNvSpPr>
          <p:nvPr/>
        </p:nvSpPr>
        <p:spPr bwMode="auto">
          <a:xfrm>
            <a:off x="6538823" y="5057182"/>
            <a:ext cx="5653177" cy="1754326"/>
          </a:xfrm>
          <a:prstGeom prst="rect">
            <a:avLst/>
          </a:prstGeom>
          <a:solidFill>
            <a:srgbClr val="F7F7F8"/>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200" b="0" i="0" u="none" strike="noStrike" cap="none" normalizeH="0" baseline="0" dirty="0">
                <a:ln>
                  <a:noFill/>
                </a:ln>
                <a:solidFill>
                  <a:srgbClr val="374151"/>
                </a:solidFill>
                <a:effectLst/>
                <a:latin typeface="Söhne"/>
              </a:rPr>
              <a:t>In questo esempio, abbiamo definito una classe </a:t>
            </a:r>
            <a:r>
              <a:rPr kumimoji="0" lang="it-IT" altLang="it-IT" sz="1200" b="1" i="0" u="none" strike="noStrike" cap="none" normalizeH="0" baseline="0" dirty="0">
                <a:ln>
                  <a:noFill/>
                </a:ln>
                <a:solidFill>
                  <a:srgbClr val="374151"/>
                </a:solidFill>
                <a:effectLst/>
                <a:latin typeface="Söhne Mono"/>
              </a:rPr>
              <a:t>Veicolo</a:t>
            </a:r>
            <a:r>
              <a:rPr kumimoji="0" lang="it-IT" altLang="it-IT" sz="1200" b="0" i="0" u="none" strike="noStrike" cap="none" normalizeH="0" baseline="0" dirty="0">
                <a:ln>
                  <a:noFill/>
                </a:ln>
                <a:solidFill>
                  <a:srgbClr val="374151"/>
                </a:solidFill>
                <a:effectLst/>
                <a:latin typeface="Söhne"/>
              </a:rPr>
              <a:t> con due variabili protette </a:t>
            </a:r>
            <a:r>
              <a:rPr kumimoji="0" lang="it-IT" altLang="it-IT" sz="1200" b="1" i="0" u="none" strike="noStrike" cap="none" normalizeH="0" baseline="0" dirty="0">
                <a:ln>
                  <a:noFill/>
                </a:ln>
                <a:solidFill>
                  <a:srgbClr val="374151"/>
                </a:solidFill>
                <a:effectLst/>
                <a:latin typeface="Söhne Mono"/>
              </a:rPr>
              <a:t>modello</a:t>
            </a:r>
            <a:r>
              <a:rPr kumimoji="0" lang="it-IT" altLang="it-IT" sz="1200" b="0" i="0" u="none" strike="noStrike" cap="none" normalizeH="0" baseline="0" dirty="0">
                <a:ln>
                  <a:noFill/>
                </a:ln>
                <a:solidFill>
                  <a:srgbClr val="374151"/>
                </a:solidFill>
                <a:effectLst/>
                <a:latin typeface="Söhne"/>
              </a:rPr>
              <a:t> e </a:t>
            </a:r>
            <a:r>
              <a:rPr kumimoji="0" lang="it-IT" altLang="it-IT" sz="1200" b="1" i="0" u="none" strike="noStrike" cap="none" normalizeH="0" baseline="0" dirty="0">
                <a:ln>
                  <a:noFill/>
                </a:ln>
                <a:solidFill>
                  <a:srgbClr val="374151"/>
                </a:solidFill>
                <a:effectLst/>
                <a:latin typeface="Söhne Mono"/>
              </a:rPr>
              <a:t>anno</a:t>
            </a:r>
            <a:r>
              <a:rPr kumimoji="0" lang="it-IT" altLang="it-IT" sz="1200" b="0" i="0" u="none" strike="noStrike" cap="none" normalizeH="0" baseline="0" dirty="0">
                <a:ln>
                  <a:noFill/>
                </a:ln>
                <a:solidFill>
                  <a:srgbClr val="374151"/>
                </a:solidFill>
                <a:effectLst/>
                <a:latin typeface="Söhne"/>
              </a:rPr>
              <a:t> e un metodo protetto </a:t>
            </a:r>
            <a:r>
              <a:rPr kumimoji="0" lang="it-IT" altLang="it-IT" sz="1200" b="1" i="0" u="none" strike="noStrike" cap="none" normalizeH="0" baseline="0" dirty="0" err="1">
                <a:ln>
                  <a:noFill/>
                </a:ln>
                <a:solidFill>
                  <a:srgbClr val="374151"/>
                </a:solidFill>
                <a:effectLst/>
                <a:latin typeface="Söhne Mono"/>
              </a:rPr>
              <a:t>avviaMotore</a:t>
            </a:r>
            <a:r>
              <a:rPr kumimoji="0" lang="it-IT" altLang="it-IT" sz="1200" b="1" i="0" u="none" strike="noStrike" cap="none" normalizeH="0" baseline="0" dirty="0">
                <a:ln>
                  <a:noFill/>
                </a:ln>
                <a:solidFill>
                  <a:srgbClr val="374151"/>
                </a:solidFill>
                <a:effectLst/>
                <a:latin typeface="Söhne Mono"/>
              </a:rPr>
              <a:t>()</a:t>
            </a:r>
            <a:r>
              <a:rPr kumimoji="0" lang="it-IT" altLang="it-IT" sz="1200" b="0" i="0" u="none" strike="noStrike" cap="none" normalizeH="0" baseline="0" dirty="0">
                <a:ln>
                  <a:noFill/>
                </a:ln>
                <a:solidFill>
                  <a:srgbClr val="374151"/>
                </a:solidFill>
                <a:effectLst/>
                <a:latin typeface="Söhne"/>
              </a:rPr>
              <a:t>. Abbiamo poi creato una classe </a:t>
            </a:r>
            <a:r>
              <a:rPr kumimoji="0" lang="it-IT" altLang="it-IT" sz="1200" b="1" i="0" u="none" strike="noStrike" cap="none" normalizeH="0" baseline="0" dirty="0">
                <a:ln>
                  <a:noFill/>
                </a:ln>
                <a:solidFill>
                  <a:srgbClr val="374151"/>
                </a:solidFill>
                <a:effectLst/>
                <a:latin typeface="Söhne Mono"/>
              </a:rPr>
              <a:t>Auto</a:t>
            </a:r>
            <a:r>
              <a:rPr kumimoji="0" lang="it-IT" altLang="it-IT" sz="1200" b="0" i="0" u="none" strike="noStrike" cap="none" normalizeH="0" baseline="0" dirty="0">
                <a:ln>
                  <a:noFill/>
                </a:ln>
                <a:solidFill>
                  <a:srgbClr val="374151"/>
                </a:solidFill>
                <a:effectLst/>
                <a:latin typeface="Söhne"/>
              </a:rPr>
              <a:t> che estende la classe </a:t>
            </a:r>
            <a:r>
              <a:rPr kumimoji="0" lang="it-IT" altLang="it-IT" sz="1200" b="1" i="0" u="none" strike="noStrike" cap="none" normalizeH="0" baseline="0" dirty="0">
                <a:ln>
                  <a:noFill/>
                </a:ln>
                <a:solidFill>
                  <a:srgbClr val="374151"/>
                </a:solidFill>
                <a:effectLst/>
                <a:latin typeface="Söhne Mono"/>
              </a:rPr>
              <a:t>Veicolo</a:t>
            </a:r>
            <a:r>
              <a:rPr kumimoji="0" lang="it-IT" altLang="it-IT" sz="1200" b="0" i="0" u="none" strike="noStrike" cap="none" normalizeH="0" baseline="0" dirty="0">
                <a:ln>
                  <a:noFill/>
                </a:ln>
                <a:solidFill>
                  <a:srgbClr val="374151"/>
                </a:solidFill>
                <a:effectLst/>
                <a:latin typeface="Söhne"/>
              </a:rPr>
              <a:t> e ha una variabile privata </a:t>
            </a:r>
            <a:r>
              <a:rPr kumimoji="0" lang="it-IT" altLang="it-IT" sz="1200" b="1" i="0" u="none" strike="noStrike" cap="none" normalizeH="0" baseline="0" dirty="0" err="1">
                <a:ln>
                  <a:noFill/>
                </a:ln>
                <a:solidFill>
                  <a:srgbClr val="374151"/>
                </a:solidFill>
                <a:effectLst/>
                <a:latin typeface="Söhne Mono"/>
              </a:rPr>
              <a:t>numeroPorte</a:t>
            </a:r>
            <a:r>
              <a:rPr kumimoji="0" lang="it-IT" altLang="it-IT" sz="1200" b="0" i="0" u="none" strike="noStrike" cap="none" normalizeH="0" baseline="0" dirty="0">
                <a:ln>
                  <a:noFill/>
                </a:ln>
                <a:solidFill>
                  <a:srgbClr val="374151"/>
                </a:solidFill>
                <a:effectLst/>
                <a:latin typeface="Söhne"/>
              </a:rPr>
              <a:t> e un metodo pubblico </a:t>
            </a:r>
            <a:r>
              <a:rPr kumimoji="0" lang="it-IT" altLang="it-IT" sz="1200" b="1" i="0" u="none" strike="noStrike" cap="none" normalizeH="0" baseline="0" dirty="0">
                <a:ln>
                  <a:noFill/>
                </a:ln>
                <a:solidFill>
                  <a:srgbClr val="374151"/>
                </a:solidFill>
                <a:effectLst/>
                <a:latin typeface="Söhne Mono"/>
              </a:rPr>
              <a:t>guida()</a:t>
            </a:r>
            <a:r>
              <a:rPr kumimoji="0" lang="it-IT" altLang="it-IT" sz="1200" b="0" i="0" u="none" strike="noStrike" cap="none" normalizeH="0" baseline="0" dirty="0">
                <a:ln>
                  <a:noFill/>
                </a:ln>
                <a:solidFill>
                  <a:srgbClr val="374151"/>
                </a:solidFill>
                <a:effectLst/>
                <a:latin typeface="Söhne"/>
              </a:rPr>
              <a:t>, che chiama il metodo </a:t>
            </a:r>
            <a:r>
              <a:rPr kumimoji="0" lang="it-IT" altLang="it-IT" sz="1200" b="1" i="0" u="none" strike="noStrike" cap="none" normalizeH="0" baseline="0" dirty="0" err="1">
                <a:ln>
                  <a:noFill/>
                </a:ln>
                <a:solidFill>
                  <a:srgbClr val="374151"/>
                </a:solidFill>
                <a:effectLst/>
                <a:latin typeface="Söhne Mono"/>
              </a:rPr>
              <a:t>avviaMotore</a:t>
            </a:r>
            <a:r>
              <a:rPr kumimoji="0" lang="it-IT" altLang="it-IT" sz="1200" b="1" i="0" u="none" strike="noStrike" cap="none" normalizeH="0" baseline="0" dirty="0">
                <a:ln>
                  <a:noFill/>
                </a:ln>
                <a:solidFill>
                  <a:srgbClr val="374151"/>
                </a:solidFill>
                <a:effectLst/>
                <a:latin typeface="Söhne Mono"/>
              </a:rPr>
              <a:t>()</a:t>
            </a:r>
            <a:r>
              <a:rPr kumimoji="0" lang="it-IT" altLang="it-IT" sz="1200" b="0" i="0" u="none" strike="noStrike" cap="none" normalizeH="0" baseline="0" dirty="0">
                <a:ln>
                  <a:noFill/>
                </a:ln>
                <a:solidFill>
                  <a:srgbClr val="374151"/>
                </a:solidFill>
                <a:effectLst/>
                <a:latin typeface="Söhne"/>
              </a:rPr>
              <a:t> della classe </a:t>
            </a:r>
            <a:r>
              <a:rPr kumimoji="0" lang="it-IT" altLang="it-IT" sz="1200" b="1" i="0" u="none" strike="noStrike" cap="none" normalizeH="0" baseline="0" dirty="0">
                <a:ln>
                  <a:noFill/>
                </a:ln>
                <a:solidFill>
                  <a:srgbClr val="374151"/>
                </a:solidFill>
                <a:effectLst/>
                <a:latin typeface="Söhne Mono"/>
              </a:rPr>
              <a:t>Veicolo</a:t>
            </a:r>
            <a:r>
              <a:rPr kumimoji="0" lang="it-IT" altLang="it-IT" sz="1200" b="0" i="0" u="none" strike="noStrike" cap="none" normalizeH="0" baseline="0" dirty="0">
                <a:ln>
                  <a:noFill/>
                </a:ln>
                <a:solidFill>
                  <a:srgbClr val="374151"/>
                </a:solidFill>
                <a:effectLst/>
                <a:latin typeface="Söhne"/>
              </a:rPr>
              <a:t>.</a:t>
            </a:r>
            <a:endParaRPr kumimoji="0" lang="it-IT" altLang="it-IT"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200" b="0" i="0" u="none" strike="noStrike" cap="none" normalizeH="0" baseline="0" dirty="0">
                <a:ln>
                  <a:noFill/>
                </a:ln>
                <a:solidFill>
                  <a:srgbClr val="374151"/>
                </a:solidFill>
                <a:effectLst/>
                <a:latin typeface="Söhne"/>
              </a:rPr>
              <a:t>Quando istanziamo un oggetto </a:t>
            </a:r>
            <a:r>
              <a:rPr kumimoji="0" lang="it-IT" altLang="it-IT" sz="1200" b="1" i="0" u="none" strike="noStrike" cap="none" normalizeH="0" baseline="0" dirty="0">
                <a:ln>
                  <a:noFill/>
                </a:ln>
                <a:solidFill>
                  <a:srgbClr val="374151"/>
                </a:solidFill>
                <a:effectLst/>
                <a:latin typeface="Söhne Mono"/>
              </a:rPr>
              <a:t>Auto</a:t>
            </a:r>
            <a:r>
              <a:rPr kumimoji="0" lang="it-IT" altLang="it-IT" sz="1200" b="0" i="0" u="none" strike="noStrike" cap="none" normalizeH="0" baseline="0" dirty="0">
                <a:ln>
                  <a:noFill/>
                </a:ln>
                <a:solidFill>
                  <a:srgbClr val="374151"/>
                </a:solidFill>
                <a:effectLst/>
                <a:latin typeface="Söhne"/>
              </a:rPr>
              <a:t> nel metodo </a:t>
            </a:r>
            <a:r>
              <a:rPr kumimoji="0" lang="it-IT" altLang="it-IT" sz="1200" b="1" i="0" u="none" strike="noStrike" cap="none" normalizeH="0" baseline="0" dirty="0" err="1">
                <a:ln>
                  <a:noFill/>
                </a:ln>
                <a:solidFill>
                  <a:srgbClr val="374151"/>
                </a:solidFill>
                <a:effectLst/>
                <a:latin typeface="Söhne Mono"/>
              </a:rPr>
              <a:t>main</a:t>
            </a:r>
            <a:r>
              <a:rPr kumimoji="0" lang="it-IT" altLang="it-IT" sz="1200" b="1" i="0" u="none" strike="noStrike" cap="none" normalizeH="0" baseline="0" dirty="0">
                <a:ln>
                  <a:noFill/>
                </a:ln>
                <a:solidFill>
                  <a:srgbClr val="374151"/>
                </a:solidFill>
                <a:effectLst/>
                <a:latin typeface="Söhne Mono"/>
              </a:rPr>
              <a:t>()</a:t>
            </a:r>
            <a:r>
              <a:rPr kumimoji="0" lang="it-IT" altLang="it-IT" sz="1200" b="0" i="0" u="none" strike="noStrike" cap="none" normalizeH="0" baseline="0" dirty="0">
                <a:ln>
                  <a:noFill/>
                </a:ln>
                <a:solidFill>
                  <a:srgbClr val="374151"/>
                </a:solidFill>
                <a:effectLst/>
                <a:latin typeface="Söhne"/>
              </a:rPr>
              <a:t>, possiamo accedere alle variabili protette </a:t>
            </a:r>
            <a:r>
              <a:rPr kumimoji="0" lang="it-IT" altLang="it-IT" sz="1200" b="1" i="0" u="none" strike="noStrike" cap="none" normalizeH="0" baseline="0" dirty="0">
                <a:ln>
                  <a:noFill/>
                </a:ln>
                <a:solidFill>
                  <a:srgbClr val="374151"/>
                </a:solidFill>
                <a:effectLst/>
                <a:latin typeface="Söhne Mono"/>
              </a:rPr>
              <a:t>modello</a:t>
            </a:r>
            <a:r>
              <a:rPr kumimoji="0" lang="it-IT" altLang="it-IT" sz="1200" b="0" i="0" u="none" strike="noStrike" cap="none" normalizeH="0" baseline="0" dirty="0">
                <a:ln>
                  <a:noFill/>
                </a:ln>
                <a:solidFill>
                  <a:srgbClr val="374151"/>
                </a:solidFill>
                <a:effectLst/>
                <a:latin typeface="Söhne"/>
              </a:rPr>
              <a:t> e </a:t>
            </a:r>
            <a:r>
              <a:rPr kumimoji="0" lang="it-IT" altLang="it-IT" sz="1200" b="1" i="0" u="none" strike="noStrike" cap="none" normalizeH="0" baseline="0" dirty="0">
                <a:ln>
                  <a:noFill/>
                </a:ln>
                <a:solidFill>
                  <a:srgbClr val="374151"/>
                </a:solidFill>
                <a:effectLst/>
                <a:latin typeface="Söhne Mono"/>
              </a:rPr>
              <a:t>anno</a:t>
            </a:r>
            <a:r>
              <a:rPr kumimoji="0" lang="it-IT" altLang="it-IT" sz="1200" b="0" i="0" u="none" strike="noStrike" cap="none" normalizeH="0" baseline="0" dirty="0">
                <a:ln>
                  <a:noFill/>
                </a:ln>
                <a:solidFill>
                  <a:srgbClr val="374151"/>
                </a:solidFill>
                <a:effectLst/>
                <a:latin typeface="Söhne"/>
              </a:rPr>
              <a:t> della classe </a:t>
            </a:r>
            <a:r>
              <a:rPr kumimoji="0" lang="it-IT" altLang="it-IT" sz="1200" b="1" i="0" u="none" strike="noStrike" cap="none" normalizeH="0" baseline="0" dirty="0">
                <a:ln>
                  <a:noFill/>
                </a:ln>
                <a:solidFill>
                  <a:srgbClr val="374151"/>
                </a:solidFill>
                <a:effectLst/>
                <a:latin typeface="Söhne Mono"/>
              </a:rPr>
              <a:t>Veicolo</a:t>
            </a:r>
            <a:r>
              <a:rPr kumimoji="0" lang="it-IT" altLang="it-IT" sz="1200" b="0" i="0" u="none" strike="noStrike" cap="none" normalizeH="0" baseline="0" dirty="0">
                <a:ln>
                  <a:noFill/>
                </a:ln>
                <a:solidFill>
                  <a:srgbClr val="374151"/>
                </a:solidFill>
                <a:effectLst/>
                <a:latin typeface="Söhne"/>
              </a:rPr>
              <a:t> tramite la sottoclasse </a:t>
            </a:r>
            <a:r>
              <a:rPr kumimoji="0" lang="it-IT" altLang="it-IT" sz="1200" b="1" i="0" u="none" strike="noStrike" cap="none" normalizeH="0" baseline="0" dirty="0">
                <a:ln>
                  <a:noFill/>
                </a:ln>
                <a:solidFill>
                  <a:srgbClr val="374151"/>
                </a:solidFill>
                <a:effectLst/>
                <a:latin typeface="Söhne Mono"/>
              </a:rPr>
              <a:t>Auto</a:t>
            </a:r>
            <a:r>
              <a:rPr kumimoji="0" lang="it-IT" altLang="it-IT" sz="1200" b="0" i="0" u="none" strike="noStrike" cap="none" normalizeH="0" baseline="0" dirty="0">
                <a:ln>
                  <a:noFill/>
                </a:ln>
                <a:solidFill>
                  <a:srgbClr val="374151"/>
                </a:solidFill>
                <a:effectLst/>
                <a:latin typeface="Söhne"/>
              </a:rPr>
              <a:t>, ma non possiamo accedere direttamente alle variabili private della classe </a:t>
            </a:r>
            <a:r>
              <a:rPr kumimoji="0" lang="it-IT" altLang="it-IT" sz="1200" b="1" i="0" u="none" strike="noStrike" cap="none" normalizeH="0" baseline="0" dirty="0">
                <a:ln>
                  <a:noFill/>
                </a:ln>
                <a:solidFill>
                  <a:srgbClr val="374151"/>
                </a:solidFill>
                <a:effectLst/>
                <a:latin typeface="Söhne Mono"/>
              </a:rPr>
              <a:t>Veicolo</a:t>
            </a:r>
            <a:r>
              <a:rPr kumimoji="0" lang="it-IT" altLang="it-IT" sz="1200" b="0" i="0" u="none" strike="noStrike" cap="none" normalizeH="0" baseline="0" dirty="0">
                <a:ln>
                  <a:noFill/>
                </a:ln>
                <a:solidFill>
                  <a:srgbClr val="374151"/>
                </a:solidFill>
                <a:effectLst/>
                <a:latin typeface="Söhne"/>
              </a:rPr>
              <a:t>. Inoltre, poiché il metodo </a:t>
            </a:r>
            <a:r>
              <a:rPr kumimoji="0" lang="it-IT" altLang="it-IT" sz="1200" b="1" i="0" u="none" strike="noStrike" cap="none" normalizeH="0" baseline="0" dirty="0" err="1">
                <a:ln>
                  <a:noFill/>
                </a:ln>
                <a:solidFill>
                  <a:srgbClr val="374151"/>
                </a:solidFill>
                <a:effectLst/>
                <a:latin typeface="Söhne Mono"/>
              </a:rPr>
              <a:t>avviaMotore</a:t>
            </a:r>
            <a:r>
              <a:rPr kumimoji="0" lang="it-IT" altLang="it-IT" sz="1200" b="1" i="0" u="none" strike="noStrike" cap="none" normalizeH="0" baseline="0" dirty="0">
                <a:ln>
                  <a:noFill/>
                </a:ln>
                <a:solidFill>
                  <a:srgbClr val="374151"/>
                </a:solidFill>
                <a:effectLst/>
                <a:latin typeface="Söhne Mono"/>
              </a:rPr>
              <a:t>()</a:t>
            </a:r>
            <a:r>
              <a:rPr kumimoji="0" lang="it-IT" altLang="it-IT" sz="1200" b="0" i="0" u="none" strike="noStrike" cap="none" normalizeH="0" baseline="0" dirty="0">
                <a:ln>
                  <a:noFill/>
                </a:ln>
                <a:solidFill>
                  <a:srgbClr val="374151"/>
                </a:solidFill>
                <a:effectLst/>
                <a:latin typeface="Söhne"/>
              </a:rPr>
              <a:t> è protetto, può essere chiamato solo dalla classe </a:t>
            </a:r>
            <a:r>
              <a:rPr kumimoji="0" lang="it-IT" altLang="it-IT" sz="1200" b="1" i="0" u="none" strike="noStrike" cap="none" normalizeH="0" baseline="0" dirty="0">
                <a:ln>
                  <a:noFill/>
                </a:ln>
                <a:solidFill>
                  <a:srgbClr val="374151"/>
                </a:solidFill>
                <a:effectLst/>
                <a:latin typeface="Söhne Mono"/>
              </a:rPr>
              <a:t>Veicolo</a:t>
            </a:r>
            <a:r>
              <a:rPr kumimoji="0" lang="it-IT" altLang="it-IT" sz="1200" b="0" i="0" u="none" strike="noStrike" cap="none" normalizeH="0" baseline="0" dirty="0">
                <a:ln>
                  <a:noFill/>
                </a:ln>
                <a:solidFill>
                  <a:srgbClr val="374151"/>
                </a:solidFill>
                <a:effectLst/>
                <a:latin typeface="Söhne"/>
              </a:rPr>
              <a:t> e dalle sue sottoclassi come </a:t>
            </a:r>
            <a:r>
              <a:rPr kumimoji="0" lang="it-IT" altLang="it-IT" sz="1200" b="1" i="0" u="none" strike="noStrike" cap="none" normalizeH="0" baseline="0" dirty="0">
                <a:ln>
                  <a:noFill/>
                </a:ln>
                <a:solidFill>
                  <a:srgbClr val="374151"/>
                </a:solidFill>
                <a:effectLst/>
                <a:latin typeface="Söhne Mono"/>
              </a:rPr>
              <a:t>Auto</a:t>
            </a:r>
            <a:r>
              <a:rPr kumimoji="0" lang="it-IT" altLang="it-IT" sz="1200" b="0" i="0" u="none" strike="noStrike" cap="none" normalizeH="0" baseline="0" dirty="0">
                <a:ln>
                  <a:noFill/>
                </a:ln>
                <a:solidFill>
                  <a:srgbClr val="374151"/>
                </a:solidFill>
                <a:effectLst/>
                <a:latin typeface="Söhne"/>
              </a:rPr>
              <a:t>.</a:t>
            </a:r>
            <a:endParaRPr kumimoji="0" lang="it-IT" altLang="it-IT" sz="1200" b="0" i="0" u="none" strike="noStrike" cap="none" normalizeH="0" baseline="0" dirty="0">
              <a:ln>
                <a:noFill/>
              </a:ln>
              <a:solidFill>
                <a:schemeClr val="tx1"/>
              </a:solidFill>
              <a:effectLst/>
              <a:latin typeface="Arial" panose="020B0604020202020204" pitchFamily="34" charset="0"/>
            </a:endParaRPr>
          </a:p>
        </p:txBody>
      </p:sp>
      <p:pic>
        <p:nvPicPr>
          <p:cNvPr id="18" name="Picture 2" descr="Java Logo, symbol, meaning, history, PNG, brand">
            <a:extLst>
              <a:ext uri="{FF2B5EF4-FFF2-40B4-BE49-F238E27FC236}">
                <a16:creationId xmlns:a16="http://schemas.microsoft.com/office/drawing/2014/main" id="{533C9372-3FC3-9D22-F7F9-CE049EACE1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40502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FF30E4E0-BE22-B3B6-9519-8AD2FE59043D}"/>
              </a:ext>
            </a:extLst>
          </p:cNvPr>
          <p:cNvSpPr txBox="1"/>
          <p:nvPr/>
        </p:nvSpPr>
        <p:spPr>
          <a:xfrm>
            <a:off x="4429305" y="1997839"/>
            <a:ext cx="6094562" cy="1015663"/>
          </a:xfrm>
          <a:prstGeom prst="rect">
            <a:avLst/>
          </a:prstGeom>
          <a:noFill/>
        </p:spPr>
        <p:txBody>
          <a:bodyPr wrap="square">
            <a:spAutoFit/>
          </a:bodyPr>
          <a:lstStyle/>
          <a:p>
            <a:r>
              <a:rPr lang="it-IT" sz="2000" b="1" dirty="0"/>
              <a:t>Package-private</a:t>
            </a:r>
            <a:r>
              <a:rPr lang="it-IT" sz="2000" dirty="0"/>
              <a:t>: i metodi con questo tipo di scope sono accessibili solo alle classi nello stesso pacchetto della classe in cui sono definiti. </a:t>
            </a:r>
          </a:p>
        </p:txBody>
      </p:sp>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Package-private</a:t>
            </a:r>
            <a:endParaRPr lang="it-IT" dirty="0"/>
          </a:p>
        </p:txBody>
      </p:sp>
      <p:pic>
        <p:nvPicPr>
          <p:cNvPr id="3" name="Picture 2" descr="Java Logo, symbol, meaning, history, PNG, brand">
            <a:extLst>
              <a:ext uri="{FF2B5EF4-FFF2-40B4-BE49-F238E27FC236}">
                <a16:creationId xmlns:a16="http://schemas.microsoft.com/office/drawing/2014/main" id="{07107C91-DA4D-12E2-51D3-E4E7F1E853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986537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FF30E4E0-BE22-B3B6-9519-8AD2FE59043D}"/>
              </a:ext>
            </a:extLst>
          </p:cNvPr>
          <p:cNvSpPr txBox="1"/>
          <p:nvPr/>
        </p:nvSpPr>
        <p:spPr>
          <a:xfrm>
            <a:off x="4429305" y="1997839"/>
            <a:ext cx="6094562" cy="1938992"/>
          </a:xfrm>
          <a:prstGeom prst="rect">
            <a:avLst/>
          </a:prstGeom>
          <a:noFill/>
        </p:spPr>
        <p:txBody>
          <a:bodyPr wrap="square">
            <a:spAutoFit/>
          </a:bodyPr>
          <a:lstStyle/>
          <a:p>
            <a:r>
              <a:rPr lang="it-IT" sz="2000" b="1" dirty="0"/>
              <a:t>Package-private</a:t>
            </a:r>
            <a:r>
              <a:rPr lang="it-IT" sz="2000" dirty="0"/>
              <a:t>: i metodi con questo tipo di scope sono accessibili solo alle classi nello stesso pacchetto della classe in cui sono definiti. Questi metodi sono utilizzati per implementare il comportamento della classe all'interno del pacchetto e non possono essere richiamati dalle classi esterne al pacchetto. </a:t>
            </a:r>
          </a:p>
        </p:txBody>
      </p:sp>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Package-private</a:t>
            </a:r>
            <a:endParaRPr lang="it-IT" dirty="0"/>
          </a:p>
        </p:txBody>
      </p:sp>
      <p:pic>
        <p:nvPicPr>
          <p:cNvPr id="3" name="Picture 2" descr="Java Logo, symbol, meaning, history, PNG, brand">
            <a:extLst>
              <a:ext uri="{FF2B5EF4-FFF2-40B4-BE49-F238E27FC236}">
                <a16:creationId xmlns:a16="http://schemas.microsoft.com/office/drawing/2014/main" id="{85CA817E-F433-0C55-E6C1-6309D7F3BA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214947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FF30E4E0-BE22-B3B6-9519-8AD2FE59043D}"/>
              </a:ext>
            </a:extLst>
          </p:cNvPr>
          <p:cNvSpPr txBox="1"/>
          <p:nvPr/>
        </p:nvSpPr>
        <p:spPr>
          <a:xfrm>
            <a:off x="4429305" y="1997839"/>
            <a:ext cx="6094562" cy="2862322"/>
          </a:xfrm>
          <a:prstGeom prst="rect">
            <a:avLst/>
          </a:prstGeom>
          <a:noFill/>
        </p:spPr>
        <p:txBody>
          <a:bodyPr wrap="square">
            <a:spAutoFit/>
          </a:bodyPr>
          <a:lstStyle/>
          <a:p>
            <a:r>
              <a:rPr lang="it-IT" sz="2000" b="1" dirty="0"/>
              <a:t>Package-private</a:t>
            </a:r>
            <a:r>
              <a:rPr lang="it-IT" sz="2000" dirty="0"/>
              <a:t>: i metodi con questo tipo di scope sono accessibili solo alle classi nello stesso pacchetto della classe in cui sono definiti. Questi metodi sono utilizzati per implementare il comportamento della classe all'interno del pacchetto e non possono essere richiamati dalle classi esterne al pacchetto. La classe diventa più estendibile all'interno del pacchetto poiché le classi possono utilizzare i metodi package-private per condividere il comportamento comune.</a:t>
            </a:r>
          </a:p>
        </p:txBody>
      </p:sp>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Package-private</a:t>
            </a:r>
            <a:endParaRPr lang="it-IT" dirty="0"/>
          </a:p>
        </p:txBody>
      </p:sp>
      <p:pic>
        <p:nvPicPr>
          <p:cNvPr id="3" name="Picture 2" descr="Java Logo, symbol, meaning, history, PNG, brand">
            <a:extLst>
              <a:ext uri="{FF2B5EF4-FFF2-40B4-BE49-F238E27FC236}">
                <a16:creationId xmlns:a16="http://schemas.microsoft.com/office/drawing/2014/main" id="{7F83432B-E72E-9022-090E-0D53C8E484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286793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Package-private</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package-private e di estensione di una classe in Java.</a:t>
            </a:r>
          </a:p>
        </p:txBody>
      </p:sp>
      <p:pic>
        <p:nvPicPr>
          <p:cNvPr id="3" name="Picture 2" descr="Java Logo, symbol, meaning, history, PNG, brand">
            <a:extLst>
              <a:ext uri="{FF2B5EF4-FFF2-40B4-BE49-F238E27FC236}">
                <a16:creationId xmlns:a16="http://schemas.microsoft.com/office/drawing/2014/main" id="{9CCB0B3F-A245-8ADB-7264-478C799BBD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203414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Package-private</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package-private e di estensione di una classe in Java.</a:t>
            </a:r>
          </a:p>
        </p:txBody>
      </p:sp>
      <p:sp>
        <p:nvSpPr>
          <p:cNvPr id="4" name="CasellaDiTesto 3">
            <a:extLst>
              <a:ext uri="{FF2B5EF4-FFF2-40B4-BE49-F238E27FC236}">
                <a16:creationId xmlns:a16="http://schemas.microsoft.com/office/drawing/2014/main" id="{26CD936A-BF21-EB3E-FFC7-5B063CC8E8DF}"/>
              </a:ext>
            </a:extLst>
          </p:cNvPr>
          <p:cNvSpPr txBox="1"/>
          <p:nvPr/>
        </p:nvSpPr>
        <p:spPr>
          <a:xfrm>
            <a:off x="293720" y="1964835"/>
            <a:ext cx="11604559" cy="646331"/>
          </a:xfrm>
          <a:prstGeom prst="rect">
            <a:avLst/>
          </a:prstGeom>
          <a:noFill/>
        </p:spPr>
        <p:txBody>
          <a:bodyPr wrap="square">
            <a:spAutoFit/>
          </a:bodyPr>
          <a:lstStyle/>
          <a:p>
            <a:r>
              <a:rPr lang="it-IT" dirty="0"/>
              <a:t>Come già detto, il livello di accesso Package-private è utilizzato quando non viene specificato alcun livello di accesso per un campo o un metodo di una classe in Java</a:t>
            </a:r>
          </a:p>
        </p:txBody>
      </p:sp>
      <p:pic>
        <p:nvPicPr>
          <p:cNvPr id="3" name="Picture 2" descr="Java Logo, symbol, meaning, history, PNG, brand">
            <a:extLst>
              <a:ext uri="{FF2B5EF4-FFF2-40B4-BE49-F238E27FC236}">
                <a16:creationId xmlns:a16="http://schemas.microsoft.com/office/drawing/2014/main" id="{0301D356-0879-A880-3AAC-83CA3B125F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208119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Package-private</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package-private e di estensione di una classe in Java.</a:t>
            </a:r>
          </a:p>
        </p:txBody>
      </p:sp>
      <p:sp>
        <p:nvSpPr>
          <p:cNvPr id="4" name="CasellaDiTesto 3">
            <a:extLst>
              <a:ext uri="{FF2B5EF4-FFF2-40B4-BE49-F238E27FC236}">
                <a16:creationId xmlns:a16="http://schemas.microsoft.com/office/drawing/2014/main" id="{26CD936A-BF21-EB3E-FFC7-5B063CC8E8DF}"/>
              </a:ext>
            </a:extLst>
          </p:cNvPr>
          <p:cNvSpPr txBox="1"/>
          <p:nvPr/>
        </p:nvSpPr>
        <p:spPr>
          <a:xfrm>
            <a:off x="293720" y="1964835"/>
            <a:ext cx="11604559" cy="923330"/>
          </a:xfrm>
          <a:prstGeom prst="rect">
            <a:avLst/>
          </a:prstGeom>
          <a:noFill/>
        </p:spPr>
        <p:txBody>
          <a:bodyPr wrap="square">
            <a:spAutoFit/>
          </a:bodyPr>
          <a:lstStyle/>
          <a:p>
            <a:r>
              <a:rPr lang="it-IT" dirty="0"/>
              <a:t>Come già detto, il livello di accesso Package-private è utilizzato quando non viene specificato alcun livello di accesso per un campo o un metodo di una classe in Java. Ciò significa che il campo o il metodo sono accessibili solo all'interno del package in cui si trova la classe.</a:t>
            </a:r>
          </a:p>
        </p:txBody>
      </p:sp>
      <p:pic>
        <p:nvPicPr>
          <p:cNvPr id="3" name="Picture 2" descr="Java Logo, symbol, meaning, history, PNG, brand">
            <a:extLst>
              <a:ext uri="{FF2B5EF4-FFF2-40B4-BE49-F238E27FC236}">
                <a16:creationId xmlns:a16="http://schemas.microsoft.com/office/drawing/2014/main" id="{67AA30EE-37A7-0C30-319D-5079565E50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422680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Package-private</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package-private e di estensione di una classe in Java.</a:t>
            </a:r>
          </a:p>
        </p:txBody>
      </p:sp>
      <p:sp>
        <p:nvSpPr>
          <p:cNvPr id="4" name="CasellaDiTesto 3">
            <a:extLst>
              <a:ext uri="{FF2B5EF4-FFF2-40B4-BE49-F238E27FC236}">
                <a16:creationId xmlns:a16="http://schemas.microsoft.com/office/drawing/2014/main" id="{26CD936A-BF21-EB3E-FFC7-5B063CC8E8DF}"/>
              </a:ext>
            </a:extLst>
          </p:cNvPr>
          <p:cNvSpPr txBox="1"/>
          <p:nvPr/>
        </p:nvSpPr>
        <p:spPr>
          <a:xfrm>
            <a:off x="293720" y="1964835"/>
            <a:ext cx="11604559" cy="923330"/>
          </a:xfrm>
          <a:prstGeom prst="rect">
            <a:avLst/>
          </a:prstGeom>
          <a:noFill/>
        </p:spPr>
        <p:txBody>
          <a:bodyPr wrap="square">
            <a:spAutoFit/>
          </a:bodyPr>
          <a:lstStyle/>
          <a:p>
            <a:r>
              <a:rPr lang="it-IT" dirty="0"/>
              <a:t>Come già detto, il livello di accesso Package-private è utilizzato quando non viene specificato alcun livello di accesso per un campo o un metodo di una classe in Java. Ciò significa che il campo o il metodo sono accessibili solo all'interno del package in cui si trova la classe. Vediamo un </a:t>
            </a:r>
            <a:r>
              <a:rPr lang="it-IT" b="0" i="0" dirty="0">
                <a:solidFill>
                  <a:srgbClr val="374151"/>
                </a:solidFill>
                <a:effectLst/>
                <a:latin typeface="Söhne"/>
              </a:rPr>
              <a:t>esempio di utilizzo di Package-private:</a:t>
            </a:r>
            <a:endParaRPr lang="it-IT" dirty="0"/>
          </a:p>
        </p:txBody>
      </p:sp>
      <p:pic>
        <p:nvPicPr>
          <p:cNvPr id="3" name="Picture 2" descr="Java Logo, symbol, meaning, history, PNG, brand">
            <a:extLst>
              <a:ext uri="{FF2B5EF4-FFF2-40B4-BE49-F238E27FC236}">
                <a16:creationId xmlns:a16="http://schemas.microsoft.com/office/drawing/2014/main" id="{AEFFC808-D6F8-3975-7B4D-A000EF61EA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478426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Package-private</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package-private e di estensione di una classe in Java.</a:t>
            </a:r>
          </a:p>
        </p:txBody>
      </p:sp>
      <p:sp>
        <p:nvSpPr>
          <p:cNvPr id="4" name="CasellaDiTesto 3">
            <a:extLst>
              <a:ext uri="{FF2B5EF4-FFF2-40B4-BE49-F238E27FC236}">
                <a16:creationId xmlns:a16="http://schemas.microsoft.com/office/drawing/2014/main" id="{26CD936A-BF21-EB3E-FFC7-5B063CC8E8DF}"/>
              </a:ext>
            </a:extLst>
          </p:cNvPr>
          <p:cNvSpPr txBox="1"/>
          <p:nvPr/>
        </p:nvSpPr>
        <p:spPr>
          <a:xfrm>
            <a:off x="293720" y="1964835"/>
            <a:ext cx="11604559" cy="923330"/>
          </a:xfrm>
          <a:prstGeom prst="rect">
            <a:avLst/>
          </a:prstGeom>
          <a:noFill/>
        </p:spPr>
        <p:txBody>
          <a:bodyPr wrap="square">
            <a:spAutoFit/>
          </a:bodyPr>
          <a:lstStyle/>
          <a:p>
            <a:r>
              <a:rPr lang="it-IT" dirty="0"/>
              <a:t>Come già detto, il livello di accesso Package-private è utilizzato quando non viene specificato alcun livello di accesso per un campo o un metodo di una classe in Java. Ciò significa che il campo o il metodo sono accessibili solo all'interno del package in cui si trova la classe. Vediamo un </a:t>
            </a:r>
            <a:r>
              <a:rPr lang="it-IT" b="0" i="0" dirty="0">
                <a:solidFill>
                  <a:srgbClr val="374151"/>
                </a:solidFill>
                <a:effectLst/>
                <a:latin typeface="Söhne"/>
              </a:rPr>
              <a:t>esempio di utilizzo di Package-private:</a:t>
            </a:r>
            <a:endParaRPr lang="it-IT" dirty="0"/>
          </a:p>
        </p:txBody>
      </p:sp>
      <p:sp>
        <p:nvSpPr>
          <p:cNvPr id="7" name="CasellaDiTesto 6">
            <a:extLst>
              <a:ext uri="{FF2B5EF4-FFF2-40B4-BE49-F238E27FC236}">
                <a16:creationId xmlns:a16="http://schemas.microsoft.com/office/drawing/2014/main" id="{C49570BD-118C-42F3-264A-82765DD4546F}"/>
              </a:ext>
            </a:extLst>
          </p:cNvPr>
          <p:cNvSpPr txBox="1"/>
          <p:nvPr/>
        </p:nvSpPr>
        <p:spPr>
          <a:xfrm>
            <a:off x="282039" y="2854964"/>
            <a:ext cx="6094562" cy="1477328"/>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package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mypackage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br>
              <a:rPr lang="it-IT" b="0" dirty="0">
                <a:solidFill>
                  <a:srgbClr val="D4D4D4"/>
                </a:solidFill>
                <a:effectLst/>
                <a:latin typeface="Consolas" panose="020B0609020204030204" pitchFamily="49" charset="0"/>
              </a:rPr>
            </a:b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MyClass</a:t>
            </a:r>
            <a:r>
              <a:rPr lang="it-IT" b="0" dirty="0">
                <a:solidFill>
                  <a:srgbClr val="D4D4D4"/>
                </a:solidFill>
                <a:effectLst/>
                <a:latin typeface="Consolas" panose="020B0609020204030204" pitchFamily="49" charset="0"/>
              </a:rPr>
              <a:t> {</a:t>
            </a:r>
          </a:p>
          <a:p>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020F52B8-976B-F1DD-18D7-70AD833F20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442734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Package-private</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package-private e di estensione di una classe in Java.</a:t>
            </a:r>
          </a:p>
        </p:txBody>
      </p:sp>
      <p:sp>
        <p:nvSpPr>
          <p:cNvPr id="4" name="CasellaDiTesto 3">
            <a:extLst>
              <a:ext uri="{FF2B5EF4-FFF2-40B4-BE49-F238E27FC236}">
                <a16:creationId xmlns:a16="http://schemas.microsoft.com/office/drawing/2014/main" id="{26CD936A-BF21-EB3E-FFC7-5B063CC8E8DF}"/>
              </a:ext>
            </a:extLst>
          </p:cNvPr>
          <p:cNvSpPr txBox="1"/>
          <p:nvPr/>
        </p:nvSpPr>
        <p:spPr>
          <a:xfrm>
            <a:off x="293720" y="1964835"/>
            <a:ext cx="11604559" cy="923330"/>
          </a:xfrm>
          <a:prstGeom prst="rect">
            <a:avLst/>
          </a:prstGeom>
          <a:noFill/>
        </p:spPr>
        <p:txBody>
          <a:bodyPr wrap="square">
            <a:spAutoFit/>
          </a:bodyPr>
          <a:lstStyle/>
          <a:p>
            <a:r>
              <a:rPr lang="it-IT" dirty="0"/>
              <a:t>Come già detto, il livello di accesso Package-private è utilizzato quando non viene specificato alcun livello di accesso per un campo o un metodo di una classe in Java. Ciò significa che il campo o il metodo sono accessibili solo all'interno del package in cui si trova la classe. Vediamo un </a:t>
            </a:r>
            <a:r>
              <a:rPr lang="it-IT" b="0" i="0" dirty="0">
                <a:solidFill>
                  <a:srgbClr val="374151"/>
                </a:solidFill>
                <a:effectLst/>
                <a:latin typeface="Söhne"/>
              </a:rPr>
              <a:t>esempio di utilizzo di Package-private:</a:t>
            </a:r>
            <a:endParaRPr lang="it-IT" dirty="0"/>
          </a:p>
        </p:txBody>
      </p:sp>
      <p:sp>
        <p:nvSpPr>
          <p:cNvPr id="7" name="CasellaDiTesto 6">
            <a:extLst>
              <a:ext uri="{FF2B5EF4-FFF2-40B4-BE49-F238E27FC236}">
                <a16:creationId xmlns:a16="http://schemas.microsoft.com/office/drawing/2014/main" id="{C49570BD-118C-42F3-264A-82765DD4546F}"/>
              </a:ext>
            </a:extLst>
          </p:cNvPr>
          <p:cNvSpPr txBox="1"/>
          <p:nvPr/>
        </p:nvSpPr>
        <p:spPr>
          <a:xfrm>
            <a:off x="282039" y="2854964"/>
            <a:ext cx="6094562" cy="1477328"/>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package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mypackage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br>
              <a:rPr lang="it-IT" b="0" dirty="0">
                <a:solidFill>
                  <a:srgbClr val="D4D4D4"/>
                </a:solidFill>
                <a:effectLst/>
                <a:latin typeface="Consolas" panose="020B0609020204030204" pitchFamily="49" charset="0"/>
              </a:rPr>
            </a:b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MyClass</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myPackagePrivateField</a:t>
            </a:r>
            <a:r>
              <a:rPr lang="it-IT" b="0" dirty="0">
                <a:solidFill>
                  <a:srgbClr val="D4D4D4"/>
                </a:solidFill>
                <a:effectLst/>
                <a:latin typeface="Consolas" panose="020B0609020204030204" pitchFamily="49" charset="0"/>
              </a:rPr>
              <a:t> = </a:t>
            </a:r>
            <a:r>
              <a:rPr lang="it-IT" b="0" dirty="0">
                <a:solidFill>
                  <a:srgbClr val="B5CEA8"/>
                </a:solidFill>
                <a:effectLst/>
                <a:latin typeface="Consolas" panose="020B0609020204030204" pitchFamily="49" charset="0"/>
              </a:rPr>
              <a:t>0</a:t>
            </a:r>
            <a:r>
              <a:rPr lang="it-IT" b="0" dirty="0">
                <a:solidFill>
                  <a:srgbClr val="D4D4D4"/>
                </a:solidFill>
                <a:effectLst/>
                <a:latin typeface="Consolas" panose="020B0609020204030204" pitchFamily="49" charset="0"/>
              </a:rPr>
              <a:t>;</a:t>
            </a:r>
          </a:p>
          <a:p>
            <a:r>
              <a:rPr lang="it-IT"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E76E7D68-B8D3-299E-21A0-AA1C4FDBC8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611706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Package-private</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package-private e di estensione di una classe in Java.</a:t>
            </a:r>
          </a:p>
        </p:txBody>
      </p:sp>
      <p:sp>
        <p:nvSpPr>
          <p:cNvPr id="4" name="CasellaDiTesto 3">
            <a:extLst>
              <a:ext uri="{FF2B5EF4-FFF2-40B4-BE49-F238E27FC236}">
                <a16:creationId xmlns:a16="http://schemas.microsoft.com/office/drawing/2014/main" id="{26CD936A-BF21-EB3E-FFC7-5B063CC8E8DF}"/>
              </a:ext>
            </a:extLst>
          </p:cNvPr>
          <p:cNvSpPr txBox="1"/>
          <p:nvPr/>
        </p:nvSpPr>
        <p:spPr>
          <a:xfrm>
            <a:off x="293720" y="1964835"/>
            <a:ext cx="11604559" cy="923330"/>
          </a:xfrm>
          <a:prstGeom prst="rect">
            <a:avLst/>
          </a:prstGeom>
          <a:noFill/>
        </p:spPr>
        <p:txBody>
          <a:bodyPr wrap="square">
            <a:spAutoFit/>
          </a:bodyPr>
          <a:lstStyle/>
          <a:p>
            <a:r>
              <a:rPr lang="it-IT" dirty="0"/>
              <a:t>Come già detto, il livello di accesso Package-private è utilizzato quando non viene specificato alcun livello di accesso per un campo o un metodo di una classe in Java. Ciò significa che il campo o il metodo sono accessibili solo all'interno del package in cui si trova la classe. Vediamo un </a:t>
            </a:r>
            <a:r>
              <a:rPr lang="it-IT" b="0" i="0" dirty="0">
                <a:solidFill>
                  <a:srgbClr val="374151"/>
                </a:solidFill>
                <a:effectLst/>
                <a:latin typeface="Söhne"/>
              </a:rPr>
              <a:t>esempio di utilizzo di Package-private:</a:t>
            </a:r>
            <a:endParaRPr lang="it-IT" dirty="0"/>
          </a:p>
        </p:txBody>
      </p:sp>
      <p:sp>
        <p:nvSpPr>
          <p:cNvPr id="7" name="CasellaDiTesto 6">
            <a:extLst>
              <a:ext uri="{FF2B5EF4-FFF2-40B4-BE49-F238E27FC236}">
                <a16:creationId xmlns:a16="http://schemas.microsoft.com/office/drawing/2014/main" id="{C49570BD-118C-42F3-264A-82765DD4546F}"/>
              </a:ext>
            </a:extLst>
          </p:cNvPr>
          <p:cNvSpPr txBox="1"/>
          <p:nvPr/>
        </p:nvSpPr>
        <p:spPr>
          <a:xfrm>
            <a:off x="282039" y="2854964"/>
            <a:ext cx="6094562" cy="2585323"/>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package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mypackage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br>
              <a:rPr lang="it-IT" b="0" dirty="0">
                <a:solidFill>
                  <a:srgbClr val="D4D4D4"/>
                </a:solidFill>
                <a:effectLst/>
                <a:latin typeface="Consolas" panose="020B0609020204030204" pitchFamily="49" charset="0"/>
              </a:rPr>
            </a:b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MyClass</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myPackagePrivateField</a:t>
            </a:r>
            <a:r>
              <a:rPr lang="it-IT" b="0" dirty="0">
                <a:solidFill>
                  <a:srgbClr val="D4D4D4"/>
                </a:solidFill>
                <a:effectLst/>
                <a:latin typeface="Consolas" panose="020B0609020204030204" pitchFamily="49" charset="0"/>
              </a:rPr>
              <a:t> = </a:t>
            </a:r>
            <a:r>
              <a:rPr lang="it-IT" b="0" dirty="0">
                <a:solidFill>
                  <a:srgbClr val="B5CEA8"/>
                </a:solidFill>
                <a:effectLst/>
                <a:latin typeface="Consolas" panose="020B0609020204030204" pitchFamily="49" charset="0"/>
              </a:rPr>
              <a:t>0</a:t>
            </a:r>
            <a:r>
              <a:rPr lang="it-IT" b="0" dirty="0">
                <a:solidFill>
                  <a:srgbClr val="D4D4D4"/>
                </a:solidFill>
                <a:effectLst/>
                <a:latin typeface="Consolas" panose="020B0609020204030204" pitchFamily="49" charset="0"/>
              </a:rPr>
              <a:t>;</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myPackagePrivateMethod</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6A9955"/>
                </a:solidFill>
                <a:effectLst/>
                <a:latin typeface="Consolas" panose="020B0609020204030204" pitchFamily="49" charset="0"/>
              </a:rPr>
              <a:t>// Metodo accessibile solo all'interno del package </a:t>
            </a:r>
            <a:r>
              <a:rPr lang="it-IT" b="0" dirty="0" err="1">
                <a:solidFill>
                  <a:srgbClr val="6A9955"/>
                </a:solidFill>
                <a:effectLst/>
                <a:latin typeface="Consolas" panose="020B0609020204030204" pitchFamily="49" charset="0"/>
              </a:rPr>
              <a:t>mypackage</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pic>
        <p:nvPicPr>
          <p:cNvPr id="3" name="Picture 2" descr="Java Logo, symbol, meaning, history, PNG, brand">
            <a:extLst>
              <a:ext uri="{FF2B5EF4-FFF2-40B4-BE49-F238E27FC236}">
                <a16:creationId xmlns:a16="http://schemas.microsoft.com/office/drawing/2014/main" id="{35B1CD54-BFA5-07BA-8DF4-51B6F7C48F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150281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Package-private</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package-private e di estensione di una classe in Java.</a:t>
            </a:r>
          </a:p>
        </p:txBody>
      </p:sp>
      <p:sp>
        <p:nvSpPr>
          <p:cNvPr id="4" name="CasellaDiTesto 3">
            <a:extLst>
              <a:ext uri="{FF2B5EF4-FFF2-40B4-BE49-F238E27FC236}">
                <a16:creationId xmlns:a16="http://schemas.microsoft.com/office/drawing/2014/main" id="{26CD936A-BF21-EB3E-FFC7-5B063CC8E8DF}"/>
              </a:ext>
            </a:extLst>
          </p:cNvPr>
          <p:cNvSpPr txBox="1"/>
          <p:nvPr/>
        </p:nvSpPr>
        <p:spPr>
          <a:xfrm>
            <a:off x="293720" y="1964835"/>
            <a:ext cx="11604559" cy="923330"/>
          </a:xfrm>
          <a:prstGeom prst="rect">
            <a:avLst/>
          </a:prstGeom>
          <a:noFill/>
        </p:spPr>
        <p:txBody>
          <a:bodyPr wrap="square">
            <a:spAutoFit/>
          </a:bodyPr>
          <a:lstStyle/>
          <a:p>
            <a:r>
              <a:rPr lang="it-IT" dirty="0"/>
              <a:t>Come già detto, il livello di accesso Package-private è utilizzato quando non viene specificato alcun livello di accesso per un campo o un metodo di una classe in Java. Ciò significa che il campo o il metodo sono accessibili solo all'interno del package in cui si trova la classe. Vediamo un </a:t>
            </a:r>
            <a:r>
              <a:rPr lang="it-IT" b="0" i="0" dirty="0">
                <a:solidFill>
                  <a:srgbClr val="374151"/>
                </a:solidFill>
                <a:effectLst/>
                <a:latin typeface="Söhne"/>
              </a:rPr>
              <a:t>esempio di utilizzo di Package-private:</a:t>
            </a:r>
            <a:endParaRPr lang="it-IT" dirty="0"/>
          </a:p>
        </p:txBody>
      </p:sp>
      <p:sp>
        <p:nvSpPr>
          <p:cNvPr id="7" name="CasellaDiTesto 6">
            <a:extLst>
              <a:ext uri="{FF2B5EF4-FFF2-40B4-BE49-F238E27FC236}">
                <a16:creationId xmlns:a16="http://schemas.microsoft.com/office/drawing/2014/main" id="{C49570BD-118C-42F3-264A-82765DD4546F}"/>
              </a:ext>
            </a:extLst>
          </p:cNvPr>
          <p:cNvSpPr txBox="1"/>
          <p:nvPr/>
        </p:nvSpPr>
        <p:spPr>
          <a:xfrm>
            <a:off x="282039" y="2854964"/>
            <a:ext cx="6094562" cy="2585323"/>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package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mypackage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br>
              <a:rPr lang="it-IT" b="0" dirty="0">
                <a:solidFill>
                  <a:srgbClr val="D4D4D4"/>
                </a:solidFill>
                <a:effectLst/>
                <a:latin typeface="Consolas" panose="020B0609020204030204" pitchFamily="49" charset="0"/>
              </a:rPr>
            </a:b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MyClass</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myPackagePrivateField</a:t>
            </a:r>
            <a:r>
              <a:rPr lang="it-IT" b="0" dirty="0">
                <a:solidFill>
                  <a:srgbClr val="D4D4D4"/>
                </a:solidFill>
                <a:effectLst/>
                <a:latin typeface="Consolas" panose="020B0609020204030204" pitchFamily="49" charset="0"/>
              </a:rPr>
              <a:t> = </a:t>
            </a:r>
            <a:r>
              <a:rPr lang="it-IT" b="0" dirty="0">
                <a:solidFill>
                  <a:srgbClr val="B5CEA8"/>
                </a:solidFill>
                <a:effectLst/>
                <a:latin typeface="Consolas" panose="020B0609020204030204" pitchFamily="49" charset="0"/>
              </a:rPr>
              <a:t>0</a:t>
            </a:r>
            <a:r>
              <a:rPr lang="it-IT" b="0" dirty="0">
                <a:solidFill>
                  <a:srgbClr val="D4D4D4"/>
                </a:solidFill>
                <a:effectLst/>
                <a:latin typeface="Consolas" panose="020B0609020204030204" pitchFamily="49" charset="0"/>
              </a:rPr>
              <a:t>;</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myPackagePrivateMethod</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6A9955"/>
                </a:solidFill>
                <a:effectLst/>
                <a:latin typeface="Consolas" panose="020B0609020204030204" pitchFamily="49" charset="0"/>
              </a:rPr>
              <a:t>// Metodo accessibile solo all'interno del package </a:t>
            </a:r>
            <a:r>
              <a:rPr lang="it-IT" b="0" dirty="0" err="1">
                <a:solidFill>
                  <a:srgbClr val="6A9955"/>
                </a:solidFill>
                <a:effectLst/>
                <a:latin typeface="Consolas" panose="020B0609020204030204" pitchFamily="49" charset="0"/>
              </a:rPr>
              <a:t>mypackage</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10" name="Rectangle 1">
            <a:extLst>
              <a:ext uri="{FF2B5EF4-FFF2-40B4-BE49-F238E27FC236}">
                <a16:creationId xmlns:a16="http://schemas.microsoft.com/office/drawing/2014/main" id="{5974C23F-C634-A60F-0C6C-FE936ECBC24F}"/>
              </a:ext>
            </a:extLst>
          </p:cNvPr>
          <p:cNvSpPr>
            <a:spLocks noChangeArrowheads="1"/>
          </p:cNvSpPr>
          <p:nvPr/>
        </p:nvSpPr>
        <p:spPr bwMode="auto">
          <a:xfrm>
            <a:off x="7093813" y="2854964"/>
            <a:ext cx="5098187" cy="1631216"/>
          </a:xfrm>
          <a:prstGeom prst="rect">
            <a:avLst/>
          </a:prstGeom>
          <a:solidFill>
            <a:srgbClr val="F7F7F8"/>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öhne"/>
              </a:rPr>
              <a:t>In questo caso, la classe </a:t>
            </a:r>
            <a:r>
              <a:rPr kumimoji="0" lang="it-IT" altLang="it-IT" sz="2000" b="1" i="0" u="none" strike="noStrike" cap="none" normalizeH="0" baseline="0" dirty="0" err="1">
                <a:ln>
                  <a:noFill/>
                </a:ln>
                <a:solidFill>
                  <a:schemeClr val="tx1"/>
                </a:solidFill>
                <a:effectLst/>
                <a:latin typeface="Söhne Mono"/>
              </a:rPr>
              <a:t>MyClass</a:t>
            </a:r>
            <a:r>
              <a:rPr kumimoji="0" lang="it-IT" altLang="it-IT" sz="2000" b="0" i="0" u="none" strike="noStrike" cap="none" normalizeH="0" baseline="0" dirty="0">
                <a:ln>
                  <a:noFill/>
                </a:ln>
                <a:solidFill>
                  <a:srgbClr val="374151"/>
                </a:solidFill>
                <a:effectLst/>
                <a:latin typeface="Söhne"/>
              </a:rPr>
              <a:t> ha un campo e un metodo senza specificare il livello di accesso, quindi entrambi sono package-private e accessibili solo all'interno del package </a:t>
            </a:r>
            <a:r>
              <a:rPr kumimoji="0" lang="it-IT" altLang="it-IT" sz="2000" b="1" i="0" u="none" strike="noStrike" cap="none" normalizeH="0" baseline="0" dirty="0" err="1">
                <a:ln>
                  <a:noFill/>
                </a:ln>
                <a:solidFill>
                  <a:schemeClr val="tx1"/>
                </a:solidFill>
                <a:effectLst/>
                <a:latin typeface="Söhne Mono"/>
              </a:rPr>
              <a:t>mypackage</a:t>
            </a:r>
            <a:r>
              <a:rPr kumimoji="0" lang="it-IT" altLang="it-IT" sz="2000" b="0" i="0" u="none" strike="noStrike" cap="none" normalizeH="0" baseline="0" dirty="0">
                <a:ln>
                  <a:noFill/>
                </a:ln>
                <a:solidFill>
                  <a:srgbClr val="374151"/>
                </a:solidFill>
                <a:effectLst/>
                <a:latin typeface="Söhne"/>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pic>
        <p:nvPicPr>
          <p:cNvPr id="3" name="Picture 2" descr="Java Logo, symbol, meaning, history, PNG, brand">
            <a:extLst>
              <a:ext uri="{FF2B5EF4-FFF2-40B4-BE49-F238E27FC236}">
                <a16:creationId xmlns:a16="http://schemas.microsoft.com/office/drawing/2014/main" id="{EDCC4643-399F-E87B-005D-DF9910AF46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090339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Diversi scope in Ereditarietà</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1015663"/>
          </a:xfrm>
          <a:prstGeom prst="rect">
            <a:avLst/>
          </a:prstGeom>
          <a:noFill/>
        </p:spPr>
        <p:txBody>
          <a:bodyPr wrap="square">
            <a:spAutoFit/>
          </a:bodyPr>
          <a:lstStyle/>
          <a:p>
            <a:r>
              <a:rPr lang="it-IT" sz="3000" dirty="0"/>
              <a:t>Public / non public (Private, </a:t>
            </a:r>
            <a:r>
              <a:rPr lang="it-IT" sz="3000" dirty="0" err="1"/>
              <a:t>Protected</a:t>
            </a:r>
            <a:r>
              <a:rPr lang="it-IT" sz="3000" dirty="0"/>
              <a:t>, Package-private)</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Non public: Package-private</a:t>
            </a:r>
            <a:endParaRPr lang="it-IT" dirty="0"/>
          </a:p>
        </p:txBody>
      </p:sp>
      <p:sp>
        <p:nvSpPr>
          <p:cNvPr id="5" name="CasellaDiTesto 4">
            <a:extLst>
              <a:ext uri="{FF2B5EF4-FFF2-40B4-BE49-F238E27FC236}">
                <a16:creationId xmlns:a16="http://schemas.microsoft.com/office/drawing/2014/main" id="{BBF22FF6-D03E-AC48-D53C-4BA254BE917B}"/>
              </a:ext>
            </a:extLst>
          </p:cNvPr>
          <p:cNvSpPr txBox="1"/>
          <p:nvPr/>
        </p:nvSpPr>
        <p:spPr>
          <a:xfrm>
            <a:off x="3894108" y="1312767"/>
            <a:ext cx="6094562" cy="646331"/>
          </a:xfrm>
          <a:prstGeom prst="rect">
            <a:avLst/>
          </a:prstGeom>
          <a:noFill/>
        </p:spPr>
        <p:txBody>
          <a:bodyPr wrap="square">
            <a:spAutoFit/>
          </a:bodyPr>
          <a:lstStyle/>
          <a:p>
            <a:r>
              <a:rPr lang="it-IT" dirty="0"/>
              <a:t>Ecco un esempio di utilizzo di package-private e di estensione di una classe in Java.</a:t>
            </a:r>
          </a:p>
        </p:txBody>
      </p:sp>
      <p:sp>
        <p:nvSpPr>
          <p:cNvPr id="4" name="CasellaDiTesto 3">
            <a:extLst>
              <a:ext uri="{FF2B5EF4-FFF2-40B4-BE49-F238E27FC236}">
                <a16:creationId xmlns:a16="http://schemas.microsoft.com/office/drawing/2014/main" id="{26CD936A-BF21-EB3E-FFC7-5B063CC8E8DF}"/>
              </a:ext>
            </a:extLst>
          </p:cNvPr>
          <p:cNvSpPr txBox="1"/>
          <p:nvPr/>
        </p:nvSpPr>
        <p:spPr>
          <a:xfrm>
            <a:off x="293720" y="1964835"/>
            <a:ext cx="11604559" cy="923330"/>
          </a:xfrm>
          <a:prstGeom prst="rect">
            <a:avLst/>
          </a:prstGeom>
          <a:noFill/>
        </p:spPr>
        <p:txBody>
          <a:bodyPr wrap="square">
            <a:spAutoFit/>
          </a:bodyPr>
          <a:lstStyle/>
          <a:p>
            <a:r>
              <a:rPr lang="it-IT" dirty="0"/>
              <a:t>Come già detto, il livello di accesso Package-private è utilizzato quando non viene specificato alcun livello di accesso per un campo o un metodo di una classe in Java. Ciò significa che il campo o il metodo sono accessibili solo all'interno del package in cui si trova la classe. Vediamo un </a:t>
            </a:r>
            <a:r>
              <a:rPr lang="it-IT" b="0" i="0" dirty="0">
                <a:solidFill>
                  <a:srgbClr val="374151"/>
                </a:solidFill>
                <a:effectLst/>
                <a:latin typeface="Söhne"/>
              </a:rPr>
              <a:t>esempio di utilizzo di Package-private:</a:t>
            </a:r>
            <a:endParaRPr lang="it-IT" dirty="0"/>
          </a:p>
        </p:txBody>
      </p:sp>
      <p:sp>
        <p:nvSpPr>
          <p:cNvPr id="7" name="CasellaDiTesto 6">
            <a:extLst>
              <a:ext uri="{FF2B5EF4-FFF2-40B4-BE49-F238E27FC236}">
                <a16:creationId xmlns:a16="http://schemas.microsoft.com/office/drawing/2014/main" id="{C49570BD-118C-42F3-264A-82765DD4546F}"/>
              </a:ext>
            </a:extLst>
          </p:cNvPr>
          <p:cNvSpPr txBox="1"/>
          <p:nvPr/>
        </p:nvSpPr>
        <p:spPr>
          <a:xfrm>
            <a:off x="282039" y="2854964"/>
            <a:ext cx="6094562" cy="2585323"/>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package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mypackage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br>
              <a:rPr lang="it-IT" b="0" dirty="0">
                <a:solidFill>
                  <a:srgbClr val="D4D4D4"/>
                </a:solidFill>
                <a:effectLst/>
                <a:latin typeface="Consolas" panose="020B0609020204030204" pitchFamily="49" charset="0"/>
              </a:rPr>
            </a:b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MyClass</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myPackagePrivateField</a:t>
            </a:r>
            <a:r>
              <a:rPr lang="it-IT" b="0" dirty="0">
                <a:solidFill>
                  <a:srgbClr val="D4D4D4"/>
                </a:solidFill>
                <a:effectLst/>
                <a:latin typeface="Consolas" panose="020B0609020204030204" pitchFamily="49" charset="0"/>
              </a:rPr>
              <a:t> = </a:t>
            </a:r>
            <a:r>
              <a:rPr lang="it-IT" b="0" dirty="0">
                <a:solidFill>
                  <a:srgbClr val="B5CEA8"/>
                </a:solidFill>
                <a:effectLst/>
                <a:latin typeface="Consolas" panose="020B0609020204030204" pitchFamily="49" charset="0"/>
              </a:rPr>
              <a:t>0</a:t>
            </a:r>
            <a:r>
              <a:rPr lang="it-IT" b="0" dirty="0">
                <a:solidFill>
                  <a:srgbClr val="D4D4D4"/>
                </a:solidFill>
                <a:effectLst/>
                <a:latin typeface="Consolas" panose="020B0609020204030204" pitchFamily="49" charset="0"/>
              </a:rPr>
              <a:t>;</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myPackagePrivateMethod</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6A9955"/>
                </a:solidFill>
                <a:effectLst/>
                <a:latin typeface="Consolas" panose="020B0609020204030204" pitchFamily="49" charset="0"/>
              </a:rPr>
              <a:t>// Metodo accessibile solo all'interno del package </a:t>
            </a:r>
            <a:r>
              <a:rPr lang="it-IT" b="0" dirty="0" err="1">
                <a:solidFill>
                  <a:srgbClr val="6A9955"/>
                </a:solidFill>
                <a:effectLst/>
                <a:latin typeface="Consolas" panose="020B0609020204030204" pitchFamily="49" charset="0"/>
              </a:rPr>
              <a:t>mypackage</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10" name="Rectangle 1">
            <a:extLst>
              <a:ext uri="{FF2B5EF4-FFF2-40B4-BE49-F238E27FC236}">
                <a16:creationId xmlns:a16="http://schemas.microsoft.com/office/drawing/2014/main" id="{5974C23F-C634-A60F-0C6C-FE936ECBC24F}"/>
              </a:ext>
            </a:extLst>
          </p:cNvPr>
          <p:cNvSpPr>
            <a:spLocks noChangeArrowheads="1"/>
          </p:cNvSpPr>
          <p:nvPr/>
        </p:nvSpPr>
        <p:spPr bwMode="auto">
          <a:xfrm>
            <a:off x="7093813" y="2850770"/>
            <a:ext cx="5098187" cy="2862322"/>
          </a:xfrm>
          <a:prstGeom prst="rect">
            <a:avLst/>
          </a:prstGeom>
          <a:solidFill>
            <a:srgbClr val="F7F7F8"/>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öhne"/>
              </a:rPr>
              <a:t>In questo caso, la classe </a:t>
            </a:r>
            <a:r>
              <a:rPr kumimoji="0" lang="it-IT" altLang="it-IT" sz="2000" b="1" i="0" u="none" strike="noStrike" cap="none" normalizeH="0" baseline="0" dirty="0" err="1">
                <a:ln>
                  <a:noFill/>
                </a:ln>
                <a:solidFill>
                  <a:schemeClr val="tx1"/>
                </a:solidFill>
                <a:effectLst/>
                <a:latin typeface="Söhne Mono"/>
              </a:rPr>
              <a:t>MyClass</a:t>
            </a:r>
            <a:r>
              <a:rPr kumimoji="0" lang="it-IT" altLang="it-IT" sz="2000" b="0" i="0" u="none" strike="noStrike" cap="none" normalizeH="0" baseline="0" dirty="0">
                <a:ln>
                  <a:noFill/>
                </a:ln>
                <a:solidFill>
                  <a:srgbClr val="374151"/>
                </a:solidFill>
                <a:effectLst/>
                <a:latin typeface="Söhne"/>
              </a:rPr>
              <a:t> ha un campo e un metodo senza specificare il livello di accesso, quindi entrambi sono package-private e accessibili solo all'interno del package </a:t>
            </a:r>
            <a:r>
              <a:rPr kumimoji="0" lang="it-IT" altLang="it-IT" sz="2000" b="1" i="0" u="none" strike="noStrike" cap="none" normalizeH="0" baseline="0" dirty="0" err="1">
                <a:ln>
                  <a:noFill/>
                </a:ln>
                <a:solidFill>
                  <a:schemeClr val="tx1"/>
                </a:solidFill>
                <a:effectLst/>
                <a:latin typeface="Söhne Mono"/>
              </a:rPr>
              <a:t>mypackage</a:t>
            </a:r>
            <a:r>
              <a:rPr kumimoji="0" lang="it-IT" altLang="it-IT" sz="2000" b="0" i="0" u="none" strike="noStrike" cap="none" normalizeH="0" baseline="0" dirty="0">
                <a:ln>
                  <a:noFill/>
                </a:ln>
                <a:solidFill>
                  <a:srgbClr val="374151"/>
                </a:solidFill>
                <a:effectLst/>
                <a:latin typeface="Söhne"/>
              </a:rPr>
              <a:t>. Se si estende la classe </a:t>
            </a:r>
            <a:r>
              <a:rPr kumimoji="0" lang="it-IT" altLang="it-IT" sz="2000" b="1" i="0" u="none" strike="noStrike" cap="none" normalizeH="0" baseline="0" dirty="0" err="1">
                <a:ln>
                  <a:noFill/>
                </a:ln>
                <a:solidFill>
                  <a:schemeClr val="tx1"/>
                </a:solidFill>
                <a:effectLst/>
                <a:latin typeface="Söhne Mono"/>
              </a:rPr>
              <a:t>MyClass</a:t>
            </a:r>
            <a:r>
              <a:rPr kumimoji="0" lang="it-IT" altLang="it-IT" sz="2000" b="0" i="0" u="none" strike="noStrike" cap="none" normalizeH="0" baseline="0" dirty="0">
                <a:ln>
                  <a:noFill/>
                </a:ln>
                <a:solidFill>
                  <a:srgbClr val="374151"/>
                </a:solidFill>
                <a:effectLst/>
                <a:latin typeface="Söhne"/>
              </a:rPr>
              <a:t> in un'altra classe in un package diverso, il campo e il metodo non saranno accessibili a meno che non siano resi pubblici o protetti nella classe figlia.</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4373711"/>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96</Slides>
  <Notes>0</Notes>
  <HiddenSlides>0</HiddenSlides>
  <MMClips>0</MMClips>
  <ScaleCrop>false</ScaleCrop>
  <HeadingPairs>
    <vt:vector size="4" baseType="variant">
      <vt:variant>
        <vt:lpstr>Tema</vt:lpstr>
      </vt:variant>
      <vt:variant>
        <vt:i4>2</vt:i4>
      </vt:variant>
      <vt:variant>
        <vt:lpstr>Titoli diapositive</vt:lpstr>
      </vt:variant>
      <vt:variant>
        <vt:i4>96</vt:i4>
      </vt:variant>
    </vt:vector>
  </HeadingPairs>
  <TitlesOfParts>
    <vt:vector size="98" baseType="lpstr">
      <vt:lpstr>Tema di Office</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
  <cp:lastModifiedBy>Vincenzo Piccolo</cp:lastModifiedBy>
  <cp:revision>30</cp:revision>
  <dcterms:created xsi:type="dcterms:W3CDTF">2023-08-23T12:51:20Z</dcterms:created>
  <dcterms:modified xsi:type="dcterms:W3CDTF">2026-03-30T12:15:26Z</dcterms:modified>
</cp:coreProperties>
</file>