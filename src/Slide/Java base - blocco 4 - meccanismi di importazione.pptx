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56" r:id="rId3"/>
    <p:sldId id="355" r:id="rId4"/>
    <p:sldId id="354" r:id="rId5"/>
    <p:sldId id="353" r:id="rId6"/>
    <p:sldId id="352" r:id="rId7"/>
    <p:sldId id="351" r:id="rId8"/>
    <p:sldId id="350" r:id="rId9"/>
    <p:sldId id="349" r:id="rId10"/>
    <p:sldId id="348" r:id="rId11"/>
    <p:sldId id="347" r:id="rId12"/>
    <p:sldId id="346" r:id="rId13"/>
    <p:sldId id="345" r:id="rId14"/>
    <p:sldId id="344" r:id="rId15"/>
    <p:sldId id="343" r:id="rId16"/>
    <p:sldId id="342" r:id="rId17"/>
    <p:sldId id="341" r:id="rId18"/>
    <p:sldId id="340" r:id="rId19"/>
    <p:sldId id="339" r:id="rId20"/>
    <p:sldId id="338" r:id="rId21"/>
    <p:sldId id="337" r:id="rId22"/>
    <p:sldId id="336" r:id="rId23"/>
    <p:sldId id="335" r:id="rId24"/>
    <p:sldId id="334" r:id="rId25"/>
    <p:sldId id="333" r:id="rId26"/>
    <p:sldId id="332" r:id="rId27"/>
    <p:sldId id="331" r:id="rId28"/>
    <p:sldId id="330" r:id="rId29"/>
    <p:sldId id="329" r:id="rId30"/>
    <p:sldId id="328" r:id="rId31"/>
    <p:sldId id="327" r:id="rId32"/>
    <p:sldId id="326" r:id="rId33"/>
    <p:sldId id="325" r:id="rId34"/>
    <p:sldId id="324" r:id="rId35"/>
    <p:sldId id="323" r:id="rId36"/>
    <p:sldId id="322" r:id="rId37"/>
    <p:sldId id="321" r:id="rId38"/>
    <p:sldId id="320" r:id="rId39"/>
    <p:sldId id="319" r:id="rId40"/>
    <p:sldId id="318" r:id="rId41"/>
    <p:sldId id="317" r:id="rId42"/>
    <p:sldId id="316" r:id="rId43"/>
    <p:sldId id="315" r:id="rId44"/>
    <p:sldId id="314" r:id="rId45"/>
    <p:sldId id="313" r:id="rId46"/>
    <p:sldId id="312" r:id="rId47"/>
    <p:sldId id="311" r:id="rId48"/>
    <p:sldId id="310" r:id="rId49"/>
    <p:sldId id="309" r:id="rId50"/>
    <p:sldId id="308" r:id="rId51"/>
    <p:sldId id="307" r:id="rId52"/>
    <p:sldId id="306" r:id="rId53"/>
    <p:sldId id="305" r:id="rId54"/>
    <p:sldId id="304" r:id="rId55"/>
    <p:sldId id="303" r:id="rId56"/>
    <p:sldId id="302" r:id="rId57"/>
    <p:sldId id="301" r:id="rId58"/>
    <p:sldId id="300" r:id="rId59"/>
    <p:sldId id="299" r:id="rId60"/>
    <p:sldId id="298" r:id="rId61"/>
    <p:sldId id="297" r:id="rId62"/>
    <p:sldId id="296" r:id="rId63"/>
    <p:sldId id="295" r:id="rId64"/>
    <p:sldId id="294" r:id="rId65"/>
    <p:sldId id="293" r:id="rId66"/>
    <p:sldId id="292" r:id="rId67"/>
    <p:sldId id="291" r:id="rId68"/>
    <p:sldId id="290" r:id="rId69"/>
    <p:sldId id="289" r:id="rId70"/>
    <p:sldId id="288" r:id="rId71"/>
    <p:sldId id="287" r:id="rId72"/>
    <p:sldId id="286" r:id="rId73"/>
    <p:sldId id="285" r:id="rId74"/>
    <p:sldId id="284" r:id="rId75"/>
    <p:sldId id="283" r:id="rId76"/>
    <p:sldId id="282" r:id="rId77"/>
    <p:sldId id="281" r:id="rId78"/>
    <p:sldId id="280" r:id="rId79"/>
    <p:sldId id="279" r:id="rId80"/>
    <p:sldId id="278" r:id="rId81"/>
    <p:sldId id="277" r:id="rId82"/>
    <p:sldId id="276" r:id="rId83"/>
    <p:sldId id="275" r:id="rId84"/>
    <p:sldId id="274" r:id="rId85"/>
    <p:sldId id="273" r:id="rId86"/>
    <p:sldId id="272" r:id="rId87"/>
    <p:sldId id="271" r:id="rId88"/>
    <p:sldId id="270" r:id="rId89"/>
    <p:sldId id="269" r:id="rId90"/>
    <p:sldId id="268" r:id="rId91"/>
    <p:sldId id="267" r:id="rId92"/>
    <p:sldId id="266" r:id="rId93"/>
    <p:sldId id="265" r:id="rId94"/>
    <p:sldId id="264" r:id="rId95"/>
    <p:sldId id="263" r:id="rId96"/>
    <p:sldId id="262" r:id="rId97"/>
    <p:sldId id="261" r:id="rId98"/>
    <p:sldId id="260" r:id="rId99"/>
    <p:sldId id="259" r:id="rId100"/>
    <p:sldId id="258" r:id="rId101"/>
    <p:sldId id="257" r:id="rId10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26.03.2026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26.03.2026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26.03.2026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26.03.2026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26.03.2026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26.03.2026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26.03.2026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26.03.2026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26.03.2026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26.03.2026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26.03.2026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26.03.2026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26/03/2026</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Importazione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Richiamare classi dei pacchetti JAVA</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787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Il JDK fornisce una enorme libreria (o collezione) di classi pronte all’uso, le quali forniscono una quantità enorme di metodi e funzioni utili per scrivere ogni tipo di programma</a:t>
            </a:r>
          </a:p>
        </p:txBody>
      </p:sp>
    </p:spTree>
    <p:extLst>
      <p:ext uri="{BB962C8B-B14F-4D97-AF65-F5344CB8AC3E}">
        <p14:creationId xmlns:p14="http://schemas.microsoft.com/office/powerpoint/2010/main" val="3639157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Il JDK fornisce una enorme libreria (o collezione) di classi pronte all’uso, le quali forniscono una quantità enorme di metodi e funzioni utili per scrivere ogni tipo di programma</a:t>
            </a:r>
          </a:p>
        </p:txBody>
      </p:sp>
      <p:sp>
        <p:nvSpPr>
          <p:cNvPr id="5" name="CasellaDiTesto 4">
            <a:extLst>
              <a:ext uri="{FF2B5EF4-FFF2-40B4-BE49-F238E27FC236}">
                <a16:creationId xmlns:a16="http://schemas.microsoft.com/office/drawing/2014/main" id="{3C1685CA-1D33-98DE-F1C5-4FA68B7F01FF}"/>
              </a:ext>
            </a:extLst>
          </p:cNvPr>
          <p:cNvSpPr txBox="1"/>
          <p:nvPr/>
        </p:nvSpPr>
        <p:spPr>
          <a:xfrm>
            <a:off x="3775505" y="1930339"/>
            <a:ext cx="6094562" cy="646331"/>
          </a:xfrm>
          <a:prstGeom prst="rect">
            <a:avLst/>
          </a:prstGeom>
          <a:noFill/>
        </p:spPr>
        <p:txBody>
          <a:bodyPr wrap="square">
            <a:spAutoFit/>
          </a:bodyPr>
          <a:lstStyle/>
          <a:p>
            <a:pPr algn="l"/>
            <a:r>
              <a:rPr lang="it-IT" b="0" i="0" dirty="0">
                <a:solidFill>
                  <a:srgbClr val="050E17"/>
                </a:solidFill>
                <a:effectLst/>
                <a:latin typeface="-apple-system"/>
              </a:rPr>
              <a:t>Per importare altre classi del kit Java, puoi utilizzare l'istruzione "import" all'inizio del tuo codice Java. </a:t>
            </a:r>
          </a:p>
        </p:txBody>
      </p:sp>
    </p:spTree>
    <p:extLst>
      <p:ext uri="{BB962C8B-B14F-4D97-AF65-F5344CB8AC3E}">
        <p14:creationId xmlns:p14="http://schemas.microsoft.com/office/powerpoint/2010/main" val="62445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Il JDK fornisce una enorme libreria (o collezione) di classi pronte all’uso, le quali forniscono una quantità enorme di metodi e funzioni utili per scrivere ogni tipo di programma</a:t>
            </a:r>
          </a:p>
        </p:txBody>
      </p:sp>
      <p:sp>
        <p:nvSpPr>
          <p:cNvPr id="5" name="CasellaDiTesto 4">
            <a:extLst>
              <a:ext uri="{FF2B5EF4-FFF2-40B4-BE49-F238E27FC236}">
                <a16:creationId xmlns:a16="http://schemas.microsoft.com/office/drawing/2014/main" id="{3C1685CA-1D33-98DE-F1C5-4FA68B7F01FF}"/>
              </a:ext>
            </a:extLst>
          </p:cNvPr>
          <p:cNvSpPr txBox="1"/>
          <p:nvPr/>
        </p:nvSpPr>
        <p:spPr>
          <a:xfrm>
            <a:off x="3775505" y="1930339"/>
            <a:ext cx="6094562" cy="1200329"/>
          </a:xfrm>
          <a:prstGeom prst="rect">
            <a:avLst/>
          </a:prstGeom>
          <a:noFill/>
        </p:spPr>
        <p:txBody>
          <a:bodyPr wrap="square">
            <a:spAutoFit/>
          </a:bodyPr>
          <a:lstStyle/>
          <a:p>
            <a:pPr algn="l"/>
            <a:r>
              <a:rPr lang="it-IT" b="0" i="0" dirty="0">
                <a:solidFill>
                  <a:srgbClr val="050E17"/>
                </a:solidFill>
                <a:effectLst/>
                <a:latin typeface="-apple-system"/>
              </a:rPr>
              <a:t>Per importare altre classi del kit Java, puoi utilizzare l'istruzione "import" all'inizio del tuo codice Java. L'istruzione import ti consente di specificare il percorso della classe che desideri utilizzare nel tuo codice.</a:t>
            </a:r>
          </a:p>
        </p:txBody>
      </p:sp>
    </p:spTree>
    <p:extLst>
      <p:ext uri="{BB962C8B-B14F-4D97-AF65-F5344CB8AC3E}">
        <p14:creationId xmlns:p14="http://schemas.microsoft.com/office/powerpoint/2010/main" val="785986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dirty="0"/>
              <a:t>Il JDK fornisce una enorme libreria (o collezione) di classi pronte all’uso, le quali forniscono una quantità enorme di metodi e funzioni utili per scrivere ogni tipo di programma</a:t>
            </a:r>
          </a:p>
        </p:txBody>
      </p:sp>
      <p:sp>
        <p:nvSpPr>
          <p:cNvPr id="5" name="CasellaDiTesto 4">
            <a:extLst>
              <a:ext uri="{FF2B5EF4-FFF2-40B4-BE49-F238E27FC236}">
                <a16:creationId xmlns:a16="http://schemas.microsoft.com/office/drawing/2014/main" id="{3C1685CA-1D33-98DE-F1C5-4FA68B7F01FF}"/>
              </a:ext>
            </a:extLst>
          </p:cNvPr>
          <p:cNvSpPr txBox="1"/>
          <p:nvPr/>
        </p:nvSpPr>
        <p:spPr>
          <a:xfrm>
            <a:off x="3775505" y="1930339"/>
            <a:ext cx="6094562" cy="2031325"/>
          </a:xfrm>
          <a:prstGeom prst="rect">
            <a:avLst/>
          </a:prstGeom>
          <a:noFill/>
        </p:spPr>
        <p:txBody>
          <a:bodyPr wrap="square">
            <a:spAutoFit/>
          </a:bodyPr>
          <a:lstStyle/>
          <a:p>
            <a:pPr algn="l"/>
            <a:r>
              <a:rPr lang="it-IT" b="0" i="0" dirty="0">
                <a:solidFill>
                  <a:srgbClr val="050E17"/>
                </a:solidFill>
                <a:effectLst/>
                <a:latin typeface="-apple-system"/>
              </a:rPr>
              <a:t>Per importare altre classi del kit Java, puoi utilizzare l'istruzione "import" all'inizio del tuo codice Java. L'istruzione import ti consente di specificare il percorso della classe che desideri utilizzare nel tuo codice.</a:t>
            </a:r>
          </a:p>
          <a:p>
            <a:pPr algn="l"/>
            <a:r>
              <a:rPr lang="it-IT" b="0" i="0" dirty="0">
                <a:solidFill>
                  <a:srgbClr val="050E17"/>
                </a:solidFill>
                <a:effectLst/>
                <a:latin typeface="-apple-system"/>
              </a:rPr>
              <a:t>Ad esempio, se desideri utilizzare la classe "</a:t>
            </a:r>
            <a:r>
              <a:rPr lang="it-IT" b="0" i="0" dirty="0" err="1">
                <a:solidFill>
                  <a:srgbClr val="050E17"/>
                </a:solidFill>
                <a:effectLst/>
                <a:latin typeface="-apple-system"/>
              </a:rPr>
              <a:t>ArrayList</a:t>
            </a:r>
            <a:r>
              <a:rPr lang="it-IT" b="0" i="0" dirty="0">
                <a:solidFill>
                  <a:srgbClr val="050E17"/>
                </a:solidFill>
                <a:effectLst/>
                <a:latin typeface="-apple-system"/>
              </a:rPr>
              <a:t>" dal pacchetto "</a:t>
            </a:r>
            <a:r>
              <a:rPr lang="it-IT" b="0" i="0" dirty="0" err="1">
                <a:solidFill>
                  <a:srgbClr val="050E17"/>
                </a:solidFill>
                <a:effectLst/>
                <a:latin typeface="-apple-system"/>
              </a:rPr>
              <a:t>java.util</a:t>
            </a:r>
            <a:r>
              <a:rPr lang="it-IT" b="0" i="0" dirty="0">
                <a:solidFill>
                  <a:srgbClr val="050E17"/>
                </a:solidFill>
                <a:effectLst/>
                <a:latin typeface="-apple-system"/>
              </a:rPr>
              <a:t>", puoi importare la classe con l'istruzione seguente:</a:t>
            </a:r>
          </a:p>
        </p:txBody>
      </p:sp>
      <p:sp>
        <p:nvSpPr>
          <p:cNvPr id="7" name="Rectangle 2">
            <a:extLst>
              <a:ext uri="{FF2B5EF4-FFF2-40B4-BE49-F238E27FC236}">
                <a16:creationId xmlns:a16="http://schemas.microsoft.com/office/drawing/2014/main" id="{C9D936CA-0585-6777-7548-55AD72103D7B}"/>
              </a:ext>
            </a:extLst>
          </p:cNvPr>
          <p:cNvSpPr>
            <a:spLocks noChangeArrowheads="1"/>
          </p:cNvSpPr>
          <p:nvPr/>
        </p:nvSpPr>
        <p:spPr bwMode="auto">
          <a:xfrm>
            <a:off x="3808610" y="3961664"/>
            <a:ext cx="6094562"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java.util.ArrayList</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78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b="0" i="0" dirty="0">
                <a:solidFill>
                  <a:srgbClr val="050E17"/>
                </a:solidFill>
                <a:effectLst/>
                <a:latin typeface="-apple-system"/>
              </a:rPr>
              <a:t>Inoltre, se desideri utilizzare tutte le classi di un pacchetto, puoi importare il pacchetto stesso utilizzando l'istruzione "import" seguita dal nome del pacchetto:</a:t>
            </a:r>
            <a:endParaRPr lang="it-IT" dirty="0"/>
          </a:p>
        </p:txBody>
      </p:sp>
      <p:sp>
        <p:nvSpPr>
          <p:cNvPr id="14" name="Rectangle 6">
            <a:extLst>
              <a:ext uri="{FF2B5EF4-FFF2-40B4-BE49-F238E27FC236}">
                <a16:creationId xmlns:a16="http://schemas.microsoft.com/office/drawing/2014/main" id="{5C403C0A-32DF-6CA5-69EA-787463DE5660}"/>
              </a:ext>
            </a:extLst>
          </p:cNvPr>
          <p:cNvSpPr>
            <a:spLocks noChangeArrowheads="1"/>
          </p:cNvSpPr>
          <p:nvPr/>
        </p:nvSpPr>
        <p:spPr bwMode="auto">
          <a:xfrm>
            <a:off x="3883844" y="1942533"/>
            <a:ext cx="5940677"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5085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b="0" i="0" dirty="0">
                <a:solidFill>
                  <a:srgbClr val="050E17"/>
                </a:solidFill>
                <a:effectLst/>
                <a:latin typeface="-apple-system"/>
              </a:rPr>
              <a:t>Inoltre, se desideri utilizzare tutte le classi di un pacchetto, puoi importare il pacchetto stesso utilizzando l'istruzione "import" seguita dal nome del pacchetto:</a:t>
            </a:r>
            <a:endParaRPr lang="it-IT" dirty="0"/>
          </a:p>
        </p:txBody>
      </p:sp>
      <p:sp>
        <p:nvSpPr>
          <p:cNvPr id="14" name="Rectangle 6">
            <a:extLst>
              <a:ext uri="{FF2B5EF4-FFF2-40B4-BE49-F238E27FC236}">
                <a16:creationId xmlns:a16="http://schemas.microsoft.com/office/drawing/2014/main" id="{5C403C0A-32DF-6CA5-69EA-787463DE5660}"/>
              </a:ext>
            </a:extLst>
          </p:cNvPr>
          <p:cNvSpPr>
            <a:spLocks noChangeArrowheads="1"/>
          </p:cNvSpPr>
          <p:nvPr/>
        </p:nvSpPr>
        <p:spPr bwMode="auto">
          <a:xfrm>
            <a:off x="3883844" y="1942533"/>
            <a:ext cx="5940677"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6" name="CasellaDiTesto 15">
            <a:extLst>
              <a:ext uri="{FF2B5EF4-FFF2-40B4-BE49-F238E27FC236}">
                <a16:creationId xmlns:a16="http://schemas.microsoft.com/office/drawing/2014/main" id="{5535039B-5222-EF0F-A56F-9B4790A9C39C}"/>
              </a:ext>
            </a:extLst>
          </p:cNvPr>
          <p:cNvSpPr txBox="1"/>
          <p:nvPr/>
        </p:nvSpPr>
        <p:spPr>
          <a:xfrm>
            <a:off x="3808610" y="2346233"/>
            <a:ext cx="6094562" cy="923330"/>
          </a:xfrm>
          <a:prstGeom prst="rect">
            <a:avLst/>
          </a:prstGeom>
          <a:noFill/>
        </p:spPr>
        <p:txBody>
          <a:bodyPr wrap="square">
            <a:spAutoFit/>
          </a:bodyPr>
          <a:lstStyle/>
          <a:p>
            <a:r>
              <a:rPr lang="it-IT" b="0" i="0">
                <a:solidFill>
                  <a:srgbClr val="050E17"/>
                </a:solidFill>
                <a:effectLst/>
                <a:latin typeface="-apple-system"/>
              </a:rPr>
              <a:t>In questo modo, puoi utilizzare tutte le classi del pacchetto "java.util" nel tuo codice senza dover importare ogni singola classe separatamente.</a:t>
            </a:r>
            <a:endParaRPr lang="it-IT" dirty="0"/>
          </a:p>
        </p:txBody>
      </p:sp>
    </p:spTree>
    <p:extLst>
      <p:ext uri="{BB962C8B-B14F-4D97-AF65-F5344CB8AC3E}">
        <p14:creationId xmlns:p14="http://schemas.microsoft.com/office/powerpoint/2010/main" val="260143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b="0" i="0" dirty="0">
                <a:solidFill>
                  <a:srgbClr val="050E17"/>
                </a:solidFill>
                <a:effectLst/>
                <a:latin typeface="-apple-system"/>
              </a:rPr>
              <a:t>Inoltre, se desideri utilizzare tutte le classi di un pacchetto, puoi importare il pacchetto stesso utilizzando l'istruzione "import" seguita dal nome del pacchetto:</a:t>
            </a:r>
            <a:endParaRPr lang="it-IT" dirty="0"/>
          </a:p>
        </p:txBody>
      </p:sp>
      <p:sp>
        <p:nvSpPr>
          <p:cNvPr id="14" name="Rectangle 6">
            <a:extLst>
              <a:ext uri="{FF2B5EF4-FFF2-40B4-BE49-F238E27FC236}">
                <a16:creationId xmlns:a16="http://schemas.microsoft.com/office/drawing/2014/main" id="{5C403C0A-32DF-6CA5-69EA-787463DE5660}"/>
              </a:ext>
            </a:extLst>
          </p:cNvPr>
          <p:cNvSpPr>
            <a:spLocks noChangeArrowheads="1"/>
          </p:cNvSpPr>
          <p:nvPr/>
        </p:nvSpPr>
        <p:spPr bwMode="auto">
          <a:xfrm>
            <a:off x="3883844" y="1942533"/>
            <a:ext cx="5940677"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6" name="CasellaDiTesto 15">
            <a:extLst>
              <a:ext uri="{FF2B5EF4-FFF2-40B4-BE49-F238E27FC236}">
                <a16:creationId xmlns:a16="http://schemas.microsoft.com/office/drawing/2014/main" id="{5535039B-5222-EF0F-A56F-9B4790A9C39C}"/>
              </a:ext>
            </a:extLst>
          </p:cNvPr>
          <p:cNvSpPr txBox="1"/>
          <p:nvPr/>
        </p:nvSpPr>
        <p:spPr>
          <a:xfrm>
            <a:off x="3808610" y="2346233"/>
            <a:ext cx="6094562" cy="923330"/>
          </a:xfrm>
          <a:prstGeom prst="rect">
            <a:avLst/>
          </a:prstGeom>
          <a:noFill/>
        </p:spPr>
        <p:txBody>
          <a:bodyPr wrap="square">
            <a:spAutoFit/>
          </a:bodyPr>
          <a:lstStyle/>
          <a:p>
            <a:r>
              <a:rPr lang="it-IT" b="0" i="0">
                <a:solidFill>
                  <a:srgbClr val="050E17"/>
                </a:solidFill>
                <a:effectLst/>
                <a:latin typeface="-apple-system"/>
              </a:rPr>
              <a:t>In questo modo, puoi utilizzare tutte le classi del pacchetto "java.util" nel tuo codice senza dover importare ogni singola classe separatamente.</a:t>
            </a:r>
            <a:endParaRPr lang="it-IT" dirty="0"/>
          </a:p>
        </p:txBody>
      </p:sp>
      <p:sp>
        <p:nvSpPr>
          <p:cNvPr id="18" name="CasellaDiTesto 17">
            <a:extLst>
              <a:ext uri="{FF2B5EF4-FFF2-40B4-BE49-F238E27FC236}">
                <a16:creationId xmlns:a16="http://schemas.microsoft.com/office/drawing/2014/main" id="{1430A858-D433-0268-B45B-28E9AE4A08FC}"/>
              </a:ext>
            </a:extLst>
          </p:cNvPr>
          <p:cNvSpPr txBox="1"/>
          <p:nvPr/>
        </p:nvSpPr>
        <p:spPr>
          <a:xfrm>
            <a:off x="3808610" y="3365486"/>
            <a:ext cx="6094562" cy="1200329"/>
          </a:xfrm>
          <a:prstGeom prst="rect">
            <a:avLst/>
          </a:prstGeom>
          <a:noFill/>
        </p:spPr>
        <p:txBody>
          <a:bodyPr wrap="square">
            <a:spAutoFit/>
          </a:bodyPr>
          <a:lstStyle/>
          <a:p>
            <a:r>
              <a:rPr lang="it-IT" b="0" i="0" dirty="0">
                <a:solidFill>
                  <a:srgbClr val="050E17"/>
                </a:solidFill>
                <a:effectLst/>
                <a:latin typeface="-apple-system"/>
              </a:rPr>
              <a:t>È importante notare che, se una classe ha lo stesso nome di un'altra classe contenuta in un pacchetto diverso, potresti dover specificare il percorso completo della classe per evitare conflitti. </a:t>
            </a:r>
            <a:endParaRPr lang="it-IT" dirty="0"/>
          </a:p>
        </p:txBody>
      </p:sp>
    </p:spTree>
    <p:extLst>
      <p:ext uri="{BB962C8B-B14F-4D97-AF65-F5344CB8AC3E}">
        <p14:creationId xmlns:p14="http://schemas.microsoft.com/office/powerpoint/2010/main" val="3405061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b="0" i="0" dirty="0">
                <a:solidFill>
                  <a:srgbClr val="050E17"/>
                </a:solidFill>
                <a:effectLst/>
                <a:latin typeface="-apple-system"/>
              </a:rPr>
              <a:t>Inoltre, se desideri utilizzare tutte le classi di un pacchetto, puoi importare il pacchetto stesso utilizzando l'istruzione "import" seguita dal nome del pacchetto:</a:t>
            </a:r>
            <a:endParaRPr lang="it-IT" dirty="0"/>
          </a:p>
        </p:txBody>
      </p:sp>
      <p:sp>
        <p:nvSpPr>
          <p:cNvPr id="14" name="Rectangle 6">
            <a:extLst>
              <a:ext uri="{FF2B5EF4-FFF2-40B4-BE49-F238E27FC236}">
                <a16:creationId xmlns:a16="http://schemas.microsoft.com/office/drawing/2014/main" id="{5C403C0A-32DF-6CA5-69EA-787463DE5660}"/>
              </a:ext>
            </a:extLst>
          </p:cNvPr>
          <p:cNvSpPr>
            <a:spLocks noChangeArrowheads="1"/>
          </p:cNvSpPr>
          <p:nvPr/>
        </p:nvSpPr>
        <p:spPr bwMode="auto">
          <a:xfrm>
            <a:off x="3883844" y="1942533"/>
            <a:ext cx="5940677"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6" name="CasellaDiTesto 15">
            <a:extLst>
              <a:ext uri="{FF2B5EF4-FFF2-40B4-BE49-F238E27FC236}">
                <a16:creationId xmlns:a16="http://schemas.microsoft.com/office/drawing/2014/main" id="{5535039B-5222-EF0F-A56F-9B4790A9C39C}"/>
              </a:ext>
            </a:extLst>
          </p:cNvPr>
          <p:cNvSpPr txBox="1"/>
          <p:nvPr/>
        </p:nvSpPr>
        <p:spPr>
          <a:xfrm>
            <a:off x="3808610" y="2346233"/>
            <a:ext cx="6094562" cy="923330"/>
          </a:xfrm>
          <a:prstGeom prst="rect">
            <a:avLst/>
          </a:prstGeom>
          <a:noFill/>
        </p:spPr>
        <p:txBody>
          <a:bodyPr wrap="square">
            <a:spAutoFit/>
          </a:bodyPr>
          <a:lstStyle/>
          <a:p>
            <a:r>
              <a:rPr lang="it-IT" b="0" i="0">
                <a:solidFill>
                  <a:srgbClr val="050E17"/>
                </a:solidFill>
                <a:effectLst/>
                <a:latin typeface="-apple-system"/>
              </a:rPr>
              <a:t>In questo modo, puoi utilizzare tutte le classi del pacchetto "java.util" nel tuo codice senza dover importare ogni singola classe separatamente.</a:t>
            </a:r>
            <a:endParaRPr lang="it-IT" dirty="0"/>
          </a:p>
        </p:txBody>
      </p:sp>
      <p:sp>
        <p:nvSpPr>
          <p:cNvPr id="18" name="CasellaDiTesto 17">
            <a:extLst>
              <a:ext uri="{FF2B5EF4-FFF2-40B4-BE49-F238E27FC236}">
                <a16:creationId xmlns:a16="http://schemas.microsoft.com/office/drawing/2014/main" id="{1430A858-D433-0268-B45B-28E9AE4A08FC}"/>
              </a:ext>
            </a:extLst>
          </p:cNvPr>
          <p:cNvSpPr txBox="1"/>
          <p:nvPr/>
        </p:nvSpPr>
        <p:spPr>
          <a:xfrm>
            <a:off x="3808610" y="3365486"/>
            <a:ext cx="6094562" cy="2031325"/>
          </a:xfrm>
          <a:prstGeom prst="rect">
            <a:avLst/>
          </a:prstGeom>
          <a:noFill/>
        </p:spPr>
        <p:txBody>
          <a:bodyPr wrap="square">
            <a:spAutoFit/>
          </a:bodyPr>
          <a:lstStyle/>
          <a:p>
            <a:r>
              <a:rPr lang="it-IT" b="0" i="0" dirty="0">
                <a:solidFill>
                  <a:srgbClr val="050E17"/>
                </a:solidFill>
                <a:effectLst/>
                <a:latin typeface="-apple-system"/>
              </a:rPr>
              <a:t>È importante notare che, se una classe ha lo stesso nome di un'altra classe contenuta in un pacchetto diverso, potresti dover specificare il percorso completo della classe per evitare conflitti. Ad esempio, se hai bisogno di utilizzare la classe "Date" sia dal pacchetto "</a:t>
            </a:r>
            <a:r>
              <a:rPr lang="it-IT" b="0" i="0" dirty="0" err="1">
                <a:solidFill>
                  <a:srgbClr val="050E17"/>
                </a:solidFill>
                <a:effectLst/>
                <a:latin typeface="-apple-system"/>
              </a:rPr>
              <a:t>java.util</a:t>
            </a:r>
            <a:r>
              <a:rPr lang="it-IT" b="0" i="0" dirty="0">
                <a:solidFill>
                  <a:srgbClr val="050E17"/>
                </a:solidFill>
                <a:effectLst/>
                <a:latin typeface="-apple-system"/>
              </a:rPr>
              <a:t>" che dal pacchetto "</a:t>
            </a:r>
            <a:r>
              <a:rPr lang="it-IT" b="0" i="0" dirty="0" err="1">
                <a:solidFill>
                  <a:srgbClr val="050E17"/>
                </a:solidFill>
                <a:effectLst/>
                <a:latin typeface="-apple-system"/>
              </a:rPr>
              <a:t>java.sql</a:t>
            </a:r>
            <a:r>
              <a:rPr lang="it-IT" b="0" i="0" dirty="0">
                <a:solidFill>
                  <a:srgbClr val="050E17"/>
                </a:solidFill>
                <a:effectLst/>
                <a:latin typeface="-apple-system"/>
              </a:rPr>
              <a:t>", puoi importare le classi utilizzando il percorso completo come segue:</a:t>
            </a:r>
            <a:endParaRPr lang="it-IT" dirty="0"/>
          </a:p>
        </p:txBody>
      </p:sp>
      <p:sp>
        <p:nvSpPr>
          <p:cNvPr id="19" name="Rectangle 7">
            <a:extLst>
              <a:ext uri="{FF2B5EF4-FFF2-40B4-BE49-F238E27FC236}">
                <a16:creationId xmlns:a16="http://schemas.microsoft.com/office/drawing/2014/main" id="{CC23F93A-E184-C2FD-8E48-FED89A32B79E}"/>
              </a:ext>
            </a:extLst>
          </p:cNvPr>
          <p:cNvSpPr>
            <a:spLocks noChangeArrowheads="1"/>
          </p:cNvSpPr>
          <p:nvPr/>
        </p:nvSpPr>
        <p:spPr bwMode="auto">
          <a:xfrm>
            <a:off x="3883844" y="5371504"/>
            <a:ext cx="6019328" cy="61555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java.util.Date</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java.sql.Date</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5637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import</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923330"/>
          </a:xfrm>
          <a:prstGeom prst="rect">
            <a:avLst/>
          </a:prstGeom>
          <a:noFill/>
        </p:spPr>
        <p:txBody>
          <a:bodyPr wrap="square">
            <a:spAutoFit/>
          </a:bodyPr>
          <a:lstStyle/>
          <a:p>
            <a:r>
              <a:rPr lang="it-IT" b="0" i="0" dirty="0">
                <a:solidFill>
                  <a:srgbClr val="050E17"/>
                </a:solidFill>
                <a:effectLst/>
                <a:latin typeface="-apple-system"/>
              </a:rPr>
              <a:t>Inoltre, se desideri utilizzare tutte le classi di un pacchetto, puoi importare il pacchetto stesso utilizzando l'istruzione "import" seguita dal nome del pacchetto:</a:t>
            </a:r>
            <a:endParaRPr lang="it-IT" dirty="0"/>
          </a:p>
        </p:txBody>
      </p:sp>
      <p:sp>
        <p:nvSpPr>
          <p:cNvPr id="14" name="Rectangle 6">
            <a:extLst>
              <a:ext uri="{FF2B5EF4-FFF2-40B4-BE49-F238E27FC236}">
                <a16:creationId xmlns:a16="http://schemas.microsoft.com/office/drawing/2014/main" id="{5C403C0A-32DF-6CA5-69EA-787463DE5660}"/>
              </a:ext>
            </a:extLst>
          </p:cNvPr>
          <p:cNvSpPr>
            <a:spLocks noChangeArrowheads="1"/>
          </p:cNvSpPr>
          <p:nvPr/>
        </p:nvSpPr>
        <p:spPr bwMode="auto">
          <a:xfrm>
            <a:off x="3883844" y="1942533"/>
            <a:ext cx="5940677" cy="30777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6" name="CasellaDiTesto 15">
            <a:extLst>
              <a:ext uri="{FF2B5EF4-FFF2-40B4-BE49-F238E27FC236}">
                <a16:creationId xmlns:a16="http://schemas.microsoft.com/office/drawing/2014/main" id="{5535039B-5222-EF0F-A56F-9B4790A9C39C}"/>
              </a:ext>
            </a:extLst>
          </p:cNvPr>
          <p:cNvSpPr txBox="1"/>
          <p:nvPr/>
        </p:nvSpPr>
        <p:spPr>
          <a:xfrm>
            <a:off x="3808610" y="2346233"/>
            <a:ext cx="6094562" cy="923330"/>
          </a:xfrm>
          <a:prstGeom prst="rect">
            <a:avLst/>
          </a:prstGeom>
          <a:noFill/>
        </p:spPr>
        <p:txBody>
          <a:bodyPr wrap="square">
            <a:spAutoFit/>
          </a:bodyPr>
          <a:lstStyle/>
          <a:p>
            <a:r>
              <a:rPr lang="it-IT" b="0" i="0">
                <a:solidFill>
                  <a:srgbClr val="050E17"/>
                </a:solidFill>
                <a:effectLst/>
                <a:latin typeface="-apple-system"/>
              </a:rPr>
              <a:t>In questo modo, puoi utilizzare tutte le classi del pacchetto "java.util" nel tuo codice senza dover importare ogni singola classe separatamente.</a:t>
            </a:r>
            <a:endParaRPr lang="it-IT" dirty="0"/>
          </a:p>
        </p:txBody>
      </p:sp>
      <p:sp>
        <p:nvSpPr>
          <p:cNvPr id="18" name="CasellaDiTesto 17">
            <a:extLst>
              <a:ext uri="{FF2B5EF4-FFF2-40B4-BE49-F238E27FC236}">
                <a16:creationId xmlns:a16="http://schemas.microsoft.com/office/drawing/2014/main" id="{1430A858-D433-0268-B45B-28E9AE4A08FC}"/>
              </a:ext>
            </a:extLst>
          </p:cNvPr>
          <p:cNvSpPr txBox="1"/>
          <p:nvPr/>
        </p:nvSpPr>
        <p:spPr>
          <a:xfrm>
            <a:off x="3808610" y="3365486"/>
            <a:ext cx="6094562" cy="2031325"/>
          </a:xfrm>
          <a:prstGeom prst="rect">
            <a:avLst/>
          </a:prstGeom>
          <a:noFill/>
        </p:spPr>
        <p:txBody>
          <a:bodyPr wrap="square">
            <a:spAutoFit/>
          </a:bodyPr>
          <a:lstStyle/>
          <a:p>
            <a:r>
              <a:rPr lang="it-IT" b="0" i="0" dirty="0">
                <a:solidFill>
                  <a:srgbClr val="050E17"/>
                </a:solidFill>
                <a:effectLst/>
                <a:latin typeface="-apple-system"/>
              </a:rPr>
              <a:t>È importante notare che, se una classe ha lo stesso nome di un'altra classe contenuta in un pacchetto diverso, potresti dover specificare il percorso completo della classe per evitare conflitti. Ad esempio, se hai bisogno di utilizzare la classe "Date" sia dal pacchetto "</a:t>
            </a:r>
            <a:r>
              <a:rPr lang="it-IT" b="0" i="0" dirty="0" err="1">
                <a:solidFill>
                  <a:srgbClr val="050E17"/>
                </a:solidFill>
                <a:effectLst/>
                <a:latin typeface="-apple-system"/>
              </a:rPr>
              <a:t>java.util</a:t>
            </a:r>
            <a:r>
              <a:rPr lang="it-IT" b="0" i="0" dirty="0">
                <a:solidFill>
                  <a:srgbClr val="050E17"/>
                </a:solidFill>
                <a:effectLst/>
                <a:latin typeface="-apple-system"/>
              </a:rPr>
              <a:t>" che dal pacchetto "</a:t>
            </a:r>
            <a:r>
              <a:rPr lang="it-IT" b="0" i="0" dirty="0" err="1">
                <a:solidFill>
                  <a:srgbClr val="050E17"/>
                </a:solidFill>
                <a:effectLst/>
                <a:latin typeface="-apple-system"/>
              </a:rPr>
              <a:t>java.sql</a:t>
            </a:r>
            <a:r>
              <a:rPr lang="it-IT" b="0" i="0" dirty="0">
                <a:solidFill>
                  <a:srgbClr val="050E17"/>
                </a:solidFill>
                <a:effectLst/>
                <a:latin typeface="-apple-system"/>
              </a:rPr>
              <a:t>", puoi importare le classi utilizzando il percorso completo come segue:</a:t>
            </a:r>
            <a:endParaRPr lang="it-IT" dirty="0"/>
          </a:p>
        </p:txBody>
      </p:sp>
      <p:sp>
        <p:nvSpPr>
          <p:cNvPr id="19" name="Rectangle 7">
            <a:extLst>
              <a:ext uri="{FF2B5EF4-FFF2-40B4-BE49-F238E27FC236}">
                <a16:creationId xmlns:a16="http://schemas.microsoft.com/office/drawing/2014/main" id="{CC23F93A-E184-C2FD-8E48-FED89A32B79E}"/>
              </a:ext>
            </a:extLst>
          </p:cNvPr>
          <p:cNvSpPr>
            <a:spLocks noChangeArrowheads="1"/>
          </p:cNvSpPr>
          <p:nvPr/>
        </p:nvSpPr>
        <p:spPr bwMode="auto">
          <a:xfrm>
            <a:off x="3883844" y="5371504"/>
            <a:ext cx="6019328" cy="61555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java.util.Date</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import</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java.sql.Date</a:t>
            </a: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21" name="CasellaDiTesto 20">
            <a:extLst>
              <a:ext uri="{FF2B5EF4-FFF2-40B4-BE49-F238E27FC236}">
                <a16:creationId xmlns:a16="http://schemas.microsoft.com/office/drawing/2014/main" id="{9C55C645-9B83-F53F-9EA5-57CD9CB72D02}"/>
              </a:ext>
            </a:extLst>
          </p:cNvPr>
          <p:cNvSpPr txBox="1"/>
          <p:nvPr/>
        </p:nvSpPr>
        <p:spPr>
          <a:xfrm>
            <a:off x="3806901" y="5987057"/>
            <a:ext cx="6094562" cy="646331"/>
          </a:xfrm>
          <a:prstGeom prst="rect">
            <a:avLst/>
          </a:prstGeom>
          <a:noFill/>
        </p:spPr>
        <p:txBody>
          <a:bodyPr wrap="square">
            <a:spAutoFit/>
          </a:bodyPr>
          <a:lstStyle/>
          <a:p>
            <a:r>
              <a:rPr lang="it-IT" b="0" i="0" dirty="0">
                <a:solidFill>
                  <a:srgbClr val="050E17"/>
                </a:solidFill>
                <a:effectLst/>
                <a:latin typeface="-apple-system"/>
              </a:rPr>
              <a:t>In questo modo, puoi utilizzare entrambe le classi "Date" nel tuo codice senza conflitti.</a:t>
            </a:r>
            <a:endParaRPr lang="it-IT" dirty="0"/>
          </a:p>
        </p:txBody>
      </p:sp>
    </p:spTree>
    <p:extLst>
      <p:ext uri="{BB962C8B-B14F-4D97-AF65-F5344CB8AC3E}">
        <p14:creationId xmlns:p14="http://schemas.microsoft.com/office/powerpoint/2010/main" val="120437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a:t>
            </a:r>
          </a:p>
        </p:txBody>
      </p:sp>
      <p:sp>
        <p:nvSpPr>
          <p:cNvPr id="3" name="CasellaDiTesto 2">
            <a:extLst>
              <a:ext uri="{FF2B5EF4-FFF2-40B4-BE49-F238E27FC236}">
                <a16:creationId xmlns:a16="http://schemas.microsoft.com/office/drawing/2014/main" id="{C9558D24-1D3D-D459-734C-C24435DE07C8}"/>
              </a:ext>
            </a:extLst>
          </p:cNvPr>
          <p:cNvSpPr txBox="1"/>
          <p:nvPr/>
        </p:nvSpPr>
        <p:spPr>
          <a:xfrm>
            <a:off x="3048719" y="1767006"/>
            <a:ext cx="6094562" cy="3323987"/>
          </a:xfrm>
          <a:prstGeom prst="rect">
            <a:avLst/>
          </a:prstGeom>
          <a:noFill/>
        </p:spPr>
        <p:txBody>
          <a:bodyPr wrap="square">
            <a:spAutoFit/>
          </a:bodyPr>
          <a:lstStyle/>
          <a:p>
            <a:r>
              <a:rPr lang="it-IT" sz="3000" b="0" i="0" dirty="0">
                <a:solidFill>
                  <a:srgbClr val="050E17"/>
                </a:solidFill>
                <a:effectLst/>
                <a:latin typeface="-apple-system"/>
              </a:rPr>
              <a:t>Una classe può contenere cose molto utili, come per esempio dei metodi (vere e proprie funzioni in grado di eseguire compiti interessanti) o variabili (</a:t>
            </a:r>
            <a:r>
              <a:rPr lang="it-IT" sz="3000" b="0" i="0">
                <a:solidFill>
                  <a:srgbClr val="050E17"/>
                </a:solidFill>
                <a:effectLst/>
                <a:latin typeface="-apple-system"/>
              </a:rPr>
              <a:t>dette proprietà </a:t>
            </a:r>
            <a:r>
              <a:rPr lang="it-IT" sz="3000" b="0" i="0" dirty="0">
                <a:solidFill>
                  <a:srgbClr val="050E17"/>
                </a:solidFill>
                <a:effectLst/>
                <a:latin typeface="-apple-system"/>
              </a:rPr>
              <a:t>o campi) che contengono dati, che possono tornare utili.</a:t>
            </a:r>
            <a:endParaRPr lang="it-IT" sz="3000" dirty="0">
              <a:solidFill>
                <a:srgbClr val="050E17"/>
              </a:solidFill>
              <a:latin typeface="-apple-system"/>
            </a:endParaRPr>
          </a:p>
        </p:txBody>
      </p:sp>
    </p:spTree>
    <p:extLst>
      <p:ext uri="{BB962C8B-B14F-4D97-AF65-F5344CB8AC3E}">
        <p14:creationId xmlns:p14="http://schemas.microsoft.com/office/powerpoint/2010/main" val="284590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a:t>
            </a:r>
          </a:p>
        </p:txBody>
      </p:sp>
      <p:sp>
        <p:nvSpPr>
          <p:cNvPr id="3" name="CasellaDiTesto 2">
            <a:extLst>
              <a:ext uri="{FF2B5EF4-FFF2-40B4-BE49-F238E27FC236}">
                <a16:creationId xmlns:a16="http://schemas.microsoft.com/office/drawing/2014/main" id="{C9558D24-1D3D-D459-734C-C24435DE07C8}"/>
              </a:ext>
            </a:extLst>
          </p:cNvPr>
          <p:cNvSpPr txBox="1"/>
          <p:nvPr/>
        </p:nvSpPr>
        <p:spPr>
          <a:xfrm>
            <a:off x="3048719" y="1074509"/>
            <a:ext cx="6094562" cy="5170646"/>
          </a:xfrm>
          <a:prstGeom prst="rect">
            <a:avLst/>
          </a:prstGeom>
          <a:noFill/>
        </p:spPr>
        <p:txBody>
          <a:bodyPr wrap="square">
            <a:spAutoFit/>
          </a:bodyPr>
          <a:lstStyle/>
          <a:p>
            <a:r>
              <a:rPr lang="it-IT" sz="3000" dirty="0">
                <a:solidFill>
                  <a:srgbClr val="050E17"/>
                </a:solidFill>
                <a:latin typeface="-apple-system"/>
              </a:rPr>
              <a:t>Come vedremo per utilizzare queste funzionalità (metodi) e queste variabili </a:t>
            </a:r>
            <a:r>
              <a:rPr lang="it-IT" sz="3000">
                <a:solidFill>
                  <a:srgbClr val="050E17"/>
                </a:solidFill>
                <a:latin typeface="-apple-system"/>
              </a:rPr>
              <a:t>(proprietà </a:t>
            </a:r>
            <a:r>
              <a:rPr lang="it-IT" sz="3000" dirty="0">
                <a:solidFill>
                  <a:srgbClr val="050E17"/>
                </a:solidFill>
                <a:latin typeface="-apple-system"/>
              </a:rPr>
              <a:t>o campi) si può procedere in vari modi a seconda di come sono fatti questi metodi e </a:t>
            </a:r>
            <a:r>
              <a:rPr lang="it-IT" sz="3000">
                <a:solidFill>
                  <a:srgbClr val="050E17"/>
                </a:solidFill>
                <a:latin typeface="-apple-system"/>
              </a:rPr>
              <a:t>queste proprietà </a:t>
            </a:r>
            <a:r>
              <a:rPr lang="it-IT" sz="3000" dirty="0">
                <a:solidFill>
                  <a:srgbClr val="050E17"/>
                </a:solidFill>
                <a:latin typeface="-apple-system"/>
              </a:rPr>
              <a:t>(o campi).</a:t>
            </a:r>
          </a:p>
          <a:p>
            <a:r>
              <a:rPr lang="it-IT" sz="3000" dirty="0">
                <a:solidFill>
                  <a:srgbClr val="050E17"/>
                </a:solidFill>
                <a:latin typeface="-apple-system"/>
              </a:rPr>
              <a:t>Ci sono infatti due tipologie </a:t>
            </a:r>
            <a:r>
              <a:rPr lang="it-IT" sz="3000">
                <a:solidFill>
                  <a:srgbClr val="050E17"/>
                </a:solidFill>
                <a:latin typeface="-apple-system"/>
              </a:rPr>
              <a:t>di proprietà/</a:t>
            </a:r>
            <a:r>
              <a:rPr lang="it-IT" sz="3000" dirty="0">
                <a:solidFill>
                  <a:srgbClr val="050E17"/>
                </a:solidFill>
                <a:latin typeface="-apple-system"/>
              </a:rPr>
              <a:t>campi e metodi: quelle statiche e quelle dinamiche.</a:t>
            </a:r>
          </a:p>
          <a:p>
            <a:r>
              <a:rPr lang="it-IT" sz="3000" dirty="0">
                <a:solidFill>
                  <a:srgbClr val="050E17"/>
                </a:solidFill>
                <a:latin typeface="-apple-system"/>
              </a:rPr>
              <a:t>Ci sono cioè metodi statici e metodi dinamici.</a:t>
            </a:r>
          </a:p>
        </p:txBody>
      </p:sp>
    </p:spTree>
    <p:extLst>
      <p:ext uri="{BB962C8B-B14F-4D97-AF65-F5344CB8AC3E}">
        <p14:creationId xmlns:p14="http://schemas.microsoft.com/office/powerpoint/2010/main" val="4075888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a:t>
            </a:r>
          </a:p>
        </p:txBody>
      </p:sp>
      <p:sp>
        <p:nvSpPr>
          <p:cNvPr id="3" name="CasellaDiTesto 2">
            <a:extLst>
              <a:ext uri="{FF2B5EF4-FFF2-40B4-BE49-F238E27FC236}">
                <a16:creationId xmlns:a16="http://schemas.microsoft.com/office/drawing/2014/main" id="{C9558D24-1D3D-D459-734C-C24435DE07C8}"/>
              </a:ext>
            </a:extLst>
          </p:cNvPr>
          <p:cNvSpPr txBox="1"/>
          <p:nvPr/>
        </p:nvSpPr>
        <p:spPr>
          <a:xfrm>
            <a:off x="3048719" y="1767006"/>
            <a:ext cx="6094562" cy="3323987"/>
          </a:xfrm>
          <a:prstGeom prst="rect">
            <a:avLst/>
          </a:prstGeom>
          <a:noFill/>
        </p:spPr>
        <p:txBody>
          <a:bodyPr wrap="square">
            <a:spAutoFit/>
          </a:bodyPr>
          <a:lstStyle/>
          <a:p>
            <a:r>
              <a:rPr lang="it-IT" sz="3000" dirty="0">
                <a:solidFill>
                  <a:srgbClr val="050E17"/>
                </a:solidFill>
                <a:latin typeface="-apple-system"/>
              </a:rPr>
              <a:t>La differenza è il modo con cui sono stati progettati e questo può dipendere da una certa logica legata anche al modo con cui si pensa che saranno usati.</a:t>
            </a:r>
          </a:p>
          <a:p>
            <a:r>
              <a:rPr lang="it-IT" sz="3000" dirty="0">
                <a:solidFill>
                  <a:srgbClr val="050E17"/>
                </a:solidFill>
                <a:latin typeface="-apple-system"/>
              </a:rPr>
              <a:t>Tuttavia, in questa fase a noi interessa solo sapere se sono statici o dinamici.</a:t>
            </a:r>
          </a:p>
        </p:txBody>
      </p:sp>
    </p:spTree>
    <p:extLst>
      <p:ext uri="{BB962C8B-B14F-4D97-AF65-F5344CB8AC3E}">
        <p14:creationId xmlns:p14="http://schemas.microsoft.com/office/powerpoint/2010/main" val="3190669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a:t>
            </a:r>
          </a:p>
        </p:txBody>
      </p:sp>
      <p:sp>
        <p:nvSpPr>
          <p:cNvPr id="3" name="CasellaDiTesto 2">
            <a:extLst>
              <a:ext uri="{FF2B5EF4-FFF2-40B4-BE49-F238E27FC236}">
                <a16:creationId xmlns:a16="http://schemas.microsoft.com/office/drawing/2014/main" id="{C9558D24-1D3D-D459-734C-C24435DE07C8}"/>
              </a:ext>
            </a:extLst>
          </p:cNvPr>
          <p:cNvSpPr txBox="1"/>
          <p:nvPr/>
        </p:nvSpPr>
        <p:spPr>
          <a:xfrm>
            <a:off x="3048719" y="2228671"/>
            <a:ext cx="6094562" cy="2862322"/>
          </a:xfrm>
          <a:prstGeom prst="rect">
            <a:avLst/>
          </a:prstGeom>
          <a:noFill/>
        </p:spPr>
        <p:txBody>
          <a:bodyPr wrap="square">
            <a:spAutoFit/>
          </a:bodyPr>
          <a:lstStyle/>
          <a:p>
            <a:r>
              <a:rPr lang="it-IT" sz="3000" dirty="0">
                <a:solidFill>
                  <a:srgbClr val="050E17"/>
                </a:solidFill>
                <a:latin typeface="-apple-system"/>
              </a:rPr>
              <a:t>Infatti, per utilizzare metodi dinamici </a:t>
            </a:r>
            <a:r>
              <a:rPr lang="it-IT" sz="3000">
                <a:solidFill>
                  <a:srgbClr val="050E17"/>
                </a:solidFill>
                <a:latin typeface="-apple-system"/>
              </a:rPr>
              <a:t>e proprietà/</a:t>
            </a:r>
            <a:r>
              <a:rPr lang="it-IT" sz="3000" dirty="0">
                <a:solidFill>
                  <a:srgbClr val="050E17"/>
                </a:solidFill>
                <a:latin typeface="-apple-system"/>
              </a:rPr>
              <a:t>campi dinamiche/i (quelli/e più frequenti) si dovrà procedere, dopo averli importati, prima ad un processo che chiameremo </a:t>
            </a:r>
            <a:r>
              <a:rPr lang="it-IT" sz="3000" dirty="0" err="1">
                <a:solidFill>
                  <a:srgbClr val="050E17"/>
                </a:solidFill>
                <a:latin typeface="-apple-system"/>
              </a:rPr>
              <a:t>istanziamento</a:t>
            </a:r>
            <a:endParaRPr lang="it-IT" sz="3000" dirty="0">
              <a:solidFill>
                <a:srgbClr val="050E17"/>
              </a:solidFill>
              <a:latin typeface="-apple-system"/>
            </a:endParaRPr>
          </a:p>
        </p:txBody>
      </p:sp>
    </p:spTree>
    <p:extLst>
      <p:ext uri="{BB962C8B-B14F-4D97-AF65-F5344CB8AC3E}">
        <p14:creationId xmlns:p14="http://schemas.microsoft.com/office/powerpoint/2010/main" val="4180836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a:t>
            </a:r>
            <a:r>
              <a:rPr lang="it-IT" b="0" i="0" dirty="0">
                <a:solidFill>
                  <a:srgbClr val="050E17"/>
                </a:solidFill>
                <a:effectLst/>
                <a:latin typeface="-apple-system"/>
              </a:rPr>
              <a:t>campi dinamiche/i, si deve istanziarla o inizializzarla per utilizzarla nel tuo codice.</a:t>
            </a:r>
            <a:endParaRPr lang="it-IT" dirty="0"/>
          </a:p>
        </p:txBody>
      </p:sp>
    </p:spTree>
    <p:extLst>
      <p:ext uri="{BB962C8B-B14F-4D97-AF65-F5344CB8AC3E}">
        <p14:creationId xmlns:p14="http://schemas.microsoft.com/office/powerpoint/2010/main" val="2532888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7" name="CasellaDiTesto 6">
            <a:extLst>
              <a:ext uri="{FF2B5EF4-FFF2-40B4-BE49-F238E27FC236}">
                <a16:creationId xmlns:a16="http://schemas.microsoft.com/office/drawing/2014/main" id="{3F88686B-3502-30D9-4E44-A3FB98B1D085}"/>
              </a:ext>
            </a:extLst>
          </p:cNvPr>
          <p:cNvSpPr txBox="1"/>
          <p:nvPr/>
        </p:nvSpPr>
        <p:spPr>
          <a:xfrm>
            <a:off x="3775505" y="1673782"/>
            <a:ext cx="6094562" cy="1200329"/>
          </a:xfrm>
          <a:prstGeom prst="rect">
            <a:avLst/>
          </a:prstGeom>
          <a:noFill/>
        </p:spPr>
        <p:txBody>
          <a:bodyPr wrap="square">
            <a:spAutoFit/>
          </a:bodyPr>
          <a:lstStyle/>
          <a:p>
            <a:r>
              <a:rPr lang="it-IT" b="0" i="0" dirty="0">
                <a:solidFill>
                  <a:srgbClr val="050E17"/>
                </a:solidFill>
                <a:effectLst/>
                <a:latin typeface="-apple-system"/>
              </a:rPr>
              <a:t>Per istanziare una classe, devi utilizzare l'operatore "new" seguito dal nome della classe e dalle parentesi tonde che possono contenere eventuali argomenti necessari per il costruttore della classe. </a:t>
            </a:r>
            <a:endParaRPr lang="it-IT" dirty="0"/>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a:t>
            </a:r>
            <a:r>
              <a:rPr lang="it-IT" b="0" i="0" dirty="0">
                <a:solidFill>
                  <a:srgbClr val="050E17"/>
                </a:solidFill>
                <a:effectLst/>
                <a:latin typeface="-apple-system"/>
              </a:rPr>
              <a:t>campi dinamiche/i, si deve istanziarla o inizializzarla per utilizzarla nel tuo codice.</a:t>
            </a:r>
            <a:endParaRPr lang="it-IT" dirty="0"/>
          </a:p>
        </p:txBody>
      </p:sp>
    </p:spTree>
    <p:extLst>
      <p:ext uri="{BB962C8B-B14F-4D97-AF65-F5344CB8AC3E}">
        <p14:creationId xmlns:p14="http://schemas.microsoft.com/office/powerpoint/2010/main" val="581833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7" name="CasellaDiTesto 6">
            <a:extLst>
              <a:ext uri="{FF2B5EF4-FFF2-40B4-BE49-F238E27FC236}">
                <a16:creationId xmlns:a16="http://schemas.microsoft.com/office/drawing/2014/main" id="{3F88686B-3502-30D9-4E44-A3FB98B1D085}"/>
              </a:ext>
            </a:extLst>
          </p:cNvPr>
          <p:cNvSpPr txBox="1"/>
          <p:nvPr/>
        </p:nvSpPr>
        <p:spPr>
          <a:xfrm>
            <a:off x="3775505" y="1673782"/>
            <a:ext cx="6094562" cy="1200329"/>
          </a:xfrm>
          <a:prstGeom prst="rect">
            <a:avLst/>
          </a:prstGeom>
          <a:noFill/>
        </p:spPr>
        <p:txBody>
          <a:bodyPr wrap="square">
            <a:spAutoFit/>
          </a:bodyPr>
          <a:lstStyle/>
          <a:p>
            <a:r>
              <a:rPr lang="it-IT" b="0" i="0" dirty="0">
                <a:solidFill>
                  <a:srgbClr val="050E17"/>
                </a:solidFill>
                <a:effectLst/>
                <a:latin typeface="-apple-system"/>
              </a:rPr>
              <a:t>Per istanziare una classe, devi utilizzare l'operatore "new" seguito dal nome della classe e dalle parentesi tonde che possono contenere eventuali argomenti necessari per il costruttore della classe. </a:t>
            </a:r>
            <a:endParaRPr lang="it-IT" dirty="0"/>
          </a:p>
        </p:txBody>
      </p:sp>
      <p:sp>
        <p:nvSpPr>
          <p:cNvPr id="9" name="CasellaDiTesto 8">
            <a:extLst>
              <a:ext uri="{FF2B5EF4-FFF2-40B4-BE49-F238E27FC236}">
                <a16:creationId xmlns:a16="http://schemas.microsoft.com/office/drawing/2014/main" id="{09004221-41A9-38EA-4FAD-5425B2998408}"/>
              </a:ext>
            </a:extLst>
          </p:cNvPr>
          <p:cNvSpPr txBox="1"/>
          <p:nvPr/>
        </p:nvSpPr>
        <p:spPr>
          <a:xfrm>
            <a:off x="3775505" y="2781777"/>
            <a:ext cx="6094562" cy="923330"/>
          </a:xfrm>
          <a:prstGeom prst="rect">
            <a:avLst/>
          </a:prstGeom>
          <a:noFill/>
        </p:spPr>
        <p:txBody>
          <a:bodyPr wrap="square">
            <a:spAutoFit/>
          </a:bodyPr>
          <a:lstStyle/>
          <a:p>
            <a:r>
              <a:rPr lang="it-IT" b="0" i="0" dirty="0">
                <a:solidFill>
                  <a:srgbClr val="050E17"/>
                </a:solidFill>
                <a:effectLst/>
                <a:latin typeface="-apple-system"/>
              </a:rPr>
              <a:t>Ad esempio, se hai importato la classe "</a:t>
            </a:r>
            <a:r>
              <a:rPr lang="it-IT" b="0" i="0" dirty="0" err="1">
                <a:solidFill>
                  <a:srgbClr val="050E17"/>
                </a:solidFill>
                <a:effectLst/>
                <a:latin typeface="-apple-system"/>
              </a:rPr>
              <a:t>ArrayList</a:t>
            </a:r>
            <a:r>
              <a:rPr lang="it-IT" b="0" i="0" dirty="0">
                <a:solidFill>
                  <a:srgbClr val="050E17"/>
                </a:solidFill>
                <a:effectLst/>
                <a:latin typeface="-apple-system"/>
              </a:rPr>
              <a:t>" dal pacchetto "</a:t>
            </a:r>
            <a:r>
              <a:rPr lang="it-IT" b="0" i="0" dirty="0" err="1">
                <a:solidFill>
                  <a:srgbClr val="050E17"/>
                </a:solidFill>
                <a:effectLst/>
                <a:latin typeface="-apple-system"/>
              </a:rPr>
              <a:t>java.util</a:t>
            </a:r>
            <a:r>
              <a:rPr lang="it-IT" b="0" i="0" dirty="0">
                <a:solidFill>
                  <a:srgbClr val="050E17"/>
                </a:solidFill>
                <a:effectLst/>
                <a:latin typeface="-apple-system"/>
              </a:rPr>
              <a:t>", puoi istanziare un nuovo oggetto </a:t>
            </a:r>
            <a:r>
              <a:rPr lang="it-IT" b="0" i="0" dirty="0" err="1">
                <a:solidFill>
                  <a:srgbClr val="050E17"/>
                </a:solidFill>
                <a:effectLst/>
                <a:latin typeface="-apple-system"/>
              </a:rPr>
              <a:t>ArrayList</a:t>
            </a:r>
            <a:r>
              <a:rPr lang="it-IT" b="0" i="0" dirty="0">
                <a:solidFill>
                  <a:srgbClr val="050E17"/>
                </a:solidFill>
                <a:effectLst/>
                <a:latin typeface="-apple-system"/>
              </a:rPr>
              <a:t> nel seguente modo:</a:t>
            </a:r>
            <a:endParaRPr lang="it-IT" dirty="0"/>
          </a:p>
        </p:txBody>
      </p:sp>
      <p:sp>
        <p:nvSpPr>
          <p:cNvPr id="10" name="Rectangle 1">
            <a:extLst>
              <a:ext uri="{FF2B5EF4-FFF2-40B4-BE49-F238E27FC236}">
                <a16:creationId xmlns:a16="http://schemas.microsoft.com/office/drawing/2014/main" id="{D938E38F-0667-92B7-659C-D406A89C5C86}"/>
              </a:ext>
            </a:extLst>
          </p:cNvPr>
          <p:cNvSpPr>
            <a:spLocks noChangeArrowheads="1"/>
          </p:cNvSpPr>
          <p:nvPr/>
        </p:nvSpPr>
        <p:spPr bwMode="auto">
          <a:xfrm>
            <a:off x="3873260" y="3652834"/>
            <a:ext cx="5996807"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myList</a:t>
            </a:r>
            <a:r>
              <a:rPr kumimoji="0" lang="it-IT" altLang="it-IT" b="0" i="0" u="none" strike="noStrike" cap="none" normalizeH="0" baseline="0" dirty="0">
                <a:ln>
                  <a:noFill/>
                </a:ln>
                <a:solidFill>
                  <a:srgbClr val="F8F8F2"/>
                </a:solidFill>
                <a:effectLst/>
                <a:latin typeface="Consolas" panose="020B0609020204030204" pitchFamily="49" charset="0"/>
              </a:rPr>
              <a:t> = </a:t>
            </a:r>
            <a:r>
              <a:rPr kumimoji="0" lang="it-IT" altLang="it-IT" b="0" i="0" u="none" strike="noStrike" cap="none" normalizeH="0" baseline="0" dirty="0">
                <a:ln>
                  <a:noFill/>
                </a:ln>
                <a:solidFill>
                  <a:srgbClr val="DCC6E0"/>
                </a:solidFill>
                <a:effectLst/>
                <a:latin typeface="Consolas" panose="020B0609020204030204" pitchFamily="49" charset="0"/>
              </a:rPr>
              <a:t>new</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a:t>
            </a:r>
            <a:r>
              <a:rPr kumimoji="0" lang="it-IT" altLang="it-IT" b="0" i="0" u="none" strike="noStrike" cap="none" normalizeH="0" baseline="0" dirty="0">
                <a:ln>
                  <a:noFill/>
                </a:ln>
                <a:solidFill>
                  <a:schemeClr val="tx1"/>
                </a:solidFill>
                <a:effectLst/>
              </a:rPr>
              <a:t> </a:t>
            </a:r>
            <a:endParaRPr kumimoji="0" lang="it-IT" altLang="it-IT" b="0" i="0" u="none" strike="noStrike" cap="none" normalizeH="0" baseline="0" dirty="0">
              <a:ln>
                <a:noFill/>
              </a:ln>
              <a:solidFill>
                <a:schemeClr val="tx1"/>
              </a:solidFill>
              <a:effectLst/>
              <a:latin typeface="Arial" panose="020B0604020202020204" pitchFamily="34"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a:t>
            </a:r>
            <a:r>
              <a:rPr lang="it-IT" b="0" i="0" dirty="0">
                <a:solidFill>
                  <a:srgbClr val="050E17"/>
                </a:solidFill>
                <a:effectLst/>
                <a:latin typeface="-apple-system"/>
              </a:rPr>
              <a:t>campi dinamiche/i, si deve istanziarla o inizializzarla per utilizzarla nel tuo codice.</a:t>
            </a:r>
            <a:endParaRPr lang="it-IT" dirty="0"/>
          </a:p>
        </p:txBody>
      </p:sp>
    </p:spTree>
    <p:extLst>
      <p:ext uri="{BB962C8B-B14F-4D97-AF65-F5344CB8AC3E}">
        <p14:creationId xmlns:p14="http://schemas.microsoft.com/office/powerpoint/2010/main" val="648523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7" name="CasellaDiTesto 6">
            <a:extLst>
              <a:ext uri="{FF2B5EF4-FFF2-40B4-BE49-F238E27FC236}">
                <a16:creationId xmlns:a16="http://schemas.microsoft.com/office/drawing/2014/main" id="{3F88686B-3502-30D9-4E44-A3FB98B1D085}"/>
              </a:ext>
            </a:extLst>
          </p:cNvPr>
          <p:cNvSpPr txBox="1"/>
          <p:nvPr/>
        </p:nvSpPr>
        <p:spPr>
          <a:xfrm>
            <a:off x="3775505" y="1673782"/>
            <a:ext cx="6094562" cy="1200329"/>
          </a:xfrm>
          <a:prstGeom prst="rect">
            <a:avLst/>
          </a:prstGeom>
          <a:noFill/>
        </p:spPr>
        <p:txBody>
          <a:bodyPr wrap="square">
            <a:spAutoFit/>
          </a:bodyPr>
          <a:lstStyle/>
          <a:p>
            <a:r>
              <a:rPr lang="it-IT" b="0" i="0" dirty="0">
                <a:solidFill>
                  <a:srgbClr val="050E17"/>
                </a:solidFill>
                <a:effectLst/>
                <a:latin typeface="-apple-system"/>
              </a:rPr>
              <a:t>Per istanziare una classe, devi utilizzare l'operatore "new" seguito dal nome della classe e dalle parentesi tonde che possono contenere eventuali argomenti necessari per il costruttore della classe. </a:t>
            </a:r>
            <a:endParaRPr lang="it-IT" dirty="0"/>
          </a:p>
        </p:txBody>
      </p:sp>
      <p:sp>
        <p:nvSpPr>
          <p:cNvPr id="9" name="CasellaDiTesto 8">
            <a:extLst>
              <a:ext uri="{FF2B5EF4-FFF2-40B4-BE49-F238E27FC236}">
                <a16:creationId xmlns:a16="http://schemas.microsoft.com/office/drawing/2014/main" id="{09004221-41A9-38EA-4FAD-5425B2998408}"/>
              </a:ext>
            </a:extLst>
          </p:cNvPr>
          <p:cNvSpPr txBox="1"/>
          <p:nvPr/>
        </p:nvSpPr>
        <p:spPr>
          <a:xfrm>
            <a:off x="3775505" y="2781777"/>
            <a:ext cx="6094562" cy="923330"/>
          </a:xfrm>
          <a:prstGeom prst="rect">
            <a:avLst/>
          </a:prstGeom>
          <a:noFill/>
        </p:spPr>
        <p:txBody>
          <a:bodyPr wrap="square">
            <a:spAutoFit/>
          </a:bodyPr>
          <a:lstStyle/>
          <a:p>
            <a:r>
              <a:rPr lang="it-IT" b="0" i="0" dirty="0">
                <a:solidFill>
                  <a:srgbClr val="050E17"/>
                </a:solidFill>
                <a:effectLst/>
                <a:latin typeface="-apple-system"/>
              </a:rPr>
              <a:t>Ad esempio, se hai importato la classe "</a:t>
            </a:r>
            <a:r>
              <a:rPr lang="it-IT" b="0" i="0" dirty="0" err="1">
                <a:solidFill>
                  <a:srgbClr val="050E17"/>
                </a:solidFill>
                <a:effectLst/>
                <a:latin typeface="-apple-system"/>
              </a:rPr>
              <a:t>ArrayList</a:t>
            </a:r>
            <a:r>
              <a:rPr lang="it-IT" b="0" i="0" dirty="0">
                <a:solidFill>
                  <a:srgbClr val="050E17"/>
                </a:solidFill>
                <a:effectLst/>
                <a:latin typeface="-apple-system"/>
              </a:rPr>
              <a:t>" dal pacchetto "</a:t>
            </a:r>
            <a:r>
              <a:rPr lang="it-IT" b="0" i="0" dirty="0" err="1">
                <a:solidFill>
                  <a:srgbClr val="050E17"/>
                </a:solidFill>
                <a:effectLst/>
                <a:latin typeface="-apple-system"/>
              </a:rPr>
              <a:t>java.util</a:t>
            </a:r>
            <a:r>
              <a:rPr lang="it-IT" b="0" i="0" dirty="0">
                <a:solidFill>
                  <a:srgbClr val="050E17"/>
                </a:solidFill>
                <a:effectLst/>
                <a:latin typeface="-apple-system"/>
              </a:rPr>
              <a:t>", puoi istanziare un nuovo oggetto </a:t>
            </a:r>
            <a:r>
              <a:rPr lang="it-IT" b="0" i="0" dirty="0" err="1">
                <a:solidFill>
                  <a:srgbClr val="050E17"/>
                </a:solidFill>
                <a:effectLst/>
                <a:latin typeface="-apple-system"/>
              </a:rPr>
              <a:t>ArrayList</a:t>
            </a:r>
            <a:r>
              <a:rPr lang="it-IT" b="0" i="0" dirty="0">
                <a:solidFill>
                  <a:srgbClr val="050E17"/>
                </a:solidFill>
                <a:effectLst/>
                <a:latin typeface="-apple-system"/>
              </a:rPr>
              <a:t> nel seguente modo:</a:t>
            </a:r>
            <a:endParaRPr lang="it-IT" dirty="0"/>
          </a:p>
        </p:txBody>
      </p:sp>
      <p:sp>
        <p:nvSpPr>
          <p:cNvPr id="10" name="Rectangle 1">
            <a:extLst>
              <a:ext uri="{FF2B5EF4-FFF2-40B4-BE49-F238E27FC236}">
                <a16:creationId xmlns:a16="http://schemas.microsoft.com/office/drawing/2014/main" id="{D938E38F-0667-92B7-659C-D406A89C5C86}"/>
              </a:ext>
            </a:extLst>
          </p:cNvPr>
          <p:cNvSpPr>
            <a:spLocks noChangeArrowheads="1"/>
          </p:cNvSpPr>
          <p:nvPr/>
        </p:nvSpPr>
        <p:spPr bwMode="auto">
          <a:xfrm>
            <a:off x="3873260" y="3652834"/>
            <a:ext cx="5996807"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myList</a:t>
            </a:r>
            <a:r>
              <a:rPr kumimoji="0" lang="it-IT" altLang="it-IT" b="0" i="0" u="none" strike="noStrike" cap="none" normalizeH="0" baseline="0" dirty="0">
                <a:ln>
                  <a:noFill/>
                </a:ln>
                <a:solidFill>
                  <a:srgbClr val="F8F8F2"/>
                </a:solidFill>
                <a:effectLst/>
                <a:latin typeface="Consolas" panose="020B0609020204030204" pitchFamily="49" charset="0"/>
              </a:rPr>
              <a:t> = </a:t>
            </a:r>
            <a:r>
              <a:rPr kumimoji="0" lang="it-IT" altLang="it-IT" b="0" i="0" u="none" strike="noStrike" cap="none" normalizeH="0" baseline="0" dirty="0">
                <a:ln>
                  <a:noFill/>
                </a:ln>
                <a:solidFill>
                  <a:srgbClr val="DCC6E0"/>
                </a:solidFill>
                <a:effectLst/>
                <a:latin typeface="Consolas" panose="020B0609020204030204" pitchFamily="49" charset="0"/>
              </a:rPr>
              <a:t>new</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a:t>
            </a:r>
            <a:r>
              <a:rPr kumimoji="0" lang="it-IT" altLang="it-IT" b="0" i="0" u="none" strike="noStrike" cap="none" normalizeH="0" baseline="0" dirty="0">
                <a:ln>
                  <a:noFill/>
                </a:ln>
                <a:solidFill>
                  <a:schemeClr val="tx1"/>
                </a:solidFill>
                <a:effectLst/>
              </a:rPr>
              <a:t> </a:t>
            </a:r>
            <a:endParaRPr kumimoji="0" lang="it-IT" altLang="it-IT" b="0" i="0" u="none" strike="noStrike" cap="none" normalizeH="0" baseline="0" dirty="0">
              <a:ln>
                <a:noFill/>
              </a:ln>
              <a:solidFill>
                <a:schemeClr val="tx1"/>
              </a:solidFill>
              <a:effectLst/>
              <a:latin typeface="Arial" panose="020B0604020202020204" pitchFamily="34" charset="0"/>
            </a:endParaRPr>
          </a:p>
        </p:txBody>
      </p:sp>
      <p:sp>
        <p:nvSpPr>
          <p:cNvPr id="17" name="CasellaDiTesto 16">
            <a:extLst>
              <a:ext uri="{FF2B5EF4-FFF2-40B4-BE49-F238E27FC236}">
                <a16:creationId xmlns:a16="http://schemas.microsoft.com/office/drawing/2014/main" id="{7F82B56F-5F16-451F-AC8B-4A990DF915C0}"/>
              </a:ext>
            </a:extLst>
          </p:cNvPr>
          <p:cNvSpPr txBox="1"/>
          <p:nvPr/>
        </p:nvSpPr>
        <p:spPr>
          <a:xfrm>
            <a:off x="3775505" y="3929833"/>
            <a:ext cx="6094562" cy="923330"/>
          </a:xfrm>
          <a:prstGeom prst="rect">
            <a:avLst/>
          </a:prstGeom>
          <a:noFill/>
        </p:spPr>
        <p:txBody>
          <a:bodyPr wrap="square">
            <a:spAutoFit/>
          </a:bodyPr>
          <a:lstStyle/>
          <a:p>
            <a:r>
              <a:rPr lang="it-IT" b="0" i="0" dirty="0">
                <a:solidFill>
                  <a:srgbClr val="050E17"/>
                </a:solidFill>
                <a:effectLst/>
                <a:latin typeface="-apple-system"/>
              </a:rPr>
              <a:t>Quello che si è ottenuto, così, è una variabile molto speciale, chiamata </a:t>
            </a:r>
            <a:r>
              <a:rPr lang="it-IT" b="0" i="0" dirty="0" err="1">
                <a:solidFill>
                  <a:srgbClr val="050E17"/>
                </a:solidFill>
                <a:effectLst/>
                <a:latin typeface="-apple-system"/>
              </a:rPr>
              <a:t>myList</a:t>
            </a:r>
            <a:r>
              <a:rPr lang="it-IT" b="0" i="0" dirty="0">
                <a:solidFill>
                  <a:srgbClr val="050E17"/>
                </a:solidFill>
                <a:effectLst/>
                <a:latin typeface="-apple-system"/>
              </a:rPr>
              <a:t>, che è anche detta oggetto della classe </a:t>
            </a:r>
            <a:r>
              <a:rPr lang="it-IT" b="0" i="0" dirty="0" err="1">
                <a:solidFill>
                  <a:srgbClr val="050E17"/>
                </a:solidFill>
                <a:effectLst/>
                <a:latin typeface="-apple-system"/>
              </a:rPr>
              <a:t>ArrayList</a:t>
            </a:r>
            <a:r>
              <a:rPr lang="it-IT" b="0" i="0" dirty="0">
                <a:solidFill>
                  <a:srgbClr val="050E17"/>
                </a:solidFill>
                <a:effectLst/>
                <a:latin typeface="-apple-system"/>
              </a:rPr>
              <a:t>.</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a:t>
            </a:r>
            <a:r>
              <a:rPr lang="it-IT" b="0" i="0" dirty="0">
                <a:solidFill>
                  <a:srgbClr val="050E17"/>
                </a:solidFill>
                <a:effectLst/>
                <a:latin typeface="-apple-system"/>
              </a:rPr>
              <a:t>campi dinamiche/i, si deve istanziarla o inizializzarla per utilizzarla nel tuo codice.</a:t>
            </a:r>
            <a:endParaRPr lang="it-IT" dirty="0"/>
          </a:p>
        </p:txBody>
      </p:sp>
    </p:spTree>
    <p:extLst>
      <p:ext uri="{BB962C8B-B14F-4D97-AF65-F5344CB8AC3E}">
        <p14:creationId xmlns:p14="http://schemas.microsoft.com/office/powerpoint/2010/main" val="1012902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7" name="CasellaDiTesto 6">
            <a:extLst>
              <a:ext uri="{FF2B5EF4-FFF2-40B4-BE49-F238E27FC236}">
                <a16:creationId xmlns:a16="http://schemas.microsoft.com/office/drawing/2014/main" id="{3F88686B-3502-30D9-4E44-A3FB98B1D085}"/>
              </a:ext>
            </a:extLst>
          </p:cNvPr>
          <p:cNvSpPr txBox="1"/>
          <p:nvPr/>
        </p:nvSpPr>
        <p:spPr>
          <a:xfrm>
            <a:off x="3775505" y="1673782"/>
            <a:ext cx="6094562" cy="1200329"/>
          </a:xfrm>
          <a:prstGeom prst="rect">
            <a:avLst/>
          </a:prstGeom>
          <a:noFill/>
        </p:spPr>
        <p:txBody>
          <a:bodyPr wrap="square">
            <a:spAutoFit/>
          </a:bodyPr>
          <a:lstStyle/>
          <a:p>
            <a:r>
              <a:rPr lang="it-IT" b="0" i="0" dirty="0">
                <a:solidFill>
                  <a:srgbClr val="050E17"/>
                </a:solidFill>
                <a:effectLst/>
                <a:latin typeface="-apple-system"/>
              </a:rPr>
              <a:t>Per istanziare una classe, devi utilizzare l'operatore "new" seguito dal nome della classe e dalle parentesi tonde che possono contenere eventuali argomenti necessari per il costruttore della classe. </a:t>
            </a:r>
            <a:endParaRPr lang="it-IT" dirty="0"/>
          </a:p>
        </p:txBody>
      </p:sp>
      <p:sp>
        <p:nvSpPr>
          <p:cNvPr id="9" name="CasellaDiTesto 8">
            <a:extLst>
              <a:ext uri="{FF2B5EF4-FFF2-40B4-BE49-F238E27FC236}">
                <a16:creationId xmlns:a16="http://schemas.microsoft.com/office/drawing/2014/main" id="{09004221-41A9-38EA-4FAD-5425B2998408}"/>
              </a:ext>
            </a:extLst>
          </p:cNvPr>
          <p:cNvSpPr txBox="1"/>
          <p:nvPr/>
        </p:nvSpPr>
        <p:spPr>
          <a:xfrm>
            <a:off x="3775505" y="2781777"/>
            <a:ext cx="6094562" cy="923330"/>
          </a:xfrm>
          <a:prstGeom prst="rect">
            <a:avLst/>
          </a:prstGeom>
          <a:noFill/>
        </p:spPr>
        <p:txBody>
          <a:bodyPr wrap="square">
            <a:spAutoFit/>
          </a:bodyPr>
          <a:lstStyle/>
          <a:p>
            <a:r>
              <a:rPr lang="it-IT" b="0" i="0" dirty="0">
                <a:solidFill>
                  <a:srgbClr val="050E17"/>
                </a:solidFill>
                <a:effectLst/>
                <a:latin typeface="-apple-system"/>
              </a:rPr>
              <a:t>Ad esempio, se hai importato la classe "</a:t>
            </a:r>
            <a:r>
              <a:rPr lang="it-IT" b="0" i="0" dirty="0" err="1">
                <a:solidFill>
                  <a:srgbClr val="050E17"/>
                </a:solidFill>
                <a:effectLst/>
                <a:latin typeface="-apple-system"/>
              </a:rPr>
              <a:t>ArrayList</a:t>
            </a:r>
            <a:r>
              <a:rPr lang="it-IT" b="0" i="0" dirty="0">
                <a:solidFill>
                  <a:srgbClr val="050E17"/>
                </a:solidFill>
                <a:effectLst/>
                <a:latin typeface="-apple-system"/>
              </a:rPr>
              <a:t>" dal pacchetto "</a:t>
            </a:r>
            <a:r>
              <a:rPr lang="it-IT" b="0" i="0" dirty="0" err="1">
                <a:solidFill>
                  <a:srgbClr val="050E17"/>
                </a:solidFill>
                <a:effectLst/>
                <a:latin typeface="-apple-system"/>
              </a:rPr>
              <a:t>java.util</a:t>
            </a:r>
            <a:r>
              <a:rPr lang="it-IT" b="0" i="0" dirty="0">
                <a:solidFill>
                  <a:srgbClr val="050E17"/>
                </a:solidFill>
                <a:effectLst/>
                <a:latin typeface="-apple-system"/>
              </a:rPr>
              <a:t>", puoi istanziare un nuovo oggetto </a:t>
            </a:r>
            <a:r>
              <a:rPr lang="it-IT" b="0" i="0" dirty="0" err="1">
                <a:solidFill>
                  <a:srgbClr val="050E17"/>
                </a:solidFill>
                <a:effectLst/>
                <a:latin typeface="-apple-system"/>
              </a:rPr>
              <a:t>ArrayList</a:t>
            </a:r>
            <a:r>
              <a:rPr lang="it-IT" b="0" i="0" dirty="0">
                <a:solidFill>
                  <a:srgbClr val="050E17"/>
                </a:solidFill>
                <a:effectLst/>
                <a:latin typeface="-apple-system"/>
              </a:rPr>
              <a:t> nel seguente modo:</a:t>
            </a:r>
            <a:endParaRPr lang="it-IT" dirty="0"/>
          </a:p>
        </p:txBody>
      </p:sp>
      <p:sp>
        <p:nvSpPr>
          <p:cNvPr id="10" name="Rectangle 1">
            <a:extLst>
              <a:ext uri="{FF2B5EF4-FFF2-40B4-BE49-F238E27FC236}">
                <a16:creationId xmlns:a16="http://schemas.microsoft.com/office/drawing/2014/main" id="{D938E38F-0667-92B7-659C-D406A89C5C86}"/>
              </a:ext>
            </a:extLst>
          </p:cNvPr>
          <p:cNvSpPr>
            <a:spLocks noChangeArrowheads="1"/>
          </p:cNvSpPr>
          <p:nvPr/>
        </p:nvSpPr>
        <p:spPr bwMode="auto">
          <a:xfrm>
            <a:off x="3873260" y="3652834"/>
            <a:ext cx="5996807"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myList</a:t>
            </a:r>
            <a:r>
              <a:rPr kumimoji="0" lang="it-IT" altLang="it-IT" b="0" i="0" u="none" strike="noStrike" cap="none" normalizeH="0" baseline="0" dirty="0">
                <a:ln>
                  <a:noFill/>
                </a:ln>
                <a:solidFill>
                  <a:srgbClr val="F8F8F2"/>
                </a:solidFill>
                <a:effectLst/>
                <a:latin typeface="Consolas" panose="020B0609020204030204" pitchFamily="49" charset="0"/>
              </a:rPr>
              <a:t> = </a:t>
            </a:r>
            <a:r>
              <a:rPr kumimoji="0" lang="it-IT" altLang="it-IT" b="0" i="0" u="none" strike="noStrike" cap="none" normalizeH="0" baseline="0" dirty="0">
                <a:ln>
                  <a:noFill/>
                </a:ln>
                <a:solidFill>
                  <a:srgbClr val="DCC6E0"/>
                </a:solidFill>
                <a:effectLst/>
                <a:latin typeface="Consolas" panose="020B0609020204030204" pitchFamily="49" charset="0"/>
              </a:rPr>
              <a:t>new</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a:t>
            </a:r>
            <a:r>
              <a:rPr kumimoji="0" lang="it-IT" altLang="it-IT" b="0" i="0" u="none" strike="noStrike" cap="none" normalizeH="0" baseline="0" dirty="0">
                <a:ln>
                  <a:noFill/>
                </a:ln>
                <a:solidFill>
                  <a:schemeClr val="tx1"/>
                </a:solidFill>
                <a:effectLst/>
              </a:rPr>
              <a:t> </a:t>
            </a:r>
            <a:endParaRPr kumimoji="0" lang="it-IT" altLang="it-IT" b="0" i="0" u="none" strike="noStrike" cap="none" normalizeH="0" baseline="0" dirty="0">
              <a:ln>
                <a:noFill/>
              </a:ln>
              <a:solidFill>
                <a:schemeClr val="tx1"/>
              </a:solidFill>
              <a:effectLst/>
              <a:latin typeface="Arial" panose="020B0604020202020204" pitchFamily="34" charset="0"/>
            </a:endParaRPr>
          </a:p>
        </p:txBody>
      </p:sp>
      <p:sp>
        <p:nvSpPr>
          <p:cNvPr id="17" name="CasellaDiTesto 16">
            <a:extLst>
              <a:ext uri="{FF2B5EF4-FFF2-40B4-BE49-F238E27FC236}">
                <a16:creationId xmlns:a16="http://schemas.microsoft.com/office/drawing/2014/main" id="{7F82B56F-5F16-451F-AC8B-4A990DF915C0}"/>
              </a:ext>
            </a:extLst>
          </p:cNvPr>
          <p:cNvSpPr txBox="1"/>
          <p:nvPr/>
        </p:nvSpPr>
        <p:spPr>
          <a:xfrm>
            <a:off x="3775505" y="3929833"/>
            <a:ext cx="6094562" cy="2031325"/>
          </a:xfrm>
          <a:prstGeom prst="rect">
            <a:avLst/>
          </a:prstGeom>
          <a:noFill/>
        </p:spPr>
        <p:txBody>
          <a:bodyPr wrap="square">
            <a:spAutoFit/>
          </a:bodyPr>
          <a:lstStyle/>
          <a:p>
            <a:r>
              <a:rPr lang="it-IT" b="0" i="0" dirty="0">
                <a:solidFill>
                  <a:srgbClr val="050E17"/>
                </a:solidFill>
                <a:effectLst/>
                <a:latin typeface="-apple-system"/>
              </a:rPr>
              <a:t>Quello che si è ottenuto, così, è una variabile molto speciale, chiamata </a:t>
            </a:r>
            <a:r>
              <a:rPr lang="it-IT" b="0" i="0" dirty="0" err="1">
                <a:solidFill>
                  <a:srgbClr val="050E17"/>
                </a:solidFill>
                <a:effectLst/>
                <a:latin typeface="-apple-system"/>
              </a:rPr>
              <a:t>myList</a:t>
            </a:r>
            <a:r>
              <a:rPr lang="it-IT" b="0" i="0" dirty="0">
                <a:solidFill>
                  <a:srgbClr val="050E17"/>
                </a:solidFill>
                <a:effectLst/>
                <a:latin typeface="-apple-system"/>
              </a:rPr>
              <a:t>, che è anche detta oggetto della classe </a:t>
            </a:r>
            <a:r>
              <a:rPr lang="it-IT" b="0" i="0" dirty="0" err="1">
                <a:solidFill>
                  <a:srgbClr val="050E17"/>
                </a:solidFill>
                <a:effectLst/>
                <a:latin typeface="-apple-system"/>
              </a:rPr>
              <a:t>ArrayList</a:t>
            </a:r>
            <a:r>
              <a:rPr lang="it-IT" b="0" i="0" dirty="0">
                <a:solidFill>
                  <a:srgbClr val="050E17"/>
                </a:solidFill>
                <a:effectLst/>
                <a:latin typeface="-apple-system"/>
              </a:rPr>
              <a:t>.</a:t>
            </a:r>
          </a:p>
          <a:p>
            <a:r>
              <a:rPr lang="it-IT" dirty="0">
                <a:solidFill>
                  <a:srgbClr val="050E17"/>
                </a:solidFill>
                <a:latin typeface="-apple-system"/>
              </a:rPr>
              <a:t>Questa variabile, come si vedrà, può contenere </a:t>
            </a:r>
            <a:r>
              <a:rPr lang="it-IT">
                <a:solidFill>
                  <a:srgbClr val="050E17"/>
                </a:solidFill>
                <a:latin typeface="-apple-system"/>
              </a:rPr>
              <a:t>delle proprietà/</a:t>
            </a:r>
            <a:r>
              <a:rPr lang="it-IT" dirty="0">
                <a:solidFill>
                  <a:srgbClr val="050E17"/>
                </a:solidFill>
                <a:latin typeface="-apple-system"/>
              </a:rPr>
              <a:t>campi o </a:t>
            </a:r>
            <a:r>
              <a:rPr lang="it-IT" dirty="0" err="1">
                <a:solidFill>
                  <a:srgbClr val="050E17"/>
                </a:solidFill>
                <a:latin typeface="-apple-system"/>
              </a:rPr>
              <a:t>sottovariabili</a:t>
            </a:r>
            <a:r>
              <a:rPr lang="it-IT" dirty="0">
                <a:solidFill>
                  <a:srgbClr val="050E17"/>
                </a:solidFill>
                <a:latin typeface="-apple-system"/>
              </a:rPr>
              <a:t> e dei metodi o funzioni e queste cose si potranno usare invocandole attraverso la variabile creata.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a:t>
            </a:r>
            <a:r>
              <a:rPr lang="it-IT" b="0" i="0" dirty="0">
                <a:solidFill>
                  <a:srgbClr val="050E17"/>
                </a:solidFill>
                <a:effectLst/>
                <a:latin typeface="-apple-system"/>
              </a:rPr>
              <a:t>campi dinamiche/i, si deve istanziarla o inizializzarla per utilizzarla nel tuo codice.</a:t>
            </a:r>
            <a:endParaRPr lang="it-IT" dirty="0"/>
          </a:p>
        </p:txBody>
      </p:sp>
    </p:spTree>
    <p:extLst>
      <p:ext uri="{BB962C8B-B14F-4D97-AF65-F5344CB8AC3E}">
        <p14:creationId xmlns:p14="http://schemas.microsoft.com/office/powerpoint/2010/main" val="1149616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7" name="CasellaDiTesto 6">
            <a:extLst>
              <a:ext uri="{FF2B5EF4-FFF2-40B4-BE49-F238E27FC236}">
                <a16:creationId xmlns:a16="http://schemas.microsoft.com/office/drawing/2014/main" id="{3F88686B-3502-30D9-4E44-A3FB98B1D085}"/>
              </a:ext>
            </a:extLst>
          </p:cNvPr>
          <p:cNvSpPr txBox="1"/>
          <p:nvPr/>
        </p:nvSpPr>
        <p:spPr>
          <a:xfrm>
            <a:off x="3775505" y="1673782"/>
            <a:ext cx="6094562" cy="1200329"/>
          </a:xfrm>
          <a:prstGeom prst="rect">
            <a:avLst/>
          </a:prstGeom>
          <a:noFill/>
        </p:spPr>
        <p:txBody>
          <a:bodyPr wrap="square">
            <a:spAutoFit/>
          </a:bodyPr>
          <a:lstStyle/>
          <a:p>
            <a:r>
              <a:rPr lang="it-IT" b="0" i="0" dirty="0">
                <a:solidFill>
                  <a:srgbClr val="050E17"/>
                </a:solidFill>
                <a:effectLst/>
                <a:latin typeface="-apple-system"/>
              </a:rPr>
              <a:t>Per istanziare una classe, devi utilizzare l'operatore "new" seguito dal nome della classe e dalle parentesi tonde che possono contenere eventuali argomenti necessari per il costruttore della classe. </a:t>
            </a:r>
            <a:endParaRPr lang="it-IT" dirty="0"/>
          </a:p>
        </p:txBody>
      </p:sp>
      <p:sp>
        <p:nvSpPr>
          <p:cNvPr id="9" name="CasellaDiTesto 8">
            <a:extLst>
              <a:ext uri="{FF2B5EF4-FFF2-40B4-BE49-F238E27FC236}">
                <a16:creationId xmlns:a16="http://schemas.microsoft.com/office/drawing/2014/main" id="{09004221-41A9-38EA-4FAD-5425B2998408}"/>
              </a:ext>
            </a:extLst>
          </p:cNvPr>
          <p:cNvSpPr txBox="1"/>
          <p:nvPr/>
        </p:nvSpPr>
        <p:spPr>
          <a:xfrm>
            <a:off x="3775505" y="2781777"/>
            <a:ext cx="6094562" cy="923330"/>
          </a:xfrm>
          <a:prstGeom prst="rect">
            <a:avLst/>
          </a:prstGeom>
          <a:noFill/>
        </p:spPr>
        <p:txBody>
          <a:bodyPr wrap="square">
            <a:spAutoFit/>
          </a:bodyPr>
          <a:lstStyle/>
          <a:p>
            <a:r>
              <a:rPr lang="it-IT" b="0" i="0" dirty="0">
                <a:solidFill>
                  <a:srgbClr val="050E17"/>
                </a:solidFill>
                <a:effectLst/>
                <a:latin typeface="-apple-system"/>
              </a:rPr>
              <a:t>Ad esempio, se hai importato la classe "</a:t>
            </a:r>
            <a:r>
              <a:rPr lang="it-IT" b="0" i="0" dirty="0" err="1">
                <a:solidFill>
                  <a:srgbClr val="050E17"/>
                </a:solidFill>
                <a:effectLst/>
                <a:latin typeface="-apple-system"/>
              </a:rPr>
              <a:t>ArrayList</a:t>
            </a:r>
            <a:r>
              <a:rPr lang="it-IT" b="0" i="0" dirty="0">
                <a:solidFill>
                  <a:srgbClr val="050E17"/>
                </a:solidFill>
                <a:effectLst/>
                <a:latin typeface="-apple-system"/>
              </a:rPr>
              <a:t>" dal pacchetto "</a:t>
            </a:r>
            <a:r>
              <a:rPr lang="it-IT" b="0" i="0" dirty="0" err="1">
                <a:solidFill>
                  <a:srgbClr val="050E17"/>
                </a:solidFill>
                <a:effectLst/>
                <a:latin typeface="-apple-system"/>
              </a:rPr>
              <a:t>java.util</a:t>
            </a:r>
            <a:r>
              <a:rPr lang="it-IT" b="0" i="0" dirty="0">
                <a:solidFill>
                  <a:srgbClr val="050E17"/>
                </a:solidFill>
                <a:effectLst/>
                <a:latin typeface="-apple-system"/>
              </a:rPr>
              <a:t>", puoi istanziare un nuovo oggetto </a:t>
            </a:r>
            <a:r>
              <a:rPr lang="it-IT" b="0" i="0" dirty="0" err="1">
                <a:solidFill>
                  <a:srgbClr val="050E17"/>
                </a:solidFill>
                <a:effectLst/>
                <a:latin typeface="-apple-system"/>
              </a:rPr>
              <a:t>ArrayList</a:t>
            </a:r>
            <a:r>
              <a:rPr lang="it-IT" b="0" i="0" dirty="0">
                <a:solidFill>
                  <a:srgbClr val="050E17"/>
                </a:solidFill>
                <a:effectLst/>
                <a:latin typeface="-apple-system"/>
              </a:rPr>
              <a:t> nel seguente modo:</a:t>
            </a:r>
            <a:endParaRPr lang="it-IT" dirty="0"/>
          </a:p>
        </p:txBody>
      </p:sp>
      <p:sp>
        <p:nvSpPr>
          <p:cNvPr id="10" name="Rectangle 1">
            <a:extLst>
              <a:ext uri="{FF2B5EF4-FFF2-40B4-BE49-F238E27FC236}">
                <a16:creationId xmlns:a16="http://schemas.microsoft.com/office/drawing/2014/main" id="{D938E38F-0667-92B7-659C-D406A89C5C86}"/>
              </a:ext>
            </a:extLst>
          </p:cNvPr>
          <p:cNvSpPr>
            <a:spLocks noChangeArrowheads="1"/>
          </p:cNvSpPr>
          <p:nvPr/>
        </p:nvSpPr>
        <p:spPr bwMode="auto">
          <a:xfrm>
            <a:off x="3873260" y="3652834"/>
            <a:ext cx="5996807"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myList</a:t>
            </a:r>
            <a:r>
              <a:rPr kumimoji="0" lang="it-IT" altLang="it-IT" b="0" i="0" u="none" strike="noStrike" cap="none" normalizeH="0" baseline="0" dirty="0">
                <a:ln>
                  <a:noFill/>
                </a:ln>
                <a:solidFill>
                  <a:srgbClr val="F8F8F2"/>
                </a:solidFill>
                <a:effectLst/>
                <a:latin typeface="Consolas" panose="020B0609020204030204" pitchFamily="49" charset="0"/>
              </a:rPr>
              <a:t> = </a:t>
            </a:r>
            <a:r>
              <a:rPr kumimoji="0" lang="it-IT" altLang="it-IT" b="0" i="0" u="none" strike="noStrike" cap="none" normalizeH="0" baseline="0" dirty="0">
                <a:ln>
                  <a:noFill/>
                </a:ln>
                <a:solidFill>
                  <a:srgbClr val="DCC6E0"/>
                </a:solidFill>
                <a:effectLst/>
                <a:latin typeface="Consolas" panose="020B0609020204030204" pitchFamily="49" charset="0"/>
              </a:rPr>
              <a:t>new</a:t>
            </a:r>
            <a:r>
              <a:rPr kumimoji="0" lang="it-IT" altLang="it-IT" b="0" i="0" u="none" strike="noStrike" cap="none" normalizeH="0" baseline="0" dirty="0">
                <a:ln>
                  <a:noFill/>
                </a:ln>
                <a:solidFill>
                  <a:srgbClr val="F8F8F2"/>
                </a:solidFill>
                <a:effectLst/>
                <a:latin typeface="Consolas" panose="020B0609020204030204" pitchFamily="49" charset="0"/>
              </a:rPr>
              <a:t> </a:t>
            </a:r>
            <a:r>
              <a:rPr kumimoji="0" lang="it-IT" altLang="it-IT" b="0" i="0" u="none" strike="noStrike" cap="none" normalizeH="0" baseline="0" dirty="0" err="1">
                <a:ln>
                  <a:noFill/>
                </a:ln>
                <a:solidFill>
                  <a:srgbClr val="F8F8F2"/>
                </a:solidFill>
                <a:effectLst/>
                <a:latin typeface="Consolas" panose="020B0609020204030204" pitchFamily="49" charset="0"/>
              </a:rPr>
              <a:t>ArrayList</a:t>
            </a:r>
            <a:r>
              <a:rPr kumimoji="0" lang="it-IT" altLang="it-IT" b="0" i="0" u="none" strike="noStrike" cap="none" normalizeH="0" baseline="0" dirty="0">
                <a:ln>
                  <a:noFill/>
                </a:ln>
                <a:solidFill>
                  <a:srgbClr val="F8F8F2"/>
                </a:solidFill>
                <a:effectLst/>
                <a:latin typeface="Consolas" panose="020B0609020204030204" pitchFamily="49" charset="0"/>
              </a:rPr>
              <a:t>();</a:t>
            </a:r>
            <a:r>
              <a:rPr kumimoji="0" lang="it-IT" altLang="it-IT" b="0" i="0" u="none" strike="noStrike" cap="none" normalizeH="0" baseline="0" dirty="0">
                <a:ln>
                  <a:noFill/>
                </a:ln>
                <a:solidFill>
                  <a:schemeClr val="tx1"/>
                </a:solidFill>
                <a:effectLst/>
              </a:rPr>
              <a:t> </a:t>
            </a:r>
            <a:endParaRPr kumimoji="0" lang="it-IT" altLang="it-IT" b="0" i="0" u="none" strike="noStrike" cap="none" normalizeH="0" baseline="0" dirty="0">
              <a:ln>
                <a:noFill/>
              </a:ln>
              <a:solidFill>
                <a:schemeClr val="tx1"/>
              </a:solidFill>
              <a:effectLst/>
              <a:latin typeface="Arial" panose="020B0604020202020204" pitchFamily="34" charset="0"/>
            </a:endParaRPr>
          </a:p>
        </p:txBody>
      </p:sp>
      <p:sp>
        <p:nvSpPr>
          <p:cNvPr id="17" name="CasellaDiTesto 16">
            <a:extLst>
              <a:ext uri="{FF2B5EF4-FFF2-40B4-BE49-F238E27FC236}">
                <a16:creationId xmlns:a16="http://schemas.microsoft.com/office/drawing/2014/main" id="{7F82B56F-5F16-451F-AC8B-4A990DF915C0}"/>
              </a:ext>
            </a:extLst>
          </p:cNvPr>
          <p:cNvSpPr txBox="1"/>
          <p:nvPr/>
        </p:nvSpPr>
        <p:spPr>
          <a:xfrm>
            <a:off x="3775505" y="3929833"/>
            <a:ext cx="6094562" cy="2862322"/>
          </a:xfrm>
          <a:prstGeom prst="rect">
            <a:avLst/>
          </a:prstGeom>
          <a:noFill/>
        </p:spPr>
        <p:txBody>
          <a:bodyPr wrap="square">
            <a:spAutoFit/>
          </a:bodyPr>
          <a:lstStyle/>
          <a:p>
            <a:r>
              <a:rPr lang="it-IT" b="0" i="0" dirty="0">
                <a:solidFill>
                  <a:srgbClr val="050E17"/>
                </a:solidFill>
                <a:effectLst/>
                <a:latin typeface="-apple-system"/>
              </a:rPr>
              <a:t>Quello che si è ottenuto, così, è una variabile molto speciale, chiamata </a:t>
            </a:r>
            <a:r>
              <a:rPr lang="it-IT" b="0" i="0" dirty="0" err="1">
                <a:solidFill>
                  <a:srgbClr val="050E17"/>
                </a:solidFill>
                <a:effectLst/>
                <a:latin typeface="-apple-system"/>
              </a:rPr>
              <a:t>myList</a:t>
            </a:r>
            <a:r>
              <a:rPr lang="it-IT" b="0" i="0" dirty="0">
                <a:solidFill>
                  <a:srgbClr val="050E17"/>
                </a:solidFill>
                <a:effectLst/>
                <a:latin typeface="-apple-system"/>
              </a:rPr>
              <a:t>, che è anche detta oggetto della classe </a:t>
            </a:r>
            <a:r>
              <a:rPr lang="it-IT" b="0" i="0" dirty="0" err="1">
                <a:solidFill>
                  <a:srgbClr val="050E17"/>
                </a:solidFill>
                <a:effectLst/>
                <a:latin typeface="-apple-system"/>
              </a:rPr>
              <a:t>ArrayList</a:t>
            </a:r>
            <a:r>
              <a:rPr lang="it-IT" b="0" i="0" dirty="0">
                <a:solidFill>
                  <a:srgbClr val="050E17"/>
                </a:solidFill>
                <a:effectLst/>
                <a:latin typeface="-apple-system"/>
              </a:rPr>
              <a:t>.</a:t>
            </a:r>
          </a:p>
          <a:p>
            <a:r>
              <a:rPr lang="it-IT" dirty="0">
                <a:solidFill>
                  <a:srgbClr val="050E17"/>
                </a:solidFill>
                <a:latin typeface="-apple-system"/>
              </a:rPr>
              <a:t>Questa variabile, come già detto e come vedrà meglio, può contenere </a:t>
            </a:r>
            <a:r>
              <a:rPr lang="it-IT">
                <a:solidFill>
                  <a:srgbClr val="050E17"/>
                </a:solidFill>
                <a:latin typeface="-apple-system"/>
              </a:rPr>
              <a:t>delle proprietà/</a:t>
            </a:r>
            <a:r>
              <a:rPr lang="it-IT" dirty="0">
                <a:solidFill>
                  <a:srgbClr val="050E17"/>
                </a:solidFill>
                <a:latin typeface="-apple-system"/>
              </a:rPr>
              <a:t>campi o </a:t>
            </a:r>
            <a:r>
              <a:rPr lang="it-IT" dirty="0" err="1">
                <a:solidFill>
                  <a:srgbClr val="050E17"/>
                </a:solidFill>
                <a:latin typeface="-apple-system"/>
              </a:rPr>
              <a:t>sottovariabili</a:t>
            </a:r>
            <a:r>
              <a:rPr lang="it-IT" dirty="0">
                <a:solidFill>
                  <a:srgbClr val="050E17"/>
                </a:solidFill>
                <a:latin typeface="-apple-system"/>
              </a:rPr>
              <a:t> e dei metodi o funzioni e queste cose si potranno usare invocandole attraverso la variabile creata. Quindi quando ci dovesse servire l’utilizzo di una specifica funzionalità che può fornire un oggetto del tipo </a:t>
            </a:r>
            <a:r>
              <a:rPr lang="it-IT" dirty="0" err="1">
                <a:solidFill>
                  <a:srgbClr val="050E17"/>
                </a:solidFill>
                <a:latin typeface="-apple-system"/>
              </a:rPr>
              <a:t>ArrayList</a:t>
            </a:r>
            <a:r>
              <a:rPr lang="it-IT" dirty="0">
                <a:solidFill>
                  <a:srgbClr val="050E17"/>
                </a:solidFill>
                <a:latin typeface="-apple-system"/>
              </a:rPr>
              <a:t> potremo istanziarlo in questo modo e poi usare la variabile/oggetto prodotta per invocare metodi e/</a:t>
            </a:r>
            <a:r>
              <a:rPr lang="it-IT">
                <a:solidFill>
                  <a:srgbClr val="050E17"/>
                </a:solidFill>
                <a:latin typeface="-apple-system"/>
              </a:rPr>
              <a:t>o proprietà.</a:t>
            </a:r>
            <a:endParaRPr lang="it-IT" dirty="0"/>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5" y="467234"/>
            <a:ext cx="5679046"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a:t>
            </a:r>
            <a:r>
              <a:rPr lang="it-IT" b="1" i="0" u="sng" dirty="0" err="1">
                <a:solidFill>
                  <a:srgbClr val="050E17"/>
                </a:solidFill>
                <a:effectLst/>
                <a:latin typeface="-apple-system"/>
              </a:rPr>
              <a:t>istanziamento</a:t>
            </a:r>
            <a:endParaRPr lang="it-IT" b="1" i="0" u="sng" dirty="0">
              <a:solidFill>
                <a:srgbClr val="050E17"/>
              </a:solidFill>
              <a:effectLst/>
              <a:latin typeface="-apple-system"/>
            </a:endParaRPr>
          </a:p>
        </p:txBody>
      </p:sp>
      <p:sp>
        <p:nvSpPr>
          <p:cNvPr id="22" name="CasellaDiTesto 21">
            <a:extLst>
              <a:ext uri="{FF2B5EF4-FFF2-40B4-BE49-F238E27FC236}">
                <a16:creationId xmlns:a16="http://schemas.microsoft.com/office/drawing/2014/main" id="{A3E8FDE5-87F5-2249-EC7A-406D404FABB9}"/>
              </a:ext>
            </a:extLst>
          </p:cNvPr>
          <p:cNvSpPr txBox="1"/>
          <p:nvPr/>
        </p:nvSpPr>
        <p:spPr>
          <a:xfrm>
            <a:off x="3775505" y="842786"/>
            <a:ext cx="6094562" cy="923330"/>
          </a:xfrm>
          <a:prstGeom prst="rect">
            <a:avLst/>
          </a:prstGeom>
          <a:noFill/>
        </p:spPr>
        <p:txBody>
          <a:bodyPr wrap="square">
            <a:spAutoFit/>
          </a:bodyPr>
          <a:lstStyle/>
          <a:p>
            <a:r>
              <a:rPr lang="it-IT" b="0" i="0" dirty="0">
                <a:solidFill>
                  <a:srgbClr val="050E17"/>
                </a:solidFill>
                <a:effectLst/>
                <a:latin typeface="-apple-system"/>
              </a:rPr>
              <a:t>Una volta importata una classe in Java, della quale si vuole utilizzare metodi </a:t>
            </a:r>
            <a:r>
              <a:rPr lang="it-IT" b="0" i="0">
                <a:solidFill>
                  <a:srgbClr val="050E17"/>
                </a:solidFill>
                <a:effectLst/>
                <a:latin typeface="-apple-system"/>
              </a:rPr>
              <a:t>o proprietà </a:t>
            </a:r>
            <a:r>
              <a:rPr lang="it-IT" b="0" i="0" dirty="0">
                <a:solidFill>
                  <a:srgbClr val="050E17"/>
                </a:solidFill>
                <a:effectLst/>
                <a:latin typeface="-apple-system"/>
              </a:rPr>
              <a:t>dinamiche, si deve istanziarla o inizializzarla per utilizzarla nel tuo codice.</a:t>
            </a:r>
            <a:endParaRPr lang="it-IT" dirty="0"/>
          </a:p>
        </p:txBody>
      </p:sp>
    </p:spTree>
    <p:extLst>
      <p:ext uri="{BB962C8B-B14F-4D97-AF65-F5344CB8AC3E}">
        <p14:creationId xmlns:p14="http://schemas.microsoft.com/office/powerpoint/2010/main" val="113658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3" name="CasellaDiTesto 2">
            <a:extLst>
              <a:ext uri="{FF2B5EF4-FFF2-40B4-BE49-F238E27FC236}">
                <a16:creationId xmlns:a16="http://schemas.microsoft.com/office/drawing/2014/main" id="{387B3294-6E17-1204-90DB-D9ACE47B3DF8}"/>
              </a:ext>
            </a:extLst>
          </p:cNvPr>
          <p:cNvSpPr txBox="1"/>
          <p:nvPr/>
        </p:nvSpPr>
        <p:spPr>
          <a:xfrm>
            <a:off x="1065484" y="2690336"/>
            <a:ext cx="10061032" cy="1477328"/>
          </a:xfrm>
          <a:prstGeom prst="rect">
            <a:avLst/>
          </a:prstGeom>
          <a:noFill/>
        </p:spPr>
        <p:txBody>
          <a:bodyPr wrap="square">
            <a:spAutoFit/>
          </a:bodyPr>
          <a:lstStyle/>
          <a:p>
            <a:pPr algn="ctr"/>
            <a:r>
              <a:rPr lang="it-IT" sz="3000" b="0" i="0" dirty="0">
                <a:solidFill>
                  <a:srgbClr val="050E17"/>
                </a:solidFill>
                <a:effectLst/>
                <a:latin typeface="-apple-system"/>
              </a:rPr>
              <a:t>In alternativa, alcune classi possono avere metodi statici </a:t>
            </a:r>
            <a:r>
              <a:rPr lang="it-IT" sz="3000" b="0" i="0">
                <a:solidFill>
                  <a:srgbClr val="050E17"/>
                </a:solidFill>
                <a:effectLst/>
                <a:latin typeface="-apple-system"/>
              </a:rPr>
              <a:t>o proprietà </a:t>
            </a:r>
            <a:r>
              <a:rPr lang="it-IT" sz="3000" b="0" i="0" dirty="0">
                <a:solidFill>
                  <a:srgbClr val="050E17"/>
                </a:solidFill>
                <a:effectLst/>
                <a:latin typeface="-apple-system"/>
              </a:rPr>
              <a:t>statiche che possono essere utilizzati senza dover istanziare la classe. </a:t>
            </a:r>
            <a:endParaRPr lang="it-IT" sz="3000" dirty="0"/>
          </a:p>
        </p:txBody>
      </p:sp>
    </p:spTree>
    <p:extLst>
      <p:ext uri="{BB962C8B-B14F-4D97-AF65-F5344CB8AC3E}">
        <p14:creationId xmlns:p14="http://schemas.microsoft.com/office/powerpoint/2010/main" val="2932773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3" name="CasellaDiTesto 2">
            <a:extLst>
              <a:ext uri="{FF2B5EF4-FFF2-40B4-BE49-F238E27FC236}">
                <a16:creationId xmlns:a16="http://schemas.microsoft.com/office/drawing/2014/main" id="{387B3294-6E17-1204-90DB-D9ACE47B3DF8}"/>
              </a:ext>
            </a:extLst>
          </p:cNvPr>
          <p:cNvSpPr txBox="1"/>
          <p:nvPr/>
        </p:nvSpPr>
        <p:spPr>
          <a:xfrm>
            <a:off x="1282022" y="2614235"/>
            <a:ext cx="10061032" cy="1938992"/>
          </a:xfrm>
          <a:prstGeom prst="rect">
            <a:avLst/>
          </a:prstGeom>
          <a:noFill/>
        </p:spPr>
        <p:txBody>
          <a:bodyPr wrap="square">
            <a:spAutoFit/>
          </a:bodyPr>
          <a:lstStyle/>
          <a:p>
            <a:pPr algn="ctr"/>
            <a:r>
              <a:rPr lang="it-IT" sz="3000" dirty="0">
                <a:solidFill>
                  <a:srgbClr val="050E17"/>
                </a:solidFill>
                <a:latin typeface="-apple-system"/>
              </a:rPr>
              <a:t>I metodi statici si possono usare semplicemente facendo riferimento alla classe.</a:t>
            </a:r>
            <a:endParaRPr lang="it-IT" sz="3000" b="0" i="0" dirty="0">
              <a:solidFill>
                <a:srgbClr val="050E17"/>
              </a:solidFill>
              <a:effectLst/>
              <a:latin typeface="-apple-system"/>
            </a:endParaRPr>
          </a:p>
          <a:p>
            <a:pPr algn="ctr"/>
            <a:r>
              <a:rPr lang="it-IT" sz="3000" b="0" i="0" dirty="0">
                <a:solidFill>
                  <a:srgbClr val="050E17"/>
                </a:solidFill>
                <a:effectLst/>
                <a:latin typeface="-apple-system"/>
              </a:rPr>
              <a:t>In questo caso, puoi utilizzare il nome della classe seguito dal nome del metodo statico per invocare il metodo. </a:t>
            </a:r>
            <a:endParaRPr lang="it-IT" sz="3000" dirty="0"/>
          </a:p>
        </p:txBody>
      </p:sp>
    </p:spTree>
    <p:extLst>
      <p:ext uri="{BB962C8B-B14F-4D97-AF65-F5344CB8AC3E}">
        <p14:creationId xmlns:p14="http://schemas.microsoft.com/office/powerpoint/2010/main" val="607567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3" name="CasellaDiTesto 2">
            <a:extLst>
              <a:ext uri="{FF2B5EF4-FFF2-40B4-BE49-F238E27FC236}">
                <a16:creationId xmlns:a16="http://schemas.microsoft.com/office/drawing/2014/main" id="{387B3294-6E17-1204-90DB-D9ACE47B3DF8}"/>
              </a:ext>
            </a:extLst>
          </p:cNvPr>
          <p:cNvSpPr txBox="1"/>
          <p:nvPr/>
        </p:nvSpPr>
        <p:spPr>
          <a:xfrm>
            <a:off x="1265216" y="2065738"/>
            <a:ext cx="10061032" cy="1477328"/>
          </a:xfrm>
          <a:prstGeom prst="rect">
            <a:avLst/>
          </a:prstGeom>
          <a:noFill/>
        </p:spPr>
        <p:txBody>
          <a:bodyPr wrap="square">
            <a:spAutoFit/>
          </a:bodyPr>
          <a:lstStyle/>
          <a:p>
            <a:r>
              <a:rPr lang="it-IT" sz="3000" b="0" i="0" dirty="0">
                <a:solidFill>
                  <a:srgbClr val="050E17"/>
                </a:solidFill>
                <a:effectLst/>
                <a:latin typeface="-apple-system"/>
              </a:rPr>
              <a:t>Ad esempio, se hai importato la classe "Math" dal pacchetto "</a:t>
            </a:r>
            <a:r>
              <a:rPr lang="it-IT" sz="3000" b="0" i="0" dirty="0" err="1">
                <a:solidFill>
                  <a:srgbClr val="050E17"/>
                </a:solidFill>
                <a:effectLst/>
                <a:latin typeface="-apple-system"/>
              </a:rPr>
              <a:t>java.lang</a:t>
            </a:r>
            <a:r>
              <a:rPr lang="it-IT" sz="3000" b="0" i="0" dirty="0">
                <a:solidFill>
                  <a:srgbClr val="050E17"/>
                </a:solidFill>
                <a:effectLst/>
                <a:latin typeface="-apple-system"/>
              </a:rPr>
              <a:t>", puoi utilizzare il metodo statico "random()" per generare un numero casuale nel seguente modo:</a:t>
            </a:r>
            <a:endParaRPr lang="it-IT" sz="3000" dirty="0"/>
          </a:p>
        </p:txBody>
      </p:sp>
      <p:sp>
        <p:nvSpPr>
          <p:cNvPr id="5" name="Rectangle 1">
            <a:extLst>
              <a:ext uri="{FF2B5EF4-FFF2-40B4-BE49-F238E27FC236}">
                <a16:creationId xmlns:a16="http://schemas.microsoft.com/office/drawing/2014/main" id="{7BF5E1A9-9D21-267C-A0D1-F5DA00C43347}"/>
              </a:ext>
            </a:extLst>
          </p:cNvPr>
          <p:cNvSpPr>
            <a:spLocks noChangeArrowheads="1"/>
          </p:cNvSpPr>
          <p:nvPr/>
        </p:nvSpPr>
        <p:spPr bwMode="auto">
          <a:xfrm>
            <a:off x="1265216" y="3551261"/>
            <a:ext cx="10061032" cy="46166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3000" b="0" i="0" u="none" strike="noStrike" cap="none" normalizeH="0" baseline="0" dirty="0">
                <a:ln>
                  <a:noFill/>
                </a:ln>
                <a:solidFill>
                  <a:srgbClr val="DCC6E0"/>
                </a:solidFill>
                <a:effectLst/>
                <a:latin typeface="Consolas" panose="020B0609020204030204" pitchFamily="49" charset="0"/>
              </a:rPr>
              <a:t>double</a:t>
            </a:r>
            <a:r>
              <a:rPr kumimoji="0" lang="it-IT" altLang="it-IT" sz="3000" b="0" i="0" u="none" strike="noStrike" cap="none" normalizeH="0" baseline="0" dirty="0">
                <a:ln>
                  <a:noFill/>
                </a:ln>
                <a:solidFill>
                  <a:srgbClr val="F8F8F2"/>
                </a:solidFill>
                <a:effectLst/>
                <a:latin typeface="Consolas" panose="020B0609020204030204" pitchFamily="49" charset="0"/>
              </a:rPr>
              <a:t> </a:t>
            </a:r>
            <a:r>
              <a:rPr kumimoji="0" lang="it-IT" altLang="it-IT" sz="3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3000" b="0" i="0" u="none" strike="noStrike" cap="none" normalizeH="0" baseline="0" dirty="0">
                <a:ln>
                  <a:noFill/>
                </a:ln>
                <a:solidFill>
                  <a:srgbClr val="F8F8F2"/>
                </a:solidFill>
                <a:effectLst/>
                <a:latin typeface="Consolas" panose="020B0609020204030204" pitchFamily="49" charset="0"/>
              </a:rPr>
              <a:t> = </a:t>
            </a:r>
            <a:r>
              <a:rPr kumimoji="0" lang="it-IT" altLang="it-IT" sz="3000" b="0" i="0" u="none" strike="noStrike" cap="none" normalizeH="0" baseline="0" dirty="0" err="1">
                <a:ln>
                  <a:noFill/>
                </a:ln>
                <a:solidFill>
                  <a:srgbClr val="F8F8F2"/>
                </a:solidFill>
                <a:effectLst/>
                <a:latin typeface="Consolas" panose="020B0609020204030204" pitchFamily="49" charset="0"/>
              </a:rPr>
              <a:t>Math.random</a:t>
            </a:r>
            <a:r>
              <a:rPr kumimoji="0" lang="it-IT" altLang="it-IT" sz="3000" b="0" i="0" u="none" strike="noStrike" cap="none" normalizeH="0" baseline="0" dirty="0">
                <a:ln>
                  <a:noFill/>
                </a:ln>
                <a:solidFill>
                  <a:srgbClr val="F8F8F2"/>
                </a:solidFill>
                <a:effectLst/>
                <a:latin typeface="Consolas" panose="020B0609020204030204" pitchFamily="49" charset="0"/>
              </a:rPr>
              <a:t>();</a:t>
            </a:r>
            <a:r>
              <a:rPr kumimoji="0" lang="it-IT" altLang="it-IT" sz="3000" b="0" i="0" u="none" strike="noStrike" cap="none" normalizeH="0" baseline="0" dirty="0">
                <a:ln>
                  <a:noFill/>
                </a:ln>
                <a:solidFill>
                  <a:schemeClr val="tx1"/>
                </a:solidFill>
                <a:effectLst/>
              </a:rPr>
              <a:t> </a:t>
            </a:r>
            <a:endParaRPr kumimoji="0" lang="it-IT" altLang="it-IT" sz="3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1265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90336"/>
            <a:ext cx="10061031" cy="1477328"/>
          </a:xfrm>
          <a:prstGeom prst="rect">
            <a:avLst/>
          </a:prstGeom>
          <a:noFill/>
        </p:spPr>
        <p:txBody>
          <a:bodyPr wrap="square">
            <a:spAutoFit/>
          </a:bodyPr>
          <a:lstStyle/>
          <a:p>
            <a:pPr algn="ctr"/>
            <a:r>
              <a:rPr lang="it-IT" sz="3000" b="0" i="0" dirty="0">
                <a:solidFill>
                  <a:srgbClr val="050E17"/>
                </a:solidFill>
                <a:effectLst/>
                <a:latin typeface="-apple-system"/>
              </a:rPr>
              <a:t>in questo esempio, abbiamo utilizzato il metodo statico "random()" della classe Math per generare un numero casuale compreso tra 0 e 1.</a:t>
            </a:r>
            <a:endParaRPr lang="it-IT" sz="3000" dirty="0">
              <a:solidFill>
                <a:srgbClr val="050E17"/>
              </a:solidFill>
              <a:latin typeface="-apple-system"/>
            </a:endParaRPr>
          </a:p>
        </p:txBody>
      </p:sp>
    </p:spTree>
    <p:extLst>
      <p:ext uri="{BB962C8B-B14F-4D97-AF65-F5344CB8AC3E}">
        <p14:creationId xmlns:p14="http://schemas.microsoft.com/office/powerpoint/2010/main" val="4013553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90336"/>
            <a:ext cx="10061031" cy="1477328"/>
          </a:xfrm>
          <a:prstGeom prst="rect">
            <a:avLst/>
          </a:prstGeom>
          <a:noFill/>
        </p:spPr>
        <p:txBody>
          <a:bodyPr wrap="square">
            <a:spAutoFit/>
          </a:bodyPr>
          <a:lstStyle/>
          <a:p>
            <a:pPr algn="ctr"/>
            <a:r>
              <a:rPr lang="it-IT" sz="3000" b="0" i="0" dirty="0">
                <a:solidFill>
                  <a:srgbClr val="050E17"/>
                </a:solidFill>
                <a:effectLst/>
                <a:latin typeface="-apple-system"/>
              </a:rPr>
              <a:t>In sintesi, una volta importata una classe in Java, devi istanziarla per utilizzare i suoi metodi dinamici o utilizzare i suoi metodi statici per utilizzarla nel tuo codice.</a:t>
            </a:r>
            <a:endParaRPr lang="it-IT" sz="3000" dirty="0">
              <a:solidFill>
                <a:srgbClr val="050E17"/>
              </a:solidFill>
              <a:latin typeface="-apple-system"/>
            </a:endParaRPr>
          </a:p>
        </p:txBody>
      </p:sp>
    </p:spTree>
    <p:extLst>
      <p:ext uri="{BB962C8B-B14F-4D97-AF65-F5344CB8AC3E}">
        <p14:creationId xmlns:p14="http://schemas.microsoft.com/office/powerpoint/2010/main" val="100513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228671"/>
            <a:ext cx="10061031" cy="2400657"/>
          </a:xfrm>
          <a:prstGeom prst="rect">
            <a:avLst/>
          </a:prstGeom>
          <a:noFill/>
        </p:spPr>
        <p:txBody>
          <a:bodyPr wrap="square">
            <a:spAutoFit/>
          </a:bodyPr>
          <a:lstStyle/>
          <a:p>
            <a:pPr algn="ctr"/>
            <a:r>
              <a:rPr lang="it-IT" sz="3000" dirty="0">
                <a:solidFill>
                  <a:srgbClr val="050E17"/>
                </a:solidFill>
                <a:latin typeface="-apple-system"/>
              </a:rPr>
              <a:t>Si è fatto riferimento negli esempi ai metodi, </a:t>
            </a:r>
            <a:r>
              <a:rPr lang="it-IT" sz="3000">
                <a:solidFill>
                  <a:srgbClr val="050E17"/>
                </a:solidFill>
                <a:latin typeface="-apple-system"/>
              </a:rPr>
              <a:t>ma proprietà </a:t>
            </a:r>
            <a:r>
              <a:rPr lang="it-IT" sz="3000" dirty="0">
                <a:solidFill>
                  <a:srgbClr val="050E17"/>
                </a:solidFill>
                <a:latin typeface="-apple-system"/>
              </a:rPr>
              <a:t>non se ne sono esemplificate. Il motivo è che, in realtà, sebbene possibile è improbabile trovare classi dei pacchetti standard in cui sia necessario od addirittura possibile un utilizzo </a:t>
            </a:r>
            <a:r>
              <a:rPr lang="it-IT" sz="3000">
                <a:solidFill>
                  <a:srgbClr val="050E17"/>
                </a:solidFill>
                <a:latin typeface="-apple-system"/>
              </a:rPr>
              <a:t>di proprietà, </a:t>
            </a:r>
            <a:r>
              <a:rPr lang="it-IT" sz="3000" dirty="0">
                <a:solidFill>
                  <a:srgbClr val="050E17"/>
                </a:solidFill>
                <a:latin typeface="-apple-system"/>
              </a:rPr>
              <a:t>invece che metodi. </a:t>
            </a:r>
          </a:p>
        </p:txBody>
      </p:sp>
    </p:spTree>
    <p:extLst>
      <p:ext uri="{BB962C8B-B14F-4D97-AF65-F5344CB8AC3E}">
        <p14:creationId xmlns:p14="http://schemas.microsoft.com/office/powerpoint/2010/main" val="3834077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a:t>
            </a:r>
            <a:r>
              <a:rPr lang="it-IT" b="1" i="0" u="sng">
                <a:solidFill>
                  <a:srgbClr val="050E17"/>
                </a:solidFill>
                <a:effectLst/>
                <a:latin typeface="-apple-system"/>
              </a:rPr>
              <a:t>e proprietà </a:t>
            </a:r>
            <a:r>
              <a:rPr lang="it-IT" b="1" i="0" u="sng" dirty="0">
                <a:solidFill>
                  <a:srgbClr val="050E17"/>
                </a:solidFill>
                <a:effectLst/>
                <a:latin typeface="-apple-system"/>
              </a:rPr>
              <a:t>statici/che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459504"/>
            <a:ext cx="10061031" cy="1938992"/>
          </a:xfrm>
          <a:prstGeom prst="rect">
            <a:avLst/>
          </a:prstGeom>
          <a:noFill/>
        </p:spPr>
        <p:txBody>
          <a:bodyPr wrap="square">
            <a:spAutoFit/>
          </a:bodyPr>
          <a:lstStyle/>
          <a:p>
            <a:pPr algn="ctr"/>
            <a:r>
              <a:rPr lang="it-IT" sz="3000" b="0" i="0" dirty="0">
                <a:solidFill>
                  <a:srgbClr val="050E17"/>
                </a:solidFill>
                <a:effectLst/>
                <a:latin typeface="-apple-system"/>
              </a:rPr>
              <a:t>Come accennato, anche noi realizzeremo classi aggiuntive, che poi potre</a:t>
            </a:r>
            <a:r>
              <a:rPr lang="it-IT" sz="3000" dirty="0">
                <a:solidFill>
                  <a:srgbClr val="050E17"/>
                </a:solidFill>
                <a:latin typeface="-apple-system"/>
              </a:rPr>
              <a:t>mo utilizzare nei nostri programmi; in quei casi la cosa può diventare più frequente (dipende dalle nostre necessità e dal nostro stile di programmazione). </a:t>
            </a:r>
            <a:endParaRPr lang="it-IT" sz="3000" b="0" i="0" dirty="0">
              <a:solidFill>
                <a:srgbClr val="050E17"/>
              </a:solidFill>
              <a:effectLst/>
              <a:latin typeface="-apple-system"/>
            </a:endParaRPr>
          </a:p>
        </p:txBody>
      </p:sp>
    </p:spTree>
    <p:extLst>
      <p:ext uri="{BB962C8B-B14F-4D97-AF65-F5344CB8AC3E}">
        <p14:creationId xmlns:p14="http://schemas.microsoft.com/office/powerpoint/2010/main" val="3134273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Richiamare altre classi del KIT Java</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L’uso generico delle classi importate: metodi e proprietà statici/che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13392"/>
            <a:ext cx="10061031" cy="1631216"/>
          </a:xfrm>
          <a:prstGeom prst="rect">
            <a:avLst/>
          </a:prstGeom>
          <a:noFill/>
        </p:spPr>
        <p:txBody>
          <a:bodyPr wrap="square">
            <a:spAutoFit/>
          </a:bodyPr>
          <a:lstStyle/>
          <a:p>
            <a:pPr algn="ctr"/>
            <a:r>
              <a:rPr lang="it-IT" sz="2500" dirty="0">
                <a:solidFill>
                  <a:srgbClr val="050E17"/>
                </a:solidFill>
                <a:latin typeface="-apple-system"/>
              </a:rPr>
              <a:t>Affronteremo, in maniera più estesa e completa, la scrittura di classi aggiuntive, metodi, </a:t>
            </a:r>
            <a:r>
              <a:rPr lang="it-IT" sz="2500" dirty="0" err="1">
                <a:solidFill>
                  <a:srgbClr val="050E17"/>
                </a:solidFill>
                <a:latin typeface="-apple-system"/>
              </a:rPr>
              <a:t>ecc</a:t>
            </a:r>
            <a:r>
              <a:rPr lang="it-IT" sz="2500" dirty="0">
                <a:solidFill>
                  <a:srgbClr val="050E17"/>
                </a:solidFill>
                <a:latin typeface="-apple-system"/>
              </a:rPr>
              <a:t>… questo accenno, però è utile perché rende l’idea della utilità di quanto ci si accinge ad imparare ed aiuta anche a meglio comprendere quanto seguirà.</a:t>
            </a:r>
            <a:endParaRPr lang="it-IT" sz="2500" b="0" i="0" dirty="0">
              <a:solidFill>
                <a:srgbClr val="050E17"/>
              </a:solidFill>
              <a:effectLst/>
              <a:latin typeface="-apple-system"/>
            </a:endParaRPr>
          </a:p>
        </p:txBody>
      </p:sp>
    </p:spTree>
    <p:extLst>
      <p:ext uri="{BB962C8B-B14F-4D97-AF65-F5344CB8AC3E}">
        <p14:creationId xmlns:p14="http://schemas.microsoft.com/office/powerpoint/2010/main" val="3450423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73692"/>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sz="1800"/>
              <a:t>Alcuni esempi</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6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13392"/>
            <a:ext cx="10061031" cy="1246495"/>
          </a:xfrm>
          <a:prstGeom prst="rect">
            <a:avLst/>
          </a:prstGeom>
          <a:noFill/>
        </p:spPr>
        <p:txBody>
          <a:bodyPr wrap="square">
            <a:spAutoFit/>
          </a:bodyPr>
          <a:lstStyle/>
          <a:p>
            <a:pPr algn="ctr"/>
            <a:r>
              <a:rPr lang="it-IT" sz="2500" dirty="0">
                <a:solidFill>
                  <a:srgbClr val="050E17"/>
                </a:solidFill>
                <a:latin typeface="-apple-system"/>
              </a:rPr>
              <a:t>Per meglio comprendere i meccanismi di cui stiamo parlando svilupperemo un piccolo esempio pratico. </a:t>
            </a:r>
          </a:p>
          <a:p>
            <a:pPr algn="ctr"/>
            <a:r>
              <a:rPr lang="it-IT" sz="2500" dirty="0">
                <a:solidFill>
                  <a:srgbClr val="050E17"/>
                </a:solidFill>
                <a:latin typeface="-apple-system"/>
              </a:rPr>
              <a:t>Andiamo passo </a:t>
            </a:r>
            <a:r>
              <a:rPr lang="it-IT" sz="2500" dirty="0" err="1">
                <a:solidFill>
                  <a:srgbClr val="050E17"/>
                </a:solidFill>
                <a:latin typeface="-apple-system"/>
              </a:rPr>
              <a:t>passo</a:t>
            </a:r>
            <a:r>
              <a:rPr lang="it-IT" sz="2500" dirty="0">
                <a:solidFill>
                  <a:srgbClr val="050E17"/>
                </a:solidFill>
                <a:latin typeface="-apple-system"/>
              </a:rPr>
              <a:t>:</a:t>
            </a:r>
            <a:endParaRPr lang="it-IT" sz="2500" b="0" i="0" dirty="0">
              <a:solidFill>
                <a:srgbClr val="050E17"/>
              </a:solidFill>
              <a:effectLst/>
              <a:latin typeface="-apple-system"/>
            </a:endParaRPr>
          </a:p>
        </p:txBody>
      </p:sp>
    </p:spTree>
    <p:extLst>
      <p:ext uri="{BB962C8B-B14F-4D97-AF65-F5344CB8AC3E}">
        <p14:creationId xmlns:p14="http://schemas.microsoft.com/office/powerpoint/2010/main" val="2333816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13392"/>
            <a:ext cx="10061031" cy="523220"/>
          </a:xfrm>
          <a:prstGeom prst="rect">
            <a:avLst/>
          </a:prstGeom>
          <a:noFill/>
        </p:spPr>
        <p:txBody>
          <a:bodyPr wrap="square">
            <a:spAutoFit/>
          </a:bodyPr>
          <a:lstStyle/>
          <a:p>
            <a:pPr algn="l"/>
            <a:r>
              <a:rPr lang="it-IT" sz="2800" b="0" i="0" dirty="0">
                <a:solidFill>
                  <a:srgbClr val="050E17"/>
                </a:solidFill>
                <a:effectLst/>
                <a:latin typeface="-apple-system"/>
              </a:rPr>
              <a:t>Aprire un editor di testo o un IDE Java come Eclipse o IntelliJ IDEA.</a:t>
            </a:r>
          </a:p>
        </p:txBody>
      </p:sp>
    </p:spTree>
    <p:extLst>
      <p:ext uri="{BB962C8B-B14F-4D97-AF65-F5344CB8AC3E}">
        <p14:creationId xmlns:p14="http://schemas.microsoft.com/office/powerpoint/2010/main" val="2031814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13392"/>
            <a:ext cx="10061031" cy="1815882"/>
          </a:xfrm>
          <a:prstGeom prst="rect">
            <a:avLst/>
          </a:prstGeom>
          <a:noFill/>
        </p:spPr>
        <p:txBody>
          <a:bodyPr wrap="square">
            <a:spAutoFit/>
          </a:bodyPr>
          <a:lstStyle/>
          <a:p>
            <a:pPr algn="ctr"/>
            <a:r>
              <a:rPr lang="it-IT" sz="2800" b="0" i="0" dirty="0">
                <a:solidFill>
                  <a:srgbClr val="050E17"/>
                </a:solidFill>
                <a:effectLst/>
                <a:latin typeface="-apple-system"/>
              </a:rPr>
              <a:t>Creare un nuovo file Java chiamato "RandomNumberGenerator.java". </a:t>
            </a:r>
            <a:br>
              <a:rPr lang="it-IT" sz="2800" b="0" i="0" dirty="0">
                <a:solidFill>
                  <a:srgbClr val="050E17"/>
                </a:solidFill>
                <a:effectLst/>
                <a:latin typeface="-apple-system"/>
              </a:rPr>
            </a:br>
            <a:r>
              <a:rPr lang="it-IT" sz="2800" b="0" i="0" dirty="0">
                <a:solidFill>
                  <a:srgbClr val="050E17"/>
                </a:solidFill>
                <a:effectLst/>
                <a:latin typeface="-apple-system"/>
              </a:rPr>
              <a:t>Si può farlo selezionando "File" -&gt; "Nuovo" -&gt; "File" nell'IDE e scegliendo "Java Class" come tipo di file.</a:t>
            </a:r>
          </a:p>
        </p:txBody>
      </p:sp>
    </p:spTree>
    <p:extLst>
      <p:ext uri="{BB962C8B-B14F-4D97-AF65-F5344CB8AC3E}">
        <p14:creationId xmlns:p14="http://schemas.microsoft.com/office/powerpoint/2010/main" val="600328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1065484" y="2613392"/>
            <a:ext cx="10061031" cy="2246769"/>
          </a:xfrm>
          <a:prstGeom prst="rect">
            <a:avLst/>
          </a:prstGeom>
          <a:noFill/>
        </p:spPr>
        <p:txBody>
          <a:bodyPr wrap="square">
            <a:spAutoFit/>
          </a:bodyPr>
          <a:lstStyle/>
          <a:p>
            <a:pPr algn="ctr"/>
            <a:r>
              <a:rPr lang="it-IT" sz="2800" b="0" i="0" dirty="0">
                <a:solidFill>
                  <a:srgbClr val="050E17"/>
                </a:solidFill>
                <a:effectLst/>
                <a:latin typeface="-apple-system"/>
              </a:rPr>
              <a:t>All'interno del file Java, definire una classe chiamata "</a:t>
            </a:r>
            <a:r>
              <a:rPr lang="it-IT" sz="2800" b="0" i="0" dirty="0" err="1">
                <a:solidFill>
                  <a:srgbClr val="050E17"/>
                </a:solidFill>
                <a:effectLst/>
                <a:latin typeface="-apple-system"/>
              </a:rPr>
              <a:t>RandomNumberGenerator</a:t>
            </a:r>
            <a:r>
              <a:rPr lang="it-IT" sz="2800" b="0" i="0" dirty="0">
                <a:solidFill>
                  <a:srgbClr val="050E17"/>
                </a:solidFill>
                <a:effectLst/>
                <a:latin typeface="-apple-system"/>
              </a:rPr>
              <a:t>" con il metodo statico chiamato "</a:t>
            </a:r>
            <a:r>
              <a:rPr lang="it-IT" sz="2800" b="0" i="0" dirty="0" err="1">
                <a:solidFill>
                  <a:srgbClr val="050E17"/>
                </a:solidFill>
                <a:effectLst/>
                <a:latin typeface="-apple-system"/>
              </a:rPr>
              <a:t>main</a:t>
            </a:r>
            <a:r>
              <a:rPr lang="it-IT" sz="2800" b="0" i="0" dirty="0">
                <a:solidFill>
                  <a:srgbClr val="050E17"/>
                </a:solidFill>
                <a:effectLst/>
                <a:latin typeface="-apple-system"/>
              </a:rPr>
              <a:t>". Il metodo "</a:t>
            </a:r>
            <a:r>
              <a:rPr lang="it-IT" sz="2800" b="0" i="0" dirty="0" err="1">
                <a:solidFill>
                  <a:srgbClr val="050E17"/>
                </a:solidFill>
                <a:effectLst/>
                <a:latin typeface="-apple-system"/>
              </a:rPr>
              <a:t>main</a:t>
            </a:r>
            <a:r>
              <a:rPr lang="it-IT" sz="2800" b="0" i="0" dirty="0">
                <a:solidFill>
                  <a:srgbClr val="050E17"/>
                </a:solidFill>
                <a:effectLst/>
                <a:latin typeface="-apple-system"/>
              </a:rPr>
              <a:t>" (come già accennato) è il punto di ingresso del programma Java e viene eseguito quando il programma viene avviato</a:t>
            </a:r>
          </a:p>
        </p:txBody>
      </p:sp>
    </p:spTree>
    <p:extLst>
      <p:ext uri="{BB962C8B-B14F-4D97-AF65-F5344CB8AC3E}">
        <p14:creationId xmlns:p14="http://schemas.microsoft.com/office/powerpoint/2010/main" val="3932715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3775504" y="1246380"/>
            <a:ext cx="7684575" cy="954107"/>
          </a:xfrm>
          <a:prstGeom prst="rect">
            <a:avLst/>
          </a:prstGeom>
          <a:noFill/>
        </p:spPr>
        <p:txBody>
          <a:bodyPr wrap="square">
            <a:spAutoFit/>
          </a:bodyPr>
          <a:lstStyle/>
          <a:p>
            <a:pPr algn="ctr"/>
            <a:r>
              <a:rPr lang="it-IT" sz="2800" b="0" i="0" dirty="0">
                <a:solidFill>
                  <a:srgbClr val="050E17"/>
                </a:solidFill>
                <a:effectLst/>
                <a:latin typeface="-apple-system"/>
              </a:rPr>
              <a:t>Scriviamo il codice necessario a produrre una classe eseguibile</a:t>
            </a:r>
          </a:p>
        </p:txBody>
      </p:sp>
    </p:spTree>
    <p:extLst>
      <p:ext uri="{BB962C8B-B14F-4D97-AF65-F5344CB8AC3E}">
        <p14:creationId xmlns:p14="http://schemas.microsoft.com/office/powerpoint/2010/main" val="4013661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3775504" y="1246380"/>
            <a:ext cx="7684575" cy="954107"/>
          </a:xfrm>
          <a:prstGeom prst="rect">
            <a:avLst/>
          </a:prstGeom>
          <a:noFill/>
        </p:spPr>
        <p:txBody>
          <a:bodyPr wrap="square">
            <a:spAutoFit/>
          </a:bodyPr>
          <a:lstStyle/>
          <a:p>
            <a:pPr algn="ctr"/>
            <a:r>
              <a:rPr lang="it-IT" sz="2800" b="0" i="0" dirty="0">
                <a:solidFill>
                  <a:srgbClr val="050E17"/>
                </a:solidFill>
                <a:effectLst/>
                <a:latin typeface="-apple-system"/>
              </a:rPr>
              <a:t>Scriviamo il codice necessario a produrre una classe eseguibile</a:t>
            </a:r>
          </a:p>
        </p:txBody>
      </p:sp>
      <p:sp>
        <p:nvSpPr>
          <p:cNvPr id="2" name="Rectangle 1">
            <a:extLst>
              <a:ext uri="{FF2B5EF4-FFF2-40B4-BE49-F238E27FC236}">
                <a16:creationId xmlns:a16="http://schemas.microsoft.com/office/drawing/2014/main" id="{4084F491-79A9-B80D-A1F6-35C32D33F899}"/>
              </a:ext>
            </a:extLst>
          </p:cNvPr>
          <p:cNvSpPr>
            <a:spLocks noChangeArrowheads="1"/>
          </p:cNvSpPr>
          <p:nvPr/>
        </p:nvSpPr>
        <p:spPr bwMode="auto">
          <a:xfrm>
            <a:off x="3775504" y="2437872"/>
            <a:ext cx="6706964" cy="184665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994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main</a:t>
            </a:r>
            <a:r>
              <a:rPr lang="it-IT" b="0" i="0" dirty="0">
                <a:solidFill>
                  <a:srgbClr val="050E17"/>
                </a:solidFill>
                <a:effectLst/>
                <a:latin typeface="-apple-system"/>
              </a:rPr>
              <a:t>", utilizziamo la classe "Math" di Java per generare un numero casuale compreso tra 0 e 1. </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5493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1200329"/>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main</a:t>
            </a:r>
            <a:r>
              <a:rPr lang="it-IT" b="0" i="0" dirty="0">
                <a:solidFill>
                  <a:srgbClr val="050E17"/>
                </a:solidFill>
                <a:effectLst/>
                <a:latin typeface="-apple-system"/>
              </a:rPr>
              <a:t>", utilizziamo la classe "Math" di Java per generare un numero casuale compreso tra 0 e 1. La classe "Math" fornisce un metodo statico chiamato "random()" che restituisce un numero casuale compreso tra 0 e 1</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9983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1200329"/>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main</a:t>
            </a:r>
            <a:r>
              <a:rPr lang="it-IT" b="0" i="0" dirty="0">
                <a:solidFill>
                  <a:srgbClr val="050E17"/>
                </a:solidFill>
                <a:effectLst/>
                <a:latin typeface="-apple-system"/>
              </a:rPr>
              <a:t>", utilizziamo la classe "Math" di Java per generare un numero casuale compreso tra 0 e 1. La classe "Math" fornisce un metodo statico chiamato "random()" che restituisce un numero casuale compreso tra 0 e 1</a:t>
            </a:r>
          </a:p>
        </p:txBody>
      </p:sp>
      <p:sp>
        <p:nvSpPr>
          <p:cNvPr id="2" name="Rectangle 1">
            <a:extLst>
              <a:ext uri="{FF2B5EF4-FFF2-40B4-BE49-F238E27FC236}">
                <a16:creationId xmlns:a16="http://schemas.microsoft.com/office/drawing/2014/main" id="{4084F491-79A9-B80D-A1F6-35C32D33F899}"/>
              </a:ext>
            </a:extLst>
          </p:cNvPr>
          <p:cNvSpPr>
            <a:spLocks noChangeArrowheads="1"/>
          </p:cNvSpPr>
          <p:nvPr/>
        </p:nvSpPr>
        <p:spPr bwMode="auto">
          <a:xfrm>
            <a:off x="4264309" y="2361501"/>
            <a:ext cx="6863766" cy="246221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double</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2000" b="0" i="0" u="none" strike="noStrike" cap="none" normalizeH="0" baseline="0" dirty="0">
                <a:ln>
                  <a:noFill/>
                </a:ln>
                <a:solidFill>
                  <a:srgbClr val="F8F8F2"/>
                </a:solidFill>
                <a:effectLst/>
                <a:latin typeface="Consolas" panose="020B0609020204030204" pitchFamily="49" charset="0"/>
              </a:rPr>
              <a:t> = </a:t>
            </a:r>
            <a:r>
              <a:rPr kumimoji="0" lang="it-IT" altLang="it-IT" sz="2000" b="0" i="0" u="none" strike="noStrike" cap="none" normalizeH="0" baseline="0" dirty="0" err="1">
                <a:ln>
                  <a:noFill/>
                </a:ln>
                <a:solidFill>
                  <a:srgbClr val="F8F8F2"/>
                </a:solidFill>
                <a:effectLst/>
                <a:latin typeface="Consolas" panose="020B0609020204030204" pitchFamily="49" charset="0"/>
              </a:rPr>
              <a:t>Math.random</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5105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1200329"/>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main</a:t>
            </a:r>
            <a:r>
              <a:rPr lang="it-IT" b="0" i="0" dirty="0">
                <a:solidFill>
                  <a:srgbClr val="050E17"/>
                </a:solidFill>
                <a:effectLst/>
                <a:latin typeface="-apple-system"/>
              </a:rPr>
              <a:t>", utilizziamo la classe "Math" di Java per generare un numero casuale compreso tra 0 e 1. La classe "Math" fornisce un metodo statico chiamato "random()" che restituisce un numero casuale compreso tra 0 e 1</a:t>
            </a:r>
          </a:p>
        </p:txBody>
      </p:sp>
      <p:sp>
        <p:nvSpPr>
          <p:cNvPr id="2" name="Rectangle 1">
            <a:extLst>
              <a:ext uri="{FF2B5EF4-FFF2-40B4-BE49-F238E27FC236}">
                <a16:creationId xmlns:a16="http://schemas.microsoft.com/office/drawing/2014/main" id="{4084F491-79A9-B80D-A1F6-35C32D33F899}"/>
              </a:ext>
            </a:extLst>
          </p:cNvPr>
          <p:cNvSpPr>
            <a:spLocks noChangeArrowheads="1"/>
          </p:cNvSpPr>
          <p:nvPr/>
        </p:nvSpPr>
        <p:spPr bwMode="auto">
          <a:xfrm>
            <a:off x="4264309" y="2361501"/>
            <a:ext cx="6863766" cy="246221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double</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2000" b="0" i="0" u="none" strike="noStrike" cap="none" normalizeH="0" baseline="0" dirty="0">
                <a:ln>
                  <a:noFill/>
                </a:ln>
                <a:solidFill>
                  <a:srgbClr val="F8F8F2"/>
                </a:solidFill>
                <a:effectLst/>
                <a:latin typeface="Consolas" panose="020B0609020204030204" pitchFamily="49" charset="0"/>
              </a:rPr>
              <a:t> = </a:t>
            </a:r>
            <a:r>
              <a:rPr kumimoji="0" lang="it-IT" altLang="it-IT" sz="2000" b="0" i="0" u="none" strike="noStrike" cap="none" normalizeH="0" baseline="0" dirty="0" err="1">
                <a:ln>
                  <a:noFill/>
                </a:ln>
                <a:solidFill>
                  <a:srgbClr val="F8F8F2"/>
                </a:solidFill>
                <a:effectLst/>
                <a:latin typeface="Consolas" panose="020B0609020204030204" pitchFamily="49" charset="0"/>
              </a:rPr>
              <a:t>Math.random</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6" name="CasellaDiTesto 5">
            <a:extLst>
              <a:ext uri="{FF2B5EF4-FFF2-40B4-BE49-F238E27FC236}">
                <a16:creationId xmlns:a16="http://schemas.microsoft.com/office/drawing/2014/main" id="{8625D02F-AA23-C8DB-EC43-5D471BE22641}"/>
              </a:ext>
            </a:extLst>
          </p:cNvPr>
          <p:cNvSpPr txBox="1"/>
          <p:nvPr/>
        </p:nvSpPr>
        <p:spPr>
          <a:xfrm>
            <a:off x="4185968" y="4913438"/>
            <a:ext cx="6942107" cy="923330"/>
          </a:xfrm>
          <a:prstGeom prst="rect">
            <a:avLst/>
          </a:prstGeom>
          <a:noFill/>
        </p:spPr>
        <p:txBody>
          <a:bodyPr wrap="square">
            <a:spAutoFit/>
          </a:bodyPr>
          <a:lstStyle/>
          <a:p>
            <a:r>
              <a:rPr lang="it-IT" b="0" i="0" dirty="0">
                <a:solidFill>
                  <a:srgbClr val="050E17"/>
                </a:solidFill>
                <a:effectLst/>
                <a:latin typeface="-apple-system"/>
              </a:rPr>
              <a:t>In questo esempio, abbiamo dichiarato una variabile di tipo "double" chiamata "</a:t>
            </a:r>
            <a:r>
              <a:rPr lang="it-IT" b="0" i="0" dirty="0" err="1">
                <a:solidFill>
                  <a:srgbClr val="050E17"/>
                </a:solidFill>
                <a:effectLst/>
                <a:latin typeface="-apple-system"/>
              </a:rPr>
              <a:t>randomNumber</a:t>
            </a:r>
            <a:r>
              <a:rPr lang="it-IT" b="0" i="0" dirty="0">
                <a:solidFill>
                  <a:srgbClr val="050E17"/>
                </a:solidFill>
                <a:effectLst/>
                <a:latin typeface="-apple-system"/>
              </a:rPr>
              <a:t>" e abbiamo utilizzato il metodo "random()" della classe "Math" per generare un numero casuale compreso tra 0 e 1. </a:t>
            </a:r>
            <a:endParaRPr lang="it-IT" dirty="0"/>
          </a:p>
        </p:txBody>
      </p:sp>
    </p:spTree>
    <p:extLst>
      <p:ext uri="{BB962C8B-B14F-4D97-AF65-F5344CB8AC3E}">
        <p14:creationId xmlns:p14="http://schemas.microsoft.com/office/powerpoint/2010/main" val="1793769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1200329"/>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main</a:t>
            </a:r>
            <a:r>
              <a:rPr lang="it-IT" b="0" i="0" dirty="0">
                <a:solidFill>
                  <a:srgbClr val="050E17"/>
                </a:solidFill>
                <a:effectLst/>
                <a:latin typeface="-apple-system"/>
              </a:rPr>
              <a:t>", utilizziamo la classe "Math" di Java per generare un numero casuale compreso tra 0 e 1. La classe "Math" fornisce un metodo statico chiamato "random()" che restituisce un numero casuale compreso tra 0 e 1</a:t>
            </a:r>
          </a:p>
        </p:txBody>
      </p:sp>
      <p:sp>
        <p:nvSpPr>
          <p:cNvPr id="2" name="Rectangle 1">
            <a:extLst>
              <a:ext uri="{FF2B5EF4-FFF2-40B4-BE49-F238E27FC236}">
                <a16:creationId xmlns:a16="http://schemas.microsoft.com/office/drawing/2014/main" id="{4084F491-79A9-B80D-A1F6-35C32D33F899}"/>
              </a:ext>
            </a:extLst>
          </p:cNvPr>
          <p:cNvSpPr>
            <a:spLocks noChangeArrowheads="1"/>
          </p:cNvSpPr>
          <p:nvPr/>
        </p:nvSpPr>
        <p:spPr bwMode="auto">
          <a:xfrm>
            <a:off x="4264309" y="2361501"/>
            <a:ext cx="6863766" cy="246221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double</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2000" b="0" i="0" u="none" strike="noStrike" cap="none" normalizeH="0" baseline="0" dirty="0">
                <a:ln>
                  <a:noFill/>
                </a:ln>
                <a:solidFill>
                  <a:srgbClr val="F8F8F2"/>
                </a:solidFill>
                <a:effectLst/>
                <a:latin typeface="Consolas" panose="020B0609020204030204" pitchFamily="49" charset="0"/>
              </a:rPr>
              <a:t> = </a:t>
            </a:r>
            <a:r>
              <a:rPr kumimoji="0" lang="it-IT" altLang="it-IT" sz="2000" b="0" i="0" u="none" strike="noStrike" cap="none" normalizeH="0" baseline="0" dirty="0" err="1">
                <a:ln>
                  <a:noFill/>
                </a:ln>
                <a:solidFill>
                  <a:srgbClr val="F8F8F2"/>
                </a:solidFill>
                <a:effectLst/>
                <a:latin typeface="Consolas" panose="020B0609020204030204" pitchFamily="49" charset="0"/>
              </a:rPr>
              <a:t>Math.random</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6" name="CasellaDiTesto 5">
            <a:extLst>
              <a:ext uri="{FF2B5EF4-FFF2-40B4-BE49-F238E27FC236}">
                <a16:creationId xmlns:a16="http://schemas.microsoft.com/office/drawing/2014/main" id="{8625D02F-AA23-C8DB-EC43-5D471BE22641}"/>
              </a:ext>
            </a:extLst>
          </p:cNvPr>
          <p:cNvSpPr txBox="1"/>
          <p:nvPr/>
        </p:nvSpPr>
        <p:spPr>
          <a:xfrm>
            <a:off x="4185968" y="4913438"/>
            <a:ext cx="6942107" cy="1477328"/>
          </a:xfrm>
          <a:prstGeom prst="rect">
            <a:avLst/>
          </a:prstGeom>
          <a:noFill/>
        </p:spPr>
        <p:txBody>
          <a:bodyPr wrap="square">
            <a:spAutoFit/>
          </a:bodyPr>
          <a:lstStyle/>
          <a:p>
            <a:r>
              <a:rPr lang="it-IT" b="0" i="0" dirty="0">
                <a:solidFill>
                  <a:srgbClr val="050E17"/>
                </a:solidFill>
                <a:effectLst/>
                <a:latin typeface="-apple-system"/>
              </a:rPr>
              <a:t>In questo esempio, abbiamo dichiarato una variabile di tipo "double" chiamata "</a:t>
            </a:r>
            <a:r>
              <a:rPr lang="it-IT" b="0" i="0" dirty="0" err="1">
                <a:solidFill>
                  <a:srgbClr val="050E17"/>
                </a:solidFill>
                <a:effectLst/>
                <a:latin typeface="-apple-system"/>
              </a:rPr>
              <a:t>randomNumber</a:t>
            </a:r>
            <a:r>
              <a:rPr lang="it-IT" b="0" i="0" dirty="0">
                <a:solidFill>
                  <a:srgbClr val="050E17"/>
                </a:solidFill>
                <a:effectLst/>
                <a:latin typeface="-apple-system"/>
              </a:rPr>
              <a:t>" e abbiamo utilizzato il metodo "random()" della classe "Math" per generare un numero casuale compreso tra 0 e 1. Il valore del numero casuale viene assegnato alla variabile "</a:t>
            </a:r>
            <a:r>
              <a:rPr lang="it-IT" b="0" i="0" dirty="0" err="1">
                <a:solidFill>
                  <a:srgbClr val="050E17"/>
                </a:solidFill>
                <a:effectLst/>
                <a:latin typeface="-apple-system"/>
              </a:rPr>
              <a:t>randomNumber</a:t>
            </a:r>
            <a:r>
              <a:rPr lang="it-IT" b="0" i="0" dirty="0">
                <a:solidFill>
                  <a:srgbClr val="050E17"/>
                </a:solidFill>
                <a:effectLst/>
                <a:latin typeface="-apple-system"/>
              </a:rPr>
              <a:t>".</a:t>
            </a:r>
            <a:endParaRPr lang="it-IT" dirty="0"/>
          </a:p>
        </p:txBody>
      </p:sp>
    </p:spTree>
    <p:extLst>
      <p:ext uri="{BB962C8B-B14F-4D97-AF65-F5344CB8AC3E}">
        <p14:creationId xmlns:p14="http://schemas.microsoft.com/office/powerpoint/2010/main" val="4019054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923330"/>
          </a:xfrm>
          <a:prstGeom prst="rect">
            <a:avLst/>
          </a:prstGeom>
          <a:noFill/>
        </p:spPr>
        <p:txBody>
          <a:bodyPr wrap="square">
            <a:spAutoFit/>
          </a:bodyPr>
          <a:lstStyle/>
          <a:p>
            <a:pPr algn="l"/>
            <a:r>
              <a:rPr lang="it-IT" b="0" i="0" dirty="0">
                <a:solidFill>
                  <a:srgbClr val="050E17"/>
                </a:solidFill>
                <a:effectLst/>
                <a:latin typeface="-apple-system"/>
              </a:rPr>
              <a:t>Aggiungiamo un'istruzione di stampa per visualizzare il numero casuale generato. Puoi utilizzare il metodo "</a:t>
            </a:r>
            <a:r>
              <a:rPr lang="it-IT" b="0" i="0" dirty="0" err="1">
                <a:solidFill>
                  <a:srgbClr val="050E17"/>
                </a:solidFill>
                <a:effectLst/>
                <a:latin typeface="-apple-system"/>
              </a:rPr>
              <a:t>System.out.println</a:t>
            </a:r>
            <a:r>
              <a:rPr lang="it-IT" b="0" i="0" dirty="0">
                <a:solidFill>
                  <a:srgbClr val="050E17"/>
                </a:solidFill>
                <a:effectLst/>
                <a:latin typeface="-apple-system"/>
              </a:rPr>
              <a:t>()" per stampare il valore del numero casuale sulla console.</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6" name="CasellaDiTesto 5">
            <a:extLst>
              <a:ext uri="{FF2B5EF4-FFF2-40B4-BE49-F238E27FC236}">
                <a16:creationId xmlns:a16="http://schemas.microsoft.com/office/drawing/2014/main" id="{8625D02F-AA23-C8DB-EC43-5D471BE22641}"/>
              </a:ext>
            </a:extLst>
          </p:cNvPr>
          <p:cNvSpPr txBox="1"/>
          <p:nvPr/>
        </p:nvSpPr>
        <p:spPr>
          <a:xfrm>
            <a:off x="4082451" y="4285561"/>
            <a:ext cx="6942107" cy="1200329"/>
          </a:xfrm>
          <a:prstGeom prst="rect">
            <a:avLst/>
          </a:prstGeom>
          <a:noFill/>
        </p:spPr>
        <p:txBody>
          <a:bodyPr wrap="square">
            <a:spAutoFit/>
          </a:bodyPr>
          <a:lstStyle/>
          <a:p>
            <a:r>
              <a:rPr lang="it-IT" b="0" i="0" dirty="0">
                <a:solidFill>
                  <a:srgbClr val="050E17"/>
                </a:solidFill>
                <a:effectLst/>
                <a:latin typeface="-apple-system"/>
              </a:rPr>
              <a:t>In questo esempio, abbiamo utilizzato il metodo "</a:t>
            </a:r>
            <a:r>
              <a:rPr lang="it-IT" b="0" i="0" dirty="0" err="1">
                <a:solidFill>
                  <a:srgbClr val="050E17"/>
                </a:solidFill>
                <a:effectLst/>
                <a:latin typeface="-apple-system"/>
              </a:rPr>
              <a:t>println</a:t>
            </a:r>
            <a:r>
              <a:rPr lang="it-IT" b="0" i="0" dirty="0">
                <a:solidFill>
                  <a:srgbClr val="050E17"/>
                </a:solidFill>
                <a:effectLst/>
                <a:latin typeface="-apple-system"/>
              </a:rPr>
              <a:t>()" per stampare il valore del numero casuale sulla console. La stringa "Il numero casuale generato è:" viene concatenata con il valore del numero casuale utilizzando l'operatore "+".</a:t>
            </a:r>
            <a:endParaRPr lang="it-IT" dirty="0"/>
          </a:p>
        </p:txBody>
      </p:sp>
      <p:sp>
        <p:nvSpPr>
          <p:cNvPr id="5" name="Rectangle 1">
            <a:extLst>
              <a:ext uri="{FF2B5EF4-FFF2-40B4-BE49-F238E27FC236}">
                <a16:creationId xmlns:a16="http://schemas.microsoft.com/office/drawing/2014/main" id="{16C3FECA-55E2-E0BB-B12F-3AD66DA707F2}"/>
              </a:ext>
            </a:extLst>
          </p:cNvPr>
          <p:cNvSpPr>
            <a:spLocks noChangeArrowheads="1"/>
          </p:cNvSpPr>
          <p:nvPr/>
        </p:nvSpPr>
        <p:spPr bwMode="auto">
          <a:xfrm>
            <a:off x="2812211" y="2504606"/>
            <a:ext cx="9146735" cy="161582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DCC6E0"/>
                </a:solidFill>
                <a:effectLst/>
                <a:latin typeface="Consolas" panose="020B0609020204030204" pitchFamily="49" charset="0"/>
              </a:rPr>
              <a:t>public</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a:ln>
                  <a:noFill/>
                </a:ln>
                <a:solidFill>
                  <a:srgbClr val="DCC6E0"/>
                </a:solidFill>
                <a:effectLst/>
                <a:latin typeface="Consolas" panose="020B0609020204030204" pitchFamily="49" charset="0"/>
              </a:rPr>
              <a:t>class</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15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F8F8F2"/>
                </a:solidFill>
                <a:latin typeface="Consolas" panose="020B0609020204030204" pitchFamily="49" charset="0"/>
              </a:rPr>
              <a:t>	</a:t>
            </a:r>
            <a:r>
              <a:rPr kumimoji="0" lang="it-IT" altLang="it-IT" sz="1500" b="0" i="0" u="none" strike="noStrike" cap="none" normalizeH="0" baseline="0" dirty="0">
                <a:ln>
                  <a:noFill/>
                </a:ln>
                <a:solidFill>
                  <a:srgbClr val="DCC6E0"/>
                </a:solidFill>
                <a:effectLst/>
                <a:latin typeface="Consolas" panose="020B0609020204030204" pitchFamily="49" charset="0"/>
              </a:rPr>
              <a:t>public</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err="1">
                <a:ln>
                  <a:noFill/>
                </a:ln>
                <a:solidFill>
                  <a:srgbClr val="DCC6E0"/>
                </a:solidFill>
                <a:effectLst/>
                <a:latin typeface="Consolas" panose="020B0609020204030204" pitchFamily="49" charset="0"/>
              </a:rPr>
              <a:t>static</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err="1">
                <a:ln>
                  <a:noFill/>
                </a:ln>
                <a:solidFill>
                  <a:srgbClr val="DCC6E0"/>
                </a:solidFill>
                <a:effectLst/>
                <a:latin typeface="Consolas" panose="020B0609020204030204" pitchFamily="49" charset="0"/>
              </a:rPr>
              <a:t>void</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err="1">
                <a:ln>
                  <a:noFill/>
                </a:ln>
                <a:solidFill>
                  <a:srgbClr val="00E0E0"/>
                </a:solidFill>
                <a:effectLst/>
                <a:latin typeface="Consolas" panose="020B0609020204030204" pitchFamily="49" charset="0"/>
              </a:rPr>
              <a:t>main</a:t>
            </a:r>
            <a:r>
              <a:rPr kumimoji="0" lang="it-IT" altLang="it-IT" sz="1500" b="0" i="0" u="none" strike="noStrike" cap="none" normalizeH="0" baseline="0" dirty="0">
                <a:ln>
                  <a:noFill/>
                </a:ln>
                <a:solidFill>
                  <a:srgbClr val="F5AB35"/>
                </a:solidFill>
                <a:effectLst/>
                <a:latin typeface="Consolas" panose="020B0609020204030204" pitchFamily="49" charset="0"/>
              </a:rPr>
              <a:t>(</a:t>
            </a:r>
            <a:r>
              <a:rPr kumimoji="0" lang="it-IT" altLang="it-IT" sz="1500" b="0" i="0" u="none" strike="noStrike" cap="none" normalizeH="0" baseline="0" dirty="0" err="1">
                <a:ln>
                  <a:noFill/>
                </a:ln>
                <a:solidFill>
                  <a:srgbClr val="F5AB35"/>
                </a:solidFill>
                <a:effectLst/>
                <a:latin typeface="Consolas" panose="020B0609020204030204" pitchFamily="49" charset="0"/>
              </a:rPr>
              <a:t>String</a:t>
            </a:r>
            <a:r>
              <a:rPr kumimoji="0" lang="it-IT" altLang="it-IT" sz="1500" b="0" i="0" u="none" strike="noStrike" cap="none" normalizeH="0" baseline="0" dirty="0">
                <a:ln>
                  <a:noFill/>
                </a:ln>
                <a:solidFill>
                  <a:srgbClr val="F5AB35"/>
                </a:solidFill>
                <a:effectLst/>
                <a:latin typeface="Consolas" panose="020B0609020204030204" pitchFamily="49" charset="0"/>
              </a:rPr>
              <a:t>[] </a:t>
            </a:r>
            <a:r>
              <a:rPr kumimoji="0" lang="it-IT" altLang="it-IT" sz="1500" b="0" i="0" u="none" strike="noStrike" cap="none" normalizeH="0" baseline="0" dirty="0" err="1">
                <a:ln>
                  <a:noFill/>
                </a:ln>
                <a:solidFill>
                  <a:srgbClr val="F5AB35"/>
                </a:solidFill>
                <a:effectLst/>
                <a:latin typeface="Consolas" panose="020B0609020204030204" pitchFamily="49" charset="0"/>
              </a:rPr>
              <a:t>args</a:t>
            </a:r>
            <a:r>
              <a:rPr kumimoji="0" lang="it-IT" altLang="it-IT" sz="1500" b="0" i="0" u="none" strike="noStrike" cap="none" normalizeH="0" baseline="0" dirty="0">
                <a:ln>
                  <a:noFill/>
                </a:ln>
                <a:solidFill>
                  <a:srgbClr val="F5AB35"/>
                </a:solidFill>
                <a:effectLst/>
                <a:latin typeface="Consolas" panose="020B0609020204030204" pitchFamily="49" charset="0"/>
              </a:rPr>
              <a:t>)</a:t>
            </a:r>
            <a:r>
              <a:rPr kumimoji="0" lang="it-IT" altLang="it-IT" sz="15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F8F8F2"/>
                </a:solidFill>
                <a:latin typeface="Consolas" panose="020B0609020204030204" pitchFamily="49" charset="0"/>
              </a:rPr>
              <a:t>		</a:t>
            </a:r>
            <a:r>
              <a:rPr kumimoji="0" lang="it-IT" altLang="it-IT" sz="1500" b="0" i="0" u="none" strike="noStrike" cap="none" normalizeH="0" baseline="0" dirty="0">
                <a:ln>
                  <a:noFill/>
                </a:ln>
                <a:solidFill>
                  <a:srgbClr val="DCC6E0"/>
                </a:solidFill>
                <a:effectLst/>
                <a:latin typeface="Consolas" panose="020B0609020204030204" pitchFamily="49" charset="0"/>
              </a:rPr>
              <a:t>double</a:t>
            </a:r>
            <a:r>
              <a:rPr kumimoji="0" lang="it-IT" altLang="it-IT" sz="1500" b="0" i="0" u="none" strike="noStrike" cap="none" normalizeH="0" baseline="0" dirty="0">
                <a:ln>
                  <a:noFill/>
                </a:ln>
                <a:solidFill>
                  <a:srgbClr val="F8F8F2"/>
                </a:solidFill>
                <a:effectLst/>
                <a:latin typeface="Consolas" panose="020B0609020204030204" pitchFamily="49" charset="0"/>
              </a:rPr>
              <a:t> </a:t>
            </a:r>
            <a:r>
              <a:rPr kumimoji="0" lang="it-IT" altLang="it-IT" sz="15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1500" b="0" i="0" u="none" strike="noStrike" cap="none" normalizeH="0" baseline="0" dirty="0">
                <a:ln>
                  <a:noFill/>
                </a:ln>
                <a:solidFill>
                  <a:srgbClr val="F8F8F2"/>
                </a:solidFill>
                <a:effectLst/>
                <a:latin typeface="Consolas" panose="020B0609020204030204" pitchFamily="49" charset="0"/>
              </a:rPr>
              <a:t> = </a:t>
            </a:r>
            <a:r>
              <a:rPr kumimoji="0" lang="it-IT" altLang="it-IT" sz="1500" b="0" i="0" u="none" strike="noStrike" cap="none" normalizeH="0" baseline="0" dirty="0" err="1">
                <a:ln>
                  <a:noFill/>
                </a:ln>
                <a:solidFill>
                  <a:srgbClr val="F8F8F2"/>
                </a:solidFill>
                <a:effectLst/>
                <a:latin typeface="Consolas" panose="020B0609020204030204" pitchFamily="49" charset="0"/>
              </a:rPr>
              <a:t>Math.random</a:t>
            </a:r>
            <a:r>
              <a:rPr kumimoji="0" lang="it-IT" altLang="it-IT" sz="15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F8F8F2"/>
                </a:solidFill>
                <a:latin typeface="Consolas" panose="020B0609020204030204" pitchFamily="49" charset="0"/>
              </a:rPr>
              <a:t>		</a:t>
            </a:r>
            <a:r>
              <a:rPr kumimoji="0" lang="it-IT" altLang="it-IT" sz="1500" b="0" i="0" u="none" strike="noStrike" cap="none" normalizeH="0" baseline="0" dirty="0" err="1">
                <a:ln>
                  <a:noFill/>
                </a:ln>
                <a:solidFill>
                  <a:srgbClr val="F8F8F2"/>
                </a:solidFill>
                <a:effectLst/>
                <a:latin typeface="Consolas" panose="020B0609020204030204" pitchFamily="49" charset="0"/>
              </a:rPr>
              <a:t>System.out.println</a:t>
            </a:r>
            <a:r>
              <a:rPr kumimoji="0" lang="it-IT" altLang="it-IT" sz="1500" b="0" i="0" u="none" strike="noStrike" cap="none" normalizeH="0" baseline="0" dirty="0">
                <a:ln>
                  <a:noFill/>
                </a:ln>
                <a:solidFill>
                  <a:srgbClr val="F8F8F2"/>
                </a:solidFill>
                <a:effectLst/>
                <a:latin typeface="Consolas" panose="020B0609020204030204" pitchFamily="49" charset="0"/>
              </a:rPr>
              <a:t>(</a:t>
            </a:r>
            <a:r>
              <a:rPr kumimoji="0" lang="it-IT" altLang="it-IT" sz="1500" b="0" i="0" u="none" strike="noStrike" cap="none" normalizeH="0" baseline="0" dirty="0">
                <a:ln>
                  <a:noFill/>
                </a:ln>
                <a:solidFill>
                  <a:srgbClr val="ABE338"/>
                </a:solidFill>
                <a:effectLst/>
                <a:latin typeface="Consolas" panose="020B0609020204030204" pitchFamily="49" charset="0"/>
              </a:rPr>
              <a:t>"Il numero casuale generato è: "</a:t>
            </a:r>
            <a:r>
              <a:rPr kumimoji="0" lang="it-IT" altLang="it-IT" sz="1500" b="0" i="0" u="none" strike="noStrike" cap="none" normalizeH="0" baseline="0" dirty="0">
                <a:ln>
                  <a:noFill/>
                </a:ln>
                <a:solidFill>
                  <a:srgbClr val="F8F8F2"/>
                </a:solidFill>
                <a:effectLst/>
                <a:latin typeface="Consolas" panose="020B0609020204030204" pitchFamily="49" charset="0"/>
              </a:rPr>
              <a:t> + </a:t>
            </a:r>
            <a:r>
              <a:rPr kumimoji="0" lang="it-IT" altLang="it-IT" sz="15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15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1500" dirty="0">
                <a:solidFill>
                  <a:srgbClr val="F8F8F2"/>
                </a:solidFill>
                <a:latin typeface="Consolas" panose="020B0609020204030204" pitchFamily="49" charset="0"/>
              </a:rPr>
              <a:t>	</a:t>
            </a:r>
            <a:r>
              <a:rPr kumimoji="0" lang="it-IT" altLang="it-IT" sz="15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500" b="0" i="0" u="none" strike="noStrike" cap="none" normalizeH="0" baseline="0" dirty="0">
                <a:ln>
                  <a:noFill/>
                </a:ln>
                <a:solidFill>
                  <a:srgbClr val="F8F8F2"/>
                </a:solidFill>
                <a:effectLst/>
                <a:latin typeface="Consolas" panose="020B0609020204030204" pitchFamily="49" charset="0"/>
              </a:rPr>
              <a:t>}</a:t>
            </a:r>
            <a:r>
              <a:rPr kumimoji="0" lang="it-IT" altLang="it-IT" sz="1500" b="0" i="0" u="none" strike="noStrike" cap="none" normalizeH="0" baseline="0" dirty="0">
                <a:ln>
                  <a:noFill/>
                </a:ln>
                <a:solidFill>
                  <a:schemeClr val="tx1"/>
                </a:solidFill>
                <a:effectLst/>
              </a:rPr>
              <a:t> </a:t>
            </a:r>
            <a:endParaRPr kumimoji="0" lang="it-IT" altLang="it-IT"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8023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pPr algn="l"/>
            <a:r>
              <a:rPr lang="it-IT" b="0" i="0" dirty="0">
                <a:solidFill>
                  <a:srgbClr val="050E17"/>
                </a:solidFill>
                <a:effectLst/>
                <a:latin typeface="-apple-system"/>
              </a:rPr>
              <a:t>Vedremo ora come fare la stessa cosa con 2 classi, invece che una:</a:t>
            </a:r>
          </a:p>
          <a:p>
            <a:pPr algn="l"/>
            <a:r>
              <a:rPr lang="it-IT" dirty="0">
                <a:solidFill>
                  <a:srgbClr val="050E17"/>
                </a:solidFill>
                <a:latin typeface="-apple-system"/>
              </a:rPr>
              <a:t>Una class eseguibile ed una non eseguibile</a:t>
            </a:r>
            <a:endParaRPr lang="it-IT" b="0" i="0" dirty="0">
              <a:solidFill>
                <a:srgbClr val="050E17"/>
              </a:solidFill>
              <a:effectLst/>
              <a:latin typeface="-apple-system"/>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0196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pPr algn="l"/>
            <a:r>
              <a:rPr lang="it-IT" b="0" i="0" dirty="0">
                <a:solidFill>
                  <a:srgbClr val="050E17"/>
                </a:solidFill>
                <a:effectLst/>
                <a:latin typeface="-apple-system"/>
              </a:rPr>
              <a:t>Vedremo ora come fare la stessa cosa con 2 classi, invece che una:</a:t>
            </a:r>
          </a:p>
          <a:p>
            <a:pPr algn="l"/>
            <a:r>
              <a:rPr lang="it-IT" dirty="0">
                <a:solidFill>
                  <a:srgbClr val="050E17"/>
                </a:solidFill>
                <a:latin typeface="-apple-system"/>
              </a:rPr>
              <a:t>Una class eseguibile ed una non eseguibile</a:t>
            </a:r>
            <a:endParaRPr lang="it-IT" b="0" i="0" dirty="0">
              <a:solidFill>
                <a:srgbClr val="050E17"/>
              </a:solidFill>
              <a:effectLst/>
              <a:latin typeface="-apple-system"/>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1962778"/>
            <a:ext cx="6094562" cy="923330"/>
          </a:xfrm>
          <a:prstGeom prst="rect">
            <a:avLst/>
          </a:prstGeom>
          <a:noFill/>
        </p:spPr>
        <p:txBody>
          <a:bodyPr wrap="square">
            <a:spAutoFit/>
          </a:bodyPr>
          <a:lstStyle/>
          <a:p>
            <a:pPr algn="l"/>
            <a:r>
              <a:rPr lang="it-IT" b="0" i="0" dirty="0">
                <a:solidFill>
                  <a:srgbClr val="050E17"/>
                </a:solidFill>
                <a:effectLst/>
                <a:latin typeface="-apple-system"/>
              </a:rPr>
              <a:t>Come prima i passi essenziali:</a:t>
            </a:r>
          </a:p>
          <a:p>
            <a:pPr algn="l">
              <a:buFont typeface="+mj-lt"/>
              <a:buAutoNum type="arabicPeriod"/>
            </a:pPr>
            <a:r>
              <a:rPr lang="it-IT" b="0" i="0" dirty="0">
                <a:solidFill>
                  <a:srgbClr val="050E17"/>
                </a:solidFill>
                <a:effectLst/>
                <a:latin typeface="-apple-system"/>
              </a:rPr>
              <a:t>Aprire un editor di testo o un IDE Java (</a:t>
            </a:r>
            <a:r>
              <a:rPr lang="it-IT" b="0" i="0" dirty="0" err="1">
                <a:solidFill>
                  <a:srgbClr val="050E17"/>
                </a:solidFill>
                <a:effectLst/>
                <a:latin typeface="-apple-system"/>
              </a:rPr>
              <a:t>Integrated</a:t>
            </a:r>
            <a:r>
              <a:rPr lang="it-IT" b="0" i="0" dirty="0">
                <a:solidFill>
                  <a:srgbClr val="050E17"/>
                </a:solidFill>
                <a:effectLst/>
                <a:latin typeface="-apple-system"/>
              </a:rPr>
              <a:t> Development Environment) come Eclipse o IntelliJ IDEA.</a:t>
            </a:r>
          </a:p>
        </p:txBody>
      </p:sp>
    </p:spTree>
    <p:extLst>
      <p:ext uri="{BB962C8B-B14F-4D97-AF65-F5344CB8AC3E}">
        <p14:creationId xmlns:p14="http://schemas.microsoft.com/office/powerpoint/2010/main" val="20328648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pPr algn="l"/>
            <a:r>
              <a:rPr lang="it-IT" b="0" i="0" dirty="0">
                <a:solidFill>
                  <a:srgbClr val="050E17"/>
                </a:solidFill>
                <a:effectLst/>
                <a:latin typeface="-apple-system"/>
              </a:rPr>
              <a:t>Vedremo ora come fare la stessa cosa con 2 classi, invece che una:</a:t>
            </a:r>
          </a:p>
          <a:p>
            <a:pPr algn="l"/>
            <a:r>
              <a:rPr lang="it-IT" dirty="0">
                <a:solidFill>
                  <a:srgbClr val="050E17"/>
                </a:solidFill>
                <a:latin typeface="-apple-system"/>
              </a:rPr>
              <a:t>Una class eseguibile ed una non eseguibile</a:t>
            </a:r>
            <a:endParaRPr lang="it-IT" b="0" i="0" dirty="0">
              <a:solidFill>
                <a:srgbClr val="050E17"/>
              </a:solidFill>
              <a:effectLst/>
              <a:latin typeface="-apple-system"/>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1962778"/>
            <a:ext cx="6094562" cy="1477328"/>
          </a:xfrm>
          <a:prstGeom prst="rect">
            <a:avLst/>
          </a:prstGeom>
          <a:noFill/>
        </p:spPr>
        <p:txBody>
          <a:bodyPr wrap="square">
            <a:spAutoFit/>
          </a:bodyPr>
          <a:lstStyle/>
          <a:p>
            <a:pPr algn="l"/>
            <a:r>
              <a:rPr lang="it-IT" b="0" i="0" dirty="0">
                <a:solidFill>
                  <a:srgbClr val="050E17"/>
                </a:solidFill>
                <a:effectLst/>
                <a:latin typeface="-apple-system"/>
              </a:rPr>
              <a:t>Come prima i passi essenziali:</a:t>
            </a:r>
          </a:p>
          <a:p>
            <a:pPr algn="l">
              <a:buFont typeface="+mj-lt"/>
              <a:buAutoNum type="arabicPeriod"/>
            </a:pPr>
            <a:r>
              <a:rPr lang="it-IT" b="0" i="0" dirty="0">
                <a:solidFill>
                  <a:srgbClr val="050E17"/>
                </a:solidFill>
                <a:effectLst/>
                <a:latin typeface="-apple-system"/>
              </a:rPr>
              <a:t>Aprire un editor di testo o un IDE Java (</a:t>
            </a:r>
            <a:r>
              <a:rPr lang="it-IT" b="0" i="0" dirty="0" err="1">
                <a:solidFill>
                  <a:srgbClr val="050E17"/>
                </a:solidFill>
                <a:effectLst/>
                <a:latin typeface="-apple-system"/>
              </a:rPr>
              <a:t>Integrated</a:t>
            </a:r>
            <a:r>
              <a:rPr lang="it-IT" b="0" i="0" dirty="0">
                <a:solidFill>
                  <a:srgbClr val="050E17"/>
                </a:solidFill>
                <a:effectLst/>
                <a:latin typeface="-apple-system"/>
              </a:rPr>
              <a:t> Development Environment) come Eclipse o IntelliJ IDEA.</a:t>
            </a:r>
          </a:p>
          <a:p>
            <a:pPr algn="l">
              <a:buFont typeface="+mj-lt"/>
              <a:buAutoNum type="arabicPeriod"/>
            </a:pPr>
            <a:r>
              <a:rPr lang="it-IT" b="0" i="0" dirty="0">
                <a:solidFill>
                  <a:srgbClr val="050E17"/>
                </a:solidFill>
                <a:effectLst/>
                <a:latin typeface="-apple-system"/>
              </a:rPr>
              <a:t>Creare un nuovo file Java chiamato "RandomNumberGenerator.java". </a:t>
            </a:r>
          </a:p>
        </p:txBody>
      </p:sp>
    </p:spTree>
    <p:extLst>
      <p:ext uri="{BB962C8B-B14F-4D97-AF65-F5344CB8AC3E}">
        <p14:creationId xmlns:p14="http://schemas.microsoft.com/office/powerpoint/2010/main" val="1262443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pPr algn="l"/>
            <a:r>
              <a:rPr lang="it-IT" b="0" i="0" dirty="0">
                <a:solidFill>
                  <a:srgbClr val="050E17"/>
                </a:solidFill>
                <a:effectLst/>
                <a:latin typeface="-apple-system"/>
              </a:rPr>
              <a:t>Vedremo ora come fare la stessa cosa con 2 classi, invece che una:</a:t>
            </a:r>
          </a:p>
          <a:p>
            <a:pPr algn="l"/>
            <a:r>
              <a:rPr lang="it-IT" dirty="0">
                <a:solidFill>
                  <a:srgbClr val="050E17"/>
                </a:solidFill>
                <a:latin typeface="-apple-system"/>
              </a:rPr>
              <a:t>Una class eseguibile ed una non eseguibile</a:t>
            </a:r>
            <a:endParaRPr lang="it-IT" b="0" i="0" dirty="0">
              <a:solidFill>
                <a:srgbClr val="050E17"/>
              </a:solidFill>
              <a:effectLst/>
              <a:latin typeface="-apple-system"/>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1962778"/>
            <a:ext cx="6094562" cy="2031325"/>
          </a:xfrm>
          <a:prstGeom prst="rect">
            <a:avLst/>
          </a:prstGeom>
          <a:noFill/>
        </p:spPr>
        <p:txBody>
          <a:bodyPr wrap="square">
            <a:spAutoFit/>
          </a:bodyPr>
          <a:lstStyle/>
          <a:p>
            <a:pPr algn="l"/>
            <a:r>
              <a:rPr lang="it-IT" b="0" i="0" dirty="0">
                <a:solidFill>
                  <a:srgbClr val="050E17"/>
                </a:solidFill>
                <a:effectLst/>
                <a:latin typeface="-apple-system"/>
              </a:rPr>
              <a:t>Come prima i passi essenziali:</a:t>
            </a:r>
          </a:p>
          <a:p>
            <a:pPr algn="l">
              <a:buFont typeface="+mj-lt"/>
              <a:buAutoNum type="arabicPeriod"/>
            </a:pPr>
            <a:r>
              <a:rPr lang="it-IT" b="0" i="0" dirty="0">
                <a:solidFill>
                  <a:srgbClr val="050E17"/>
                </a:solidFill>
                <a:effectLst/>
                <a:latin typeface="-apple-system"/>
              </a:rPr>
              <a:t>Aprire un editor di testo o un IDE Java (</a:t>
            </a:r>
            <a:r>
              <a:rPr lang="it-IT" b="0" i="0" dirty="0" err="1">
                <a:solidFill>
                  <a:srgbClr val="050E17"/>
                </a:solidFill>
                <a:effectLst/>
                <a:latin typeface="-apple-system"/>
              </a:rPr>
              <a:t>Integrated</a:t>
            </a:r>
            <a:r>
              <a:rPr lang="it-IT" b="0" i="0" dirty="0">
                <a:solidFill>
                  <a:srgbClr val="050E17"/>
                </a:solidFill>
                <a:effectLst/>
                <a:latin typeface="-apple-system"/>
              </a:rPr>
              <a:t> Development Environment) come Eclipse o IntelliJ IDEA.</a:t>
            </a:r>
          </a:p>
          <a:p>
            <a:pPr algn="l">
              <a:buFont typeface="+mj-lt"/>
              <a:buAutoNum type="arabicPeriod"/>
            </a:pPr>
            <a:r>
              <a:rPr lang="it-IT" b="0" i="0" dirty="0">
                <a:solidFill>
                  <a:srgbClr val="050E17"/>
                </a:solidFill>
                <a:effectLst/>
                <a:latin typeface="-apple-system"/>
              </a:rPr>
              <a:t>Creare un nuovo file Java chiamato "RandomNumberGenerator.java". </a:t>
            </a:r>
          </a:p>
          <a:p>
            <a:pPr algn="l">
              <a:buFont typeface="+mj-lt"/>
              <a:buAutoNum type="arabicPeriod"/>
            </a:pPr>
            <a:r>
              <a:rPr lang="it-IT" b="0" i="0" dirty="0">
                <a:solidFill>
                  <a:srgbClr val="050E17"/>
                </a:solidFill>
                <a:effectLst/>
                <a:latin typeface="-apple-system"/>
              </a:rPr>
              <a:t>All'interno del file Java, definire una classe chiamata "</a:t>
            </a:r>
            <a:r>
              <a:rPr lang="it-IT" b="0" i="0" dirty="0" err="1">
                <a:solidFill>
                  <a:srgbClr val="050E17"/>
                </a:solidFill>
                <a:effectLst/>
                <a:latin typeface="-apple-system"/>
              </a:rPr>
              <a:t>RandomNumberGenerator</a:t>
            </a:r>
            <a:r>
              <a:rPr lang="it-IT" b="0" i="0" dirty="0">
                <a:solidFill>
                  <a:srgbClr val="050E17"/>
                </a:solidFill>
                <a:effectLst/>
                <a:latin typeface="-apple-system"/>
              </a:rPr>
              <a:t>". </a:t>
            </a:r>
          </a:p>
        </p:txBody>
      </p:sp>
    </p:spTree>
    <p:extLst>
      <p:ext uri="{BB962C8B-B14F-4D97-AF65-F5344CB8AC3E}">
        <p14:creationId xmlns:p14="http://schemas.microsoft.com/office/powerpoint/2010/main" val="5800255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8" name="CasellaDiTesto 7">
            <a:extLst>
              <a:ext uri="{FF2B5EF4-FFF2-40B4-BE49-F238E27FC236}">
                <a16:creationId xmlns:a16="http://schemas.microsoft.com/office/drawing/2014/main" id="{9434C051-3A2B-0076-1EFB-39254BEE2688}"/>
              </a:ext>
            </a:extLst>
          </p:cNvPr>
          <p:cNvSpPr txBox="1"/>
          <p:nvPr/>
        </p:nvSpPr>
        <p:spPr>
          <a:xfrm>
            <a:off x="4264309" y="1150160"/>
            <a:ext cx="6863766" cy="646331"/>
          </a:xfrm>
          <a:prstGeom prst="rect">
            <a:avLst/>
          </a:prstGeom>
          <a:noFill/>
        </p:spPr>
        <p:txBody>
          <a:bodyPr wrap="square">
            <a:spAutoFit/>
          </a:bodyPr>
          <a:lstStyle/>
          <a:p>
            <a:pPr algn="l"/>
            <a:r>
              <a:rPr lang="it-IT" b="0" i="0" dirty="0">
                <a:solidFill>
                  <a:srgbClr val="050E17"/>
                </a:solidFill>
                <a:effectLst/>
                <a:latin typeface="-apple-system"/>
              </a:rPr>
              <a:t>Vedremo ora come fare la stessa cosa con 2 classi, invece che una:</a:t>
            </a:r>
          </a:p>
          <a:p>
            <a:pPr algn="l"/>
            <a:r>
              <a:rPr lang="it-IT" dirty="0">
                <a:solidFill>
                  <a:srgbClr val="050E17"/>
                </a:solidFill>
                <a:latin typeface="-apple-system"/>
              </a:rPr>
              <a:t>Una class eseguibile ed una non eseguibile</a:t>
            </a:r>
            <a:endParaRPr lang="it-IT" b="0" i="0" dirty="0">
              <a:solidFill>
                <a:srgbClr val="050E17"/>
              </a:solidFill>
              <a:effectLst/>
              <a:latin typeface="-apple-system"/>
            </a:endParaRP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1962778"/>
            <a:ext cx="6094562" cy="2031325"/>
          </a:xfrm>
          <a:prstGeom prst="rect">
            <a:avLst/>
          </a:prstGeom>
          <a:noFill/>
        </p:spPr>
        <p:txBody>
          <a:bodyPr wrap="square">
            <a:spAutoFit/>
          </a:bodyPr>
          <a:lstStyle/>
          <a:p>
            <a:pPr algn="l"/>
            <a:r>
              <a:rPr lang="it-IT" b="0" i="0" dirty="0">
                <a:solidFill>
                  <a:srgbClr val="050E17"/>
                </a:solidFill>
                <a:effectLst/>
                <a:latin typeface="-apple-system"/>
              </a:rPr>
              <a:t>Come prima i passi essenziali:</a:t>
            </a:r>
          </a:p>
          <a:p>
            <a:pPr algn="l">
              <a:buFont typeface="+mj-lt"/>
              <a:buAutoNum type="arabicPeriod"/>
            </a:pPr>
            <a:r>
              <a:rPr lang="it-IT" b="0" i="0" dirty="0">
                <a:solidFill>
                  <a:srgbClr val="050E17"/>
                </a:solidFill>
                <a:effectLst/>
                <a:latin typeface="-apple-system"/>
              </a:rPr>
              <a:t>Aprire un editor di testo o un IDE Java (</a:t>
            </a:r>
            <a:r>
              <a:rPr lang="it-IT" b="0" i="0" dirty="0" err="1">
                <a:solidFill>
                  <a:srgbClr val="050E17"/>
                </a:solidFill>
                <a:effectLst/>
                <a:latin typeface="-apple-system"/>
              </a:rPr>
              <a:t>Integrated</a:t>
            </a:r>
            <a:r>
              <a:rPr lang="it-IT" b="0" i="0" dirty="0">
                <a:solidFill>
                  <a:srgbClr val="050E17"/>
                </a:solidFill>
                <a:effectLst/>
                <a:latin typeface="-apple-system"/>
              </a:rPr>
              <a:t> Development Environment) come Eclipse o IntelliJ IDEA.</a:t>
            </a:r>
          </a:p>
          <a:p>
            <a:pPr algn="l">
              <a:buFont typeface="+mj-lt"/>
              <a:buAutoNum type="arabicPeriod"/>
            </a:pPr>
            <a:r>
              <a:rPr lang="it-IT" b="0" i="0" dirty="0">
                <a:solidFill>
                  <a:srgbClr val="050E17"/>
                </a:solidFill>
                <a:effectLst/>
                <a:latin typeface="-apple-system"/>
              </a:rPr>
              <a:t>Creare un nuovo file Java chiamato "RandomNumberGenerator.java". </a:t>
            </a:r>
          </a:p>
          <a:p>
            <a:pPr algn="l">
              <a:buFont typeface="+mj-lt"/>
              <a:buAutoNum type="arabicPeriod"/>
            </a:pPr>
            <a:r>
              <a:rPr lang="it-IT" b="0" i="0" dirty="0">
                <a:solidFill>
                  <a:srgbClr val="050E17"/>
                </a:solidFill>
                <a:effectLst/>
                <a:latin typeface="-apple-system"/>
              </a:rPr>
              <a:t>All'interno del file Java, definire una classe chiamata "</a:t>
            </a:r>
            <a:r>
              <a:rPr lang="it-IT" b="0" i="0" dirty="0" err="1">
                <a:solidFill>
                  <a:srgbClr val="050E17"/>
                </a:solidFill>
                <a:effectLst/>
                <a:latin typeface="-apple-system"/>
              </a:rPr>
              <a:t>RandomNumberGenerator</a:t>
            </a:r>
            <a:r>
              <a:rPr lang="it-IT" b="0" i="0" dirty="0">
                <a:solidFill>
                  <a:srgbClr val="050E17"/>
                </a:solidFill>
                <a:effectLst/>
                <a:latin typeface="-apple-system"/>
              </a:rPr>
              <a:t>". </a:t>
            </a: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950898" y="4055811"/>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6437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887648" y="1447262"/>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7898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2566628"/>
            <a:ext cx="6094562" cy="646331"/>
          </a:xfrm>
          <a:prstGeom prst="rect">
            <a:avLst/>
          </a:prstGeom>
          <a:noFill/>
        </p:spPr>
        <p:txBody>
          <a:bodyPr wrap="square">
            <a:spAutoFit/>
          </a:bodyPr>
          <a:lstStyle/>
          <a:p>
            <a:pPr algn="l"/>
            <a:r>
              <a:rPr lang="it-IT" b="0" i="0" dirty="0">
                <a:solidFill>
                  <a:srgbClr val="050E17"/>
                </a:solidFill>
                <a:effectLst/>
                <a:latin typeface="-apple-system"/>
              </a:rPr>
              <a:t>All'interno della classe "</a:t>
            </a:r>
            <a:r>
              <a:rPr lang="it-IT" b="0" i="0" dirty="0" err="1">
                <a:solidFill>
                  <a:srgbClr val="050E17"/>
                </a:solidFill>
                <a:effectLst/>
                <a:latin typeface="-apple-system"/>
              </a:rPr>
              <a:t>RandomNumberGenerator</a:t>
            </a:r>
            <a:r>
              <a:rPr lang="it-IT" b="0" i="0" dirty="0">
                <a:solidFill>
                  <a:srgbClr val="050E17"/>
                </a:solidFill>
                <a:effectLst/>
                <a:latin typeface="-apple-system"/>
              </a:rPr>
              <a:t>", definiamo un metodo chiamato "</a:t>
            </a:r>
            <a:r>
              <a:rPr lang="it-IT" b="0" i="0" dirty="0" err="1">
                <a:solidFill>
                  <a:srgbClr val="050E17"/>
                </a:solidFill>
                <a:effectLst/>
                <a:latin typeface="-apple-system"/>
              </a:rPr>
              <a:t>generateRandomNumber</a:t>
            </a:r>
            <a:r>
              <a:rPr lang="it-IT" b="0" i="0" dirty="0">
                <a:solidFill>
                  <a:srgbClr val="050E17"/>
                </a:solidFill>
                <a:effectLst/>
                <a:latin typeface="-apple-system"/>
              </a:rPr>
              <a:t>". </a:t>
            </a: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887648" y="1447262"/>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5395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2566628"/>
            <a:ext cx="6094562" cy="1200329"/>
          </a:xfrm>
          <a:prstGeom prst="rect">
            <a:avLst/>
          </a:prstGeom>
          <a:noFill/>
        </p:spPr>
        <p:txBody>
          <a:bodyPr wrap="square">
            <a:spAutoFit/>
          </a:bodyPr>
          <a:lstStyle/>
          <a:p>
            <a:pPr algn="l"/>
            <a:r>
              <a:rPr lang="it-IT" b="0" i="0" dirty="0">
                <a:solidFill>
                  <a:srgbClr val="050E17"/>
                </a:solidFill>
                <a:effectLst/>
                <a:latin typeface="-apple-system"/>
              </a:rPr>
              <a:t>All'interno della classe "</a:t>
            </a:r>
            <a:r>
              <a:rPr lang="it-IT" b="0" i="0" dirty="0" err="1">
                <a:solidFill>
                  <a:srgbClr val="050E17"/>
                </a:solidFill>
                <a:effectLst/>
                <a:latin typeface="-apple-system"/>
              </a:rPr>
              <a:t>RandomNumberGenerator</a:t>
            </a:r>
            <a:r>
              <a:rPr lang="it-IT" b="0" i="0" dirty="0">
                <a:solidFill>
                  <a:srgbClr val="050E17"/>
                </a:solidFill>
                <a:effectLst/>
                <a:latin typeface="-apple-system"/>
              </a:rPr>
              <a:t>", definiamo un metodo chiamato "</a:t>
            </a:r>
            <a:r>
              <a:rPr lang="it-IT" b="0" i="0" dirty="0" err="1">
                <a:solidFill>
                  <a:srgbClr val="050E17"/>
                </a:solidFill>
                <a:effectLst/>
                <a:latin typeface="-apple-system"/>
              </a:rPr>
              <a:t>generateRandomNumber</a:t>
            </a:r>
            <a:r>
              <a:rPr lang="it-IT" b="0" i="0" dirty="0">
                <a:solidFill>
                  <a:srgbClr val="050E17"/>
                </a:solidFill>
                <a:effectLst/>
                <a:latin typeface="-apple-system"/>
              </a:rPr>
              <a:t>". </a:t>
            </a:r>
          </a:p>
          <a:p>
            <a:pPr algn="l"/>
            <a:r>
              <a:rPr lang="it-IT" b="0" i="0" dirty="0">
                <a:solidFill>
                  <a:srgbClr val="050E17"/>
                </a:solidFill>
                <a:effectLst/>
                <a:latin typeface="-apple-system"/>
              </a:rPr>
              <a:t>Un metodo, come già accennato, è un blocco di codice che esegue un'azione specifica. </a:t>
            </a: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887648" y="1447262"/>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6782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2566628"/>
            <a:ext cx="6094562" cy="2031325"/>
          </a:xfrm>
          <a:prstGeom prst="rect">
            <a:avLst/>
          </a:prstGeom>
          <a:noFill/>
        </p:spPr>
        <p:txBody>
          <a:bodyPr wrap="square">
            <a:spAutoFit/>
          </a:bodyPr>
          <a:lstStyle/>
          <a:p>
            <a:pPr algn="l"/>
            <a:r>
              <a:rPr lang="it-IT" b="0" i="0" dirty="0">
                <a:solidFill>
                  <a:srgbClr val="050E17"/>
                </a:solidFill>
                <a:effectLst/>
                <a:latin typeface="-apple-system"/>
              </a:rPr>
              <a:t>All'interno della classe "</a:t>
            </a:r>
            <a:r>
              <a:rPr lang="it-IT" b="0" i="0" dirty="0" err="1">
                <a:solidFill>
                  <a:srgbClr val="050E17"/>
                </a:solidFill>
                <a:effectLst/>
                <a:latin typeface="-apple-system"/>
              </a:rPr>
              <a:t>RandomNumberGenerator</a:t>
            </a:r>
            <a:r>
              <a:rPr lang="it-IT" b="0" i="0" dirty="0">
                <a:solidFill>
                  <a:srgbClr val="050E17"/>
                </a:solidFill>
                <a:effectLst/>
                <a:latin typeface="-apple-system"/>
              </a:rPr>
              <a:t>", definiamo un metodo chiamato "</a:t>
            </a:r>
            <a:r>
              <a:rPr lang="it-IT" b="0" i="0" dirty="0" err="1">
                <a:solidFill>
                  <a:srgbClr val="050E17"/>
                </a:solidFill>
                <a:effectLst/>
                <a:latin typeface="-apple-system"/>
              </a:rPr>
              <a:t>generateRandomNumber</a:t>
            </a:r>
            <a:r>
              <a:rPr lang="it-IT" b="0" i="0" dirty="0">
                <a:solidFill>
                  <a:srgbClr val="050E17"/>
                </a:solidFill>
                <a:effectLst/>
                <a:latin typeface="-apple-system"/>
              </a:rPr>
              <a:t>". </a:t>
            </a:r>
          </a:p>
          <a:p>
            <a:pPr algn="l"/>
            <a:r>
              <a:rPr lang="it-IT" b="0" i="0" dirty="0">
                <a:solidFill>
                  <a:srgbClr val="050E17"/>
                </a:solidFill>
                <a:effectLst/>
                <a:latin typeface="-apple-system"/>
              </a:rPr>
              <a:t>Un metodo, come già accennato, è un blocco di codice che esegue un'azione specifica. Qui ci limiteremo ad accenn</a:t>
            </a:r>
            <a:r>
              <a:rPr lang="it-IT" dirty="0">
                <a:solidFill>
                  <a:srgbClr val="050E17"/>
                </a:solidFill>
                <a:latin typeface="-apple-system"/>
              </a:rPr>
              <a:t>are come la cosa debba essere fatta, ma non entreremo nei dettagli dello sviluppo di classi e metodi. Questo avverrà più in avanti.</a:t>
            </a:r>
            <a:endParaRPr lang="it-IT" b="0" i="0" dirty="0">
              <a:solidFill>
                <a:srgbClr val="050E17"/>
              </a:solidFill>
              <a:effectLst/>
              <a:latin typeface="-apple-system"/>
            </a:endParaRP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887648" y="1447262"/>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4163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EE1CAE8-1368-43AE-0263-18CDD25F760E}"/>
              </a:ext>
            </a:extLst>
          </p:cNvPr>
          <p:cNvSpPr txBox="1"/>
          <p:nvPr/>
        </p:nvSpPr>
        <p:spPr>
          <a:xfrm>
            <a:off x="3775504" y="2566628"/>
            <a:ext cx="6094562" cy="2031325"/>
          </a:xfrm>
          <a:prstGeom prst="rect">
            <a:avLst/>
          </a:prstGeom>
          <a:noFill/>
        </p:spPr>
        <p:txBody>
          <a:bodyPr wrap="square">
            <a:spAutoFit/>
          </a:bodyPr>
          <a:lstStyle/>
          <a:p>
            <a:pPr algn="l"/>
            <a:r>
              <a:rPr lang="it-IT" b="0" i="0" dirty="0">
                <a:solidFill>
                  <a:srgbClr val="050E17"/>
                </a:solidFill>
                <a:effectLst/>
                <a:latin typeface="-apple-system"/>
              </a:rPr>
              <a:t>All'interno della classe "</a:t>
            </a:r>
            <a:r>
              <a:rPr lang="it-IT" b="0" i="0" dirty="0" err="1">
                <a:solidFill>
                  <a:srgbClr val="050E17"/>
                </a:solidFill>
                <a:effectLst/>
                <a:latin typeface="-apple-system"/>
              </a:rPr>
              <a:t>RandomNumberGenerator</a:t>
            </a:r>
            <a:r>
              <a:rPr lang="it-IT" b="0" i="0" dirty="0">
                <a:solidFill>
                  <a:srgbClr val="050E17"/>
                </a:solidFill>
                <a:effectLst/>
                <a:latin typeface="-apple-system"/>
              </a:rPr>
              <a:t>", definiamo un metodo chiamato "</a:t>
            </a:r>
            <a:r>
              <a:rPr lang="it-IT" b="0" i="0" dirty="0" err="1">
                <a:solidFill>
                  <a:srgbClr val="050E17"/>
                </a:solidFill>
                <a:effectLst/>
                <a:latin typeface="-apple-system"/>
              </a:rPr>
              <a:t>generateRandomNumber</a:t>
            </a:r>
            <a:r>
              <a:rPr lang="it-IT" b="0" i="0" dirty="0">
                <a:solidFill>
                  <a:srgbClr val="050E17"/>
                </a:solidFill>
                <a:effectLst/>
                <a:latin typeface="-apple-system"/>
              </a:rPr>
              <a:t>". </a:t>
            </a:r>
          </a:p>
          <a:p>
            <a:pPr algn="l"/>
            <a:r>
              <a:rPr lang="it-IT" b="0" i="0" dirty="0">
                <a:solidFill>
                  <a:srgbClr val="050E17"/>
                </a:solidFill>
                <a:effectLst/>
                <a:latin typeface="-apple-system"/>
              </a:rPr>
              <a:t>Un metodo, come già accennato, è un blocco di codice che esegue un'azione specifica. Qui ci limiteremo ad accenn</a:t>
            </a:r>
            <a:r>
              <a:rPr lang="it-IT" dirty="0">
                <a:solidFill>
                  <a:srgbClr val="050E17"/>
                </a:solidFill>
                <a:latin typeface="-apple-system"/>
              </a:rPr>
              <a:t>are come la cosa debba essere fatta, ma non entreremo nei dettagli dello sviluppo di classi e metodi. Questo avverrà più in avanti.</a:t>
            </a:r>
            <a:endParaRPr lang="it-IT" b="0" i="0" dirty="0">
              <a:solidFill>
                <a:srgbClr val="050E17"/>
              </a:solidFill>
              <a:effectLst/>
              <a:latin typeface="-apple-system"/>
            </a:endParaRPr>
          </a:p>
        </p:txBody>
      </p:sp>
      <p:sp>
        <p:nvSpPr>
          <p:cNvPr id="2" name="Rectangle 1">
            <a:extLst>
              <a:ext uri="{FF2B5EF4-FFF2-40B4-BE49-F238E27FC236}">
                <a16:creationId xmlns:a16="http://schemas.microsoft.com/office/drawing/2014/main" id="{C560C9BD-72D5-F84E-C4D9-01BE9168C327}"/>
              </a:ext>
            </a:extLst>
          </p:cNvPr>
          <p:cNvSpPr>
            <a:spLocks noChangeArrowheads="1"/>
          </p:cNvSpPr>
          <p:nvPr/>
        </p:nvSpPr>
        <p:spPr bwMode="auto">
          <a:xfrm>
            <a:off x="3887648" y="1447262"/>
            <a:ext cx="5219378" cy="92333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2000" dirty="0">
              <a:solidFill>
                <a:srgbClr val="F8F8F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07F05957-7FD8-8246-919D-4B00508CEF68}"/>
              </a:ext>
            </a:extLst>
          </p:cNvPr>
          <p:cNvSpPr>
            <a:spLocks noChangeArrowheads="1"/>
          </p:cNvSpPr>
          <p:nvPr/>
        </p:nvSpPr>
        <p:spPr bwMode="auto">
          <a:xfrm>
            <a:off x="3887648" y="4685379"/>
            <a:ext cx="6142707" cy="1231106"/>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generateRandomNumber</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8966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316ECFCD-F6E0-08B6-3296-ABBD70C49B5F}"/>
              </a:ext>
            </a:extLst>
          </p:cNvPr>
          <p:cNvSpPr txBox="1"/>
          <p:nvPr/>
        </p:nvSpPr>
        <p:spPr>
          <a:xfrm>
            <a:off x="3775504" y="1391223"/>
            <a:ext cx="6094562" cy="923330"/>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generateRandomNumber</a:t>
            </a:r>
            <a:r>
              <a:rPr lang="it-IT" b="0" i="0" dirty="0">
                <a:solidFill>
                  <a:srgbClr val="050E17"/>
                </a:solidFill>
                <a:effectLst/>
                <a:latin typeface="-apple-system"/>
              </a:rPr>
              <a:t>", utilizza la classe "Math" di Java per generare un numero casuale compreso tra 0 e 1. </a:t>
            </a:r>
            <a:endParaRPr lang="it-IT" dirty="0"/>
          </a:p>
        </p:txBody>
      </p:sp>
    </p:spTree>
    <p:extLst>
      <p:ext uri="{BB962C8B-B14F-4D97-AF65-F5344CB8AC3E}">
        <p14:creationId xmlns:p14="http://schemas.microsoft.com/office/powerpoint/2010/main" val="14361235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316ECFCD-F6E0-08B6-3296-ABBD70C49B5F}"/>
              </a:ext>
            </a:extLst>
          </p:cNvPr>
          <p:cNvSpPr txBox="1"/>
          <p:nvPr/>
        </p:nvSpPr>
        <p:spPr>
          <a:xfrm>
            <a:off x="3775504" y="1391223"/>
            <a:ext cx="6094562" cy="923330"/>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generateRandomNumber</a:t>
            </a:r>
            <a:r>
              <a:rPr lang="it-IT" b="0" i="0" dirty="0">
                <a:solidFill>
                  <a:srgbClr val="050E17"/>
                </a:solidFill>
                <a:effectLst/>
                <a:latin typeface="-apple-system"/>
              </a:rPr>
              <a:t>", utilizza la classe "Math" di Java per generare un numero casuale compreso tra 0 e 1. </a:t>
            </a:r>
            <a:endParaRPr lang="it-IT" dirty="0"/>
          </a:p>
        </p:txBody>
      </p:sp>
      <p:sp>
        <p:nvSpPr>
          <p:cNvPr id="9" name="Rectangle 1">
            <a:extLst>
              <a:ext uri="{FF2B5EF4-FFF2-40B4-BE49-F238E27FC236}">
                <a16:creationId xmlns:a16="http://schemas.microsoft.com/office/drawing/2014/main" id="{63443F2E-0739-3857-B61B-4E1112744F27}"/>
              </a:ext>
            </a:extLst>
          </p:cNvPr>
          <p:cNvSpPr>
            <a:spLocks noChangeArrowheads="1"/>
          </p:cNvSpPr>
          <p:nvPr/>
        </p:nvSpPr>
        <p:spPr bwMode="auto">
          <a:xfrm>
            <a:off x="3873260" y="2400766"/>
            <a:ext cx="7066037" cy="153888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generateRandomNumber</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double</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2000" b="0" i="0" u="none" strike="noStrike" cap="none" normalizeH="0" baseline="0" dirty="0">
                <a:ln>
                  <a:noFill/>
                </a:ln>
                <a:solidFill>
                  <a:srgbClr val="F8F8F2"/>
                </a:solidFill>
                <a:effectLst/>
                <a:latin typeface="Consolas" panose="020B0609020204030204" pitchFamily="49" charset="0"/>
              </a:rPr>
              <a:t> = </a:t>
            </a:r>
            <a:r>
              <a:rPr kumimoji="0" lang="it-IT" altLang="it-IT" sz="2000" b="0" i="0" u="none" strike="noStrike" cap="none" normalizeH="0" baseline="0" dirty="0" err="1">
                <a:ln>
                  <a:noFill/>
                </a:ln>
                <a:solidFill>
                  <a:srgbClr val="F8F8F2"/>
                </a:solidFill>
                <a:effectLst/>
                <a:latin typeface="Consolas" panose="020B0609020204030204" pitchFamily="49" charset="0"/>
              </a:rPr>
              <a:t>Math.random</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8218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316ECFCD-F6E0-08B6-3296-ABBD70C49B5F}"/>
              </a:ext>
            </a:extLst>
          </p:cNvPr>
          <p:cNvSpPr txBox="1"/>
          <p:nvPr/>
        </p:nvSpPr>
        <p:spPr>
          <a:xfrm>
            <a:off x="3775504" y="1391223"/>
            <a:ext cx="6094562" cy="923330"/>
          </a:xfrm>
          <a:prstGeom prst="rect">
            <a:avLst/>
          </a:prstGeom>
          <a:noFill/>
        </p:spPr>
        <p:txBody>
          <a:bodyPr wrap="square">
            <a:spAutoFit/>
          </a:bodyPr>
          <a:lstStyle/>
          <a:p>
            <a:r>
              <a:rPr lang="it-IT" b="0" i="0" dirty="0">
                <a:solidFill>
                  <a:srgbClr val="050E17"/>
                </a:solidFill>
                <a:effectLst/>
                <a:latin typeface="-apple-system"/>
              </a:rPr>
              <a:t>All'interno del metodo "</a:t>
            </a:r>
            <a:r>
              <a:rPr lang="it-IT" b="0" i="0" dirty="0" err="1">
                <a:solidFill>
                  <a:srgbClr val="050E17"/>
                </a:solidFill>
                <a:effectLst/>
                <a:latin typeface="-apple-system"/>
              </a:rPr>
              <a:t>generateRandomNumber</a:t>
            </a:r>
            <a:r>
              <a:rPr lang="it-IT" b="0" i="0" dirty="0">
                <a:solidFill>
                  <a:srgbClr val="050E17"/>
                </a:solidFill>
                <a:effectLst/>
                <a:latin typeface="-apple-system"/>
              </a:rPr>
              <a:t>", utilizza la classe "Math" di Java per generare un numero casuale compreso tra 0 e 1. </a:t>
            </a:r>
            <a:endParaRPr lang="it-IT" dirty="0"/>
          </a:p>
        </p:txBody>
      </p:sp>
      <p:sp>
        <p:nvSpPr>
          <p:cNvPr id="9" name="Rectangle 1">
            <a:extLst>
              <a:ext uri="{FF2B5EF4-FFF2-40B4-BE49-F238E27FC236}">
                <a16:creationId xmlns:a16="http://schemas.microsoft.com/office/drawing/2014/main" id="{63443F2E-0739-3857-B61B-4E1112744F27}"/>
              </a:ext>
            </a:extLst>
          </p:cNvPr>
          <p:cNvSpPr>
            <a:spLocks noChangeArrowheads="1"/>
          </p:cNvSpPr>
          <p:nvPr/>
        </p:nvSpPr>
        <p:spPr bwMode="auto">
          <a:xfrm>
            <a:off x="3873260" y="2400766"/>
            <a:ext cx="7066037" cy="153888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generateRandomNumber</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double</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a:t>
            </a:r>
            <a:r>
              <a:rPr kumimoji="0" lang="it-IT" altLang="it-IT" sz="2000" b="0" i="0" u="none" strike="noStrike" cap="none" normalizeH="0" baseline="0" dirty="0">
                <a:ln>
                  <a:noFill/>
                </a:ln>
                <a:solidFill>
                  <a:srgbClr val="F8F8F2"/>
                </a:solidFill>
                <a:effectLst/>
                <a:latin typeface="Consolas" panose="020B0609020204030204" pitchFamily="49" charset="0"/>
              </a:rPr>
              <a:t> = </a:t>
            </a:r>
            <a:r>
              <a:rPr kumimoji="0" lang="it-IT" altLang="it-IT" sz="2000" b="0" i="0" u="none" strike="noStrike" cap="none" normalizeH="0" baseline="0" dirty="0" err="1">
                <a:ln>
                  <a:noFill/>
                </a:ln>
                <a:solidFill>
                  <a:srgbClr val="F8F8F2"/>
                </a:solidFill>
                <a:effectLst/>
                <a:latin typeface="Consolas" panose="020B0609020204030204" pitchFamily="49" charset="0"/>
              </a:rPr>
              <a:t>Math.random</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10" name="CasellaDiTesto 9">
            <a:extLst>
              <a:ext uri="{FF2B5EF4-FFF2-40B4-BE49-F238E27FC236}">
                <a16:creationId xmlns:a16="http://schemas.microsoft.com/office/drawing/2014/main" id="{E227FA7A-5FD7-98AC-7F97-A6C98BE514F0}"/>
              </a:ext>
            </a:extLst>
          </p:cNvPr>
          <p:cNvSpPr txBox="1"/>
          <p:nvPr/>
        </p:nvSpPr>
        <p:spPr>
          <a:xfrm>
            <a:off x="3827150" y="4108792"/>
            <a:ext cx="6094562" cy="923330"/>
          </a:xfrm>
          <a:prstGeom prst="rect">
            <a:avLst/>
          </a:prstGeom>
          <a:noFill/>
        </p:spPr>
        <p:txBody>
          <a:bodyPr wrap="square">
            <a:spAutoFit/>
          </a:bodyPr>
          <a:lstStyle/>
          <a:p>
            <a:r>
              <a:rPr lang="it-IT" b="0" i="0" dirty="0">
                <a:solidFill>
                  <a:srgbClr val="050E17"/>
                </a:solidFill>
                <a:effectLst/>
                <a:latin typeface="-apple-system"/>
              </a:rPr>
              <a:t>Abbiamo creato una variabile double ed abbiamo catturato il numero casuale che ci genererà </a:t>
            </a:r>
            <a:r>
              <a:rPr lang="it-IT" b="0" i="0" dirty="0" err="1">
                <a:solidFill>
                  <a:srgbClr val="050E17"/>
                </a:solidFill>
                <a:effectLst/>
                <a:latin typeface="-apple-system"/>
              </a:rPr>
              <a:t>Math.random</a:t>
            </a:r>
            <a:r>
              <a:rPr lang="it-IT" b="0" i="0" dirty="0">
                <a:solidFill>
                  <a:srgbClr val="050E17"/>
                </a:solidFill>
                <a:effectLst/>
                <a:latin typeface="-apple-system"/>
              </a:rPr>
              <a:t>()</a:t>
            </a:r>
          </a:p>
          <a:p>
            <a:r>
              <a:rPr lang="it-IT" dirty="0">
                <a:solidFill>
                  <a:srgbClr val="050E17"/>
                </a:solidFill>
                <a:latin typeface="-apple-system"/>
              </a:rPr>
              <a:t>Ora </a:t>
            </a:r>
            <a:r>
              <a:rPr lang="it-IT" dirty="0" err="1">
                <a:solidFill>
                  <a:srgbClr val="050E17"/>
                </a:solidFill>
                <a:latin typeface="-apple-system"/>
              </a:rPr>
              <a:t>randomNumber</a:t>
            </a:r>
            <a:r>
              <a:rPr lang="it-IT" dirty="0">
                <a:solidFill>
                  <a:srgbClr val="050E17"/>
                </a:solidFill>
                <a:latin typeface="-apple-system"/>
              </a:rPr>
              <a:t> contiene quel numero causale.</a:t>
            </a:r>
            <a:endParaRPr lang="it-IT" dirty="0"/>
          </a:p>
        </p:txBody>
      </p:sp>
    </p:spTree>
    <p:extLst>
      <p:ext uri="{BB962C8B-B14F-4D97-AF65-F5344CB8AC3E}">
        <p14:creationId xmlns:p14="http://schemas.microsoft.com/office/powerpoint/2010/main" val="2855141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3715007" y="1233115"/>
            <a:ext cx="6094562" cy="1200329"/>
          </a:xfrm>
          <a:prstGeom prst="rect">
            <a:avLst/>
          </a:prstGeom>
          <a:noFill/>
        </p:spPr>
        <p:txBody>
          <a:bodyPr wrap="square">
            <a:spAutoFit/>
          </a:bodyPr>
          <a:lstStyle/>
          <a:p>
            <a:pPr algn="l"/>
            <a:r>
              <a:rPr lang="it-IT" b="0" i="0" dirty="0">
                <a:solidFill>
                  <a:srgbClr val="050E17"/>
                </a:solidFill>
                <a:effectLst/>
                <a:latin typeface="-apple-system"/>
              </a:rPr>
              <a:t>Aggiungiamo un'istruzione di stampa per visualizzare il numero casuale generato. Si può utilizzare il metodo "</a:t>
            </a:r>
            <a:r>
              <a:rPr lang="it-IT" b="0" i="0" dirty="0" err="1">
                <a:solidFill>
                  <a:srgbClr val="050E17"/>
                </a:solidFill>
                <a:effectLst/>
                <a:latin typeface="-apple-system"/>
              </a:rPr>
              <a:t>System.out.println</a:t>
            </a:r>
            <a:r>
              <a:rPr lang="it-IT" b="0" i="0" dirty="0">
                <a:solidFill>
                  <a:srgbClr val="050E17"/>
                </a:solidFill>
                <a:effectLst/>
                <a:latin typeface="-apple-system"/>
              </a:rPr>
              <a:t>()" per stampare il valore del numero casuale sulla console.</a:t>
            </a:r>
          </a:p>
        </p:txBody>
      </p:sp>
      <p:pic>
        <p:nvPicPr>
          <p:cNvPr id="14" name="Immagine 13">
            <a:extLst>
              <a:ext uri="{FF2B5EF4-FFF2-40B4-BE49-F238E27FC236}">
                <a16:creationId xmlns:a16="http://schemas.microsoft.com/office/drawing/2014/main" id="{5CFA0181-64E5-A746-E4EE-245FF06C2E81}"/>
              </a:ext>
            </a:extLst>
          </p:cNvPr>
          <p:cNvPicPr>
            <a:picLocks noChangeAspect="1"/>
          </p:cNvPicPr>
          <p:nvPr/>
        </p:nvPicPr>
        <p:blipFill>
          <a:blip r:embed="rId3"/>
          <a:stretch>
            <a:fillRect/>
          </a:stretch>
        </p:blipFill>
        <p:spPr>
          <a:xfrm>
            <a:off x="3715006" y="2527410"/>
            <a:ext cx="7016253" cy="1986452"/>
          </a:xfrm>
          <a:prstGeom prst="rect">
            <a:avLst/>
          </a:prstGeom>
        </p:spPr>
      </p:pic>
    </p:spTree>
    <p:extLst>
      <p:ext uri="{BB962C8B-B14F-4D97-AF65-F5344CB8AC3E}">
        <p14:creationId xmlns:p14="http://schemas.microsoft.com/office/powerpoint/2010/main" val="1190486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830908" y="1400523"/>
            <a:ext cx="10819377" cy="1015663"/>
          </a:xfrm>
          <a:prstGeom prst="rect">
            <a:avLst/>
          </a:prstGeom>
          <a:noFill/>
        </p:spPr>
        <p:txBody>
          <a:bodyPr wrap="square">
            <a:spAutoFit/>
          </a:bodyPr>
          <a:lstStyle/>
          <a:p>
            <a:pPr algn="l"/>
            <a:r>
              <a:rPr lang="it-IT" sz="3000" b="0" i="0" dirty="0">
                <a:solidFill>
                  <a:srgbClr val="050E17"/>
                </a:solidFill>
                <a:effectLst/>
                <a:latin typeface="-apple-system"/>
              </a:rPr>
              <a:t>Ora, creiamo un’altra classe nella medesima cartella, un file Main.java e scriviamo</a:t>
            </a:r>
          </a:p>
        </p:txBody>
      </p:sp>
    </p:spTree>
    <p:extLst>
      <p:ext uri="{BB962C8B-B14F-4D97-AF65-F5344CB8AC3E}">
        <p14:creationId xmlns:p14="http://schemas.microsoft.com/office/powerpoint/2010/main" val="20077225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830908" y="1400523"/>
            <a:ext cx="10819377" cy="1015663"/>
          </a:xfrm>
          <a:prstGeom prst="rect">
            <a:avLst/>
          </a:prstGeom>
          <a:noFill/>
        </p:spPr>
        <p:txBody>
          <a:bodyPr wrap="square">
            <a:spAutoFit/>
          </a:bodyPr>
          <a:lstStyle/>
          <a:p>
            <a:pPr algn="l"/>
            <a:r>
              <a:rPr lang="it-IT" sz="3000" b="0" i="0" dirty="0">
                <a:solidFill>
                  <a:srgbClr val="050E17"/>
                </a:solidFill>
                <a:effectLst/>
                <a:latin typeface="-apple-system"/>
              </a:rPr>
              <a:t>Ora, creiamo un’altra classe nella medesima cartella, un file Main.java e scriviamo</a:t>
            </a:r>
          </a:p>
        </p:txBody>
      </p:sp>
      <p:sp>
        <p:nvSpPr>
          <p:cNvPr id="2" name="Rectangle 1">
            <a:extLst>
              <a:ext uri="{FF2B5EF4-FFF2-40B4-BE49-F238E27FC236}">
                <a16:creationId xmlns:a16="http://schemas.microsoft.com/office/drawing/2014/main" id="{B20478F4-CCC3-C258-074B-A7B53E8A83C9}"/>
              </a:ext>
            </a:extLst>
          </p:cNvPr>
          <p:cNvSpPr>
            <a:spLocks noChangeArrowheads="1"/>
          </p:cNvSpPr>
          <p:nvPr/>
        </p:nvSpPr>
        <p:spPr bwMode="auto">
          <a:xfrm>
            <a:off x="916578" y="2407529"/>
            <a:ext cx="10733708" cy="184665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lang="it-IT" altLang="it-IT" sz="2000" dirty="0" err="1">
                <a:solidFill>
                  <a:srgbClr val="00E0E0"/>
                </a:solidFill>
                <a:latin typeface="Consolas" panose="020B0609020204030204" pitchFamily="49" charset="0"/>
              </a:rPr>
              <a:t>Main</a:t>
            </a:r>
            <a:r>
              <a:rPr lang="it-IT" altLang="it-IT" sz="2000" dirty="0">
                <a:solidFill>
                  <a:srgbClr val="00E0E0"/>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	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generator = </a:t>
            </a:r>
            <a:r>
              <a:rPr kumimoji="0" lang="it-IT" altLang="it-IT" sz="2000" b="0" i="0" u="none" strike="noStrike" cap="none" normalizeH="0" baseline="0" dirty="0">
                <a:ln>
                  <a:noFill/>
                </a:ln>
                <a:solidFill>
                  <a:srgbClr val="DCC6E0"/>
                </a:solidFill>
                <a:effectLst/>
                <a:latin typeface="Consolas" panose="020B0609020204030204" pitchFamily="49" charset="0"/>
              </a:rPr>
              <a:t>new</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generator.generateRandomNumber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5811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Secondo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due classi: una eseguibile ed una no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830908" y="1400523"/>
            <a:ext cx="10819377" cy="1015663"/>
          </a:xfrm>
          <a:prstGeom prst="rect">
            <a:avLst/>
          </a:prstGeom>
          <a:noFill/>
        </p:spPr>
        <p:txBody>
          <a:bodyPr wrap="square">
            <a:spAutoFit/>
          </a:bodyPr>
          <a:lstStyle/>
          <a:p>
            <a:pPr algn="l"/>
            <a:r>
              <a:rPr lang="it-IT" sz="3000" b="0" i="0" dirty="0">
                <a:solidFill>
                  <a:srgbClr val="050E17"/>
                </a:solidFill>
                <a:effectLst/>
                <a:latin typeface="-apple-system"/>
              </a:rPr>
              <a:t>Ora, creiamo un’altra classe nella medesima cartella, un file Main.java e scriviamo</a:t>
            </a:r>
          </a:p>
        </p:txBody>
      </p:sp>
      <p:sp>
        <p:nvSpPr>
          <p:cNvPr id="2" name="Rectangle 1">
            <a:extLst>
              <a:ext uri="{FF2B5EF4-FFF2-40B4-BE49-F238E27FC236}">
                <a16:creationId xmlns:a16="http://schemas.microsoft.com/office/drawing/2014/main" id="{B20478F4-CCC3-C258-074B-A7B53E8A83C9}"/>
              </a:ext>
            </a:extLst>
          </p:cNvPr>
          <p:cNvSpPr>
            <a:spLocks noChangeArrowheads="1"/>
          </p:cNvSpPr>
          <p:nvPr/>
        </p:nvSpPr>
        <p:spPr bwMode="auto">
          <a:xfrm>
            <a:off x="916578" y="2407529"/>
            <a:ext cx="10733708" cy="184665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a:ln>
                  <a:noFill/>
                </a:ln>
                <a:solidFill>
                  <a:srgbClr val="DCC6E0"/>
                </a:solidFill>
                <a:effectLst/>
                <a:latin typeface="Consolas" panose="020B0609020204030204" pitchFamily="49" charset="0"/>
              </a:rPr>
              <a:t>class</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lang="it-IT" altLang="it-IT" sz="2000" dirty="0" err="1">
                <a:solidFill>
                  <a:srgbClr val="00E0E0"/>
                </a:solidFill>
                <a:latin typeface="Consolas" panose="020B0609020204030204" pitchFamily="49" charset="0"/>
              </a:rPr>
              <a:t>Main</a:t>
            </a:r>
            <a:r>
              <a:rPr lang="it-IT" altLang="it-IT" sz="2000" dirty="0">
                <a:solidFill>
                  <a:srgbClr val="00E0E0"/>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DCC6E0"/>
                </a:solidFill>
                <a:effectLst/>
                <a:latin typeface="Consolas" panose="020B0609020204030204" pitchFamily="49" charset="0"/>
              </a:rPr>
              <a:t>	public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static</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DCC6E0"/>
                </a:solidFill>
                <a:effectLst/>
                <a:latin typeface="Consolas" panose="020B0609020204030204" pitchFamily="49" charset="0"/>
              </a:rPr>
              <a:t>void</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00E0E0"/>
                </a:solidFill>
                <a:effectLst/>
                <a:latin typeface="Consolas" panose="020B0609020204030204" pitchFamily="49" charset="0"/>
              </a:rPr>
              <a:t>main</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err="1">
                <a:ln>
                  <a:noFill/>
                </a:ln>
                <a:solidFill>
                  <a:srgbClr val="F5AB35"/>
                </a:solidFill>
                <a:effectLst/>
                <a:latin typeface="Consolas" panose="020B0609020204030204" pitchFamily="49" charset="0"/>
              </a:rPr>
              <a:t>String</a:t>
            </a:r>
            <a:r>
              <a:rPr kumimoji="0" lang="it-IT" altLang="it-IT" sz="2000" b="0" i="0" u="none" strike="noStrike" cap="none" normalizeH="0" baseline="0" dirty="0">
                <a:ln>
                  <a:noFill/>
                </a:ln>
                <a:solidFill>
                  <a:srgbClr val="F5AB35"/>
                </a:solidFill>
                <a:effectLst/>
                <a:latin typeface="Consolas" panose="020B0609020204030204" pitchFamily="49" charset="0"/>
              </a:rPr>
              <a:t>[] </a:t>
            </a:r>
            <a:r>
              <a:rPr kumimoji="0" lang="it-IT" altLang="it-IT" sz="2000" b="0" i="0" u="none" strike="noStrike" cap="none" normalizeH="0" baseline="0" dirty="0" err="1">
                <a:ln>
                  <a:noFill/>
                </a:ln>
                <a:solidFill>
                  <a:srgbClr val="F5AB35"/>
                </a:solidFill>
                <a:effectLst/>
                <a:latin typeface="Consolas" panose="020B0609020204030204" pitchFamily="49" charset="0"/>
              </a:rPr>
              <a:t>args</a:t>
            </a:r>
            <a:r>
              <a:rPr kumimoji="0" lang="it-IT" altLang="it-IT" sz="2000" b="0" i="0" u="none" strike="noStrike" cap="none" normalizeH="0" baseline="0" dirty="0">
                <a:ln>
                  <a:noFill/>
                </a:ln>
                <a:solidFill>
                  <a:srgbClr val="F5AB35"/>
                </a:solidFill>
                <a:effectLst/>
                <a:latin typeface="Consolas" panose="020B0609020204030204" pitchFamily="49" charset="0"/>
              </a:rPr>
              <a:t>)</a:t>
            </a:r>
            <a:r>
              <a:rPr kumimoji="0" lang="it-IT" altLang="it-IT" sz="2000" b="0" i="0" u="none" strike="noStrike" cap="none" normalizeH="0" baseline="0" dirty="0">
                <a:ln>
                  <a:noFill/>
                </a:ln>
                <a:solidFill>
                  <a:srgbClr val="F8F8F2"/>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generator = </a:t>
            </a:r>
            <a:r>
              <a:rPr kumimoji="0" lang="it-IT" altLang="it-IT" sz="2000" b="0" i="0" u="none" strike="noStrike" cap="none" normalizeH="0" baseline="0" dirty="0">
                <a:ln>
                  <a:noFill/>
                </a:ln>
                <a:solidFill>
                  <a:srgbClr val="DCC6E0"/>
                </a:solidFill>
                <a:effectLst/>
                <a:latin typeface="Consolas" panose="020B0609020204030204" pitchFamily="49" charset="0"/>
              </a:rPr>
              <a:t>new</a:t>
            </a:r>
            <a:r>
              <a:rPr kumimoji="0" lang="it-IT" altLang="it-IT" sz="2000" b="0" i="0" u="none" strike="noStrike" cap="none" normalizeH="0" baseline="0" dirty="0">
                <a:ln>
                  <a:noFill/>
                </a:ln>
                <a:solidFill>
                  <a:srgbClr val="F8F8F2"/>
                </a:solidFill>
                <a:effectLst/>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RandomNumberGenerator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err="1">
                <a:ln>
                  <a:noFill/>
                </a:ln>
                <a:solidFill>
                  <a:srgbClr val="F8F8F2"/>
                </a:solidFill>
                <a:effectLst/>
                <a:latin typeface="Consolas" panose="020B0609020204030204" pitchFamily="49" charset="0"/>
              </a:rPr>
              <a:t>generator.generateRandomNumber</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2000" dirty="0">
                <a:solidFill>
                  <a:srgbClr val="F8F8F2"/>
                </a:solidFill>
                <a:latin typeface="Consolas" panose="020B0609020204030204" pitchFamily="49" charset="0"/>
              </a:rPr>
              <a:t>	</a:t>
            </a:r>
            <a:r>
              <a:rPr kumimoji="0" lang="it-IT" altLang="it-IT" sz="2000" b="0" i="0" u="none" strike="noStrike" cap="none" normalizeH="0" baseline="0" dirty="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0" u="none" strike="noStrike" cap="none" normalizeH="0" baseline="0" dirty="0">
                <a:ln>
                  <a:noFill/>
                </a:ln>
                <a:solidFill>
                  <a:srgbClr val="F8F8F2"/>
                </a:solidFill>
                <a:effectLst/>
                <a:latin typeface="Consolas" panose="020B0609020204030204" pitchFamily="49" charset="0"/>
              </a:rPr>
              <a:t>}</a:t>
            </a:r>
            <a:r>
              <a:rPr kumimoji="0" lang="it-IT" altLang="it-IT" sz="2000" b="0" i="0" u="none" strike="noStrike" cap="none" normalizeH="0" baseline="0" dirty="0">
                <a:ln>
                  <a:noFill/>
                </a:ln>
                <a:solidFill>
                  <a:schemeClr val="tx1"/>
                </a:solidFill>
                <a:effectLst/>
              </a:rPr>
              <a:t> </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5" name="CasellaDiTesto 4">
            <a:extLst>
              <a:ext uri="{FF2B5EF4-FFF2-40B4-BE49-F238E27FC236}">
                <a16:creationId xmlns:a16="http://schemas.microsoft.com/office/drawing/2014/main" id="{6D4C62AA-B5FB-9E82-C7B3-7F8DC739ECAC}"/>
              </a:ext>
            </a:extLst>
          </p:cNvPr>
          <p:cNvSpPr txBox="1"/>
          <p:nvPr/>
        </p:nvSpPr>
        <p:spPr>
          <a:xfrm>
            <a:off x="830908" y="4451774"/>
            <a:ext cx="10819377" cy="1938992"/>
          </a:xfrm>
          <a:prstGeom prst="rect">
            <a:avLst/>
          </a:prstGeom>
          <a:noFill/>
        </p:spPr>
        <p:txBody>
          <a:bodyPr wrap="square">
            <a:spAutoFit/>
          </a:bodyPr>
          <a:lstStyle/>
          <a:p>
            <a:pPr algn="l"/>
            <a:r>
              <a:rPr lang="it-IT" sz="3000" b="0" i="0" dirty="0">
                <a:solidFill>
                  <a:srgbClr val="050E17"/>
                </a:solidFill>
                <a:effectLst/>
                <a:latin typeface="-apple-system"/>
              </a:rPr>
              <a:t>Possiamo osservare come questa classe eseguibile faccia uso chiaro e semplice della classe </a:t>
            </a:r>
            <a:r>
              <a:rPr lang="it-IT" sz="3000" b="0" i="0" dirty="0" err="1">
                <a:solidFill>
                  <a:srgbClr val="050E17"/>
                </a:solidFill>
                <a:effectLst/>
                <a:latin typeface="-apple-system"/>
              </a:rPr>
              <a:t>RandomNumberGenerator</a:t>
            </a:r>
            <a:r>
              <a:rPr lang="it-IT" sz="3000" b="0" i="0" dirty="0">
                <a:solidFill>
                  <a:srgbClr val="050E17"/>
                </a:solidFill>
                <a:effectLst/>
                <a:latin typeface="-apple-system"/>
              </a:rPr>
              <a:t> costruita prima, istanziandola (come abbiamo già accennato) e poi utilizzando il metodo </a:t>
            </a:r>
            <a:r>
              <a:rPr lang="it-IT" sz="3000" b="0" i="0" dirty="0" err="1">
                <a:solidFill>
                  <a:srgbClr val="050E17"/>
                </a:solidFill>
                <a:effectLst/>
                <a:latin typeface="-apple-system"/>
              </a:rPr>
              <a:t>generateRandomNumber</a:t>
            </a:r>
            <a:r>
              <a:rPr lang="it-IT" sz="3000" b="0" i="0" dirty="0">
                <a:solidFill>
                  <a:srgbClr val="050E17"/>
                </a:solidFill>
                <a:effectLst/>
                <a:latin typeface="-apple-system"/>
              </a:rPr>
              <a:t>(); </a:t>
            </a:r>
          </a:p>
        </p:txBody>
      </p:sp>
    </p:spTree>
    <p:extLst>
      <p:ext uri="{BB962C8B-B14F-4D97-AF65-F5344CB8AC3E}">
        <p14:creationId xmlns:p14="http://schemas.microsoft.com/office/powerpoint/2010/main" val="20862700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Terzo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968278"/>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una classe eseguibile e due metodi: </a:t>
            </a:r>
            <a:r>
              <a:rPr lang="it-IT" b="1" i="0" u="sng" dirty="0" err="1">
                <a:solidFill>
                  <a:srgbClr val="050E17"/>
                </a:solidFill>
                <a:effectLst/>
                <a:latin typeface="-apple-system"/>
              </a:rPr>
              <a:t>main</a:t>
            </a:r>
            <a:r>
              <a:rPr lang="it-IT" b="1" i="0" u="sng" dirty="0">
                <a:solidFill>
                  <a:srgbClr val="050E17"/>
                </a:solidFill>
                <a:effectLst/>
                <a:latin typeface="-apple-system"/>
              </a:rPr>
              <a:t> e </a:t>
            </a:r>
            <a:r>
              <a:rPr lang="it-IT" b="1" i="0" u="sng" dirty="0" err="1">
                <a:solidFill>
                  <a:srgbClr val="050E17"/>
                </a:solidFill>
                <a:effectLst/>
                <a:latin typeface="-apple-system"/>
              </a:rPr>
              <a:t>generateRandomNumber</a:t>
            </a:r>
            <a:r>
              <a:rPr lang="it-IT" b="1" i="0" u="sng" dirty="0">
                <a:solidFill>
                  <a:srgbClr val="050E17"/>
                </a:solidFill>
                <a:effectLst/>
                <a:latin typeface="-apple-system"/>
              </a:rPr>
              <a:t>()</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830908" y="1400523"/>
            <a:ext cx="10819377" cy="1938992"/>
          </a:xfrm>
          <a:prstGeom prst="rect">
            <a:avLst/>
          </a:prstGeom>
          <a:noFill/>
        </p:spPr>
        <p:txBody>
          <a:bodyPr wrap="square">
            <a:spAutoFit/>
          </a:bodyPr>
          <a:lstStyle/>
          <a:p>
            <a:pPr algn="l"/>
            <a:r>
              <a:rPr lang="it-IT" sz="3000" b="0" i="0" dirty="0">
                <a:solidFill>
                  <a:srgbClr val="050E17"/>
                </a:solidFill>
                <a:effectLst/>
                <a:latin typeface="-apple-system"/>
              </a:rPr>
              <a:t>Ora vediamo, come ultimo esempio, come produrre il medesimo programma usando una sola classe eseguibile, con il suo metodo </a:t>
            </a:r>
            <a:r>
              <a:rPr lang="it-IT" sz="3000" b="0" i="0" dirty="0" err="1">
                <a:solidFill>
                  <a:srgbClr val="050E17"/>
                </a:solidFill>
                <a:effectLst/>
                <a:latin typeface="-apple-system"/>
              </a:rPr>
              <a:t>main</a:t>
            </a:r>
            <a:r>
              <a:rPr lang="it-IT" sz="3000" b="0" i="0" dirty="0">
                <a:solidFill>
                  <a:srgbClr val="050E17"/>
                </a:solidFill>
                <a:effectLst/>
                <a:latin typeface="-apple-system"/>
              </a:rPr>
              <a:t> ed il metodo che genera e stampa il numero casuale realizzato da noi, tutto in uno!</a:t>
            </a:r>
          </a:p>
        </p:txBody>
      </p:sp>
    </p:spTree>
    <p:extLst>
      <p:ext uri="{BB962C8B-B14F-4D97-AF65-F5344CB8AC3E}">
        <p14:creationId xmlns:p14="http://schemas.microsoft.com/office/powerpoint/2010/main" val="2367298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Terzo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968278"/>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una classe eseguibile e due metodi: </a:t>
            </a:r>
            <a:r>
              <a:rPr lang="it-IT" b="1" i="0" u="sng" dirty="0" err="1">
                <a:solidFill>
                  <a:srgbClr val="050E17"/>
                </a:solidFill>
                <a:effectLst/>
                <a:latin typeface="-apple-system"/>
              </a:rPr>
              <a:t>main</a:t>
            </a:r>
            <a:r>
              <a:rPr lang="it-IT" b="1" i="0" u="sng" dirty="0">
                <a:solidFill>
                  <a:srgbClr val="050E17"/>
                </a:solidFill>
                <a:effectLst/>
                <a:latin typeface="-apple-system"/>
              </a:rPr>
              <a:t> e </a:t>
            </a:r>
            <a:r>
              <a:rPr lang="it-IT" b="1" i="0" u="sng" dirty="0" err="1">
                <a:solidFill>
                  <a:srgbClr val="050E17"/>
                </a:solidFill>
                <a:effectLst/>
                <a:latin typeface="-apple-system"/>
              </a:rPr>
              <a:t>generateRandomNumber</a:t>
            </a:r>
            <a:r>
              <a:rPr lang="it-IT" b="1" i="0" u="sng" dirty="0">
                <a:solidFill>
                  <a:srgbClr val="050E17"/>
                </a:solidFill>
                <a:effectLst/>
                <a:latin typeface="-apple-system"/>
              </a:rPr>
              <a:t>()</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12" name="CasellaDiTesto 11">
            <a:extLst>
              <a:ext uri="{FF2B5EF4-FFF2-40B4-BE49-F238E27FC236}">
                <a16:creationId xmlns:a16="http://schemas.microsoft.com/office/drawing/2014/main" id="{8711555B-1E9D-3A3A-F615-DA4847DE0374}"/>
              </a:ext>
            </a:extLst>
          </p:cNvPr>
          <p:cNvSpPr txBox="1"/>
          <p:nvPr/>
        </p:nvSpPr>
        <p:spPr>
          <a:xfrm>
            <a:off x="1231214" y="1674673"/>
            <a:ext cx="9729572" cy="3508653"/>
          </a:xfrm>
          <a:prstGeom prst="rect">
            <a:avLst/>
          </a:prstGeom>
          <a:noFill/>
        </p:spPr>
        <p:txBody>
          <a:bodyPr wrap="square">
            <a:spAutoFit/>
          </a:bodyPr>
          <a:lstStyle/>
          <a:p>
            <a:pPr algn="l"/>
            <a:r>
              <a:rPr lang="it-IT" sz="3000" b="0" i="0" dirty="0">
                <a:solidFill>
                  <a:srgbClr val="050E17"/>
                </a:solidFill>
                <a:effectLst/>
                <a:latin typeface="-apple-system"/>
              </a:rPr>
              <a:t>La prassi è la stessa di prima:</a:t>
            </a:r>
          </a:p>
          <a:p>
            <a:pPr algn="l">
              <a:buFont typeface="+mj-lt"/>
              <a:buAutoNum type="arabicPeriod"/>
            </a:pPr>
            <a:r>
              <a:rPr lang="it-IT" sz="3200" b="0" i="0" dirty="0">
                <a:solidFill>
                  <a:srgbClr val="050E17"/>
                </a:solidFill>
                <a:effectLst/>
                <a:latin typeface="-apple-system"/>
              </a:rPr>
              <a:t>Aprire un editor di testo o un IDE Java (</a:t>
            </a:r>
            <a:r>
              <a:rPr lang="it-IT" sz="3200" b="0" i="0" dirty="0" err="1">
                <a:solidFill>
                  <a:srgbClr val="050E17"/>
                </a:solidFill>
                <a:effectLst/>
                <a:latin typeface="-apple-system"/>
              </a:rPr>
              <a:t>Integrated</a:t>
            </a:r>
            <a:r>
              <a:rPr lang="it-IT" sz="3200" b="0" i="0" dirty="0">
                <a:solidFill>
                  <a:srgbClr val="050E17"/>
                </a:solidFill>
                <a:effectLst/>
                <a:latin typeface="-apple-system"/>
              </a:rPr>
              <a:t> Development Environment) come Eclipse o IntelliJ IDEA.</a:t>
            </a:r>
          </a:p>
          <a:p>
            <a:pPr algn="l">
              <a:buFont typeface="+mj-lt"/>
              <a:buAutoNum type="arabicPeriod"/>
            </a:pPr>
            <a:r>
              <a:rPr lang="it-IT" sz="3200" b="0" i="0" dirty="0">
                <a:solidFill>
                  <a:srgbClr val="050E17"/>
                </a:solidFill>
                <a:effectLst/>
                <a:latin typeface="-apple-system"/>
              </a:rPr>
              <a:t>Creare un nuovo file Java chiamato "RandomNumberGenerator.java". </a:t>
            </a:r>
          </a:p>
          <a:p>
            <a:pPr algn="l">
              <a:buFont typeface="+mj-lt"/>
              <a:buAutoNum type="arabicPeriod"/>
            </a:pPr>
            <a:r>
              <a:rPr lang="it-IT" sz="3200" b="0" i="0" dirty="0">
                <a:solidFill>
                  <a:srgbClr val="050E17"/>
                </a:solidFill>
                <a:effectLst/>
                <a:latin typeface="-apple-system"/>
              </a:rPr>
              <a:t>All'interno del file Java, definirei una classe chiamata "</a:t>
            </a:r>
            <a:r>
              <a:rPr lang="it-IT" sz="3200" b="0" i="0" dirty="0" err="1">
                <a:solidFill>
                  <a:srgbClr val="050E17"/>
                </a:solidFill>
                <a:effectLst/>
                <a:latin typeface="-apple-system"/>
              </a:rPr>
              <a:t>RandomNumberGenerator</a:t>
            </a:r>
            <a:endParaRPr lang="it-IT" sz="3000" b="0" i="0" dirty="0">
              <a:solidFill>
                <a:srgbClr val="050E17"/>
              </a:solidFill>
              <a:effectLst/>
              <a:latin typeface="-apple-system"/>
            </a:endParaRPr>
          </a:p>
        </p:txBody>
      </p:sp>
    </p:spTree>
    <p:extLst>
      <p:ext uri="{BB962C8B-B14F-4D97-AF65-F5344CB8AC3E}">
        <p14:creationId xmlns:p14="http://schemas.microsoft.com/office/powerpoint/2010/main" val="19525045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Terzo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968278"/>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una classe eseguibile e due metodi: </a:t>
            </a:r>
            <a:r>
              <a:rPr lang="it-IT" b="1" i="0" u="sng" dirty="0" err="1">
                <a:solidFill>
                  <a:srgbClr val="050E17"/>
                </a:solidFill>
                <a:effectLst/>
                <a:latin typeface="-apple-system"/>
              </a:rPr>
              <a:t>main</a:t>
            </a:r>
            <a:r>
              <a:rPr lang="it-IT" b="1" i="0" u="sng" dirty="0">
                <a:solidFill>
                  <a:srgbClr val="050E17"/>
                </a:solidFill>
                <a:effectLst/>
                <a:latin typeface="-apple-system"/>
              </a:rPr>
              <a:t> e </a:t>
            </a:r>
            <a:r>
              <a:rPr lang="it-IT" b="1" i="0" u="sng" dirty="0" err="1">
                <a:solidFill>
                  <a:srgbClr val="050E17"/>
                </a:solidFill>
                <a:effectLst/>
                <a:latin typeface="-apple-system"/>
              </a:rPr>
              <a:t>generateRandomNumber</a:t>
            </a:r>
            <a:r>
              <a:rPr lang="it-IT" b="1" i="0" u="sng" dirty="0">
                <a:solidFill>
                  <a:srgbClr val="050E17"/>
                </a:solidFill>
                <a:effectLst/>
                <a:latin typeface="-apple-system"/>
              </a:rPr>
              <a:t>()</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6D11A1B-61B5-C766-2462-1C7804946AA9}"/>
              </a:ext>
            </a:extLst>
          </p:cNvPr>
          <p:cNvSpPr txBox="1"/>
          <p:nvPr/>
        </p:nvSpPr>
        <p:spPr>
          <a:xfrm>
            <a:off x="698739" y="2260730"/>
            <a:ext cx="10972800" cy="2308324"/>
          </a:xfrm>
          <a:prstGeom prst="rect">
            <a:avLst/>
          </a:prstGeom>
          <a:solidFill>
            <a:schemeClr val="tx1">
              <a:lumMod val="75000"/>
              <a:lumOff val="2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RandomNumberGenerator</a:t>
            </a:r>
            <a:r>
              <a:rPr lang="it-IT" b="0" dirty="0">
                <a:solidFill>
                  <a:srgbClr val="D4D4D4"/>
                </a:solidFill>
                <a:effectLst/>
                <a:latin typeface="Consolas" panose="020B0609020204030204" pitchFamily="49" charset="0"/>
              </a:rPr>
              <a:t>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generateRandomNumber</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Math.random</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"Il numero casuale generato è: "</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randomNumber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p:txBody>
      </p:sp>
      <p:sp>
        <p:nvSpPr>
          <p:cNvPr id="8" name="CasellaDiTesto 7">
            <a:extLst>
              <a:ext uri="{FF2B5EF4-FFF2-40B4-BE49-F238E27FC236}">
                <a16:creationId xmlns:a16="http://schemas.microsoft.com/office/drawing/2014/main" id="{2F1F3F00-6F17-3395-2970-F582E6D61D06}"/>
              </a:ext>
            </a:extLst>
          </p:cNvPr>
          <p:cNvSpPr txBox="1"/>
          <p:nvPr/>
        </p:nvSpPr>
        <p:spPr>
          <a:xfrm>
            <a:off x="698739" y="1670509"/>
            <a:ext cx="10972800" cy="369332"/>
          </a:xfrm>
          <a:prstGeom prst="rect">
            <a:avLst/>
          </a:prstGeom>
          <a:noFill/>
        </p:spPr>
        <p:txBody>
          <a:bodyPr wrap="square">
            <a:spAutoFit/>
          </a:bodyPr>
          <a:lstStyle/>
          <a:p>
            <a:r>
              <a:rPr lang="it-IT" sz="1800" b="0" i="0" dirty="0">
                <a:solidFill>
                  <a:srgbClr val="050E17"/>
                </a:solidFill>
                <a:effectLst/>
                <a:latin typeface="-apple-system"/>
              </a:rPr>
              <a:t>Realizziamo la classe con il metodo </a:t>
            </a:r>
            <a:r>
              <a:rPr lang="it-IT" sz="1800" b="0" i="0" dirty="0" err="1">
                <a:solidFill>
                  <a:srgbClr val="050E17"/>
                </a:solidFill>
                <a:effectLst/>
                <a:latin typeface="-apple-system"/>
              </a:rPr>
              <a:t>RandomNumberGenerator</a:t>
            </a:r>
            <a:r>
              <a:rPr lang="it-IT" sz="1800" b="0" i="0" dirty="0">
                <a:solidFill>
                  <a:srgbClr val="050E17"/>
                </a:solidFill>
                <a:effectLst/>
                <a:latin typeface="-apple-system"/>
              </a:rPr>
              <a:t>(), come prima </a:t>
            </a:r>
            <a:endParaRPr lang="it-IT" dirty="0"/>
          </a:p>
        </p:txBody>
      </p:sp>
    </p:spTree>
    <p:extLst>
      <p:ext uri="{BB962C8B-B14F-4D97-AF65-F5344CB8AC3E}">
        <p14:creationId xmlns:p14="http://schemas.microsoft.com/office/powerpoint/2010/main" val="38231031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Terzo piccolo esempio pratico</a:t>
            </a: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968278"/>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Sviluppo di un piccolo programma JAVA che genera un numero casuale usando una classe eseguibile e due metodi: </a:t>
            </a:r>
            <a:r>
              <a:rPr lang="it-IT" b="1" i="0" u="sng" dirty="0" err="1">
                <a:solidFill>
                  <a:srgbClr val="050E17"/>
                </a:solidFill>
                <a:effectLst/>
                <a:latin typeface="-apple-system"/>
              </a:rPr>
              <a:t>main</a:t>
            </a:r>
            <a:r>
              <a:rPr lang="it-IT" b="1" i="0" u="sng" dirty="0">
                <a:solidFill>
                  <a:srgbClr val="050E17"/>
                </a:solidFill>
                <a:effectLst/>
                <a:latin typeface="-apple-system"/>
              </a:rPr>
              <a:t> e </a:t>
            </a:r>
            <a:r>
              <a:rPr lang="it-IT" b="1" i="0" u="sng" dirty="0" err="1">
                <a:solidFill>
                  <a:srgbClr val="050E17"/>
                </a:solidFill>
                <a:effectLst/>
                <a:latin typeface="-apple-system"/>
              </a:rPr>
              <a:t>generateRandomNumber</a:t>
            </a:r>
            <a:r>
              <a:rPr lang="it-IT" b="1" i="0" u="sng" dirty="0">
                <a:solidFill>
                  <a:srgbClr val="050E17"/>
                </a:solidFill>
                <a:effectLst/>
                <a:latin typeface="-apple-system"/>
              </a:rPr>
              <a:t>()</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7" name="CasellaDiTesto 6">
            <a:extLst>
              <a:ext uri="{FF2B5EF4-FFF2-40B4-BE49-F238E27FC236}">
                <a16:creationId xmlns:a16="http://schemas.microsoft.com/office/drawing/2014/main" id="{66D11A1B-61B5-C766-2462-1C7804946AA9}"/>
              </a:ext>
            </a:extLst>
          </p:cNvPr>
          <p:cNvSpPr txBox="1"/>
          <p:nvPr/>
        </p:nvSpPr>
        <p:spPr>
          <a:xfrm>
            <a:off x="715992" y="2237948"/>
            <a:ext cx="10972800" cy="3416320"/>
          </a:xfrm>
          <a:prstGeom prst="rect">
            <a:avLst/>
          </a:prstGeom>
          <a:solidFill>
            <a:schemeClr val="tx1">
              <a:lumMod val="75000"/>
              <a:lumOff val="25000"/>
            </a:schemeClr>
          </a:solidFill>
        </p:spPr>
        <p:txBody>
          <a:bodyPr wrap="square">
            <a:spAutoFit/>
          </a:bodyPr>
          <a:lstStyle/>
          <a:p>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class</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RandomNumberGenerator</a:t>
            </a:r>
            <a:r>
              <a:rPr lang="it-IT" b="0" dirty="0">
                <a:solidFill>
                  <a:srgbClr val="D4D4D4"/>
                </a:solidFill>
                <a:effectLst/>
                <a:latin typeface="Consolas" panose="020B0609020204030204" pitchFamily="49" charset="0"/>
              </a:rPr>
              <a:t> {</a:t>
            </a:r>
          </a:p>
          <a:p>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generateRandomNumber</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double</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Math.random</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System.out.println</a:t>
            </a:r>
            <a:r>
              <a:rPr lang="it-IT" b="0" dirty="0">
                <a:solidFill>
                  <a:srgbClr val="D4D4D4"/>
                </a:solidFill>
                <a:effectLst/>
                <a:latin typeface="Consolas" panose="020B0609020204030204" pitchFamily="49" charset="0"/>
              </a:rPr>
              <a:t>(</a:t>
            </a:r>
            <a:r>
              <a:rPr lang="it-IT" b="0" dirty="0">
                <a:solidFill>
                  <a:srgbClr val="CE9178"/>
                </a:solidFill>
                <a:effectLst/>
                <a:latin typeface="Consolas" panose="020B0609020204030204" pitchFamily="49" charset="0"/>
              </a:rPr>
              <a:t>"Il numero casuale generato è: "</a:t>
            </a:r>
            <a:r>
              <a:rPr lang="it-IT" b="0" dirty="0">
                <a:solidFill>
                  <a:srgbClr val="D4D4D4"/>
                </a:solidFill>
                <a:effectLst/>
                <a:latin typeface="Consolas" panose="020B0609020204030204" pitchFamily="49" charset="0"/>
              </a:rPr>
              <a:t> + </a:t>
            </a:r>
            <a:r>
              <a:rPr lang="it-IT" b="0" dirty="0" err="1">
                <a:solidFill>
                  <a:srgbClr val="D4D4D4"/>
                </a:solidFill>
                <a:effectLst/>
                <a:latin typeface="Consolas" panose="020B0609020204030204" pitchFamily="49" charset="0"/>
              </a:rPr>
              <a:t>randomNumber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a:solidFill>
                  <a:srgbClr val="569CD6"/>
                </a:solidFill>
                <a:effectLst/>
                <a:latin typeface="Consolas" panose="020B0609020204030204" pitchFamily="49" charset="0"/>
              </a:rPr>
              <a:t>public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static</a:t>
            </a:r>
            <a:r>
              <a:rPr lang="it-IT" b="0" dirty="0">
                <a:solidFill>
                  <a:srgbClr val="D4D4D4"/>
                </a:solidFill>
                <a:effectLst/>
                <a:latin typeface="Consolas" panose="020B0609020204030204" pitchFamily="49" charset="0"/>
              </a:rPr>
              <a:t> </a:t>
            </a:r>
            <a:r>
              <a:rPr lang="it-IT" b="0" dirty="0" err="1">
                <a:solidFill>
                  <a:srgbClr val="569CD6"/>
                </a:solidFill>
                <a:effectLst/>
                <a:latin typeface="Consolas" panose="020B0609020204030204" pitchFamily="49" charset="0"/>
              </a:rPr>
              <a:t>void</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main</a:t>
            </a:r>
            <a:r>
              <a:rPr lang="it-IT" b="0" dirty="0">
                <a:solidFill>
                  <a:srgbClr val="D4D4D4"/>
                </a:solidFill>
                <a:effectLst/>
                <a:latin typeface="Consolas" panose="020B0609020204030204" pitchFamily="49" charset="0"/>
              </a:rPr>
              <a:t>(</a:t>
            </a:r>
            <a:r>
              <a:rPr lang="it-IT" b="0" dirty="0" err="1">
                <a:solidFill>
                  <a:srgbClr val="D4D4D4"/>
                </a:solidFill>
                <a:effectLst/>
                <a:latin typeface="Consolas" panose="020B0609020204030204" pitchFamily="49" charset="0"/>
              </a:rPr>
              <a:t>String</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args</a:t>
            </a:r>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RandomNumberGenerator</a:t>
            </a:r>
            <a:r>
              <a:rPr lang="it-IT" b="0" dirty="0">
                <a:solidFill>
                  <a:srgbClr val="D4D4D4"/>
                </a:solidFill>
                <a:effectLst/>
                <a:latin typeface="Consolas" panose="020B0609020204030204" pitchFamily="49" charset="0"/>
              </a:rPr>
              <a:t> generator = </a:t>
            </a:r>
            <a:r>
              <a:rPr lang="it-IT" b="0" dirty="0">
                <a:solidFill>
                  <a:srgbClr val="569CD6"/>
                </a:solidFill>
                <a:effectLst/>
                <a:latin typeface="Consolas" panose="020B0609020204030204" pitchFamily="49" charset="0"/>
              </a:rPr>
              <a:t>new</a:t>
            </a:r>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RandomNumberGenerator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r>
              <a:rPr lang="it-IT" b="0" dirty="0" err="1">
                <a:solidFill>
                  <a:srgbClr val="D4D4D4"/>
                </a:solidFill>
                <a:effectLst/>
                <a:latin typeface="Consolas" panose="020B0609020204030204" pitchFamily="49" charset="0"/>
              </a:rPr>
              <a:t>generator.generateRandomNumber</a:t>
            </a:r>
            <a:r>
              <a:rPr lang="it-IT" b="0" dirty="0">
                <a:solidFill>
                  <a:srgbClr val="D4D4D4"/>
                </a:solidFill>
                <a:effectLst/>
                <a:latin typeface="Consolas" panose="020B0609020204030204" pitchFamily="49" charset="0"/>
              </a:rPr>
              <a:t>()</a:t>
            </a:r>
            <a:r>
              <a:rPr lang="it-IT" b="0" dirty="0">
                <a:solidFill>
                  <a:srgbClr val="569CD6"/>
                </a:solidFill>
                <a:effectLst/>
                <a:latin typeface="Consolas" panose="020B0609020204030204" pitchFamily="49" charset="0"/>
              </a:rPr>
              <a:t>;</a:t>
            </a:r>
            <a:endParaRPr lang="it-IT" b="0" dirty="0">
              <a:solidFill>
                <a:srgbClr val="D4D4D4"/>
              </a:solidFill>
              <a:effectLst/>
              <a:latin typeface="Consolas" panose="020B0609020204030204" pitchFamily="49" charset="0"/>
            </a:endParaRPr>
          </a:p>
          <a:p>
            <a:r>
              <a:rPr lang="it-IT" b="0" dirty="0">
                <a:solidFill>
                  <a:srgbClr val="D4D4D4"/>
                </a:solidFill>
                <a:effectLst/>
                <a:latin typeface="Consolas" panose="020B0609020204030204" pitchFamily="49" charset="0"/>
              </a:rPr>
              <a:t>    }</a:t>
            </a:r>
          </a:p>
          <a:p>
            <a:r>
              <a:rPr lang="it-IT" b="0" dirty="0">
                <a:solidFill>
                  <a:srgbClr val="D4D4D4"/>
                </a:solidFill>
                <a:effectLst/>
                <a:latin typeface="Consolas" panose="020B0609020204030204" pitchFamily="49" charset="0"/>
              </a:rPr>
              <a:t>}</a:t>
            </a: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98739" y="1670509"/>
            <a:ext cx="10972800" cy="369332"/>
          </a:xfrm>
          <a:prstGeom prst="rect">
            <a:avLst/>
          </a:prstGeom>
          <a:noFill/>
        </p:spPr>
        <p:txBody>
          <a:bodyPr wrap="square">
            <a:spAutoFit/>
          </a:bodyPr>
          <a:lstStyle/>
          <a:p>
            <a:r>
              <a:rPr lang="it-IT" sz="1800" b="0" i="0" dirty="0">
                <a:solidFill>
                  <a:srgbClr val="050E17"/>
                </a:solidFill>
                <a:effectLst/>
                <a:latin typeface="-apple-system"/>
              </a:rPr>
              <a:t>Realizziamo poi la classe </a:t>
            </a:r>
            <a:r>
              <a:rPr lang="it-IT" sz="1800" b="0" i="0" dirty="0" err="1">
                <a:solidFill>
                  <a:srgbClr val="050E17"/>
                </a:solidFill>
                <a:effectLst/>
                <a:latin typeface="-apple-system"/>
              </a:rPr>
              <a:t>main</a:t>
            </a:r>
            <a:r>
              <a:rPr lang="it-IT" dirty="0">
                <a:solidFill>
                  <a:srgbClr val="050E17"/>
                </a:solidFill>
                <a:latin typeface="-apple-system"/>
              </a:rPr>
              <a:t>, che lo utilizza</a:t>
            </a:r>
            <a:endParaRPr lang="it-IT" dirty="0"/>
          </a:p>
        </p:txBody>
      </p:sp>
    </p:spTree>
    <p:extLst>
      <p:ext uri="{BB962C8B-B14F-4D97-AF65-F5344CB8AC3E}">
        <p14:creationId xmlns:p14="http://schemas.microsoft.com/office/powerpoint/2010/main" val="39101845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Approfondimento</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Il meccanismo della importazione</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9028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2421032"/>
            <a:ext cx="10972800" cy="2015936"/>
          </a:xfrm>
          <a:prstGeom prst="rect">
            <a:avLst/>
          </a:prstGeom>
          <a:noFill/>
        </p:spPr>
        <p:txBody>
          <a:bodyPr wrap="square">
            <a:spAutoFit/>
          </a:bodyPr>
          <a:lstStyle/>
          <a:p>
            <a:pPr algn="ctr"/>
            <a:r>
              <a:rPr lang="it-IT" sz="2500" b="0" i="0" dirty="0">
                <a:solidFill>
                  <a:srgbClr val="050E17"/>
                </a:solidFill>
                <a:effectLst/>
                <a:latin typeface="-apple-system"/>
              </a:rPr>
              <a:t>Quando dall’interno di una classe, in un metodo (o più in generale dal metodo eseguibile </a:t>
            </a:r>
            <a:r>
              <a:rPr lang="it-IT" sz="2500" b="0" i="0" dirty="0" err="1">
                <a:solidFill>
                  <a:srgbClr val="050E17"/>
                </a:solidFill>
                <a:effectLst/>
                <a:latin typeface="-apple-system"/>
              </a:rPr>
              <a:t>main</a:t>
            </a:r>
            <a:r>
              <a:rPr lang="it-IT" sz="2500" b="0" i="0" dirty="0">
                <a:solidFill>
                  <a:srgbClr val="050E17"/>
                </a:solidFill>
                <a:effectLst/>
                <a:latin typeface="-apple-system"/>
              </a:rPr>
              <a:t> di una classe eseguibile) richiamiamo un’altra classe, questa dev</a:t>
            </a:r>
            <a:r>
              <a:rPr lang="it-IT" sz="2500" dirty="0">
                <a:solidFill>
                  <a:srgbClr val="050E17"/>
                </a:solidFill>
                <a:latin typeface="-apple-system"/>
              </a:rPr>
              <a:t>e essere raggiungibile, ossia il compilatore e la macchina virtuale JAVA (</a:t>
            </a:r>
            <a:r>
              <a:rPr lang="it-IT" sz="2500" dirty="0" err="1">
                <a:solidFill>
                  <a:srgbClr val="050E17"/>
                </a:solidFill>
                <a:latin typeface="-apple-system"/>
              </a:rPr>
              <a:t>javac</a:t>
            </a:r>
            <a:r>
              <a:rPr lang="it-IT" sz="2500" dirty="0">
                <a:solidFill>
                  <a:srgbClr val="050E17"/>
                </a:solidFill>
                <a:latin typeface="-apple-system"/>
              </a:rPr>
              <a:t> e java) devono essere in grado, partendo dal file che stanno eseguendo, di accedere al file della classe che viene richiesta.</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5682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861774"/>
          </a:xfrm>
          <a:prstGeom prst="rect">
            <a:avLst/>
          </a:prstGeom>
          <a:noFill/>
        </p:spPr>
        <p:txBody>
          <a:bodyPr wrap="square">
            <a:spAutoFit/>
          </a:bodyPr>
          <a:lstStyle/>
          <a:p>
            <a:pPr algn="just"/>
            <a:r>
              <a:rPr lang="it-IT" sz="2500" dirty="0">
                <a:solidFill>
                  <a:srgbClr val="050E17"/>
                </a:solidFill>
                <a:latin typeface="-apple-system"/>
              </a:rPr>
              <a:t>Quindi se la classe che richiediamo è nella medesima cartella di quella che stiamo eseguendo sarà sufficiente usare quella classe. </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57369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1631216"/>
          </a:xfrm>
          <a:prstGeom prst="rect">
            <a:avLst/>
          </a:prstGeom>
          <a:noFill/>
        </p:spPr>
        <p:txBody>
          <a:bodyPr wrap="square">
            <a:spAutoFit/>
          </a:bodyPr>
          <a:lstStyle/>
          <a:p>
            <a:pPr algn="just"/>
            <a:r>
              <a:rPr lang="it-IT" sz="2500" dirty="0">
                <a:solidFill>
                  <a:srgbClr val="050E17"/>
                </a:solidFill>
                <a:latin typeface="-apple-system"/>
              </a:rPr>
              <a:t>In caso contrario è possibile eseguirle in due casi: se il percorso su disco dove è sita la classe è nel CLASS_PATH di sistema (quindi in qualche modo) il compilatore e la macchina virtuale JAVA (</a:t>
            </a:r>
            <a:r>
              <a:rPr lang="it-IT" sz="2500" dirty="0" err="1">
                <a:solidFill>
                  <a:srgbClr val="050E17"/>
                </a:solidFill>
                <a:latin typeface="-apple-system"/>
              </a:rPr>
              <a:t>javac</a:t>
            </a:r>
            <a:r>
              <a:rPr lang="it-IT" sz="2500" dirty="0">
                <a:solidFill>
                  <a:srgbClr val="050E17"/>
                </a:solidFill>
                <a:latin typeface="-apple-system"/>
              </a:rPr>
              <a:t> e java) la vedono come se fosse nella medesima cartella…</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7434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1631216"/>
          </a:xfrm>
          <a:prstGeom prst="rect">
            <a:avLst/>
          </a:prstGeom>
          <a:noFill/>
        </p:spPr>
        <p:txBody>
          <a:bodyPr wrap="square">
            <a:spAutoFit/>
          </a:bodyPr>
          <a:lstStyle/>
          <a:p>
            <a:pPr algn="just"/>
            <a:r>
              <a:rPr lang="it-IT" sz="2500" dirty="0">
                <a:solidFill>
                  <a:srgbClr val="050E17"/>
                </a:solidFill>
                <a:latin typeface="-apple-system"/>
              </a:rPr>
              <a:t>oppure se (a partire da una directory presente nella CLASS_PATH di sistema  esiste un percorso a cartelle, dentro cui c’è il file della classe, configurato in modo che quel percorso risulti un package e se tale package viene indicato nella </a:t>
            </a:r>
            <a:r>
              <a:rPr lang="it-IT" sz="2500" dirty="0" err="1">
                <a:solidFill>
                  <a:srgbClr val="050E17"/>
                </a:solidFill>
                <a:latin typeface="-apple-system"/>
              </a:rPr>
              <a:t>richeista</a:t>
            </a:r>
            <a:r>
              <a:rPr lang="it-IT" sz="2500" dirty="0">
                <a:solidFill>
                  <a:srgbClr val="050E17"/>
                </a:solidFill>
                <a:latin typeface="-apple-system"/>
              </a:rPr>
              <a:t>, è sufficiente che il </a:t>
            </a:r>
            <a:r>
              <a:rPr lang="it-IT" sz="2500" dirty="0" err="1">
                <a:solidFill>
                  <a:srgbClr val="050E17"/>
                </a:solidFill>
                <a:latin typeface="-apple-system"/>
              </a:rPr>
              <a:t>class_path</a:t>
            </a:r>
            <a:r>
              <a:rPr lang="it-IT" sz="2500" dirty="0">
                <a:solidFill>
                  <a:srgbClr val="050E17"/>
                </a:solidFill>
                <a:latin typeface="-apple-system"/>
              </a:rPr>
              <a:t> del sistema includa le cartelle da cui iniziano i package.</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49324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861774"/>
          </a:xfrm>
          <a:prstGeom prst="rect">
            <a:avLst/>
          </a:prstGeom>
          <a:noFill/>
        </p:spPr>
        <p:txBody>
          <a:bodyPr wrap="square">
            <a:spAutoFit/>
          </a:bodyPr>
          <a:lstStyle/>
          <a:p>
            <a:pPr algn="just"/>
            <a:r>
              <a:rPr lang="it-IT" sz="2500" dirty="0">
                <a:solidFill>
                  <a:srgbClr val="050E17"/>
                </a:solidFill>
                <a:latin typeface="-apple-system"/>
              </a:rPr>
              <a:t>Il package è un meccanismo di raggruppamento delle classi (quelle che creiamo od alcune già esistenti)</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1578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861774"/>
          </a:xfrm>
          <a:prstGeom prst="rect">
            <a:avLst/>
          </a:prstGeom>
          <a:noFill/>
        </p:spPr>
        <p:txBody>
          <a:bodyPr wrap="square">
            <a:spAutoFit/>
          </a:bodyPr>
          <a:lstStyle/>
          <a:p>
            <a:pPr algn="just"/>
            <a:r>
              <a:rPr lang="it-IT" sz="2500" dirty="0">
                <a:solidFill>
                  <a:srgbClr val="050E17"/>
                </a:solidFill>
                <a:latin typeface="-apple-system"/>
              </a:rPr>
              <a:t>Per esempio tutte le classi che creiamo, utili per la connessione ad un database, potremmo raggrupparle nel package database</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0651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1631216"/>
          </a:xfrm>
          <a:prstGeom prst="rect">
            <a:avLst/>
          </a:prstGeom>
          <a:noFill/>
        </p:spPr>
        <p:txBody>
          <a:bodyPr wrap="square">
            <a:spAutoFit/>
          </a:bodyPr>
          <a:lstStyle/>
          <a:p>
            <a:pPr algn="just"/>
            <a:r>
              <a:rPr lang="it-IT" sz="2500" dirty="0">
                <a:solidFill>
                  <a:srgbClr val="050E17"/>
                </a:solidFill>
                <a:latin typeface="-apple-system"/>
              </a:rPr>
              <a:t>Questo significherebbe raggrupparle sotto una cartella, per esempio la cartella «database» e poi in quelle classi aggiungere, in alto, il comando</a:t>
            </a:r>
          </a:p>
          <a:p>
            <a:pPr algn="just"/>
            <a:endParaRPr lang="it-IT" sz="2500" dirty="0">
              <a:solidFill>
                <a:srgbClr val="050E17"/>
              </a:solidFill>
              <a:latin typeface="-apple-system"/>
            </a:endParaRPr>
          </a:p>
          <a:p>
            <a:pPr algn="ctr"/>
            <a:r>
              <a:rPr lang="it-IT" sz="2500" dirty="0">
                <a:solidFill>
                  <a:srgbClr val="050E17"/>
                </a:solidFill>
                <a:latin typeface="-apple-system"/>
              </a:rPr>
              <a:t>package database;</a:t>
            </a:r>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5343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2400657"/>
          </a:xfrm>
          <a:prstGeom prst="rect">
            <a:avLst/>
          </a:prstGeom>
          <a:noFill/>
        </p:spPr>
        <p:txBody>
          <a:bodyPr wrap="square">
            <a:spAutoFit/>
          </a:bodyPr>
          <a:lstStyle/>
          <a:p>
            <a:pPr algn="just"/>
            <a:r>
              <a:rPr lang="it-IT" sz="2500" dirty="0">
                <a:solidFill>
                  <a:srgbClr val="050E17"/>
                </a:solidFill>
                <a:latin typeface="-apple-system"/>
              </a:rPr>
              <a:t>Questo significherebbe raggrupparle sotto una cartella, per esempio la cartella «database» e poi in quelle classi aggiungere, in alto, il comando</a:t>
            </a:r>
          </a:p>
          <a:p>
            <a:pPr algn="just"/>
            <a:endParaRPr lang="it-IT" sz="2500" dirty="0">
              <a:solidFill>
                <a:srgbClr val="050E17"/>
              </a:solidFill>
              <a:latin typeface="-apple-system"/>
            </a:endParaRPr>
          </a:p>
          <a:p>
            <a:pPr algn="ctr"/>
            <a:r>
              <a:rPr lang="it-IT" sz="2500" dirty="0">
                <a:solidFill>
                  <a:srgbClr val="050E17"/>
                </a:solidFill>
                <a:latin typeface="-apple-system"/>
              </a:rPr>
              <a:t>package database;</a:t>
            </a:r>
          </a:p>
          <a:p>
            <a:pPr algn="ctr"/>
            <a:endParaRPr lang="it-IT" sz="2500" dirty="0">
              <a:solidFill>
                <a:srgbClr val="050E17"/>
              </a:solidFill>
              <a:latin typeface="-apple-system"/>
            </a:endParaRPr>
          </a:p>
          <a:p>
            <a:r>
              <a:rPr lang="it-IT" sz="2500" dirty="0">
                <a:solidFill>
                  <a:srgbClr val="050E17"/>
                </a:solidFill>
                <a:latin typeface="-apple-system"/>
              </a:rPr>
              <a:t>Supponiamo, allora di avere una classe chiamata </a:t>
            </a:r>
            <a:r>
              <a:rPr lang="it-IT" sz="2500" dirty="0" err="1">
                <a:solidFill>
                  <a:srgbClr val="050E17"/>
                </a:solidFill>
                <a:latin typeface="-apple-system"/>
              </a:rPr>
              <a:t>MyDb</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0244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1246495"/>
          </a:xfrm>
          <a:prstGeom prst="rect">
            <a:avLst/>
          </a:prstGeom>
          <a:noFill/>
        </p:spPr>
        <p:txBody>
          <a:bodyPr wrap="square">
            <a:spAutoFit/>
          </a:bodyPr>
          <a:lstStyle/>
          <a:p>
            <a:pPr algn="just"/>
            <a:r>
              <a:rPr lang="it-IT" sz="2500" dirty="0">
                <a:solidFill>
                  <a:srgbClr val="050E17"/>
                </a:solidFill>
                <a:latin typeface="-apple-system"/>
              </a:rPr>
              <a:t>A questo punto, se la cartella «database» è accessibile da una nostra classe, per esempio se tale cartella è nella medesima cartella di una classe dalla quale vogliamo farne uso, basterà importarla con:</a:t>
            </a:r>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9264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2015936"/>
          </a:xfrm>
          <a:prstGeom prst="rect">
            <a:avLst/>
          </a:prstGeom>
          <a:noFill/>
        </p:spPr>
        <p:txBody>
          <a:bodyPr wrap="square">
            <a:spAutoFit/>
          </a:bodyPr>
          <a:lstStyle/>
          <a:p>
            <a:pPr algn="just"/>
            <a:r>
              <a:rPr lang="it-IT" sz="2500" dirty="0">
                <a:solidFill>
                  <a:srgbClr val="050E17"/>
                </a:solidFill>
                <a:latin typeface="-apple-system"/>
              </a:rPr>
              <a:t>A questo punto, se la cartella «database» è accessibile da una nostra classe, per esempio se tale cartella è nella medesima cartella di una classe dalla quale vogliamo farne uso, basterà importarla con:</a:t>
            </a:r>
          </a:p>
          <a:p>
            <a:pPr algn="just"/>
            <a:endParaRPr lang="it-IT" sz="2500" dirty="0">
              <a:solidFill>
                <a:srgbClr val="050E17"/>
              </a:solidFill>
              <a:latin typeface="-apple-system"/>
            </a:endParaRPr>
          </a:p>
          <a:p>
            <a:pPr algn="ctr"/>
            <a:r>
              <a:rPr lang="it-IT" sz="2500" dirty="0">
                <a:solidFill>
                  <a:srgbClr val="050E17"/>
                </a:solidFill>
                <a:latin typeface="-apple-system"/>
              </a:rPr>
              <a:t>Import </a:t>
            </a:r>
            <a:r>
              <a:rPr lang="it-IT" sz="2500" dirty="0" err="1">
                <a:solidFill>
                  <a:srgbClr val="050E17"/>
                </a:solidFill>
                <a:latin typeface="-apple-system"/>
              </a:rPr>
              <a:t>database.MyDb</a:t>
            </a:r>
            <a:r>
              <a:rPr lang="it-IT" sz="2500" dirty="0">
                <a:solidFill>
                  <a:srgbClr val="050E17"/>
                </a:solidFill>
                <a:latin typeface="-apple-system"/>
              </a:rPr>
              <a:t>;</a:t>
            </a:r>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27127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3554819"/>
          </a:xfrm>
          <a:prstGeom prst="rect">
            <a:avLst/>
          </a:prstGeom>
          <a:noFill/>
        </p:spPr>
        <p:txBody>
          <a:bodyPr wrap="square">
            <a:spAutoFit/>
          </a:bodyPr>
          <a:lstStyle/>
          <a:p>
            <a:pPr algn="just"/>
            <a:r>
              <a:rPr lang="it-IT" sz="2500" dirty="0">
                <a:solidFill>
                  <a:srgbClr val="050E17"/>
                </a:solidFill>
                <a:latin typeface="-apple-system"/>
              </a:rPr>
              <a:t>A questo punto, se la cartella «database» è accessibile da una nostra classe, per esempio se tale cartella è nella medesima cartella di una classe dalla quale vogliamo farne uso, basterà importarla con:</a:t>
            </a:r>
          </a:p>
          <a:p>
            <a:pPr algn="just"/>
            <a:endParaRPr lang="it-IT" sz="2500" dirty="0">
              <a:solidFill>
                <a:srgbClr val="050E17"/>
              </a:solidFill>
              <a:latin typeface="-apple-system"/>
            </a:endParaRPr>
          </a:p>
          <a:p>
            <a:pPr algn="ctr"/>
            <a:r>
              <a:rPr lang="it-IT" sz="2500" dirty="0">
                <a:solidFill>
                  <a:srgbClr val="050E17"/>
                </a:solidFill>
                <a:latin typeface="-apple-system"/>
              </a:rPr>
              <a:t>Import </a:t>
            </a:r>
            <a:r>
              <a:rPr lang="it-IT" sz="2500" dirty="0" err="1">
                <a:solidFill>
                  <a:srgbClr val="050E17"/>
                </a:solidFill>
                <a:latin typeface="-apple-system"/>
              </a:rPr>
              <a:t>database.MyDb</a:t>
            </a:r>
            <a:r>
              <a:rPr lang="it-IT" sz="2500" dirty="0">
                <a:solidFill>
                  <a:srgbClr val="050E17"/>
                </a:solidFill>
                <a:latin typeface="-apple-system"/>
              </a:rPr>
              <a:t>;</a:t>
            </a:r>
          </a:p>
          <a:p>
            <a:pPr algn="ctr"/>
            <a:endParaRPr lang="it-IT" sz="2500" dirty="0">
              <a:solidFill>
                <a:srgbClr val="050E17"/>
              </a:solidFill>
              <a:latin typeface="-apple-system"/>
            </a:endParaRPr>
          </a:p>
          <a:p>
            <a:pPr algn="ctr"/>
            <a:r>
              <a:rPr lang="it-IT" sz="2500" dirty="0">
                <a:solidFill>
                  <a:srgbClr val="050E17"/>
                </a:solidFill>
                <a:latin typeface="-apple-system"/>
              </a:rPr>
              <a:t>O</a:t>
            </a:r>
          </a:p>
          <a:p>
            <a:pPr algn="ctr"/>
            <a:endParaRPr lang="it-IT" sz="2500" dirty="0">
              <a:solidFill>
                <a:srgbClr val="050E17"/>
              </a:solidFill>
              <a:latin typeface="-apple-system"/>
            </a:endParaRPr>
          </a:p>
          <a:p>
            <a:pPr algn="ctr"/>
            <a:r>
              <a:rPr lang="it-IT" sz="2500" dirty="0">
                <a:solidFill>
                  <a:srgbClr val="050E17"/>
                </a:solidFill>
                <a:latin typeface="-apple-system"/>
              </a:rPr>
              <a:t>Import database.*;</a:t>
            </a:r>
            <a:endParaRPr lang="it-IT" sz="2500" dirty="0"/>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3212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477054"/>
          </a:xfrm>
          <a:prstGeom prst="rect">
            <a:avLst/>
          </a:prstGeom>
          <a:noFill/>
        </p:spPr>
        <p:txBody>
          <a:bodyPr wrap="square">
            <a:spAutoFit/>
          </a:bodyPr>
          <a:lstStyle/>
          <a:p>
            <a:pPr algn="just"/>
            <a:r>
              <a:rPr lang="it-IT" sz="2500" dirty="0">
                <a:solidFill>
                  <a:srgbClr val="050E17"/>
                </a:solidFill>
                <a:latin typeface="-apple-system"/>
              </a:rPr>
              <a:t>Oppure possiamo non importarla ed usarla indicando l’intero percorso di package:</a:t>
            </a:r>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233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Approfondimento</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20" name="CasellaDiTesto 19">
            <a:extLst>
              <a:ext uri="{FF2B5EF4-FFF2-40B4-BE49-F238E27FC236}">
                <a16:creationId xmlns:a16="http://schemas.microsoft.com/office/drawing/2014/main" id="{EDF053F2-6CB7-BE31-8EE3-376F651DCD47}"/>
              </a:ext>
            </a:extLst>
          </p:cNvPr>
          <p:cNvSpPr txBox="1"/>
          <p:nvPr/>
        </p:nvSpPr>
        <p:spPr>
          <a:xfrm>
            <a:off x="3775504" y="467234"/>
            <a:ext cx="6567567" cy="671915"/>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Perché fare l’import? E’ necessario? Se si come funziona e dove sono quelle classi sul disco?</a:t>
            </a:r>
          </a:p>
        </p:txBody>
      </p:sp>
      <p:sp>
        <p:nvSpPr>
          <p:cNvPr id="3" name="Rectangle 1">
            <a:extLst>
              <a:ext uri="{FF2B5EF4-FFF2-40B4-BE49-F238E27FC236}">
                <a16:creationId xmlns:a16="http://schemas.microsoft.com/office/drawing/2014/main" id="{94CFBBD7-4F40-8ED6-7489-4273B6313D82}"/>
              </a:ext>
            </a:extLst>
          </p:cNvPr>
          <p:cNvSpPr>
            <a:spLocks noChangeArrowheads="1"/>
          </p:cNvSpPr>
          <p:nvPr/>
        </p:nvSpPr>
        <p:spPr bwMode="auto">
          <a:xfrm>
            <a:off x="0" y="90100"/>
            <a:ext cx="65" cy="27699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8" name="CasellaDiTesto 7">
            <a:extLst>
              <a:ext uri="{FF2B5EF4-FFF2-40B4-BE49-F238E27FC236}">
                <a16:creationId xmlns:a16="http://schemas.microsoft.com/office/drawing/2014/main" id="{F28D84B7-C05D-E3C3-A456-1E2F3EADDC3C}"/>
              </a:ext>
            </a:extLst>
          </p:cNvPr>
          <p:cNvSpPr txBox="1"/>
          <p:nvPr/>
        </p:nvSpPr>
        <p:spPr>
          <a:xfrm>
            <a:off x="609600" y="1651590"/>
            <a:ext cx="10972800" cy="1246495"/>
          </a:xfrm>
          <a:prstGeom prst="rect">
            <a:avLst/>
          </a:prstGeom>
          <a:noFill/>
        </p:spPr>
        <p:txBody>
          <a:bodyPr wrap="square">
            <a:spAutoFit/>
          </a:bodyPr>
          <a:lstStyle/>
          <a:p>
            <a:pPr algn="just"/>
            <a:r>
              <a:rPr lang="it-IT" sz="2500" dirty="0">
                <a:solidFill>
                  <a:srgbClr val="050E17"/>
                </a:solidFill>
                <a:latin typeface="-apple-system"/>
              </a:rPr>
              <a:t>Oppure possiamo non importarla ed usarla indicando l’intero percorso di package:</a:t>
            </a:r>
          </a:p>
          <a:p>
            <a:pPr algn="just"/>
            <a:endParaRPr lang="it-IT" sz="2500" dirty="0">
              <a:solidFill>
                <a:srgbClr val="050E17"/>
              </a:solidFill>
              <a:latin typeface="-apple-system"/>
            </a:endParaRPr>
          </a:p>
          <a:p>
            <a:pPr algn="ctr"/>
            <a:r>
              <a:rPr lang="it-IT" sz="2500" dirty="0" err="1">
                <a:solidFill>
                  <a:srgbClr val="050E17"/>
                </a:solidFill>
                <a:latin typeface="-apple-system"/>
              </a:rPr>
              <a:t>database.MyDb</a:t>
            </a:r>
            <a:r>
              <a:rPr lang="it-IT" sz="2500" dirty="0">
                <a:solidFill>
                  <a:srgbClr val="050E17"/>
                </a:solidFill>
                <a:latin typeface="-apple-system"/>
              </a:rPr>
              <a:t> </a:t>
            </a:r>
            <a:r>
              <a:rPr lang="it-IT" sz="2500" dirty="0" err="1">
                <a:solidFill>
                  <a:srgbClr val="050E17"/>
                </a:solidFill>
                <a:latin typeface="-apple-system"/>
              </a:rPr>
              <a:t>mydb</a:t>
            </a:r>
            <a:r>
              <a:rPr lang="it-IT" sz="2500" dirty="0">
                <a:solidFill>
                  <a:srgbClr val="050E17"/>
                </a:solidFill>
                <a:latin typeface="-apple-system"/>
              </a:rPr>
              <a:t> = new </a:t>
            </a:r>
            <a:r>
              <a:rPr lang="it-IT" sz="2500" dirty="0" err="1">
                <a:solidFill>
                  <a:srgbClr val="050E17"/>
                </a:solidFill>
                <a:latin typeface="-apple-system"/>
              </a:rPr>
              <a:t>database.MyDb</a:t>
            </a:r>
            <a:r>
              <a:rPr lang="it-IT" sz="2500" dirty="0">
                <a:solidFill>
                  <a:srgbClr val="050E17"/>
                </a:solidFill>
                <a:latin typeface="-apple-system"/>
              </a:rPr>
              <a:t>();</a:t>
            </a:r>
          </a:p>
        </p:txBody>
      </p:sp>
      <p:sp>
        <p:nvSpPr>
          <p:cNvPr id="2" name="CasellaDiTesto 1">
            <a:extLst>
              <a:ext uri="{FF2B5EF4-FFF2-40B4-BE49-F238E27FC236}">
                <a16:creationId xmlns:a16="http://schemas.microsoft.com/office/drawing/2014/main" id="{2098C3D4-0A7B-E039-95C8-552362F9569F}"/>
              </a:ext>
            </a:extLst>
          </p:cNvPr>
          <p:cNvSpPr txBox="1"/>
          <p:nvPr/>
        </p:nvSpPr>
        <p:spPr>
          <a:xfrm>
            <a:off x="282039" y="951373"/>
            <a:ext cx="3280558" cy="366895"/>
          </a:xfrm>
          <a:prstGeom prst="rect">
            <a:avLst/>
          </a:prstGeom>
          <a:solidFill>
            <a:schemeClr val="accent1">
              <a:lumMod val="40000"/>
              <a:lumOff val="60000"/>
            </a:schemeClr>
          </a:solidFill>
        </p:spPr>
        <p:txBody>
          <a:bodyPr wrap="square">
            <a:spAutoFit/>
          </a:bodyPr>
          <a:lstStyle/>
          <a:p>
            <a:pPr lvl="0" algn="ctr">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Il meccanismo di importazione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078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282039" y="1007009"/>
            <a:ext cx="10350616" cy="1631216"/>
          </a:xfrm>
          <a:prstGeom prst="rect">
            <a:avLst/>
          </a:prstGeom>
          <a:noFill/>
        </p:spPr>
        <p:txBody>
          <a:bodyPr wrap="square">
            <a:spAutoFit/>
          </a:bodyPr>
          <a:lstStyle/>
          <a:p>
            <a:r>
              <a:rPr lang="it-IT" sz="2500" dirty="0"/>
              <a:t>Il JDK per gli sviluppatori e la JVM (la Java Virtual Machine sola) per i semplici utenti che vogliano eseguire applicazioni JAVA, oltre che degli applicativi per l’esecuzione del codice e di alcuni tool (che poi cambiano, a seconda che siano JDK o JVM)</a:t>
            </a:r>
          </a:p>
        </p:txBody>
      </p:sp>
    </p:spTree>
    <p:extLst>
      <p:ext uri="{BB962C8B-B14F-4D97-AF65-F5344CB8AC3E}">
        <p14:creationId xmlns:p14="http://schemas.microsoft.com/office/powerpoint/2010/main" val="29412042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282039" y="1007009"/>
            <a:ext cx="10350616" cy="3939540"/>
          </a:xfrm>
          <a:prstGeom prst="rect">
            <a:avLst/>
          </a:prstGeom>
          <a:noFill/>
        </p:spPr>
        <p:txBody>
          <a:bodyPr wrap="square">
            <a:spAutoFit/>
          </a:bodyPr>
          <a:lstStyle/>
          <a:p>
            <a:r>
              <a:rPr lang="it-IT" sz="2500" dirty="0"/>
              <a:t>Il JDK per gli sviluppatori e la JVM (la Java Virtual Machine sola) per i semplici utenti che vogliano eseguire applicazioni JAVA, oltre che degli applicativi per l’esecuzione del codice e di alcuni tool (che poi cambiano, a seconda che siano JDK o JVM)</a:t>
            </a:r>
          </a:p>
          <a:p>
            <a:endParaRPr lang="it-IT" sz="2500" dirty="0"/>
          </a:p>
          <a:p>
            <a:r>
              <a:rPr lang="it-IT" sz="2500" dirty="0"/>
              <a:t>dispongono di alcuni package di classi, opportunamente inserite in alcune cartelle di JAVA nel disco principale del sistema operativo ed anche compresse in un formato che approfondiremo (JAR). Sarà sufficiente che il CLASS_PATH sia opportunamente configurato e sarà possibile usarle nei nostri programmi JAVA. </a:t>
            </a:r>
          </a:p>
        </p:txBody>
      </p:sp>
    </p:spTree>
    <p:extLst>
      <p:ext uri="{BB962C8B-B14F-4D97-AF65-F5344CB8AC3E}">
        <p14:creationId xmlns:p14="http://schemas.microsoft.com/office/powerpoint/2010/main" val="24509308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282039" y="1007009"/>
            <a:ext cx="10350616" cy="5478423"/>
          </a:xfrm>
          <a:prstGeom prst="rect">
            <a:avLst/>
          </a:prstGeom>
          <a:noFill/>
        </p:spPr>
        <p:txBody>
          <a:bodyPr wrap="square">
            <a:spAutoFit/>
          </a:bodyPr>
          <a:lstStyle/>
          <a:p>
            <a:r>
              <a:rPr lang="it-IT" sz="2500" dirty="0"/>
              <a:t>Il JDK per gli sviluppatori e la JVM (la Java Virtual Machine sola) per i semplici utenti che vogliano eseguire applicazioni JAVA, oltre che degli applicativi per l’esecuzione del codice e di alcuni tool (che poi cambiano, a seconda che siano JDK o JVM)</a:t>
            </a:r>
          </a:p>
          <a:p>
            <a:endParaRPr lang="it-IT" sz="2500" dirty="0"/>
          </a:p>
          <a:p>
            <a:r>
              <a:rPr lang="it-IT" sz="2500" dirty="0"/>
              <a:t>dispongono di alcuni package di classi, opportunamente inserite in alcune cartelle di JAVA nel disco principale del sistema operativo ed anche compresse in un formato che approfondiremo (JAR). Sarà sufficiente che il CLASS_PATH sia opportunamente configurato e sarà possibile usarle nei nostri programmi JAVA. </a:t>
            </a:r>
          </a:p>
          <a:p>
            <a:endParaRPr lang="it-IT" sz="2500" dirty="0"/>
          </a:p>
          <a:p>
            <a:r>
              <a:rPr lang="it-IT" sz="2500" dirty="0"/>
              <a:t>Ovviamente, dovremo fare affidamento sul fatto che chi utilizza il nostro software sia provvisto delle medesime classi e package, avendo una adeguata versione della JVM.</a:t>
            </a:r>
          </a:p>
        </p:txBody>
      </p:sp>
    </p:spTree>
    <p:extLst>
      <p:ext uri="{BB962C8B-B14F-4D97-AF65-F5344CB8AC3E}">
        <p14:creationId xmlns:p14="http://schemas.microsoft.com/office/powerpoint/2010/main" val="1420331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1015663"/>
          </a:xfrm>
          <a:prstGeom prst="rect">
            <a:avLst/>
          </a:prstGeom>
          <a:noFill/>
        </p:spPr>
        <p:txBody>
          <a:bodyPr wrap="square">
            <a:spAutoFit/>
          </a:bodyPr>
          <a:lstStyle/>
          <a:p>
            <a:r>
              <a:rPr lang="it-IT" sz="3000" dirty="0"/>
              <a:t>Ciò che si è visto su classi e metodi, poc’anzi, è solo un accenno.</a:t>
            </a:r>
          </a:p>
        </p:txBody>
      </p:sp>
    </p:spTree>
    <p:extLst>
      <p:ext uri="{BB962C8B-B14F-4D97-AF65-F5344CB8AC3E}">
        <p14:creationId xmlns:p14="http://schemas.microsoft.com/office/powerpoint/2010/main" val="8172944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2400657"/>
          </a:xfrm>
          <a:prstGeom prst="rect">
            <a:avLst/>
          </a:prstGeom>
          <a:noFill/>
        </p:spPr>
        <p:txBody>
          <a:bodyPr wrap="square">
            <a:spAutoFit/>
          </a:bodyPr>
          <a:lstStyle/>
          <a:p>
            <a:r>
              <a:rPr lang="it-IT" sz="3000" dirty="0"/>
              <a:t>Ciò che si è visto su classi e metodi, poc’anzi, è solo un accenno.</a:t>
            </a:r>
          </a:p>
          <a:p>
            <a:r>
              <a:rPr lang="it-IT" sz="3000" dirty="0"/>
              <a:t>Per poter programmare bene con JAVA è necessario comprendere molto meglio la cosa.</a:t>
            </a:r>
          </a:p>
        </p:txBody>
      </p:sp>
    </p:spTree>
    <p:extLst>
      <p:ext uri="{BB962C8B-B14F-4D97-AF65-F5344CB8AC3E}">
        <p14:creationId xmlns:p14="http://schemas.microsoft.com/office/powerpoint/2010/main" val="9739490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3323987"/>
          </a:xfrm>
          <a:prstGeom prst="rect">
            <a:avLst/>
          </a:prstGeom>
          <a:noFill/>
        </p:spPr>
        <p:txBody>
          <a:bodyPr wrap="square">
            <a:spAutoFit/>
          </a:bodyPr>
          <a:lstStyle/>
          <a:p>
            <a:r>
              <a:rPr lang="it-IT" sz="3000" dirty="0"/>
              <a:t>Ciò che si è visto su classi e metodi, poc’anzi, è solo un accenno.</a:t>
            </a:r>
          </a:p>
          <a:p>
            <a:r>
              <a:rPr lang="it-IT" sz="3000" dirty="0"/>
              <a:t>Per poter programmare bene con JAVA è necessario comprendere molto meglio la cosa.</a:t>
            </a:r>
          </a:p>
          <a:p>
            <a:r>
              <a:rPr lang="it-IT" sz="3000" dirty="0"/>
              <a:t>Per questo motivo, più in avanti, approfondiremo meglio i concetti. </a:t>
            </a:r>
          </a:p>
        </p:txBody>
      </p:sp>
    </p:spTree>
    <p:extLst>
      <p:ext uri="{BB962C8B-B14F-4D97-AF65-F5344CB8AC3E}">
        <p14:creationId xmlns:p14="http://schemas.microsoft.com/office/powerpoint/2010/main" val="34075119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Premessa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5230472"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Approfondimento futuro di classi e metodi</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007009"/>
            <a:ext cx="6097978" cy="5632311"/>
          </a:xfrm>
          <a:prstGeom prst="rect">
            <a:avLst/>
          </a:prstGeom>
          <a:noFill/>
        </p:spPr>
        <p:txBody>
          <a:bodyPr wrap="square">
            <a:spAutoFit/>
          </a:bodyPr>
          <a:lstStyle/>
          <a:p>
            <a:r>
              <a:rPr lang="it-IT" sz="3000" dirty="0"/>
              <a:t>Ciò che si è visto su classi e metodi, poc’anzi, è solo un accenno.</a:t>
            </a:r>
          </a:p>
          <a:p>
            <a:r>
              <a:rPr lang="it-IT" sz="3000" dirty="0"/>
              <a:t>Per poter programmare bene con JAVA è necessario comprendere molto meglio la cosa.</a:t>
            </a:r>
          </a:p>
          <a:p>
            <a:r>
              <a:rPr lang="it-IT" sz="3000" dirty="0"/>
              <a:t>Per questo motivo, più in avanti, approfondiremo meglio i concetti. </a:t>
            </a:r>
          </a:p>
          <a:p>
            <a:r>
              <a:rPr lang="it-IT" sz="3000" dirty="0"/>
              <a:t>Quanto visto, tuttavia, fornisce una base per meglio comprendere quanto si vedrà in seguito e fornire un minimo di preparazione per fare dei test.</a:t>
            </a:r>
          </a:p>
        </p:txBody>
      </p:sp>
    </p:spTree>
    <p:extLst>
      <p:ext uri="{BB962C8B-B14F-4D97-AF65-F5344CB8AC3E}">
        <p14:creationId xmlns:p14="http://schemas.microsoft.com/office/powerpoint/2010/main" val="30012916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L’input da tastiera</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La classe Scanner</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808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266869"/>
            <a:ext cx="6097978" cy="1631216"/>
          </a:xfrm>
          <a:prstGeom prst="rect">
            <a:avLst/>
          </a:prstGeom>
          <a:noFill/>
        </p:spPr>
        <p:txBody>
          <a:bodyPr wrap="square">
            <a:spAutoFit/>
          </a:bodyPr>
          <a:lstStyle/>
          <a:p>
            <a:r>
              <a:rPr lang="it-IT" sz="2500" dirty="0"/>
              <a:t>Un linguaggio di programmazione che non possa consentire ad un programma di accedere a dei dati passati in input dall’utente sarebbe assai limitante.</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0808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266869"/>
            <a:ext cx="6097978" cy="2785378"/>
          </a:xfrm>
          <a:prstGeom prst="rect">
            <a:avLst/>
          </a:prstGeom>
          <a:noFill/>
        </p:spPr>
        <p:txBody>
          <a:bodyPr wrap="square">
            <a:spAutoFit/>
          </a:bodyPr>
          <a:lstStyle/>
          <a:p>
            <a:r>
              <a:rPr lang="it-IT" sz="2500" dirty="0"/>
              <a:t>Un linguaggio di programmazione che non possa consentire ad un programma di accedere a dei dati passati in input dall’utente sarebbe assai limitante.</a:t>
            </a:r>
          </a:p>
          <a:p>
            <a:endParaRPr lang="it-IT" sz="2500" dirty="0"/>
          </a:p>
          <a:p>
            <a:r>
              <a:rPr lang="it-IT" sz="2500" dirty="0"/>
              <a:t>Anche JAVA dispone di diversi modi per fare ciò.</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744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805194" y="1266869"/>
            <a:ext cx="6097978" cy="4324261"/>
          </a:xfrm>
          <a:prstGeom prst="rect">
            <a:avLst/>
          </a:prstGeom>
          <a:noFill/>
        </p:spPr>
        <p:txBody>
          <a:bodyPr wrap="square">
            <a:spAutoFit/>
          </a:bodyPr>
          <a:lstStyle/>
          <a:p>
            <a:r>
              <a:rPr lang="it-IT" sz="2500" dirty="0"/>
              <a:t>Un linguaggio di programmazione che non possa consentire ad un programma di accedere a dei dati passati in input dall’utente sarebbe assai limitante.</a:t>
            </a:r>
          </a:p>
          <a:p>
            <a:endParaRPr lang="it-IT" sz="2500" dirty="0"/>
          </a:p>
          <a:p>
            <a:r>
              <a:rPr lang="it-IT" sz="2500" dirty="0"/>
              <a:t>Anche JAVA dispone di diversi modi per fare ciò.</a:t>
            </a:r>
          </a:p>
          <a:p>
            <a:endParaRPr lang="it-IT" sz="2500" dirty="0"/>
          </a:p>
          <a:p>
            <a:r>
              <a:rPr lang="it-IT" sz="2500" dirty="0"/>
              <a:t>Utilizzando le classi dei pacchetti disponibili con la JVM è possibile accedere ad alcune classi utili per l’input da console.</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6470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775505" y="1118941"/>
            <a:ext cx="6097978" cy="2246769"/>
          </a:xfrm>
          <a:prstGeom prst="rect">
            <a:avLst/>
          </a:prstGeom>
          <a:noFill/>
        </p:spPr>
        <p:txBody>
          <a:bodyPr wrap="square">
            <a:spAutoFit/>
          </a:bodyPr>
          <a:lstStyle/>
          <a:p>
            <a:pPr algn="l"/>
            <a:r>
              <a:rPr lang="it-IT" sz="2800" b="0" i="0" dirty="0">
                <a:solidFill>
                  <a:srgbClr val="050E17"/>
                </a:solidFill>
                <a:effectLst/>
                <a:latin typeface="-apple-system"/>
              </a:rPr>
              <a:t>Per utilizzare la classe Scanner, devi importarla nel tuo programma e creare un'istanza della classe.</a:t>
            </a:r>
          </a:p>
          <a:p>
            <a:pPr algn="l"/>
            <a:r>
              <a:rPr lang="it-IT" sz="2800" b="0" i="0" dirty="0">
                <a:solidFill>
                  <a:srgbClr val="050E17"/>
                </a:solidFill>
                <a:effectLst/>
                <a:latin typeface="-apple-system"/>
              </a:rPr>
              <a:t>Ad esempio, puoi creare un'istanza di Scanner come segue:</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109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775505" y="1118941"/>
            <a:ext cx="6097978" cy="2246769"/>
          </a:xfrm>
          <a:prstGeom prst="rect">
            <a:avLst/>
          </a:prstGeom>
          <a:noFill/>
        </p:spPr>
        <p:txBody>
          <a:bodyPr wrap="square">
            <a:spAutoFit/>
          </a:bodyPr>
          <a:lstStyle/>
          <a:p>
            <a:pPr algn="l"/>
            <a:r>
              <a:rPr lang="it-IT" sz="2800" b="0" i="0" dirty="0">
                <a:solidFill>
                  <a:srgbClr val="050E17"/>
                </a:solidFill>
                <a:effectLst/>
                <a:latin typeface="-apple-system"/>
              </a:rPr>
              <a:t>Per utilizzare la classe Scanner, devi importarla nel tuo programma e creare un'istanza della classe.</a:t>
            </a:r>
          </a:p>
          <a:p>
            <a:pPr algn="l"/>
            <a:r>
              <a:rPr lang="it-IT" sz="2800" b="0" i="0" dirty="0">
                <a:solidFill>
                  <a:srgbClr val="050E17"/>
                </a:solidFill>
                <a:effectLst/>
                <a:latin typeface="-apple-system"/>
              </a:rPr>
              <a:t>Ad esempio, puoi creare un'istanza di Scanner come segue:</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0" name="CasellaDiTesto 9">
            <a:extLst>
              <a:ext uri="{FF2B5EF4-FFF2-40B4-BE49-F238E27FC236}">
                <a16:creationId xmlns:a16="http://schemas.microsoft.com/office/drawing/2014/main" id="{F2524B31-D8E8-0FC0-06F3-39EC3531CA95}"/>
              </a:ext>
            </a:extLst>
          </p:cNvPr>
          <p:cNvSpPr txBox="1"/>
          <p:nvPr/>
        </p:nvSpPr>
        <p:spPr>
          <a:xfrm>
            <a:off x="3775505" y="3429000"/>
            <a:ext cx="6097978" cy="2262479"/>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214527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6" name="CasellaDiTesto 5">
            <a:extLst>
              <a:ext uri="{FF2B5EF4-FFF2-40B4-BE49-F238E27FC236}">
                <a16:creationId xmlns:a16="http://schemas.microsoft.com/office/drawing/2014/main" id="{2027B025-7B40-9225-CDB0-D84110D0705B}"/>
              </a:ext>
            </a:extLst>
          </p:cNvPr>
          <p:cNvSpPr txBox="1"/>
          <p:nvPr/>
        </p:nvSpPr>
        <p:spPr>
          <a:xfrm>
            <a:off x="3775505" y="1118941"/>
            <a:ext cx="6097978" cy="2246769"/>
          </a:xfrm>
          <a:prstGeom prst="rect">
            <a:avLst/>
          </a:prstGeom>
          <a:noFill/>
        </p:spPr>
        <p:txBody>
          <a:bodyPr wrap="square">
            <a:spAutoFit/>
          </a:bodyPr>
          <a:lstStyle/>
          <a:p>
            <a:pPr algn="l"/>
            <a:r>
              <a:rPr lang="it-IT" sz="2800" b="0" i="0" dirty="0">
                <a:solidFill>
                  <a:srgbClr val="050E17"/>
                </a:solidFill>
                <a:effectLst/>
                <a:latin typeface="-apple-system"/>
              </a:rPr>
              <a:t>Una volta creato un oggetto Scanner, puoi utilizzarlo per leggere l'input dell'utente da console. Ad esempio, puoi chiedere all'utente di inserire un numero intero come segue:</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5" name="CasellaDiTesto 4">
            <a:extLst>
              <a:ext uri="{FF2B5EF4-FFF2-40B4-BE49-F238E27FC236}">
                <a16:creationId xmlns:a16="http://schemas.microsoft.com/office/drawing/2014/main" id="{F74C3272-74CF-B836-BBD5-A1B9A36751DA}"/>
              </a:ext>
            </a:extLst>
          </p:cNvPr>
          <p:cNvSpPr txBox="1"/>
          <p:nvPr/>
        </p:nvSpPr>
        <p:spPr>
          <a:xfrm>
            <a:off x="3805193" y="3365710"/>
            <a:ext cx="8022629" cy="2826736"/>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738942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5" name="CasellaDiTesto 4">
            <a:extLst>
              <a:ext uri="{FF2B5EF4-FFF2-40B4-BE49-F238E27FC236}">
                <a16:creationId xmlns:a16="http://schemas.microsoft.com/office/drawing/2014/main" id="{F74C3272-74CF-B836-BBD5-A1B9A36751DA}"/>
              </a:ext>
            </a:extLst>
          </p:cNvPr>
          <p:cNvSpPr txBox="1"/>
          <p:nvPr/>
        </p:nvSpPr>
        <p:spPr>
          <a:xfrm>
            <a:off x="3887332" y="978770"/>
            <a:ext cx="8022629" cy="2826736"/>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68700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5" name="CasellaDiTesto 4">
            <a:extLst>
              <a:ext uri="{FF2B5EF4-FFF2-40B4-BE49-F238E27FC236}">
                <a16:creationId xmlns:a16="http://schemas.microsoft.com/office/drawing/2014/main" id="{F74C3272-74CF-B836-BBD5-A1B9A36751DA}"/>
              </a:ext>
            </a:extLst>
          </p:cNvPr>
          <p:cNvSpPr txBox="1"/>
          <p:nvPr/>
        </p:nvSpPr>
        <p:spPr>
          <a:xfrm>
            <a:off x="3887332" y="978770"/>
            <a:ext cx="8022629" cy="2826736"/>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841951" y="3988629"/>
            <a:ext cx="8134456" cy="646331"/>
          </a:xfrm>
          <a:prstGeom prst="rect">
            <a:avLst/>
          </a:prstGeom>
          <a:noFill/>
        </p:spPr>
        <p:txBody>
          <a:bodyPr wrap="square" rtlCol="0">
            <a:spAutoFit/>
          </a:bodyPr>
          <a:lstStyle/>
          <a:p>
            <a:r>
              <a:rPr lang="it-IT" dirty="0"/>
              <a:t>In questo esempio, il metodo </a:t>
            </a:r>
            <a:r>
              <a:rPr lang="it-IT" dirty="0" err="1"/>
              <a:t>nextInt</a:t>
            </a:r>
            <a:r>
              <a:rPr lang="it-IT" dirty="0"/>
              <a:t>() legge il prossimo intero digitato dall'utente e lo assegna alla variabile numero.</a:t>
            </a:r>
          </a:p>
        </p:txBody>
      </p:sp>
    </p:spTree>
    <p:extLst>
      <p:ext uri="{BB962C8B-B14F-4D97-AF65-F5344CB8AC3E}">
        <p14:creationId xmlns:p14="http://schemas.microsoft.com/office/powerpoint/2010/main" val="12689699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30786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La classe Scanner</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5" name="CasellaDiTesto 4">
            <a:extLst>
              <a:ext uri="{FF2B5EF4-FFF2-40B4-BE49-F238E27FC236}">
                <a16:creationId xmlns:a16="http://schemas.microsoft.com/office/drawing/2014/main" id="{F74C3272-74CF-B836-BBD5-A1B9A36751DA}"/>
              </a:ext>
            </a:extLst>
          </p:cNvPr>
          <p:cNvSpPr txBox="1"/>
          <p:nvPr/>
        </p:nvSpPr>
        <p:spPr>
          <a:xfrm>
            <a:off x="3887332" y="978770"/>
            <a:ext cx="8022629" cy="2826736"/>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intero: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myScanner.nextInt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841951" y="3988629"/>
            <a:ext cx="8134456" cy="1754326"/>
          </a:xfrm>
          <a:prstGeom prst="rect">
            <a:avLst/>
          </a:prstGeom>
          <a:noFill/>
        </p:spPr>
        <p:txBody>
          <a:bodyPr wrap="square" rtlCol="0">
            <a:spAutoFit/>
          </a:bodyPr>
          <a:lstStyle/>
          <a:p>
            <a:r>
              <a:rPr lang="it-IT" dirty="0"/>
              <a:t>In questo esempio, il metodo </a:t>
            </a:r>
            <a:r>
              <a:rPr lang="it-IT" dirty="0" err="1"/>
              <a:t>nextInt</a:t>
            </a:r>
            <a:r>
              <a:rPr lang="it-IT" dirty="0"/>
              <a:t>() legge il prossimo intero digitato dall'utente e lo assegna alla variabile numero.</a:t>
            </a:r>
          </a:p>
          <a:p>
            <a:endParaRPr lang="it-IT" dirty="0"/>
          </a:p>
          <a:p>
            <a:r>
              <a:rPr lang="it-IT" dirty="0"/>
              <a:t>Puoi utilizzare altri metodi della classe Scanner per leggere altri tipi di input, ad esempio </a:t>
            </a:r>
            <a:r>
              <a:rPr lang="it-IT" dirty="0" err="1"/>
              <a:t>nextLine</a:t>
            </a:r>
            <a:r>
              <a:rPr lang="it-IT" dirty="0"/>
              <a:t>() per leggere una stringa o </a:t>
            </a:r>
            <a:r>
              <a:rPr lang="it-IT" dirty="0" err="1"/>
              <a:t>nextDouble</a:t>
            </a:r>
            <a:r>
              <a:rPr lang="it-IT" dirty="0"/>
              <a:t>() per leggere un numero decimale.</a:t>
            </a:r>
          </a:p>
        </p:txBody>
      </p:sp>
    </p:spTree>
    <p:extLst>
      <p:ext uri="{BB962C8B-B14F-4D97-AF65-F5344CB8AC3E}">
        <p14:creationId xmlns:p14="http://schemas.microsoft.com/office/powerpoint/2010/main" val="2449442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923330"/>
          </a:xfrm>
          <a:prstGeom prst="rect">
            <a:avLst/>
          </a:prstGeom>
          <a:noFill/>
        </p:spPr>
        <p:txBody>
          <a:bodyPr wrap="square" rtlCol="0">
            <a:spAutoFit/>
          </a:bodyPr>
          <a:lstStyle/>
          <a:p>
            <a:r>
              <a:rPr lang="it-IT" dirty="0"/>
              <a:t>Quando si utilizzano i metodi </a:t>
            </a:r>
            <a:r>
              <a:rPr lang="it-IT" dirty="0" err="1"/>
              <a:t>nextDouble</a:t>
            </a:r>
            <a:r>
              <a:rPr lang="it-IT" dirty="0"/>
              <a:t>() o </a:t>
            </a:r>
            <a:r>
              <a:rPr lang="it-IT" dirty="0" err="1"/>
              <a:t>nextInt</a:t>
            </a:r>
            <a:r>
              <a:rPr lang="it-IT" dirty="0"/>
              <a:t>() della classe Scanner in Java, c'è il rischio che il programma non si fermerà ad attendere l'input dell'utente se lo stream di input contiene dei dati inattesi o inaspettati.</a:t>
            </a:r>
          </a:p>
        </p:txBody>
      </p:sp>
    </p:spTree>
    <p:extLst>
      <p:ext uri="{BB962C8B-B14F-4D97-AF65-F5344CB8AC3E}">
        <p14:creationId xmlns:p14="http://schemas.microsoft.com/office/powerpoint/2010/main" val="31146028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646331"/>
          </a:xfrm>
          <a:prstGeom prst="rect">
            <a:avLst/>
          </a:prstGeom>
          <a:noFill/>
        </p:spPr>
        <p:txBody>
          <a:bodyPr wrap="square" rtlCol="0">
            <a:spAutoFit/>
          </a:bodyPr>
          <a:lstStyle/>
          <a:p>
            <a:r>
              <a:rPr lang="it-IT" dirty="0"/>
              <a:t>Inoltre, se l'input dell'utente non viene fornito in un formato valido, il programma potrebbe generare un'eccezione o produrre un risultato imprevisto.</a:t>
            </a:r>
          </a:p>
        </p:txBody>
      </p:sp>
    </p:spTree>
    <p:extLst>
      <p:ext uri="{BB962C8B-B14F-4D97-AF65-F5344CB8AC3E}">
        <p14:creationId xmlns:p14="http://schemas.microsoft.com/office/powerpoint/2010/main" val="23212674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646331"/>
          </a:xfrm>
          <a:prstGeom prst="rect">
            <a:avLst/>
          </a:prstGeom>
          <a:noFill/>
        </p:spPr>
        <p:txBody>
          <a:bodyPr wrap="square" rtlCol="0">
            <a:spAutoFit/>
          </a:bodyPr>
          <a:lstStyle/>
          <a:p>
            <a:r>
              <a:rPr lang="it-IT" dirty="0"/>
              <a:t>Per evitare questi problemi, è importante verificare sempre che l'input dell'utente sia valido prima di utilizzare i metodi </a:t>
            </a:r>
            <a:r>
              <a:rPr lang="it-IT" dirty="0" err="1"/>
              <a:t>nextDouble</a:t>
            </a:r>
            <a:r>
              <a:rPr lang="it-IT" dirty="0"/>
              <a:t>() o </a:t>
            </a:r>
            <a:r>
              <a:rPr lang="it-IT" dirty="0" err="1"/>
              <a:t>nextInt</a:t>
            </a:r>
            <a:r>
              <a:rPr lang="it-IT" dirty="0"/>
              <a:t>(). </a:t>
            </a:r>
          </a:p>
        </p:txBody>
      </p:sp>
    </p:spTree>
    <p:extLst>
      <p:ext uri="{BB962C8B-B14F-4D97-AF65-F5344CB8AC3E}">
        <p14:creationId xmlns:p14="http://schemas.microsoft.com/office/powerpoint/2010/main" val="24764925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923330"/>
          </a:xfrm>
          <a:prstGeom prst="rect">
            <a:avLst/>
          </a:prstGeom>
          <a:noFill/>
        </p:spPr>
        <p:txBody>
          <a:bodyPr wrap="square" rtlCol="0">
            <a:spAutoFit/>
          </a:bodyPr>
          <a:lstStyle/>
          <a:p>
            <a:r>
              <a:rPr lang="it-IT" dirty="0"/>
              <a:t>Ad esempio, il seguente codice utilizza il metodo </a:t>
            </a:r>
            <a:r>
              <a:rPr lang="it-IT" dirty="0" err="1"/>
              <a:t>nextLine</a:t>
            </a:r>
            <a:r>
              <a:rPr lang="it-IT" dirty="0"/>
              <a:t>() per leggere l'input dell'utente come una stringa e poi utilizza </a:t>
            </a:r>
            <a:r>
              <a:rPr lang="it-IT" dirty="0" err="1"/>
              <a:t>Double.parseDouble</a:t>
            </a:r>
            <a:r>
              <a:rPr lang="it-IT" dirty="0"/>
              <a:t>() per convertire la stringa in un double:</a:t>
            </a:r>
          </a:p>
        </p:txBody>
      </p:sp>
    </p:spTree>
    <p:extLst>
      <p:ext uri="{BB962C8B-B14F-4D97-AF65-F5344CB8AC3E}">
        <p14:creationId xmlns:p14="http://schemas.microsoft.com/office/powerpoint/2010/main" val="11386835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923330"/>
          </a:xfrm>
          <a:prstGeom prst="rect">
            <a:avLst/>
          </a:prstGeom>
          <a:noFill/>
        </p:spPr>
        <p:txBody>
          <a:bodyPr wrap="square" rtlCol="0">
            <a:spAutoFit/>
          </a:bodyPr>
          <a:lstStyle/>
          <a:p>
            <a:r>
              <a:rPr lang="it-IT" dirty="0"/>
              <a:t>Ad esempio, il seguente codice utilizza il metodo </a:t>
            </a:r>
            <a:r>
              <a:rPr lang="it-IT" dirty="0" err="1"/>
              <a:t>nextLine</a:t>
            </a:r>
            <a:r>
              <a:rPr lang="it-IT" dirty="0"/>
              <a:t>() per leggere l'input dell'utente come una stringa e poi utilizza </a:t>
            </a:r>
            <a:r>
              <a:rPr lang="it-IT" dirty="0" err="1"/>
              <a:t>Double.parseDouble</a:t>
            </a:r>
            <a:r>
              <a:rPr lang="it-IT" dirty="0"/>
              <a:t>() per convertire la stringa in un double:</a:t>
            </a:r>
          </a:p>
        </p:txBody>
      </p:sp>
      <p:sp>
        <p:nvSpPr>
          <p:cNvPr id="5" name="CasellaDiTesto 4">
            <a:extLst>
              <a:ext uri="{FF2B5EF4-FFF2-40B4-BE49-F238E27FC236}">
                <a16:creationId xmlns:a16="http://schemas.microsoft.com/office/drawing/2014/main" id="{B26DFE56-36F3-8F9F-CB27-ECC3D19FA19C}"/>
              </a:ext>
            </a:extLst>
          </p:cNvPr>
          <p:cNvSpPr txBox="1"/>
          <p:nvPr/>
        </p:nvSpPr>
        <p:spPr>
          <a:xfrm>
            <a:off x="282040" y="1766116"/>
            <a:ext cx="11627920" cy="2262479"/>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decimale: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String</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input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myScanner.nextLine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Legge l'input dell'utente come una stringa</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652365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923330"/>
          </a:xfrm>
          <a:prstGeom prst="rect">
            <a:avLst/>
          </a:prstGeom>
          <a:noFill/>
        </p:spPr>
        <p:txBody>
          <a:bodyPr wrap="square" rtlCol="0">
            <a:spAutoFit/>
          </a:bodyPr>
          <a:lstStyle/>
          <a:p>
            <a:r>
              <a:rPr lang="it-IT" dirty="0"/>
              <a:t>Ad esempio, il seguente codice utilizza il metodo </a:t>
            </a:r>
            <a:r>
              <a:rPr lang="it-IT" dirty="0" err="1"/>
              <a:t>nextLine</a:t>
            </a:r>
            <a:r>
              <a:rPr lang="it-IT" dirty="0"/>
              <a:t>() per leggere l'input dell'utente come una stringa e poi utilizza </a:t>
            </a:r>
            <a:r>
              <a:rPr lang="it-IT" dirty="0" err="1"/>
              <a:t>Double.parseDouble</a:t>
            </a:r>
            <a:r>
              <a:rPr lang="it-IT" dirty="0"/>
              <a:t>() per convertire la stringa in un double:</a:t>
            </a:r>
          </a:p>
        </p:txBody>
      </p:sp>
      <p:sp>
        <p:nvSpPr>
          <p:cNvPr id="5" name="CasellaDiTesto 4">
            <a:extLst>
              <a:ext uri="{FF2B5EF4-FFF2-40B4-BE49-F238E27FC236}">
                <a16:creationId xmlns:a16="http://schemas.microsoft.com/office/drawing/2014/main" id="{B26DFE56-36F3-8F9F-CB27-ECC3D19FA19C}"/>
              </a:ext>
            </a:extLst>
          </p:cNvPr>
          <p:cNvSpPr txBox="1"/>
          <p:nvPr/>
        </p:nvSpPr>
        <p:spPr>
          <a:xfrm>
            <a:off x="282040" y="1766116"/>
            <a:ext cx="11627920" cy="3390993"/>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decimale: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String</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input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myScanner.nextLine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Legge l'input dell'utente come una stringa</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Double.parseDouble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Converte la stringa in un double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780814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A1C1A42A-C4E4-FEC3-2480-3A9F3CEF35AD}"/>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Una prima classe per l’input da tastiera</a:t>
            </a:r>
          </a:p>
        </p:txBody>
      </p:sp>
      <p:sp>
        <p:nvSpPr>
          <p:cNvPr id="13" name="CasellaDiTesto 12">
            <a:extLst>
              <a:ext uri="{FF2B5EF4-FFF2-40B4-BE49-F238E27FC236}">
                <a16:creationId xmlns:a16="http://schemas.microsoft.com/office/drawing/2014/main" id="{992B3BE6-77FE-7EFC-2DBF-65009AC5A822}"/>
              </a:ext>
            </a:extLst>
          </p:cNvPr>
          <p:cNvSpPr txBox="1"/>
          <p:nvPr/>
        </p:nvSpPr>
        <p:spPr>
          <a:xfrm>
            <a:off x="3775505" y="467234"/>
            <a:ext cx="6857150" cy="37555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u="sng" dirty="0">
                <a:solidFill>
                  <a:srgbClr val="050E17"/>
                </a:solidFill>
                <a:effectLst/>
                <a:latin typeface="-apple-system"/>
              </a:rPr>
              <a:t>ATTENZIONE con </a:t>
            </a:r>
            <a:r>
              <a:rPr lang="it-IT" b="1" i="0" u="sng" dirty="0" err="1">
                <a:solidFill>
                  <a:srgbClr val="050E17"/>
                </a:solidFill>
                <a:effectLst/>
                <a:latin typeface="-apple-system"/>
              </a:rPr>
              <a:t>nextInt</a:t>
            </a:r>
            <a:r>
              <a:rPr lang="it-IT" b="1" i="0" u="sng" dirty="0">
                <a:solidFill>
                  <a:srgbClr val="050E17"/>
                </a:solidFill>
                <a:effectLst/>
                <a:latin typeface="-apple-system"/>
              </a:rPr>
              <a:t>() o </a:t>
            </a:r>
            <a:r>
              <a:rPr lang="it-IT" b="1" i="0" u="sng" dirty="0" err="1">
                <a:solidFill>
                  <a:srgbClr val="050E17"/>
                </a:solidFill>
                <a:effectLst/>
                <a:latin typeface="-apple-system"/>
              </a:rPr>
              <a:t>nextDouble</a:t>
            </a:r>
            <a:r>
              <a:rPr lang="it-IT" b="1" i="0" u="sng" dirty="0">
                <a:solidFill>
                  <a:srgbClr val="050E17"/>
                </a:solidFill>
                <a:effectLst/>
                <a:latin typeface="-apple-system"/>
              </a:rPr>
              <a:t>()</a:t>
            </a:r>
          </a:p>
        </p:txBody>
      </p:sp>
      <p:sp>
        <p:nvSpPr>
          <p:cNvPr id="2" name="CasellaDiTesto 1">
            <a:extLst>
              <a:ext uri="{FF2B5EF4-FFF2-40B4-BE49-F238E27FC236}">
                <a16:creationId xmlns:a16="http://schemas.microsoft.com/office/drawing/2014/main" id="{ECD25120-B413-30C9-48E9-607B21A78414}"/>
              </a:ext>
            </a:extLst>
          </p:cNvPr>
          <p:cNvSpPr txBox="1"/>
          <p:nvPr/>
        </p:nvSpPr>
        <p:spPr>
          <a:xfrm>
            <a:off x="282039" y="1223483"/>
            <a:ext cx="3280558" cy="366895"/>
          </a:xfrm>
          <a:prstGeom prst="rect">
            <a:avLst/>
          </a:prstGeom>
          <a:solidFill>
            <a:schemeClr val="accent1">
              <a:lumMod val="20000"/>
              <a:lumOff val="80000"/>
            </a:schemeClr>
          </a:solidFill>
        </p:spPr>
        <p:txBody>
          <a:bodyPr wrap="square">
            <a:spAutoFit/>
          </a:bodyPr>
          <a:lstStyle/>
          <a:p>
            <a:pPr lvl="0">
              <a:lnSpc>
                <a:spcPct val="107000"/>
              </a:lnSpc>
              <a:spcAft>
                <a:spcPts val="800"/>
              </a:spcAft>
              <a:buSzPts val="1000"/>
              <a:tabLst>
                <a:tab pos="678180" algn="l"/>
              </a:tabLst>
            </a:pPr>
            <a:r>
              <a:rPr lang="it-IT"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java.util.Scanner</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7" name="CasellaDiTesto 6">
            <a:extLst>
              <a:ext uri="{FF2B5EF4-FFF2-40B4-BE49-F238E27FC236}">
                <a16:creationId xmlns:a16="http://schemas.microsoft.com/office/drawing/2014/main" id="{B6977ED6-37CB-7D3B-A745-4D88C6F05F7E}"/>
              </a:ext>
            </a:extLst>
          </p:cNvPr>
          <p:cNvSpPr txBox="1"/>
          <p:nvPr/>
        </p:nvSpPr>
        <p:spPr>
          <a:xfrm>
            <a:off x="3775505" y="842786"/>
            <a:ext cx="8134456" cy="923330"/>
          </a:xfrm>
          <a:prstGeom prst="rect">
            <a:avLst/>
          </a:prstGeom>
          <a:noFill/>
        </p:spPr>
        <p:txBody>
          <a:bodyPr wrap="square" rtlCol="0">
            <a:spAutoFit/>
          </a:bodyPr>
          <a:lstStyle/>
          <a:p>
            <a:r>
              <a:rPr lang="it-IT" dirty="0"/>
              <a:t>Ad esempio, il seguente codice utilizza il metodo </a:t>
            </a:r>
            <a:r>
              <a:rPr lang="it-IT" dirty="0" err="1"/>
              <a:t>nextLine</a:t>
            </a:r>
            <a:r>
              <a:rPr lang="it-IT" dirty="0"/>
              <a:t>() per leggere l'input dell'utente come una stringa e poi utilizza </a:t>
            </a:r>
            <a:r>
              <a:rPr lang="it-IT" dirty="0" err="1"/>
              <a:t>Double.parseDouble</a:t>
            </a:r>
            <a:r>
              <a:rPr lang="it-IT" dirty="0"/>
              <a:t>() per convertire la stringa in un double:</a:t>
            </a:r>
          </a:p>
        </p:txBody>
      </p:sp>
      <p:sp>
        <p:nvSpPr>
          <p:cNvPr id="5" name="CasellaDiTesto 4">
            <a:extLst>
              <a:ext uri="{FF2B5EF4-FFF2-40B4-BE49-F238E27FC236}">
                <a16:creationId xmlns:a16="http://schemas.microsoft.com/office/drawing/2014/main" id="{B26DFE56-36F3-8F9F-CB27-ECC3D19FA19C}"/>
              </a:ext>
            </a:extLst>
          </p:cNvPr>
          <p:cNvSpPr txBox="1"/>
          <p:nvPr/>
        </p:nvSpPr>
        <p:spPr>
          <a:xfrm>
            <a:off x="282040" y="1766116"/>
            <a:ext cx="11627920" cy="3390993"/>
          </a:xfrm>
          <a:prstGeom prst="rect">
            <a:avLst/>
          </a:prstGeom>
          <a:solidFill>
            <a:schemeClr val="tx1">
              <a:lumMod val="85000"/>
              <a:lumOff val="15000"/>
            </a:schemeClr>
          </a:solidFill>
        </p:spPr>
        <p:txBody>
          <a:bodyPr wrap="square">
            <a:spAutoFit/>
          </a:bodyPr>
          <a:lstStyle/>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java.util.Scanner</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MyClass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main(String[]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a:t>
            </a:r>
            <a:r>
              <a:rPr lang="en-GB"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Scanner(System.in)</a:t>
            </a:r>
            <a:r>
              <a:rPr lang="en-GB"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GB"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"Inserisci un numero decimale: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String</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input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myScanner.nextLine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Legge l'input dell'utente come una stringa</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numero =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Double.parseDouble</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a:solidFill>
                  <a:srgbClr val="6A9955"/>
                </a:solidFill>
                <a:effectLst/>
                <a:latin typeface="Consolas" panose="020B0609020204030204" pitchFamily="49" charset="0"/>
                <a:ea typeface="Times New Roman" panose="02020603050405020304" pitchFamily="18" charset="0"/>
                <a:cs typeface="Times New Roman" panose="02020603050405020304" pitchFamily="18" charset="0"/>
              </a:rPr>
              <a:t>// Converte la stringa in un double</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it-IT" sz="1800" kern="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System.out.println</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r>
              <a:rPr lang="it-IT" sz="1800" kern="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"Il numero inserito è: "</a:t>
            </a: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numero)</a:t>
            </a:r>
            <a:r>
              <a:rPr lang="it-IT" sz="1800" kern="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it-IT" sz="1800" kern="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it-IT"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asellaDiTesto 7">
            <a:extLst>
              <a:ext uri="{FF2B5EF4-FFF2-40B4-BE49-F238E27FC236}">
                <a16:creationId xmlns:a16="http://schemas.microsoft.com/office/drawing/2014/main" id="{9E20DDC2-274B-800D-413B-B29D78D125A5}"/>
              </a:ext>
            </a:extLst>
          </p:cNvPr>
          <p:cNvSpPr txBox="1"/>
          <p:nvPr/>
        </p:nvSpPr>
        <p:spPr>
          <a:xfrm>
            <a:off x="234538" y="5393925"/>
            <a:ext cx="11722924" cy="646331"/>
          </a:xfrm>
          <a:prstGeom prst="rect">
            <a:avLst/>
          </a:prstGeom>
          <a:noFill/>
        </p:spPr>
        <p:txBody>
          <a:bodyPr wrap="square">
            <a:spAutoFit/>
          </a:bodyPr>
          <a:lstStyle/>
          <a:p>
            <a:r>
              <a:rPr lang="it-IT" dirty="0"/>
              <a:t>In questo esempio, il metodo </a:t>
            </a:r>
            <a:r>
              <a:rPr lang="it-IT" dirty="0" err="1"/>
              <a:t>nextLine</a:t>
            </a:r>
            <a:r>
              <a:rPr lang="it-IT" dirty="0"/>
              <a:t>() viene utilizzato per leggere l'input dell'utente come una stringa, che viene quindi convertita in un double utilizzando il metodo </a:t>
            </a:r>
            <a:r>
              <a:rPr lang="it-IT" dirty="0" err="1"/>
              <a:t>parseDouble</a:t>
            </a:r>
            <a:r>
              <a:rPr lang="it-IT" dirty="0"/>
              <a:t>() della classe Double. </a:t>
            </a:r>
          </a:p>
        </p:txBody>
      </p:sp>
    </p:spTree>
    <p:extLst>
      <p:ext uri="{BB962C8B-B14F-4D97-AF65-F5344CB8AC3E}">
        <p14:creationId xmlns:p14="http://schemas.microsoft.com/office/powerpoint/2010/main" val="395407157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100</Slides>
  <Notes>0</Notes>
  <HiddenSlides>0</HiddenSlides>
  <MMClips>0</MMClips>
  <ScaleCrop>false</ScaleCrop>
  <HeadingPairs>
    <vt:vector size="4" baseType="variant">
      <vt:variant>
        <vt:lpstr>Tema</vt:lpstr>
      </vt:variant>
      <vt:variant>
        <vt:i4>2</vt:i4>
      </vt:variant>
      <vt:variant>
        <vt:lpstr>Titoli diapositive</vt:lpstr>
      </vt:variant>
      <vt:variant>
        <vt:i4>100</vt:i4>
      </vt:variant>
    </vt:vector>
  </HeadingPairs>
  <TitlesOfParts>
    <vt:vector size="102"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18</cp:revision>
  <dcterms:created xsi:type="dcterms:W3CDTF">2023-08-23T12:51:20Z</dcterms:created>
  <dcterms:modified xsi:type="dcterms:W3CDTF">2026-03-26T08:18:42Z</dcterms:modified>
</cp:coreProperties>
</file>