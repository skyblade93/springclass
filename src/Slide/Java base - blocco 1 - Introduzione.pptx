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48" r:id="rId2"/>
  </p:sldMasterIdLst>
  <p:sldIdLst>
    <p:sldId id="363" r:id="rId3"/>
    <p:sldId id="362" r:id="rId4"/>
    <p:sldId id="361" r:id="rId5"/>
    <p:sldId id="360" r:id="rId6"/>
    <p:sldId id="359" r:id="rId7"/>
    <p:sldId id="358" r:id="rId8"/>
    <p:sldId id="357" r:id="rId9"/>
    <p:sldId id="356" r:id="rId10"/>
    <p:sldId id="355" r:id="rId11"/>
    <p:sldId id="354" r:id="rId12"/>
    <p:sldId id="353" r:id="rId13"/>
    <p:sldId id="352" r:id="rId14"/>
    <p:sldId id="351" r:id="rId15"/>
    <p:sldId id="350" r:id="rId16"/>
    <p:sldId id="349" r:id="rId17"/>
    <p:sldId id="348" r:id="rId18"/>
    <p:sldId id="347" r:id="rId19"/>
    <p:sldId id="346" r:id="rId20"/>
    <p:sldId id="345" r:id="rId21"/>
    <p:sldId id="344" r:id="rId22"/>
    <p:sldId id="343" r:id="rId23"/>
    <p:sldId id="342" r:id="rId24"/>
    <p:sldId id="341" r:id="rId25"/>
    <p:sldId id="340" r:id="rId26"/>
    <p:sldId id="339" r:id="rId27"/>
    <p:sldId id="338" r:id="rId28"/>
    <p:sldId id="337" r:id="rId29"/>
    <p:sldId id="336" r:id="rId30"/>
    <p:sldId id="335" r:id="rId31"/>
    <p:sldId id="334" r:id="rId32"/>
    <p:sldId id="333" r:id="rId33"/>
    <p:sldId id="332" r:id="rId34"/>
    <p:sldId id="331" r:id="rId35"/>
    <p:sldId id="330" r:id="rId36"/>
    <p:sldId id="329" r:id="rId37"/>
    <p:sldId id="328" r:id="rId38"/>
    <p:sldId id="327" r:id="rId39"/>
    <p:sldId id="326" r:id="rId40"/>
    <p:sldId id="325" r:id="rId41"/>
    <p:sldId id="324" r:id="rId42"/>
    <p:sldId id="323" r:id="rId43"/>
    <p:sldId id="322" r:id="rId44"/>
    <p:sldId id="321" r:id="rId45"/>
    <p:sldId id="320" r:id="rId46"/>
    <p:sldId id="319" r:id="rId47"/>
    <p:sldId id="318" r:id="rId48"/>
    <p:sldId id="317" r:id="rId49"/>
    <p:sldId id="316" r:id="rId50"/>
    <p:sldId id="315" r:id="rId51"/>
    <p:sldId id="314" r:id="rId52"/>
    <p:sldId id="313" r:id="rId53"/>
    <p:sldId id="312" r:id="rId54"/>
    <p:sldId id="311" r:id="rId55"/>
    <p:sldId id="310" r:id="rId56"/>
    <p:sldId id="309" r:id="rId57"/>
    <p:sldId id="308" r:id="rId58"/>
    <p:sldId id="307" r:id="rId59"/>
    <p:sldId id="306" r:id="rId60"/>
    <p:sldId id="305" r:id="rId61"/>
    <p:sldId id="304" r:id="rId62"/>
    <p:sldId id="303" r:id="rId63"/>
    <p:sldId id="302" r:id="rId64"/>
    <p:sldId id="301" r:id="rId65"/>
    <p:sldId id="300" r:id="rId66"/>
    <p:sldId id="299" r:id="rId67"/>
    <p:sldId id="298" r:id="rId68"/>
    <p:sldId id="297" r:id="rId69"/>
    <p:sldId id="296" r:id="rId70"/>
    <p:sldId id="295" r:id="rId71"/>
    <p:sldId id="294" r:id="rId72"/>
    <p:sldId id="293" r:id="rId73"/>
    <p:sldId id="292" r:id="rId74"/>
    <p:sldId id="291" r:id="rId75"/>
    <p:sldId id="290" r:id="rId76"/>
    <p:sldId id="289" r:id="rId77"/>
    <p:sldId id="288" r:id="rId78"/>
    <p:sldId id="287" r:id="rId79"/>
    <p:sldId id="286" r:id="rId80"/>
    <p:sldId id="285" r:id="rId81"/>
    <p:sldId id="284" r:id="rId82"/>
    <p:sldId id="283" r:id="rId83"/>
    <p:sldId id="282" r:id="rId84"/>
    <p:sldId id="281" r:id="rId85"/>
    <p:sldId id="280" r:id="rId86"/>
    <p:sldId id="279" r:id="rId87"/>
    <p:sldId id="278" r:id="rId88"/>
    <p:sldId id="277" r:id="rId89"/>
    <p:sldId id="276" r:id="rId90"/>
    <p:sldId id="275" r:id="rId91"/>
    <p:sldId id="274" r:id="rId92"/>
    <p:sldId id="273" r:id="rId93"/>
    <p:sldId id="272" r:id="rId94"/>
    <p:sldId id="271" r:id="rId95"/>
    <p:sldId id="270" r:id="rId96"/>
    <p:sldId id="269" r:id="rId97"/>
    <p:sldId id="268" r:id="rId98"/>
    <p:sldId id="267" r:id="rId99"/>
    <p:sldId id="266" r:id="rId100"/>
    <p:sldId id="265" r:id="rId101"/>
    <p:sldId id="264" r:id="rId102"/>
    <p:sldId id="263" r:id="rId103"/>
    <p:sldId id="262" r:id="rId104"/>
    <p:sldId id="261" r:id="rId105"/>
    <p:sldId id="260" r:id="rId106"/>
    <p:sldId id="259" r:id="rId107"/>
    <p:sldId id="258" r:id="rId108"/>
    <p:sldId id="257" r:id="rId10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 /><Relationship Id="rId21" Type="http://schemas.openxmlformats.org/officeDocument/2006/relationships/slide" Target="slides/slide19.xml" /><Relationship Id="rId42" Type="http://schemas.openxmlformats.org/officeDocument/2006/relationships/slide" Target="slides/slide40.xml" /><Relationship Id="rId47" Type="http://schemas.openxmlformats.org/officeDocument/2006/relationships/slide" Target="slides/slide45.xml" /><Relationship Id="rId63" Type="http://schemas.openxmlformats.org/officeDocument/2006/relationships/slide" Target="slides/slide61.xml" /><Relationship Id="rId68" Type="http://schemas.openxmlformats.org/officeDocument/2006/relationships/slide" Target="slides/slide66.xml" /><Relationship Id="rId84" Type="http://schemas.openxmlformats.org/officeDocument/2006/relationships/slide" Target="slides/slide82.xml" /><Relationship Id="rId89" Type="http://schemas.openxmlformats.org/officeDocument/2006/relationships/slide" Target="slides/slide87.xml" /><Relationship Id="rId112" Type="http://schemas.openxmlformats.org/officeDocument/2006/relationships/theme" Target="theme/theme1.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07" Type="http://schemas.openxmlformats.org/officeDocument/2006/relationships/slide" Target="slides/slide105.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slide" Target="slides/slide77.xml" /><Relationship Id="rId87" Type="http://schemas.openxmlformats.org/officeDocument/2006/relationships/slide" Target="slides/slide85.xml" /><Relationship Id="rId102" Type="http://schemas.openxmlformats.org/officeDocument/2006/relationships/slide" Target="slides/slide100.xml" /><Relationship Id="rId110" Type="http://schemas.openxmlformats.org/officeDocument/2006/relationships/presProps" Target="presProps.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slide" Target="slides/slide80.xml" /><Relationship Id="rId90" Type="http://schemas.openxmlformats.org/officeDocument/2006/relationships/slide" Target="slides/slide88.xml" /><Relationship Id="rId95" Type="http://schemas.openxmlformats.org/officeDocument/2006/relationships/slide" Target="slides/slide93.xml" /><Relationship Id="rId19" Type="http://schemas.openxmlformats.org/officeDocument/2006/relationships/slide" Target="slides/slide1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100" Type="http://schemas.openxmlformats.org/officeDocument/2006/relationships/slide" Target="slides/slide98.xml" /><Relationship Id="rId105" Type="http://schemas.openxmlformats.org/officeDocument/2006/relationships/slide" Target="slides/slide103.xml" /><Relationship Id="rId113" Type="http://schemas.openxmlformats.org/officeDocument/2006/relationships/tableStyles" Target="tableStyles.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slide" Target="slides/slide78.xml" /><Relationship Id="rId85" Type="http://schemas.openxmlformats.org/officeDocument/2006/relationships/slide" Target="slides/slide83.xml" /><Relationship Id="rId93" Type="http://schemas.openxmlformats.org/officeDocument/2006/relationships/slide" Target="slides/slide91.xml" /><Relationship Id="rId98" Type="http://schemas.openxmlformats.org/officeDocument/2006/relationships/slide" Target="slides/slide96.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103" Type="http://schemas.openxmlformats.org/officeDocument/2006/relationships/slide" Target="slides/slide101.xml" /><Relationship Id="rId108" Type="http://schemas.openxmlformats.org/officeDocument/2006/relationships/slide" Target="slides/slide106.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slide" Target="slides/slide81.xml" /><Relationship Id="rId88" Type="http://schemas.openxmlformats.org/officeDocument/2006/relationships/slide" Target="slides/slide86.xml" /><Relationship Id="rId91" Type="http://schemas.openxmlformats.org/officeDocument/2006/relationships/slide" Target="slides/slide89.xml" /><Relationship Id="rId96" Type="http://schemas.openxmlformats.org/officeDocument/2006/relationships/slide" Target="slides/slide94.xml" /><Relationship Id="rId111"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 Id="rId106" Type="http://schemas.openxmlformats.org/officeDocument/2006/relationships/slide" Target="slides/slide104.xml" /><Relationship Id="rId10" Type="http://schemas.openxmlformats.org/officeDocument/2006/relationships/slide" Target="slides/slide8.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slide" Target="slides/slide79.xml" /><Relationship Id="rId86" Type="http://schemas.openxmlformats.org/officeDocument/2006/relationships/slide" Target="slides/slide84.xml" /><Relationship Id="rId94" Type="http://schemas.openxmlformats.org/officeDocument/2006/relationships/slide" Target="slides/slide92.xml" /><Relationship Id="rId99" Type="http://schemas.openxmlformats.org/officeDocument/2006/relationships/slide" Target="slides/slide97.xml" /><Relationship Id="rId101" Type="http://schemas.openxmlformats.org/officeDocument/2006/relationships/slide" Target="slides/slide99.xml" /><Relationship Id="rId4" Type="http://schemas.openxmlformats.org/officeDocument/2006/relationships/slide" Target="slides/slide2.xml" /><Relationship Id="rId9" Type="http://schemas.openxmlformats.org/officeDocument/2006/relationships/slide" Target="slides/slide7.xml" /><Relationship Id="rId13" Type="http://schemas.openxmlformats.org/officeDocument/2006/relationships/slide" Target="slides/slide11.xml" /><Relationship Id="rId18" Type="http://schemas.openxmlformats.org/officeDocument/2006/relationships/slide" Target="slides/slide16.xml" /><Relationship Id="rId39" Type="http://schemas.openxmlformats.org/officeDocument/2006/relationships/slide" Target="slides/slide37.xml" /><Relationship Id="rId109" Type="http://schemas.openxmlformats.org/officeDocument/2006/relationships/slide" Target="slides/slide107.xml" /><Relationship Id="rId34" Type="http://schemas.openxmlformats.org/officeDocument/2006/relationships/slide" Target="slides/slide32.xml" /><Relationship Id="rId50" Type="http://schemas.openxmlformats.org/officeDocument/2006/relationships/slide" Target="slides/slide48.xml" /><Relationship Id="rId55" Type="http://schemas.openxmlformats.org/officeDocument/2006/relationships/slide" Target="slides/slide53.xml" /><Relationship Id="rId76" Type="http://schemas.openxmlformats.org/officeDocument/2006/relationships/slide" Target="slides/slide74.xml" /><Relationship Id="rId97" Type="http://schemas.openxmlformats.org/officeDocument/2006/relationships/slide" Target="slides/slide95.xml" /><Relationship Id="rId104" Type="http://schemas.openxmlformats.org/officeDocument/2006/relationships/slide" Target="slides/slide102.xml" /><Relationship Id="rId7" Type="http://schemas.openxmlformats.org/officeDocument/2006/relationships/slide" Target="slides/slide5.xml" /><Relationship Id="rId71" Type="http://schemas.openxmlformats.org/officeDocument/2006/relationships/slide" Target="slides/slide69.xml" /><Relationship Id="rId92" Type="http://schemas.openxmlformats.org/officeDocument/2006/relationships/slide" Target="slides/slide9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10.02.2025</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10.02.2025</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10.02.2025</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10.02.2025</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10.02.2025</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10.02.2025</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10.02.2025</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10.02.2025</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10.02.2025</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10.02.2025</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10.02.2025</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411C66A-B0C1-7866-3D26-29AECA7A6CF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7513622-0E25-D27C-B56E-5F02BBA3D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7E2AB8D-2E87-1D80-7E8E-3DE87022B9A1}"/>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D62B23E6-7AFC-4519-0F56-4D06D921BBF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063B3F3-8769-6F7B-FEC4-E10F0FE31C83}"/>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717390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521C64-FA1E-8945-57BB-EBC9F3E1DD6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0CB6B06-E4BA-9CD5-43D5-284D5EDD0656}"/>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A5CF074-0183-72A1-EE86-ABF9592357C5}"/>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D9E18A0C-6FEE-0DF4-2E3A-F5D511F73FC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B3F2827-C529-23AA-BC3A-F718C734B0A2}"/>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290994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51AFE0-CE1F-1BBB-A8FE-5E1A6C7E588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AF741322-2136-BE73-F3C9-0284E9DAF0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6BDD83E5-9853-A50D-DDB7-885BB5BF4BD2}"/>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4FAF9313-012B-2107-BDB1-0747BBFD9EA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A328B51-437C-79F8-8CFB-E006BB22D92C}"/>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906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7C9E0E-AECB-76B4-49AE-55C0CA0D809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10DFC74-D8BF-9633-822B-5F67DF39F485}"/>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FDC73C3-2A05-3BA7-ED76-8C3A440C64D7}"/>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9BABA24-DFE1-C1D0-9FD3-E5DF735A66AB}"/>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6" name="Segnaposto piè di pagina 5">
            <a:extLst>
              <a:ext uri="{FF2B5EF4-FFF2-40B4-BE49-F238E27FC236}">
                <a16:creationId xmlns:a16="http://schemas.microsoft.com/office/drawing/2014/main" id="{3FBD9E49-CECE-11E5-EFC3-DDAF5BAF437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7BBD9B3-F778-65E1-B3FA-7CE80C14C04D}"/>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32751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FACB617-15AE-8FD2-B0E4-E7070FEA318E}"/>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4E19AF32-390E-819A-1ECC-D7674C291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6B382BC5-E1AD-497C-F3C2-9D4C28310B5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7652B836-AF71-CDB6-F5B1-C1E212BD54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51442CC-FB1A-9FDF-6250-16AA2595201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80F8DA9-22EC-0D6F-3B5B-177D038C6E51}"/>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8" name="Segnaposto piè di pagina 7">
            <a:extLst>
              <a:ext uri="{FF2B5EF4-FFF2-40B4-BE49-F238E27FC236}">
                <a16:creationId xmlns:a16="http://schemas.microsoft.com/office/drawing/2014/main" id="{B1F7D1D5-6548-F064-1853-A99AC1A5A955}"/>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B1C4147-34A9-F254-CD97-8B0B0D46D8B6}"/>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57400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AB8F660-5FAB-0706-57FD-238F9379405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37EF1B78-C137-31EE-411A-63CA9B68B399}"/>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4" name="Segnaposto piè di pagina 3">
            <a:extLst>
              <a:ext uri="{FF2B5EF4-FFF2-40B4-BE49-F238E27FC236}">
                <a16:creationId xmlns:a16="http://schemas.microsoft.com/office/drawing/2014/main" id="{D720C33A-D9F8-230E-80BC-6070D64DBCA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2A75A252-4F7E-A574-BBD5-74949925ACC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1152966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2D6BC536-F4B2-4D94-2664-04549F9E05C7}"/>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3" name="Segnaposto piè di pagina 2">
            <a:extLst>
              <a:ext uri="{FF2B5EF4-FFF2-40B4-BE49-F238E27FC236}">
                <a16:creationId xmlns:a16="http://schemas.microsoft.com/office/drawing/2014/main" id="{EA31F2EE-89F2-DD90-BB32-DCE5120D4C98}"/>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FC5E6F0-EECD-8109-1050-8565F07B857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4062102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385FD8-40B9-A7D3-9A94-AFB291AF8018}"/>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58B5F0B-1124-87FF-8AA1-C8DA6AF4F7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82A423BB-4ABB-EEB4-698A-0F64E9E7E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AB0BC1E-CFE1-A594-B10A-A4217C7B8B93}"/>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6" name="Segnaposto piè di pagina 5">
            <a:extLst>
              <a:ext uri="{FF2B5EF4-FFF2-40B4-BE49-F238E27FC236}">
                <a16:creationId xmlns:a16="http://schemas.microsoft.com/office/drawing/2014/main" id="{E187E49F-C309-4CE2-0983-EC9545D596F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FB5A6BA-A572-8243-E1E5-45059927DE6A}"/>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1874868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4D464F7-D228-FD5C-2FF0-6DC6C57473A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92E35FA-4ADB-04E9-A265-7A03C96AE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9B6AE28-8F09-9536-754B-E5A67D4FE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9338B1BA-3048-6D75-DE88-45D778AB5A8E}"/>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6" name="Segnaposto piè di pagina 5">
            <a:extLst>
              <a:ext uri="{FF2B5EF4-FFF2-40B4-BE49-F238E27FC236}">
                <a16:creationId xmlns:a16="http://schemas.microsoft.com/office/drawing/2014/main" id="{9A8DA03E-2831-51FC-E3B4-1F2FABF2152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01DB1B3F-6E85-61CC-CA1A-FCA9E8222DCF}"/>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2304891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57F892-C827-07B1-CD90-33732AC5FCC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4AE4A31C-2935-1092-90D0-A666786B76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71052BA-2199-CFA1-5130-310ACF2BDD20}"/>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1050635D-C1B0-8120-0835-CED8BEA0C8F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03FD6E55-EF4D-9828-E631-F28B200AFBB0}"/>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1658302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6BF5F9E-C47B-428B-8A8E-B7622BF357A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85479440-E149-2460-5D3F-E36BEF0D787D}"/>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7DAA5A2-B373-F6DA-51E6-235FDB47FE48}"/>
              </a:ext>
            </a:extLst>
          </p:cNvPr>
          <p:cNvSpPr>
            <a:spLocks noGrp="1"/>
          </p:cNvSpPr>
          <p:nvPr>
            <p:ph type="dt" sz="half" idx="10"/>
          </p:nvPr>
        </p:nvSpPr>
        <p:spPr/>
        <p:txBody>
          <a:body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D322361F-5C91-3E41-62FD-1C2ED7A1BCD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AA796F5-AFC0-B29F-0C3D-0AF29CAD4168}"/>
              </a:ext>
            </a:extLst>
          </p:cNvPr>
          <p:cNvSpPr>
            <a:spLocks noGrp="1"/>
          </p:cNvSpPr>
          <p:nvPr>
            <p:ph type="sldNum" sz="quarter" idx="12"/>
          </p:nvPr>
        </p:nvSpPr>
        <p:spPr/>
        <p:txBody>
          <a:bodyPr/>
          <a:lstStyle/>
          <a:p>
            <a:fld id="{64D7E2DB-F4FF-4776-8D08-CC7AA39C3F39}" type="slidenum">
              <a:rPr lang="it-IT" smtClean="0"/>
              <a:t>‹N›</a:t>
            </a:fld>
            <a:endParaRPr lang="it-IT"/>
          </a:p>
        </p:txBody>
      </p:sp>
    </p:spTree>
    <p:extLst>
      <p:ext uri="{BB962C8B-B14F-4D97-AF65-F5344CB8AC3E}">
        <p14:creationId xmlns:p14="http://schemas.microsoft.com/office/powerpoint/2010/main" val="576324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4A8E5F-40E5-4553-9F3C-699F1A5B8145}" type="datetimeFigureOut">
              <a:rPr lang="de-DE" smtClean="0"/>
              <a:t>10.02.2025</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CB31383-5659-2940-236C-F9346E91B4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67A1E06-4FB4-3F20-564F-4FA29D5A1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DBC1E01-19BC-CF30-A5B1-1974D7E586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4271AC-57B9-42F6-A82F-430D47D1FB54}" type="datetimeFigureOut">
              <a:rPr lang="it-IT" smtClean="0"/>
              <a:t>10/02/2025</a:t>
            </a:fld>
            <a:endParaRPr lang="it-IT"/>
          </a:p>
        </p:txBody>
      </p:sp>
      <p:sp>
        <p:nvSpPr>
          <p:cNvPr id="5" name="Segnaposto piè di pagina 4">
            <a:extLst>
              <a:ext uri="{FF2B5EF4-FFF2-40B4-BE49-F238E27FC236}">
                <a16:creationId xmlns:a16="http://schemas.microsoft.com/office/drawing/2014/main" id="{B91BCDDF-DD4D-D38B-E8DE-90714829F9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D5B9393-E55B-8C2C-7636-1010066DE2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7E2DB-F4FF-4776-8D08-CC7AA39C3F39}" type="slidenum">
              <a:rPr lang="it-IT" smtClean="0"/>
              <a:t>‹N›</a:t>
            </a:fld>
            <a:endParaRPr lang="it-IT"/>
          </a:p>
        </p:txBody>
      </p:sp>
    </p:spTree>
    <p:extLst>
      <p:ext uri="{BB962C8B-B14F-4D97-AF65-F5344CB8AC3E}">
        <p14:creationId xmlns:p14="http://schemas.microsoft.com/office/powerpoint/2010/main" val="4247420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3.xml" /></Relationships>
</file>

<file path=ppt/slides/_rels/slide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3.xml" /></Relationships>
</file>

<file path=ppt/slides/_rels/slide1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2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3.xml" /></Relationships>
</file>

<file path=ppt/slides/_rels/slide2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3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2.xml" /><Relationship Id="rId4" Type="http://schemas.openxmlformats.org/officeDocument/2006/relationships/image" Target="../media/image3.png" /></Relationships>
</file>

<file path=ppt/slides/_rels/slide4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2.xml" /><Relationship Id="rId4" Type="http://schemas.openxmlformats.org/officeDocument/2006/relationships/image" Target="../media/image3.png" /></Relationships>
</file>

<file path=ppt/slides/_rels/slide4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3.xml" /></Relationships>
</file>

<file path=ppt/slides/_rels/slide4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4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4.xml.rels><?xml version="1.0" encoding="UTF-8" standalone="yes"?>
<Relationships xmlns="http://schemas.openxmlformats.org/package/2006/relationships"><Relationship Id="rId3" Type="http://schemas.openxmlformats.org/officeDocument/2006/relationships/image" Target="../media/image4.jpe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7.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8.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59.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3.xml" /></Relationships>
</file>

<file path=ppt/slides/_rels/slide6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6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7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8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9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_rels/slide10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Indice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Indice degli argomenti che affronteremo</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074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8990" y="304254"/>
            <a:ext cx="6097978" cy="2637645"/>
          </a:xfrm>
          <a:prstGeom prst="rect">
            <a:avLst/>
          </a:prstGeom>
          <a:noFill/>
        </p:spPr>
        <p:txBody>
          <a:bodyPr wrap="square">
            <a:spAutoFit/>
          </a:bodyPr>
          <a:lstStyle/>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Introduzione a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Architettura di Java</a:t>
            </a:r>
          </a:p>
          <a:p>
            <a:pPr marL="342900" lvl="0" indent="-342900">
              <a:lnSpc>
                <a:spcPct val="107000"/>
              </a:lnSpc>
              <a:spcAft>
                <a:spcPts val="800"/>
              </a:spcAft>
              <a:buSzPts val="1000"/>
              <a:buFont typeface="Symbol" panose="05050102010706020507" pitchFamily="18" charset="2"/>
              <a:buChar char=""/>
              <a:tabLst>
                <a:tab pos="678180" algn="l"/>
              </a:tabLst>
            </a:pP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Ambiente di sviluppo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Installazione di Java Development Kit (JDK)</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Strumenti di sviluppo come Eclipse, </a:t>
            </a:r>
            <a:r>
              <a:rPr lang="it-IT" sz="14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NetBeans</a:t>
            </a: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IntelliJ IDEA</a:t>
            </a:r>
          </a:p>
        </p:txBody>
      </p:sp>
    </p:spTree>
    <p:extLst>
      <p:ext uri="{BB962C8B-B14F-4D97-AF65-F5344CB8AC3E}">
        <p14:creationId xmlns:p14="http://schemas.microsoft.com/office/powerpoint/2010/main" val="156330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8990" y="304254"/>
            <a:ext cx="6097978" cy="4303166"/>
          </a:xfrm>
          <a:prstGeom prst="rect">
            <a:avLst/>
          </a:prstGeom>
          <a:noFill/>
        </p:spPr>
        <p:txBody>
          <a:bodyPr wrap="square">
            <a:spAutoFit/>
          </a:bodyPr>
          <a:lstStyle/>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Introduzione a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Architettura di Java</a:t>
            </a:r>
          </a:p>
          <a:p>
            <a:pPr marL="342900" lvl="0" indent="-342900">
              <a:lnSpc>
                <a:spcPct val="107000"/>
              </a:lnSpc>
              <a:spcAft>
                <a:spcPts val="800"/>
              </a:spcAft>
              <a:buSzPts val="1000"/>
              <a:buFont typeface="Symbol" panose="05050102010706020507" pitchFamily="18" charset="2"/>
              <a:buChar char=""/>
              <a:tabLst>
                <a:tab pos="678180" algn="l"/>
              </a:tabLst>
            </a:pP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Ambiente di sviluppo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Installazione di Java Development Kit (JDK)</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Strumenti di sviluppo come Eclipse, </a:t>
            </a:r>
            <a:r>
              <a:rPr lang="it-IT" sz="14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NetBeans</a:t>
            </a: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IntelliJ IDEA</a:t>
            </a:r>
          </a:p>
          <a:p>
            <a:pPr marL="342900" lvl="0" indent="-342900">
              <a:lnSpc>
                <a:spcPct val="107000"/>
              </a:lnSpc>
              <a:spcAft>
                <a:spcPts val="800"/>
              </a:spcAft>
              <a:buSzPts val="1000"/>
              <a:buFont typeface="Symbol" panose="05050102010706020507" pitchFamily="18" charset="2"/>
              <a:buChar char=""/>
              <a:tabLst>
                <a:tab pos="678180" algn="l"/>
              </a:tabLst>
            </a:pPr>
            <a:endPar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Applicazioni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Creazione di un'applicazione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Compilazione e esecuzione del codice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delle librerie standard di Java</a:t>
            </a:r>
          </a:p>
        </p:txBody>
      </p:sp>
    </p:spTree>
    <p:extLst>
      <p:ext uri="{BB962C8B-B14F-4D97-AF65-F5344CB8AC3E}">
        <p14:creationId xmlns:p14="http://schemas.microsoft.com/office/powerpoint/2010/main" val="267030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8990" y="304254"/>
            <a:ext cx="6097978" cy="6307111"/>
          </a:xfrm>
          <a:prstGeom prst="rect">
            <a:avLst/>
          </a:prstGeom>
          <a:noFill/>
        </p:spPr>
        <p:txBody>
          <a:bodyPr wrap="square">
            <a:spAutoFit/>
          </a:bodyPr>
          <a:lstStyle/>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Introduzione a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Architettura di Java</a:t>
            </a:r>
          </a:p>
          <a:p>
            <a:pPr marL="342900" lvl="0" indent="-342900">
              <a:lnSpc>
                <a:spcPct val="107000"/>
              </a:lnSpc>
              <a:spcAft>
                <a:spcPts val="800"/>
              </a:spcAft>
              <a:buSzPts val="1000"/>
              <a:buFont typeface="Symbol" panose="05050102010706020507" pitchFamily="18" charset="2"/>
              <a:buChar char=""/>
              <a:tabLst>
                <a:tab pos="678180" algn="l"/>
              </a:tabLst>
            </a:pP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Ambiente di sviluppo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Installazione di Java Development Kit (JDK)</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Strumenti di sviluppo come Eclipse, </a:t>
            </a:r>
            <a:r>
              <a:rPr lang="it-IT" sz="14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NetBeans</a:t>
            </a: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IntelliJ IDEA</a:t>
            </a:r>
          </a:p>
          <a:p>
            <a:pPr marL="342900" lvl="0" indent="-342900">
              <a:lnSpc>
                <a:spcPct val="107000"/>
              </a:lnSpc>
              <a:spcAft>
                <a:spcPts val="800"/>
              </a:spcAft>
              <a:buSzPts val="1000"/>
              <a:buFont typeface="Symbol" panose="05050102010706020507" pitchFamily="18" charset="2"/>
              <a:buChar char=""/>
              <a:tabLst>
                <a:tab pos="678180" algn="l"/>
              </a:tabLst>
            </a:pPr>
            <a:endPar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Applicazioni Java</a:t>
            </a:r>
            <a:endParaRPr lang="it-IT" sz="14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Creazione di un'applicazione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Compilazione e esecuzione del codice Java</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delle librerie standard di Java</a:t>
            </a:r>
          </a:p>
          <a:p>
            <a:pPr lvl="0">
              <a:lnSpc>
                <a:spcPct val="107000"/>
              </a:lnSpc>
              <a:spcAft>
                <a:spcPts val="800"/>
              </a:spcAft>
              <a:buSzPts val="1000"/>
              <a:tabLst>
                <a:tab pos="678180" algn="l"/>
              </a:tabLst>
            </a:pP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Java</a:t>
            </a: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Struttura di una applicazione JAVA</a:t>
            </a: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Variabili e tipi di dati</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Operatori e espressioni</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Istruzioni di controllo di flusso (if, switch, for, </a:t>
            </a:r>
            <a:r>
              <a:rPr lang="it-IT" sz="14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while</a:t>
            </a:r>
            <a:r>
              <a:rPr lang="it-IT" sz="14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31316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138000"/>
            <a:ext cx="6097978" cy="1434624"/>
          </a:xfrm>
          <a:prstGeom prst="rect">
            <a:avLst/>
          </a:prstGeom>
          <a:noFill/>
        </p:spPr>
        <p:txBody>
          <a:bodyPr wrap="square">
            <a:spAutoFit/>
          </a:bodyPr>
          <a:lstStyle/>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OOP (Object-</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Oriented</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Programming)</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e oggetti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 </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polimorfismo</a:t>
            </a:r>
          </a:p>
        </p:txBody>
      </p:sp>
    </p:spTree>
    <p:extLst>
      <p:ext uri="{BB962C8B-B14F-4D97-AF65-F5344CB8AC3E}">
        <p14:creationId xmlns:p14="http://schemas.microsoft.com/office/powerpoint/2010/main" val="2129075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138000"/>
            <a:ext cx="6097978" cy="2904898"/>
          </a:xfrm>
          <a:prstGeom prst="rect">
            <a:avLst/>
          </a:prstGeom>
          <a:noFill/>
        </p:spPr>
        <p:txBody>
          <a:bodyPr wrap="square">
            <a:spAutoFit/>
          </a:bodyPr>
          <a:lstStyle/>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OOP (Object-</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Oriented</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Programming)</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e oggetti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 </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polimorfismo</a:t>
            </a:r>
          </a:p>
          <a:p>
            <a:pPr lvl="0">
              <a:lnSpc>
                <a:spcPct val="107000"/>
              </a:lnSpc>
              <a:spcAft>
                <a:spcPts val="800"/>
              </a:spcAft>
              <a:tabLst>
                <a:tab pos="45720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Gestione delle eccezioni</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Eccezioni e gestione delle eccezioni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try</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-catch</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1319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138000"/>
            <a:ext cx="6097978" cy="4729180"/>
          </a:xfrm>
          <a:prstGeom prst="rect">
            <a:avLst/>
          </a:prstGeom>
          <a:noFill/>
        </p:spPr>
        <p:txBody>
          <a:bodyPr wrap="square">
            <a:spAutoFit/>
          </a:bodyPr>
          <a:lstStyle/>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OOP (Object-</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Oriented</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Programming)</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e oggetti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 </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polimorfismo</a:t>
            </a:r>
          </a:p>
          <a:p>
            <a:pPr lvl="0">
              <a:lnSpc>
                <a:spcPct val="107000"/>
              </a:lnSpc>
              <a:spcAft>
                <a:spcPts val="800"/>
              </a:spcAft>
              <a:tabLst>
                <a:tab pos="45720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Gestione delle eccezioni</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Eccezioni e gestione delle eccezioni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try</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-catch</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Input/output</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input/output in Java</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Stream di dati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File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handling</a:t>
            </a:r>
            <a:endParaRPr lang="it-IT" sz="1600"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404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138000"/>
            <a:ext cx="6097978" cy="7299242"/>
          </a:xfrm>
          <a:prstGeom prst="rect">
            <a:avLst/>
          </a:prstGeom>
          <a:noFill/>
        </p:spPr>
        <p:txBody>
          <a:bodyPr wrap="square">
            <a:spAutoFit/>
          </a:bodyPr>
          <a:lstStyle/>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OOP (Object-</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Oriented</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 Programming)</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Concetti fondamentali di OOP</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Classi e oggetti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r>
              <a:rPr lang="it-IT" sz="16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Ereditarietà </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 polimorfismo</a:t>
            </a:r>
          </a:p>
          <a:p>
            <a:pPr lvl="0">
              <a:lnSpc>
                <a:spcPct val="107000"/>
              </a:lnSpc>
              <a:spcAft>
                <a:spcPts val="800"/>
              </a:spcAft>
              <a:tabLst>
                <a:tab pos="45720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Gestione delle eccezioni</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Eccezioni e gestione delle eccezioni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try</a:t>
            </a: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-catch</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tabLst>
                <a:tab pos="45720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Input/output</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input/output in Java</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Stream di dati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File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handling</a:t>
            </a:r>
            <a:endParaRPr lang="it-IT" sz="1600"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buSzPts val="1000"/>
              <a:tabLst>
                <a:tab pos="678180" algn="l"/>
              </a:tabLst>
            </a:pPr>
            <a:endPar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a:p>
            <a:pPr lvl="0">
              <a:lnSpc>
                <a:spcPct val="107000"/>
              </a:lnSpc>
              <a:spcAft>
                <a:spcPts val="800"/>
              </a:spcAft>
              <a:buSzPts val="1000"/>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Input/output</a:t>
            </a:r>
            <a:endParaRPr lang="it-IT" sz="1600" kern="100" dirty="0">
              <a:solidFill>
                <a:srgbClr val="37415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Utilizzo di input/output in Java</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Stream di dati</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r>
              <a:rPr lang="it-IT" sz="16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File </a:t>
            </a:r>
            <a:r>
              <a:rPr lang="it-IT" sz="1600" kern="0" dirty="0" err="1">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handling</a:t>
            </a: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678180" algn="l"/>
              </a:tabLst>
            </a:pP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49580" algn="l"/>
              </a:tabLst>
            </a:pPr>
            <a:endParaRPr lang="it-IT"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8804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292245"/>
            <a:ext cx="5978236" cy="1689501"/>
          </a:xfrm>
          <a:prstGeom prst="rect">
            <a:avLst/>
          </a:prstGeom>
          <a:noFill/>
        </p:spPr>
        <p:txBody>
          <a:bodyPr wrap="square">
            <a:spAutoFit/>
          </a:bodyPr>
          <a:lstStyle/>
          <a:p>
            <a:pPr lvl="0">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Lettura e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delle eccezioni durante la lettura e la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della classe File e della classe </a:t>
            </a:r>
            <a:r>
              <a:rPr lang="it-IT" sz="1600" b="0" i="0" dirty="0" err="1">
                <a:solidFill>
                  <a:srgbClr val="050E17"/>
                </a:solidFill>
                <a:effectLst/>
                <a:latin typeface="Segoe UI" panose="020B0502040204020203" pitchFamily="34" charset="0"/>
                <a:cs typeface="Segoe UI" panose="020B0502040204020203" pitchFamily="34" charset="0"/>
              </a:rPr>
              <a:t>Path</a:t>
            </a:r>
            <a:r>
              <a:rPr lang="it-IT" sz="1600" b="0" i="0" dirty="0">
                <a:solidFill>
                  <a:srgbClr val="050E17"/>
                </a:solidFill>
                <a:effectLst/>
                <a:latin typeface="Segoe UI" panose="020B0502040204020203" pitchFamily="34" charset="0"/>
                <a:cs typeface="Segoe UI" panose="020B0502040204020203" pitchFamily="34" charset="0"/>
              </a:rPr>
              <a:t> in Java</a:t>
            </a:r>
          </a:p>
        </p:txBody>
      </p:sp>
    </p:spTree>
    <p:extLst>
      <p:ext uri="{BB962C8B-B14F-4D97-AF65-F5344CB8AC3E}">
        <p14:creationId xmlns:p14="http://schemas.microsoft.com/office/powerpoint/2010/main" val="3809063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292245"/>
            <a:ext cx="5978236" cy="3898952"/>
          </a:xfrm>
          <a:prstGeom prst="rect">
            <a:avLst/>
          </a:prstGeom>
          <a:noFill/>
        </p:spPr>
        <p:txBody>
          <a:bodyPr wrap="square">
            <a:spAutoFit/>
          </a:bodyPr>
          <a:lstStyle/>
          <a:p>
            <a:pPr lvl="0">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Lettura e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delle eccezioni durante la lettura e la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della classe File e della classe </a:t>
            </a:r>
            <a:r>
              <a:rPr lang="it-IT" sz="1600" b="0" i="0" dirty="0" err="1">
                <a:solidFill>
                  <a:srgbClr val="050E17"/>
                </a:solidFill>
                <a:effectLst/>
                <a:latin typeface="Segoe UI" panose="020B0502040204020203" pitchFamily="34" charset="0"/>
                <a:cs typeface="Segoe UI" panose="020B0502040204020203" pitchFamily="34" charset="0"/>
              </a:rPr>
              <a:t>Path</a:t>
            </a:r>
            <a:r>
              <a:rPr lang="it-IT" sz="1600" b="0" i="0" dirty="0">
                <a:solidFill>
                  <a:srgbClr val="050E17"/>
                </a:solidFill>
                <a:effectLst/>
                <a:latin typeface="Segoe UI" panose="020B0502040204020203" pitchFamily="34" charset="0"/>
                <a:cs typeface="Segoe UI" panose="020B0502040204020203" pitchFamily="34" charset="0"/>
              </a:rPr>
              <a:t> in Java</a:t>
            </a:r>
          </a:p>
          <a:p>
            <a:pPr>
              <a:lnSpc>
                <a:spcPct val="107000"/>
              </a:lnSpc>
              <a:spcAft>
                <a:spcPts val="800"/>
              </a:spcAft>
              <a:tabLst>
                <a:tab pos="457200" algn="l"/>
              </a:tabLst>
            </a:pPr>
            <a:endParaRPr lang="it-IT" sz="1600" b="0" i="0" dirty="0">
              <a:solidFill>
                <a:srgbClr val="050E17"/>
              </a:solidFill>
              <a:effectLst/>
              <a:latin typeface="Segoe UI" panose="020B0502040204020203" pitchFamily="34" charset="0"/>
              <a:cs typeface="Segoe UI" panose="020B0502040204020203" pitchFamily="34" charset="0"/>
            </a:endParaRPr>
          </a:p>
          <a:p>
            <a:pPr>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dei database relazionali MySQL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gestione dei database relazionali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Connessione a un database MySQL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Esecuzione di query 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di </a:t>
            </a:r>
            <a:r>
              <a:rPr lang="it-IT" sz="1600" b="0" i="0" dirty="0" err="1">
                <a:solidFill>
                  <a:srgbClr val="050E17"/>
                </a:solidFill>
                <a:effectLst/>
                <a:latin typeface="Segoe UI" panose="020B0502040204020203" pitchFamily="34" charset="0"/>
                <a:cs typeface="Segoe UI" panose="020B0502040204020203" pitchFamily="34" charset="0"/>
              </a:rPr>
              <a:t>PreparedStatement</a:t>
            </a:r>
            <a:r>
              <a:rPr lang="it-IT" sz="1600" b="0" i="0" dirty="0">
                <a:solidFill>
                  <a:srgbClr val="050E17"/>
                </a:solidFill>
                <a:effectLst/>
                <a:latin typeface="Segoe UI" panose="020B0502040204020203" pitchFamily="34" charset="0"/>
                <a:cs typeface="Segoe UI" panose="020B0502040204020203" pitchFamily="34" charset="0"/>
              </a:rPr>
              <a:t> e </a:t>
            </a:r>
            <a:r>
              <a:rPr lang="it-IT" sz="1600" b="0" i="0" dirty="0" err="1">
                <a:solidFill>
                  <a:srgbClr val="050E17"/>
                </a:solidFill>
                <a:effectLst/>
                <a:latin typeface="Segoe UI" panose="020B0502040204020203" pitchFamily="34" charset="0"/>
                <a:cs typeface="Segoe UI" panose="020B0502040204020203" pitchFamily="34" charset="0"/>
              </a:rPr>
              <a:t>ResultSet</a:t>
            </a:r>
            <a:r>
              <a:rPr lang="it-IT" sz="1600" b="0" i="0" dirty="0">
                <a:solidFill>
                  <a:srgbClr val="050E17"/>
                </a:solidFill>
                <a:effectLst/>
                <a:latin typeface="Segoe UI" panose="020B0502040204020203" pitchFamily="34" charset="0"/>
                <a:cs typeface="Segoe UI" panose="020B0502040204020203" pitchFamily="34" charset="0"/>
              </a:rPr>
              <a:t> in Java per eseguire query parametrizzate</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delle eccezioni durante l'accesso al database in Java</a:t>
            </a:r>
          </a:p>
        </p:txBody>
      </p:sp>
    </p:spTree>
    <p:extLst>
      <p:ext uri="{BB962C8B-B14F-4D97-AF65-F5344CB8AC3E}">
        <p14:creationId xmlns:p14="http://schemas.microsoft.com/office/powerpoint/2010/main" val="616626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A64C2807-6B30-79EA-7913-4DB5EB66555E}"/>
              </a:ext>
            </a:extLst>
          </p:cNvPr>
          <p:cNvSpPr txBox="1"/>
          <p:nvPr/>
        </p:nvSpPr>
        <p:spPr>
          <a:xfrm>
            <a:off x="3047011" y="292245"/>
            <a:ext cx="5978236" cy="7330853"/>
          </a:xfrm>
          <a:prstGeom prst="rect">
            <a:avLst/>
          </a:prstGeom>
          <a:noFill/>
        </p:spPr>
        <p:txBody>
          <a:bodyPr wrap="square">
            <a:spAutoFit/>
          </a:bodyPr>
          <a:lstStyle/>
          <a:p>
            <a:pPr lvl="0">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gestione dei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Lettura e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delle eccezioni durante la lettura e la scrittura di file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della classe File e della classe </a:t>
            </a:r>
            <a:r>
              <a:rPr lang="it-IT" sz="1600" b="0" i="0" dirty="0" err="1">
                <a:solidFill>
                  <a:srgbClr val="050E17"/>
                </a:solidFill>
                <a:effectLst/>
                <a:latin typeface="Segoe UI" panose="020B0502040204020203" pitchFamily="34" charset="0"/>
                <a:cs typeface="Segoe UI" panose="020B0502040204020203" pitchFamily="34" charset="0"/>
              </a:rPr>
              <a:t>Path</a:t>
            </a:r>
            <a:r>
              <a:rPr lang="it-IT" sz="1600" b="0" i="0" dirty="0">
                <a:solidFill>
                  <a:srgbClr val="050E17"/>
                </a:solidFill>
                <a:effectLst/>
                <a:latin typeface="Segoe UI" panose="020B0502040204020203" pitchFamily="34" charset="0"/>
                <a:cs typeface="Segoe UI" panose="020B0502040204020203" pitchFamily="34" charset="0"/>
              </a:rPr>
              <a:t> in Java</a:t>
            </a:r>
          </a:p>
          <a:p>
            <a:pPr>
              <a:lnSpc>
                <a:spcPct val="107000"/>
              </a:lnSpc>
              <a:spcAft>
                <a:spcPts val="800"/>
              </a:spcAft>
              <a:tabLst>
                <a:tab pos="457200" algn="l"/>
              </a:tabLst>
            </a:pPr>
            <a:endParaRPr lang="it-IT" sz="1600" b="0" i="0" dirty="0">
              <a:solidFill>
                <a:srgbClr val="050E17"/>
              </a:solidFill>
              <a:effectLst/>
              <a:latin typeface="Segoe UI" panose="020B0502040204020203" pitchFamily="34" charset="0"/>
              <a:cs typeface="Segoe UI" panose="020B0502040204020203" pitchFamily="34" charset="0"/>
            </a:endParaRPr>
          </a:p>
          <a:p>
            <a:pPr>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dei database relazionali MySQL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gestione dei database relazionali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Connessione a un database MySQL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Esecuzione di query SQL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di </a:t>
            </a:r>
            <a:r>
              <a:rPr lang="it-IT" sz="1600" b="0" i="0" dirty="0" err="1">
                <a:solidFill>
                  <a:srgbClr val="050E17"/>
                </a:solidFill>
                <a:effectLst/>
                <a:latin typeface="Segoe UI" panose="020B0502040204020203" pitchFamily="34" charset="0"/>
                <a:cs typeface="Segoe UI" panose="020B0502040204020203" pitchFamily="34" charset="0"/>
              </a:rPr>
              <a:t>PreparedStatement</a:t>
            </a:r>
            <a:r>
              <a:rPr lang="it-IT" sz="1600" b="0" i="0" dirty="0">
                <a:solidFill>
                  <a:srgbClr val="050E17"/>
                </a:solidFill>
                <a:effectLst/>
                <a:latin typeface="Segoe UI" panose="020B0502040204020203" pitchFamily="34" charset="0"/>
                <a:cs typeface="Segoe UI" panose="020B0502040204020203" pitchFamily="34" charset="0"/>
              </a:rPr>
              <a:t> e </a:t>
            </a:r>
            <a:r>
              <a:rPr lang="it-IT" sz="1600" b="0" i="0" dirty="0" err="1">
                <a:solidFill>
                  <a:srgbClr val="050E17"/>
                </a:solidFill>
                <a:effectLst/>
                <a:latin typeface="Segoe UI" panose="020B0502040204020203" pitchFamily="34" charset="0"/>
                <a:cs typeface="Segoe UI" panose="020B0502040204020203" pitchFamily="34" charset="0"/>
              </a:rPr>
              <a:t>ResultSet</a:t>
            </a:r>
            <a:r>
              <a:rPr lang="it-IT" sz="1600" b="0" i="0" dirty="0">
                <a:solidFill>
                  <a:srgbClr val="050E17"/>
                </a:solidFill>
                <a:effectLst/>
                <a:latin typeface="Segoe UI" panose="020B0502040204020203" pitchFamily="34" charset="0"/>
                <a:cs typeface="Segoe UI" panose="020B0502040204020203" pitchFamily="34" charset="0"/>
              </a:rPr>
              <a:t> in Java per eseguire query parametrizzate</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delle eccezioni durante l'accesso al database in Java</a:t>
            </a:r>
          </a:p>
          <a:p>
            <a:pPr>
              <a:lnSpc>
                <a:spcPct val="107000"/>
              </a:lnSpc>
              <a:spcAft>
                <a:spcPts val="800"/>
              </a:spcAft>
              <a:tabLst>
                <a:tab pos="457200" algn="l"/>
              </a:tabLst>
            </a:pPr>
            <a:endParaRPr lang="it-IT" sz="1600" b="0" i="0" dirty="0">
              <a:solidFill>
                <a:srgbClr val="050E17"/>
              </a:solidFill>
              <a:effectLst/>
              <a:latin typeface="Segoe UI" panose="020B0502040204020203" pitchFamily="34" charset="0"/>
              <a:cs typeface="Segoe UI" panose="020B0502040204020203" pitchFamily="34" charset="0"/>
            </a:endParaRPr>
          </a:p>
          <a:p>
            <a:pPr>
              <a:lnSpc>
                <a:spcPct val="107000"/>
              </a:lnSpc>
              <a:spcAft>
                <a:spcPts val="800"/>
              </a:spcAft>
              <a:tabLst>
                <a:tab pos="457200" algn="l"/>
              </a:tabLst>
            </a:pPr>
            <a:r>
              <a:rPr lang="it-IT" sz="1600" b="0" i="0" dirty="0">
                <a:solidFill>
                  <a:srgbClr val="050E17"/>
                </a:solidFill>
                <a:effectLst/>
                <a:latin typeface="Segoe UI" panose="020B0502040204020203" pitchFamily="34" charset="0"/>
                <a:cs typeface="Segoe UI" panose="020B0502040204020203" pitchFamily="34" charset="0"/>
              </a:rPr>
              <a:t>Gestione delle interfacce grafiche (GUI)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Introduzione alla creazione di interfacce grafiche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della libreria Swing in Java per la creazione di GUI</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Creazione di componenti grafici come pulsanti, caselle di testo e menu a discesa in Java</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Utilizzo del layout manager in Java per il posizionamento dei componenti grafici</a:t>
            </a:r>
          </a:p>
          <a:p>
            <a:pPr marL="285750" indent="-285750" algn="l">
              <a:buFont typeface="Arial" panose="020B0604020202020204" pitchFamily="34" charset="0"/>
              <a:buChar char="•"/>
            </a:pPr>
            <a:r>
              <a:rPr lang="it-IT" sz="1600" b="0" i="0" dirty="0">
                <a:solidFill>
                  <a:srgbClr val="050E17"/>
                </a:solidFill>
                <a:effectLst/>
                <a:latin typeface="Segoe UI" panose="020B0502040204020203" pitchFamily="34" charset="0"/>
                <a:cs typeface="Segoe UI" panose="020B0502040204020203" pitchFamily="34" charset="0"/>
              </a:rPr>
              <a:t>Gestione degli eventi delle interfacce grafiche in Java</a:t>
            </a:r>
          </a:p>
          <a:p>
            <a:pPr lvl="0">
              <a:lnSpc>
                <a:spcPct val="107000"/>
              </a:lnSpc>
              <a:spcAft>
                <a:spcPts val="800"/>
              </a:spcAft>
              <a:tabLst>
                <a:tab pos="457200" algn="l"/>
              </a:tabLst>
            </a:pPr>
            <a:endParaRPr lang="it-IT" sz="1600" b="0" i="0" dirty="0">
              <a:solidFill>
                <a:srgbClr val="050E17"/>
              </a:solidFill>
              <a:effectLst/>
              <a:latin typeface="Segoe UI" panose="020B0502040204020203" pitchFamily="34" charset="0"/>
              <a:cs typeface="Segoe UI" panose="020B0502040204020203" pitchFamily="34" charset="0"/>
            </a:endParaRPr>
          </a:p>
          <a:p>
            <a:pPr marL="342900" lvl="0" indent="-342900">
              <a:lnSpc>
                <a:spcPct val="107000"/>
              </a:lnSpc>
              <a:spcAft>
                <a:spcPts val="800"/>
              </a:spcAft>
              <a:buSzPts val="1000"/>
              <a:buFont typeface="Symbol" panose="05050102010706020507" pitchFamily="18" charset="2"/>
              <a:buChar char=""/>
              <a:tabLst>
                <a:tab pos="678180" algn="l"/>
              </a:tabLst>
            </a:pPr>
            <a:endParaRPr lang="it-IT" sz="1600" kern="100" dirty="0">
              <a:effectLst/>
              <a:latin typeface="Segoe UI" panose="020B0502040204020203" pitchFamily="34" charset="0"/>
              <a:ea typeface="Calibri" panose="020F0502020204030204" pitchFamily="34" charset="0"/>
              <a:cs typeface="Segoe UI" panose="020B0502040204020203" pitchFamily="34" charset="0"/>
            </a:endParaRPr>
          </a:p>
          <a:p>
            <a:pPr marL="342900" lvl="0" indent="-342900">
              <a:lnSpc>
                <a:spcPct val="107000"/>
              </a:lnSpc>
              <a:spcAft>
                <a:spcPts val="800"/>
              </a:spcAft>
              <a:buSzPts val="1000"/>
              <a:buFont typeface="Symbol" panose="05050102010706020507" pitchFamily="18" charset="2"/>
              <a:buChar char=""/>
              <a:tabLst>
                <a:tab pos="449580" algn="l"/>
              </a:tabLst>
            </a:pPr>
            <a:endParaRPr lang="it-IT" sz="1600" kern="100" dirty="0">
              <a:effectLst/>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2603331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Introduzione</a:t>
            </a: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Storia, caratteristiche, architettura di JAVA</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93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132B0566-E36E-2CDB-5449-8892C1AE6641}"/>
              </a:ext>
            </a:extLst>
          </p:cNvPr>
          <p:cNvSpPr txBox="1"/>
          <p:nvPr/>
        </p:nvSpPr>
        <p:spPr>
          <a:xfrm>
            <a:off x="3258712" y="2721114"/>
            <a:ext cx="6097978" cy="1477328"/>
          </a:xfrm>
          <a:prstGeom prst="rect">
            <a:avLst/>
          </a:prstGeom>
          <a:noFill/>
        </p:spPr>
        <p:txBody>
          <a:bodyPr wrap="square">
            <a:spAutoFit/>
          </a:bodyPr>
          <a:lstStyle/>
          <a:p>
            <a:pPr algn="ctr"/>
            <a:r>
              <a:rPr lang="it-IT" sz="3000" b="1" i="0" dirty="0">
                <a:solidFill>
                  <a:srgbClr val="050E17"/>
                </a:solidFill>
                <a:effectLst/>
                <a:latin typeface="-apple-system"/>
              </a:rPr>
              <a:t>Java è stato sviluppato da Sun </a:t>
            </a:r>
            <a:r>
              <a:rPr lang="it-IT" sz="3000" b="1" i="0" dirty="0" err="1">
                <a:solidFill>
                  <a:srgbClr val="050E17"/>
                </a:solidFill>
                <a:effectLst/>
                <a:latin typeface="-apple-system"/>
              </a:rPr>
              <a:t>Microsystems</a:t>
            </a:r>
            <a:r>
              <a:rPr lang="it-IT" sz="3000" b="1" i="0" dirty="0">
                <a:solidFill>
                  <a:srgbClr val="050E17"/>
                </a:solidFill>
                <a:effectLst/>
                <a:latin typeface="-apple-system"/>
              </a:rPr>
              <a:t> (acquisita da Oracle Corporation nel 2010) negli anni '90. </a:t>
            </a:r>
            <a:endParaRPr lang="it-IT" sz="3000" b="1" dirty="0"/>
          </a:p>
        </p:txBody>
      </p:sp>
    </p:spTree>
    <p:extLst>
      <p:ext uri="{BB962C8B-B14F-4D97-AF65-F5344CB8AC3E}">
        <p14:creationId xmlns:p14="http://schemas.microsoft.com/office/powerpoint/2010/main" val="4169899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29469A4-2301-0FA4-9E71-2DC229DEC248}"/>
              </a:ext>
            </a:extLst>
          </p:cNvPr>
          <p:cNvSpPr txBox="1"/>
          <p:nvPr/>
        </p:nvSpPr>
        <p:spPr>
          <a:xfrm>
            <a:off x="3047011" y="2151727"/>
            <a:ext cx="6097978" cy="2554545"/>
          </a:xfrm>
          <a:prstGeom prst="rect">
            <a:avLst/>
          </a:prstGeom>
          <a:noFill/>
        </p:spPr>
        <p:txBody>
          <a:bodyPr wrap="square">
            <a:spAutoFit/>
          </a:bodyPr>
          <a:lstStyle/>
          <a:p>
            <a:pPr algn="ctr"/>
            <a:r>
              <a:rPr lang="it-IT" sz="3200" b="0" i="0" dirty="0">
                <a:solidFill>
                  <a:srgbClr val="050E17"/>
                </a:solidFill>
                <a:effectLst/>
                <a:latin typeface="-apple-system"/>
              </a:rPr>
              <a:t>Il progetto iniziale era di creare un linguaggio di programmazione per dispositivi a basso consumo di energia, come i telecomandi per la TV.</a:t>
            </a:r>
            <a:endParaRPr lang="it-IT" sz="3200" dirty="0"/>
          </a:p>
        </p:txBody>
      </p:sp>
    </p:spTree>
    <p:extLst>
      <p:ext uri="{BB962C8B-B14F-4D97-AF65-F5344CB8AC3E}">
        <p14:creationId xmlns:p14="http://schemas.microsoft.com/office/powerpoint/2010/main" val="4057953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29469A4-2301-0FA4-9E71-2DC229DEC248}"/>
              </a:ext>
            </a:extLst>
          </p:cNvPr>
          <p:cNvSpPr txBox="1"/>
          <p:nvPr/>
        </p:nvSpPr>
        <p:spPr>
          <a:xfrm>
            <a:off x="3047011" y="1413063"/>
            <a:ext cx="6097978" cy="4031873"/>
          </a:xfrm>
          <a:prstGeom prst="rect">
            <a:avLst/>
          </a:prstGeom>
          <a:noFill/>
        </p:spPr>
        <p:txBody>
          <a:bodyPr wrap="square">
            <a:spAutoFit/>
          </a:bodyPr>
          <a:lstStyle/>
          <a:p>
            <a:pPr algn="ctr"/>
            <a:r>
              <a:rPr lang="it-IT" sz="3200" b="0" i="0" dirty="0">
                <a:solidFill>
                  <a:srgbClr val="050E17"/>
                </a:solidFill>
                <a:effectLst/>
                <a:latin typeface="-apple-system"/>
              </a:rPr>
              <a:t>Java divenne rapidamente popolare grazie alla sua portabilità, ovvero la capacità di eseguire lo stesso codice su piattaforme diverse, senza doverlo adattare. Questa caratteristica lo rese ideale per lo sviluppo di applicazioni Web e di software multi-piattaforma.</a:t>
            </a:r>
            <a:endParaRPr lang="it-IT" sz="3200" dirty="0"/>
          </a:p>
        </p:txBody>
      </p:sp>
    </p:spTree>
    <p:extLst>
      <p:ext uri="{BB962C8B-B14F-4D97-AF65-F5344CB8AC3E}">
        <p14:creationId xmlns:p14="http://schemas.microsoft.com/office/powerpoint/2010/main" val="2830448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Storia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29469A4-2301-0FA4-9E71-2DC229DEC248}"/>
              </a:ext>
            </a:extLst>
          </p:cNvPr>
          <p:cNvSpPr txBox="1"/>
          <p:nvPr/>
        </p:nvSpPr>
        <p:spPr>
          <a:xfrm>
            <a:off x="3047011" y="1413063"/>
            <a:ext cx="6097978" cy="3939540"/>
          </a:xfrm>
          <a:prstGeom prst="rect">
            <a:avLst/>
          </a:prstGeom>
          <a:noFill/>
        </p:spPr>
        <p:txBody>
          <a:bodyPr wrap="square">
            <a:spAutoFit/>
          </a:bodyPr>
          <a:lstStyle/>
          <a:p>
            <a:pPr algn="ctr"/>
            <a:r>
              <a:rPr lang="it-IT" sz="2500" b="0" i="0" dirty="0">
                <a:solidFill>
                  <a:srgbClr val="050E17"/>
                </a:solidFill>
                <a:effectLst/>
                <a:latin typeface="-apple-system"/>
              </a:rPr>
              <a:t>Nel corso degli anni, Java ha subito numerose evoluzioni e sono state rilasciate numerose versioni, con l'introduzione di nuove funzionalità e miglioramenti delle prestazioni. Attualmente, Java è uno dei linguaggi di programmazione più utilizzati al mondo, con un'ampia gamma di applicazioni, dallo sviluppo di applicazioni desktop e Web alla programmazione di dispositivi embedded e di app per smartphone.</a:t>
            </a:r>
            <a:endParaRPr lang="it-IT" sz="2500" dirty="0"/>
          </a:p>
        </p:txBody>
      </p:sp>
    </p:spTree>
    <p:extLst>
      <p:ext uri="{BB962C8B-B14F-4D97-AF65-F5344CB8AC3E}">
        <p14:creationId xmlns:p14="http://schemas.microsoft.com/office/powerpoint/2010/main" val="1606973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CasellaDiTesto 5">
            <a:extLst>
              <a:ext uri="{FF2B5EF4-FFF2-40B4-BE49-F238E27FC236}">
                <a16:creationId xmlns:a16="http://schemas.microsoft.com/office/drawing/2014/main" id="{7B8D01E6-9C29-F67B-87FA-C26789109B31}"/>
              </a:ext>
            </a:extLst>
          </p:cNvPr>
          <p:cNvSpPr txBox="1"/>
          <p:nvPr/>
        </p:nvSpPr>
        <p:spPr>
          <a:xfrm>
            <a:off x="2962726" y="2228671"/>
            <a:ext cx="6097978" cy="2400657"/>
          </a:xfrm>
          <a:prstGeom prst="rect">
            <a:avLst/>
          </a:prstGeom>
          <a:noFill/>
        </p:spPr>
        <p:txBody>
          <a:bodyPr wrap="square">
            <a:spAutoFit/>
          </a:bodyPr>
          <a:lstStyle/>
          <a:p>
            <a:pPr algn="l"/>
            <a:r>
              <a:rPr lang="it-IT" sz="2500" b="0" i="0" dirty="0">
                <a:solidFill>
                  <a:srgbClr val="050E17"/>
                </a:solidFill>
                <a:effectLst/>
                <a:latin typeface="-apple-system"/>
              </a:rPr>
              <a:t>Portabilità: Java è stato progettato per essere altamente portabile, ovvero per poter eseguire lo stesso codice su diverse piattaforme senza doverlo adattare. Questo lo rende ideale per lo sviluppo di software multi-piattaforma.</a:t>
            </a:r>
          </a:p>
        </p:txBody>
      </p:sp>
    </p:spTree>
    <p:extLst>
      <p:ext uri="{BB962C8B-B14F-4D97-AF65-F5344CB8AC3E}">
        <p14:creationId xmlns:p14="http://schemas.microsoft.com/office/powerpoint/2010/main" val="1575811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79B29AB7-3C82-533B-8D6E-9F1D532719AF}"/>
              </a:ext>
            </a:extLst>
          </p:cNvPr>
          <p:cNvSpPr txBox="1"/>
          <p:nvPr/>
        </p:nvSpPr>
        <p:spPr>
          <a:xfrm>
            <a:off x="3047011" y="2228671"/>
            <a:ext cx="6097978" cy="2400657"/>
          </a:xfrm>
          <a:prstGeom prst="rect">
            <a:avLst/>
          </a:prstGeom>
          <a:noFill/>
        </p:spPr>
        <p:txBody>
          <a:bodyPr wrap="square">
            <a:spAutoFit/>
          </a:bodyPr>
          <a:lstStyle/>
          <a:p>
            <a:pPr algn="l"/>
            <a:r>
              <a:rPr lang="it-IT" sz="2500" b="0" i="0" dirty="0">
                <a:solidFill>
                  <a:srgbClr val="050E17"/>
                </a:solidFill>
                <a:effectLst/>
                <a:latin typeface="-apple-system"/>
              </a:rPr>
              <a:t>Object-</a:t>
            </a:r>
            <a:r>
              <a:rPr lang="it-IT" sz="2500" b="0" i="0" dirty="0" err="1">
                <a:solidFill>
                  <a:srgbClr val="050E17"/>
                </a:solidFill>
                <a:effectLst/>
                <a:latin typeface="-apple-system"/>
              </a:rPr>
              <a:t>Oriented</a:t>
            </a:r>
            <a:r>
              <a:rPr lang="it-IT" sz="2500" b="0" i="0" dirty="0">
                <a:solidFill>
                  <a:srgbClr val="050E17"/>
                </a:solidFill>
                <a:effectLst/>
                <a:latin typeface="-apple-system"/>
              </a:rPr>
              <a:t>: Java è un linguaggio di programmazione orientato agli oggetti (OOP), il che significa che il codice è organizzato in classi e oggetti. Questa caratteristica consente di scrivere codice modulare, riutilizzabile e facile da mantenere.</a:t>
            </a:r>
          </a:p>
        </p:txBody>
      </p:sp>
    </p:spTree>
    <p:extLst>
      <p:ext uri="{BB962C8B-B14F-4D97-AF65-F5344CB8AC3E}">
        <p14:creationId xmlns:p14="http://schemas.microsoft.com/office/powerpoint/2010/main" val="1186611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D20E6731-7BEF-ACA6-CAA6-93BA17994F8F}"/>
              </a:ext>
            </a:extLst>
          </p:cNvPr>
          <p:cNvSpPr txBox="1"/>
          <p:nvPr/>
        </p:nvSpPr>
        <p:spPr>
          <a:xfrm>
            <a:off x="3047011" y="1843950"/>
            <a:ext cx="6097978" cy="3170099"/>
          </a:xfrm>
          <a:prstGeom prst="rect">
            <a:avLst/>
          </a:prstGeom>
          <a:noFill/>
        </p:spPr>
        <p:txBody>
          <a:bodyPr wrap="square">
            <a:spAutoFit/>
          </a:bodyPr>
          <a:lstStyle/>
          <a:p>
            <a:pPr algn="l"/>
            <a:r>
              <a:rPr lang="it-IT" sz="2500" b="0" i="0" dirty="0">
                <a:solidFill>
                  <a:srgbClr val="050E17"/>
                </a:solidFill>
                <a:effectLst/>
                <a:latin typeface="-apple-system"/>
              </a:rPr>
              <a:t>Sicurezza: Java è stato progettato per essere un linguaggio di programmazione sicuro, con funzionalità di sicurezza come la gestione della memoria, la verifica dei tipi e la sandbox security. Questo lo rende ideale per lo sviluppo di applicazioni Web sicure e di software destinato a eseguire in ambienti non affidabili.</a:t>
            </a:r>
          </a:p>
        </p:txBody>
      </p:sp>
    </p:spTree>
    <p:extLst>
      <p:ext uri="{BB962C8B-B14F-4D97-AF65-F5344CB8AC3E}">
        <p14:creationId xmlns:p14="http://schemas.microsoft.com/office/powerpoint/2010/main" val="2394418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E04B144D-CCE7-F30B-AEC0-30601909C5AC}"/>
              </a:ext>
            </a:extLst>
          </p:cNvPr>
          <p:cNvSpPr txBox="1"/>
          <p:nvPr/>
        </p:nvSpPr>
        <p:spPr>
          <a:xfrm>
            <a:off x="3047011" y="2036311"/>
            <a:ext cx="6097978" cy="2785378"/>
          </a:xfrm>
          <a:prstGeom prst="rect">
            <a:avLst/>
          </a:prstGeom>
          <a:noFill/>
        </p:spPr>
        <p:txBody>
          <a:bodyPr wrap="square">
            <a:spAutoFit/>
          </a:bodyPr>
          <a:lstStyle/>
          <a:p>
            <a:pPr algn="l"/>
            <a:r>
              <a:rPr lang="it-IT" sz="2500" b="0" i="0" dirty="0">
                <a:solidFill>
                  <a:srgbClr val="050E17"/>
                </a:solidFill>
                <a:effectLst/>
                <a:latin typeface="-apple-system"/>
              </a:rPr>
              <a:t>Performance: Java è stato progettato per essere un linguaggio di programmazione ad alte prestazioni. Grazie alla sua architettura, al </a:t>
            </a:r>
            <a:r>
              <a:rPr lang="it-IT" sz="2500" b="0" i="0" dirty="0" err="1">
                <a:solidFill>
                  <a:srgbClr val="050E17"/>
                </a:solidFill>
                <a:effectLst/>
                <a:latin typeface="-apple-system"/>
              </a:rPr>
              <a:t>garbage</a:t>
            </a:r>
            <a:r>
              <a:rPr lang="it-IT" sz="2500" b="0" i="0" dirty="0">
                <a:solidFill>
                  <a:srgbClr val="050E17"/>
                </a:solidFill>
                <a:effectLst/>
                <a:latin typeface="-apple-system"/>
              </a:rPr>
              <a:t> </a:t>
            </a:r>
            <a:r>
              <a:rPr lang="it-IT" sz="2500" b="0" i="0" dirty="0" err="1">
                <a:solidFill>
                  <a:srgbClr val="050E17"/>
                </a:solidFill>
                <a:effectLst/>
                <a:latin typeface="-apple-system"/>
              </a:rPr>
              <a:t>collector</a:t>
            </a:r>
            <a:r>
              <a:rPr lang="it-IT" sz="2500" b="0" i="0" dirty="0">
                <a:solidFill>
                  <a:srgbClr val="050E17"/>
                </a:solidFill>
                <a:effectLst/>
                <a:latin typeface="-apple-system"/>
              </a:rPr>
              <a:t> e ad altre funzionalità, Java è in grado di gestire grandi quantità di dati e di eseguire operazioni complesse in modo efficiente.</a:t>
            </a:r>
          </a:p>
        </p:txBody>
      </p:sp>
    </p:spTree>
    <p:extLst>
      <p:ext uri="{BB962C8B-B14F-4D97-AF65-F5344CB8AC3E}">
        <p14:creationId xmlns:p14="http://schemas.microsoft.com/office/powerpoint/2010/main" val="3697264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7CB10505-7F09-B901-6FFC-AB86EC5D3A2F}"/>
              </a:ext>
            </a:extLst>
          </p:cNvPr>
          <p:cNvSpPr txBox="1"/>
          <p:nvPr/>
        </p:nvSpPr>
        <p:spPr>
          <a:xfrm>
            <a:off x="3047011" y="2228671"/>
            <a:ext cx="6097978" cy="2400657"/>
          </a:xfrm>
          <a:prstGeom prst="rect">
            <a:avLst/>
          </a:prstGeom>
          <a:noFill/>
        </p:spPr>
        <p:txBody>
          <a:bodyPr wrap="square">
            <a:spAutoFit/>
          </a:bodyPr>
          <a:lstStyle/>
          <a:p>
            <a:pPr algn="l"/>
            <a:r>
              <a:rPr lang="it-IT" sz="2500" b="0" i="0" dirty="0">
                <a:solidFill>
                  <a:srgbClr val="050E17"/>
                </a:solidFill>
                <a:effectLst/>
                <a:latin typeface="-apple-system"/>
              </a:rPr>
              <a:t>Scalabilità: Java è un linguaggio di programmazione altamente scalabile, ovvero in grado di gestire grandi quantità di dati e di utenti. Questo lo rende ideale per lo sviluppo di applicazioni aziendali e di grandi dimensioni.</a:t>
            </a:r>
          </a:p>
        </p:txBody>
      </p:sp>
    </p:spTree>
    <p:extLst>
      <p:ext uri="{BB962C8B-B14F-4D97-AF65-F5344CB8AC3E}">
        <p14:creationId xmlns:p14="http://schemas.microsoft.com/office/powerpoint/2010/main" val="32521119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nSpc>
                <a:spcPct val="107000"/>
              </a:lnSpc>
              <a:spcAft>
                <a:spcPts val="800"/>
              </a:spcAft>
              <a:buSzPts val="1000"/>
              <a:tabLst>
                <a:tab pos="678180" algn="l"/>
              </a:tabLst>
            </a:pPr>
            <a:r>
              <a:rPr lang="it-IT"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Caratteristiche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8557FED4-5E37-6724-ED54-9841CAD6D4FB}"/>
              </a:ext>
            </a:extLst>
          </p:cNvPr>
          <p:cNvSpPr txBox="1"/>
          <p:nvPr/>
        </p:nvSpPr>
        <p:spPr>
          <a:xfrm>
            <a:off x="3047011" y="2228671"/>
            <a:ext cx="6097978" cy="2400657"/>
          </a:xfrm>
          <a:prstGeom prst="rect">
            <a:avLst/>
          </a:prstGeom>
          <a:noFill/>
        </p:spPr>
        <p:txBody>
          <a:bodyPr wrap="square">
            <a:spAutoFit/>
          </a:bodyPr>
          <a:lstStyle/>
          <a:p>
            <a:pPr algn="l"/>
            <a:r>
              <a:rPr lang="it-IT" sz="2500" b="0" i="0" dirty="0">
                <a:solidFill>
                  <a:srgbClr val="050E17"/>
                </a:solidFill>
                <a:effectLst/>
                <a:latin typeface="-apple-system"/>
              </a:rPr>
              <a:t>Community: Java ha una vasta community di sviluppatori, che fornisce supporto, risorse e strumenti per lo sviluppo di applicazioni in Java. Questo permette di imparare facilmente il linguaggio e di avere accesso a un'ampia gamma di librerie e di strumenti di sviluppo.</a:t>
            </a:r>
          </a:p>
        </p:txBody>
      </p:sp>
    </p:spTree>
    <p:extLst>
      <p:ext uri="{BB962C8B-B14F-4D97-AF65-F5344CB8AC3E}">
        <p14:creationId xmlns:p14="http://schemas.microsoft.com/office/powerpoint/2010/main" val="266928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L'architettura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2613392"/>
            <a:ext cx="6097978" cy="1631216"/>
          </a:xfrm>
          <a:prstGeom prst="rect">
            <a:avLst/>
          </a:prstGeom>
          <a:noFill/>
        </p:spPr>
        <p:txBody>
          <a:bodyPr wrap="square">
            <a:spAutoFit/>
          </a:bodyPr>
          <a:lstStyle/>
          <a:p>
            <a:r>
              <a:rPr lang="it-IT" sz="2500" b="0" i="0" dirty="0">
                <a:solidFill>
                  <a:srgbClr val="050E17"/>
                </a:solidFill>
                <a:effectLst/>
                <a:latin typeface="-apple-system"/>
              </a:rPr>
              <a:t>L'architettura di Java si basa su tre componenti principali: la Java Virtual Machine (JVM), la Java Runtime Environment (JRE) e il Java Development Kit (JDK).</a:t>
            </a:r>
            <a:endParaRPr lang="it-IT" sz="2500" dirty="0"/>
          </a:p>
        </p:txBody>
      </p:sp>
    </p:spTree>
    <p:extLst>
      <p:ext uri="{BB962C8B-B14F-4D97-AF65-F5344CB8AC3E}">
        <p14:creationId xmlns:p14="http://schemas.microsoft.com/office/powerpoint/2010/main" val="1154880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L'architettura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1459230"/>
            <a:ext cx="6097978" cy="3939540"/>
          </a:xfrm>
          <a:prstGeom prst="rect">
            <a:avLst/>
          </a:prstGeom>
          <a:noFill/>
        </p:spPr>
        <p:txBody>
          <a:bodyPr wrap="square">
            <a:spAutoFit/>
          </a:bodyPr>
          <a:lstStyle/>
          <a:p>
            <a:r>
              <a:rPr lang="it-IT" sz="2500" b="0" i="0" dirty="0">
                <a:solidFill>
                  <a:srgbClr val="050E17"/>
                </a:solidFill>
                <a:effectLst/>
                <a:latin typeface="-apple-system"/>
              </a:rPr>
              <a:t>1) Java Virtual Machine (JVM): la JVM è il componente chiave dell'architettura di Java, in quanto fornisce l'ambiente di esecuzione per il codice Java. La JVM è una macchina virtuale che esegue il </a:t>
            </a:r>
            <a:r>
              <a:rPr lang="it-IT" sz="2500" b="0" i="0" dirty="0" err="1">
                <a:solidFill>
                  <a:srgbClr val="050E17"/>
                </a:solidFill>
                <a:effectLst/>
                <a:latin typeface="-apple-system"/>
              </a:rPr>
              <a:t>bytecode</a:t>
            </a:r>
            <a:r>
              <a:rPr lang="it-IT" sz="2500" b="0" i="0" dirty="0">
                <a:solidFill>
                  <a:srgbClr val="050E17"/>
                </a:solidFill>
                <a:effectLst/>
                <a:latin typeface="-apple-system"/>
              </a:rPr>
              <a:t> Java, ovvero il codice generato dal compilatore Java. La JVM è disponibile per diverse piattaforme e architetture, il che consente di eseguire lo stesso codice Java su piattaforme diverse.</a:t>
            </a:r>
          </a:p>
          <a:p>
            <a:endParaRPr lang="it-IT" sz="2500" dirty="0"/>
          </a:p>
        </p:txBody>
      </p:sp>
    </p:spTree>
    <p:extLst>
      <p:ext uri="{BB962C8B-B14F-4D97-AF65-F5344CB8AC3E}">
        <p14:creationId xmlns:p14="http://schemas.microsoft.com/office/powerpoint/2010/main" val="2324396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L'architettura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2036311"/>
            <a:ext cx="6097978" cy="2785378"/>
          </a:xfrm>
          <a:prstGeom prst="rect">
            <a:avLst/>
          </a:prstGeom>
          <a:noFill/>
        </p:spPr>
        <p:txBody>
          <a:bodyPr wrap="square">
            <a:spAutoFit/>
          </a:bodyPr>
          <a:lstStyle/>
          <a:p>
            <a:r>
              <a:rPr lang="it-IT" sz="2500" b="0" i="0" dirty="0">
                <a:solidFill>
                  <a:srgbClr val="050E17"/>
                </a:solidFill>
                <a:effectLst/>
                <a:latin typeface="-apple-system"/>
              </a:rPr>
              <a:t>2) Java Runtime Environment (JRE): il JRE è un insieme di librerie, classi e altri componenti necessari per eseguire applicazioni Java. Il JRE include la JVM, ma anche librerie di supporto come la libreria standard di Java, la libreria di networking e la libreria di accesso al database.</a:t>
            </a:r>
          </a:p>
        </p:txBody>
      </p:sp>
    </p:spTree>
    <p:extLst>
      <p:ext uri="{BB962C8B-B14F-4D97-AF65-F5344CB8AC3E}">
        <p14:creationId xmlns:p14="http://schemas.microsoft.com/office/powerpoint/2010/main" val="2884425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L'architettura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2228671"/>
            <a:ext cx="6097978" cy="2400657"/>
          </a:xfrm>
          <a:prstGeom prst="rect">
            <a:avLst/>
          </a:prstGeom>
          <a:noFill/>
        </p:spPr>
        <p:txBody>
          <a:bodyPr wrap="square">
            <a:spAutoFit/>
          </a:bodyPr>
          <a:lstStyle/>
          <a:p>
            <a:r>
              <a:rPr lang="it-IT" sz="2500" b="0" i="0" dirty="0">
                <a:solidFill>
                  <a:srgbClr val="050E17"/>
                </a:solidFill>
                <a:effectLst/>
                <a:latin typeface="-apple-system"/>
              </a:rPr>
              <a:t>3) Java Development Kit (JDK): il JDK è un insieme di strumenti e librerie utilizzati per lo sviluppo di applicazioni Java. Il JDK include il compilatore Java, il debugger, il profiler e altri strumenti, oltre alle librerie di supporto come quelle incluse nel JRE.</a:t>
            </a:r>
          </a:p>
        </p:txBody>
      </p:sp>
    </p:spTree>
    <p:extLst>
      <p:ext uri="{BB962C8B-B14F-4D97-AF65-F5344CB8AC3E}">
        <p14:creationId xmlns:p14="http://schemas.microsoft.com/office/powerpoint/2010/main" val="515769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L'architettura di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1459230"/>
            <a:ext cx="6097978" cy="3939540"/>
          </a:xfrm>
          <a:prstGeom prst="rect">
            <a:avLst/>
          </a:prstGeom>
          <a:noFill/>
        </p:spPr>
        <p:txBody>
          <a:bodyPr wrap="square">
            <a:spAutoFit/>
          </a:bodyPr>
          <a:lstStyle/>
          <a:p>
            <a:r>
              <a:rPr lang="it-IT" sz="2500" b="0" i="0" dirty="0">
                <a:solidFill>
                  <a:srgbClr val="050E17"/>
                </a:solidFill>
                <a:effectLst/>
                <a:latin typeface="-apple-system"/>
              </a:rPr>
              <a:t>L'architettura di Java è progettata per essere altamente portabile, ovvero per eseguire lo stesso codice Java su diverse piattaforme senza doverlo adattare. Grazie alla JVM, al JRE e al JDK, gli sviluppatori possono scrivere codice Java una volta sola e poi eseguirlo su diverse piattaforme senza doverlo adattare. Questa caratteristica ha reso Java uno dei linguaggi di programmazione più popolari ed utilizzati al mondo.</a:t>
            </a:r>
          </a:p>
        </p:txBody>
      </p:sp>
    </p:spTree>
    <p:extLst>
      <p:ext uri="{BB962C8B-B14F-4D97-AF65-F5344CB8AC3E}">
        <p14:creationId xmlns:p14="http://schemas.microsoft.com/office/powerpoint/2010/main" val="2732407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663258"/>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Facciamo conoscenza con JAVA</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L’ambiente</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5792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3047011" y="2228671"/>
            <a:ext cx="6097978" cy="2400657"/>
          </a:xfrm>
          <a:prstGeom prst="rect">
            <a:avLst/>
          </a:prstGeom>
          <a:noFill/>
        </p:spPr>
        <p:txBody>
          <a:bodyPr wrap="square">
            <a:spAutoFit/>
          </a:bodyPr>
          <a:lstStyle/>
          <a:p>
            <a:r>
              <a:rPr lang="it-IT" sz="2500" b="0" i="0" dirty="0">
                <a:solidFill>
                  <a:srgbClr val="050E17"/>
                </a:solidFill>
                <a:effectLst/>
                <a:latin typeface="-apple-system"/>
              </a:rPr>
              <a:t>L'ambiente di sviluppo Java (IDE) è un software utilizzato dagli sviluppatori per scrivere, testare e debuggare applicazioni Java. Ci sono molti ambienti di sviluppo Java disponibili, ognuno con le proprie caratteristiche e funzionalità.</a:t>
            </a:r>
          </a:p>
        </p:txBody>
      </p:sp>
    </p:spTree>
    <p:extLst>
      <p:ext uri="{BB962C8B-B14F-4D97-AF65-F5344CB8AC3E}">
        <p14:creationId xmlns:p14="http://schemas.microsoft.com/office/powerpoint/2010/main" val="605259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24780172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5245076" y="1229945"/>
            <a:ext cx="6097978" cy="1246495"/>
          </a:xfrm>
          <a:prstGeom prst="rect">
            <a:avLst/>
          </a:prstGeom>
          <a:noFill/>
        </p:spPr>
        <p:txBody>
          <a:bodyPr wrap="square">
            <a:spAutoFit/>
          </a:bodyPr>
          <a:lstStyle/>
          <a:p>
            <a:pPr algn="l">
              <a:buFont typeface="+mj-lt"/>
              <a:buAutoNum type="arabicPeriod"/>
            </a:pPr>
            <a:r>
              <a:rPr lang="it-IT" sz="1500" b="0" i="0" dirty="0">
                <a:solidFill>
                  <a:srgbClr val="050E17"/>
                </a:solidFill>
                <a:effectLst/>
                <a:latin typeface="-apple-system"/>
              </a:rPr>
              <a:t>Editor di codice: l'ambiente di sviluppo dovrebbe fornire un editor di codice completo di funzionalità come l'evidenziazione della sintassi, l'</a:t>
            </a:r>
            <a:r>
              <a:rPr lang="it-IT" sz="1500" b="0" i="0" dirty="0" err="1">
                <a:solidFill>
                  <a:srgbClr val="050E17"/>
                </a:solidFill>
                <a:effectLst/>
                <a:latin typeface="-apple-system"/>
              </a:rPr>
              <a:t>autocompletamento</a:t>
            </a:r>
            <a:r>
              <a:rPr lang="it-IT" sz="1500" b="0" i="0" dirty="0">
                <a:solidFill>
                  <a:srgbClr val="050E17"/>
                </a:solidFill>
                <a:effectLst/>
                <a:latin typeface="-apple-system"/>
              </a:rPr>
              <a:t> del codice, la ricerca e il rimpiazzo e altre funzioni di editing.</a:t>
            </a:r>
          </a:p>
          <a:p>
            <a:pPr algn="l"/>
            <a:endParaRPr lang="it-IT" sz="1500" b="0" i="0" dirty="0">
              <a:solidFill>
                <a:srgbClr val="050E17"/>
              </a:solidFill>
              <a:effectLst/>
              <a:latin typeface="-apple-system"/>
            </a:endParaRP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2966050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5245076" y="1229945"/>
            <a:ext cx="6097978" cy="2169825"/>
          </a:xfrm>
          <a:prstGeom prst="rect">
            <a:avLst/>
          </a:prstGeom>
          <a:noFill/>
        </p:spPr>
        <p:txBody>
          <a:bodyPr wrap="square">
            <a:spAutoFit/>
          </a:bodyPr>
          <a:lstStyle/>
          <a:p>
            <a:pPr algn="l">
              <a:buFont typeface="+mj-lt"/>
              <a:buAutoNum type="arabicPeriod"/>
            </a:pPr>
            <a:r>
              <a:rPr lang="it-IT" sz="1500" b="0" i="0" dirty="0">
                <a:solidFill>
                  <a:srgbClr val="050E17"/>
                </a:solidFill>
                <a:effectLst/>
                <a:latin typeface="-apple-system"/>
              </a:rPr>
              <a:t>Editor di codice: l'ambiente di sviluppo dovrebbe fornire un editor di codice completo di funzionalità come l'evidenziazione della sintassi, l'</a:t>
            </a:r>
            <a:r>
              <a:rPr lang="it-IT" sz="1500" b="0" i="0" dirty="0" err="1">
                <a:solidFill>
                  <a:srgbClr val="050E17"/>
                </a:solidFill>
                <a:effectLst/>
                <a:latin typeface="-apple-system"/>
              </a:rPr>
              <a:t>autocompletamento</a:t>
            </a:r>
            <a:r>
              <a:rPr lang="it-IT" sz="1500" b="0" i="0" dirty="0">
                <a:solidFill>
                  <a:srgbClr val="050E17"/>
                </a:solidFill>
                <a:effectLst/>
                <a:latin typeface="-apple-system"/>
              </a:rPr>
              <a:t> del codice, la ricerca e il rimpiazzo e altre funzioni di editing.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Debugging: l'ambiente di sviluppo dovrebbe fornire strumenti di debugging che consentano agli sviluppatori di individuare e risolvere i problemi nel codice. Tra le funzionalità di debugging ci sono il settaggio di </a:t>
            </a:r>
            <a:r>
              <a:rPr lang="it-IT" sz="1500" b="0" i="0" dirty="0" err="1">
                <a:solidFill>
                  <a:srgbClr val="050E17"/>
                </a:solidFill>
                <a:effectLst/>
                <a:latin typeface="-apple-system"/>
              </a:rPr>
              <a:t>breakpoint</a:t>
            </a:r>
            <a:r>
              <a:rPr lang="it-IT" sz="1500" b="0" i="0" dirty="0">
                <a:solidFill>
                  <a:srgbClr val="050E17"/>
                </a:solidFill>
                <a:effectLst/>
                <a:latin typeface="-apple-system"/>
              </a:rPr>
              <a:t>, la visualizzazione delle variabili e lo </a:t>
            </a:r>
            <a:r>
              <a:rPr lang="it-IT" sz="1500" b="0" i="0" dirty="0" err="1">
                <a:solidFill>
                  <a:srgbClr val="050E17"/>
                </a:solidFill>
                <a:effectLst/>
                <a:latin typeface="-apple-system"/>
              </a:rPr>
              <a:t>step-by-step</a:t>
            </a:r>
            <a:r>
              <a:rPr lang="it-IT" sz="1500" b="0" i="0" dirty="0">
                <a:solidFill>
                  <a:srgbClr val="050E17"/>
                </a:solidFill>
                <a:effectLst/>
                <a:latin typeface="-apple-system"/>
              </a:rPr>
              <a:t> debugging.</a:t>
            </a: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3510839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5245076" y="1229945"/>
            <a:ext cx="6097978" cy="3323987"/>
          </a:xfrm>
          <a:prstGeom prst="rect">
            <a:avLst/>
          </a:prstGeom>
          <a:noFill/>
        </p:spPr>
        <p:txBody>
          <a:bodyPr wrap="square">
            <a:spAutoFit/>
          </a:bodyPr>
          <a:lstStyle/>
          <a:p>
            <a:pPr algn="l">
              <a:buFont typeface="+mj-lt"/>
              <a:buAutoNum type="arabicPeriod"/>
            </a:pPr>
            <a:r>
              <a:rPr lang="it-IT" sz="1500" b="0" i="0" dirty="0">
                <a:solidFill>
                  <a:srgbClr val="050E17"/>
                </a:solidFill>
                <a:effectLst/>
                <a:latin typeface="-apple-system"/>
              </a:rPr>
              <a:t>Editor di codice: l'ambiente di sviluppo dovrebbe fornire un editor di codice completo di funzionalità come l'evidenziazione della sintassi, l'</a:t>
            </a:r>
            <a:r>
              <a:rPr lang="it-IT" sz="1500" b="0" i="0" dirty="0" err="1">
                <a:solidFill>
                  <a:srgbClr val="050E17"/>
                </a:solidFill>
                <a:effectLst/>
                <a:latin typeface="-apple-system"/>
              </a:rPr>
              <a:t>autocompletamento</a:t>
            </a:r>
            <a:r>
              <a:rPr lang="it-IT" sz="1500" b="0" i="0" dirty="0">
                <a:solidFill>
                  <a:srgbClr val="050E17"/>
                </a:solidFill>
                <a:effectLst/>
                <a:latin typeface="-apple-system"/>
              </a:rPr>
              <a:t> del codice, la ricerca e il rimpiazzo e altre funzioni di editing.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Debugging: l'ambiente di sviluppo dovrebbe fornire strumenti di debugging che consentano agli sviluppatori di individuare e risolvere i problemi nel codice. Tra le funzionalità di debugging ci sono il settaggio di </a:t>
            </a:r>
            <a:r>
              <a:rPr lang="it-IT" sz="1500" b="0" i="0" dirty="0" err="1">
                <a:solidFill>
                  <a:srgbClr val="050E17"/>
                </a:solidFill>
                <a:effectLst/>
                <a:latin typeface="-apple-system"/>
              </a:rPr>
              <a:t>breakpoint</a:t>
            </a:r>
            <a:r>
              <a:rPr lang="it-IT" sz="1500" b="0" i="0" dirty="0">
                <a:solidFill>
                  <a:srgbClr val="050E17"/>
                </a:solidFill>
                <a:effectLst/>
                <a:latin typeface="-apple-system"/>
              </a:rPr>
              <a:t>, la visualizzazione delle variabili e lo </a:t>
            </a:r>
            <a:r>
              <a:rPr lang="it-IT" sz="1500" b="0" i="0" dirty="0" err="1">
                <a:solidFill>
                  <a:srgbClr val="050E17"/>
                </a:solidFill>
                <a:effectLst/>
                <a:latin typeface="-apple-system"/>
              </a:rPr>
              <a:t>step-by-step</a:t>
            </a:r>
            <a:r>
              <a:rPr lang="it-IT" sz="1500" b="0" i="0" dirty="0">
                <a:solidFill>
                  <a:srgbClr val="050E17"/>
                </a:solidFill>
                <a:effectLst/>
                <a:latin typeface="-apple-system"/>
              </a:rPr>
              <a:t> debugging.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Strumenti di testing: l'ambiente di sviluppo dovrebbe fornire strumenti di testing che consentano agli sviluppatori di testare le loro applicazioni Java. Tra gli strumenti di testing ci sono i framework di testing come </a:t>
            </a:r>
            <a:r>
              <a:rPr lang="it-IT" sz="1500" b="0" i="0" dirty="0" err="1">
                <a:solidFill>
                  <a:srgbClr val="050E17"/>
                </a:solidFill>
                <a:effectLst/>
                <a:latin typeface="-apple-system"/>
              </a:rPr>
              <a:t>JUnit</a:t>
            </a:r>
            <a:r>
              <a:rPr lang="it-IT" sz="1500" b="0" i="0" dirty="0">
                <a:solidFill>
                  <a:srgbClr val="050E17"/>
                </a:solidFill>
                <a:effectLst/>
                <a:latin typeface="-apple-system"/>
              </a:rPr>
              <a:t> e </a:t>
            </a:r>
            <a:r>
              <a:rPr lang="it-IT" sz="1500" b="0" i="0" dirty="0" err="1">
                <a:solidFill>
                  <a:srgbClr val="050E17"/>
                </a:solidFill>
                <a:effectLst/>
                <a:latin typeface="-apple-system"/>
              </a:rPr>
              <a:t>TestNG</a:t>
            </a:r>
            <a:r>
              <a:rPr lang="it-IT" sz="1500" b="0" i="0" dirty="0">
                <a:solidFill>
                  <a:srgbClr val="050E17"/>
                </a:solidFill>
                <a:effectLst/>
                <a:latin typeface="-apple-system"/>
              </a:rPr>
              <a:t>.</a:t>
            </a: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2718246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5245076" y="1229945"/>
            <a:ext cx="6097978" cy="4247317"/>
          </a:xfrm>
          <a:prstGeom prst="rect">
            <a:avLst/>
          </a:prstGeom>
          <a:noFill/>
        </p:spPr>
        <p:txBody>
          <a:bodyPr wrap="square">
            <a:spAutoFit/>
          </a:bodyPr>
          <a:lstStyle/>
          <a:p>
            <a:pPr algn="l">
              <a:buFont typeface="+mj-lt"/>
              <a:buAutoNum type="arabicPeriod"/>
            </a:pPr>
            <a:r>
              <a:rPr lang="it-IT" sz="1500" b="0" i="0" dirty="0">
                <a:solidFill>
                  <a:srgbClr val="050E17"/>
                </a:solidFill>
                <a:effectLst/>
                <a:latin typeface="-apple-system"/>
              </a:rPr>
              <a:t>Editor di codice: l'ambiente di sviluppo dovrebbe fornire un editor di codice completo di funzionalità come l'evidenziazione della sintassi, l'</a:t>
            </a:r>
            <a:r>
              <a:rPr lang="it-IT" sz="1500" b="0" i="0" dirty="0" err="1">
                <a:solidFill>
                  <a:srgbClr val="050E17"/>
                </a:solidFill>
                <a:effectLst/>
                <a:latin typeface="-apple-system"/>
              </a:rPr>
              <a:t>autocompletamento</a:t>
            </a:r>
            <a:r>
              <a:rPr lang="it-IT" sz="1500" b="0" i="0" dirty="0">
                <a:solidFill>
                  <a:srgbClr val="050E17"/>
                </a:solidFill>
                <a:effectLst/>
                <a:latin typeface="-apple-system"/>
              </a:rPr>
              <a:t> del codice, la ricerca e il rimpiazzo e altre funzioni di editing.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Debugging: l'ambiente di sviluppo dovrebbe fornire strumenti di debugging che consentano agli sviluppatori di individuare e risolvere i problemi nel codice. Tra le funzionalità di debugging ci sono il settaggio di </a:t>
            </a:r>
            <a:r>
              <a:rPr lang="it-IT" sz="1500" b="0" i="0" dirty="0" err="1">
                <a:solidFill>
                  <a:srgbClr val="050E17"/>
                </a:solidFill>
                <a:effectLst/>
                <a:latin typeface="-apple-system"/>
              </a:rPr>
              <a:t>breakpoint</a:t>
            </a:r>
            <a:r>
              <a:rPr lang="it-IT" sz="1500" b="0" i="0" dirty="0">
                <a:solidFill>
                  <a:srgbClr val="050E17"/>
                </a:solidFill>
                <a:effectLst/>
                <a:latin typeface="-apple-system"/>
              </a:rPr>
              <a:t>, la visualizzazione delle variabili e lo </a:t>
            </a:r>
            <a:r>
              <a:rPr lang="it-IT" sz="1500" b="0" i="0" dirty="0" err="1">
                <a:solidFill>
                  <a:srgbClr val="050E17"/>
                </a:solidFill>
                <a:effectLst/>
                <a:latin typeface="-apple-system"/>
              </a:rPr>
              <a:t>step-by-step</a:t>
            </a:r>
            <a:r>
              <a:rPr lang="it-IT" sz="1500" b="0" i="0" dirty="0">
                <a:solidFill>
                  <a:srgbClr val="050E17"/>
                </a:solidFill>
                <a:effectLst/>
                <a:latin typeface="-apple-system"/>
              </a:rPr>
              <a:t> debugging.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Strumenti di testing: l'ambiente di sviluppo dovrebbe fornire strumenti di testing che consentano agli sviluppatori di testare le loro applicazioni Java. Tra gli strumenti di testing ci sono i framework di testing come </a:t>
            </a:r>
            <a:r>
              <a:rPr lang="it-IT" sz="1500" b="0" i="0" dirty="0" err="1">
                <a:solidFill>
                  <a:srgbClr val="050E17"/>
                </a:solidFill>
                <a:effectLst/>
                <a:latin typeface="-apple-system"/>
              </a:rPr>
              <a:t>JUnit</a:t>
            </a:r>
            <a:r>
              <a:rPr lang="it-IT" sz="1500" b="0" i="0" dirty="0">
                <a:solidFill>
                  <a:srgbClr val="050E17"/>
                </a:solidFill>
                <a:effectLst/>
                <a:latin typeface="-apple-system"/>
              </a:rPr>
              <a:t> e </a:t>
            </a:r>
            <a:r>
              <a:rPr lang="it-IT" sz="1500" b="0" i="0" dirty="0" err="1">
                <a:solidFill>
                  <a:srgbClr val="050E17"/>
                </a:solidFill>
                <a:effectLst/>
                <a:latin typeface="-apple-system"/>
              </a:rPr>
              <a:t>TestNG</a:t>
            </a:r>
            <a:r>
              <a:rPr lang="it-IT" sz="1500" b="0" i="0" dirty="0">
                <a:solidFill>
                  <a:srgbClr val="050E17"/>
                </a:solidFill>
                <a:effectLst/>
                <a:latin typeface="-apple-system"/>
              </a:rPr>
              <a:t>.</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Gestione del progetto: l'ambiente di sviluppo dovrebbe fornire strumenti per la gestione del progetto, come la gestione delle dipendenze, la creazione di progetti, la gestione delle librerie e la gestione delle versioni del codice.</a:t>
            </a: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28483166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asellaDiTesto 3">
            <a:extLst>
              <a:ext uri="{FF2B5EF4-FFF2-40B4-BE49-F238E27FC236}">
                <a16:creationId xmlns:a16="http://schemas.microsoft.com/office/drawing/2014/main" id="{A9445E60-FE39-72A6-1254-39834E5E9249}"/>
              </a:ext>
            </a:extLst>
          </p:cNvPr>
          <p:cNvSpPr txBox="1"/>
          <p:nvPr/>
        </p:nvSpPr>
        <p:spPr>
          <a:xfrm>
            <a:off x="5245076" y="1229945"/>
            <a:ext cx="6097978" cy="5401479"/>
          </a:xfrm>
          <a:prstGeom prst="rect">
            <a:avLst/>
          </a:prstGeom>
          <a:noFill/>
        </p:spPr>
        <p:txBody>
          <a:bodyPr wrap="square">
            <a:spAutoFit/>
          </a:bodyPr>
          <a:lstStyle/>
          <a:p>
            <a:pPr algn="l">
              <a:buFont typeface="+mj-lt"/>
              <a:buAutoNum type="arabicPeriod"/>
            </a:pPr>
            <a:r>
              <a:rPr lang="it-IT" sz="1500" b="0" i="0" dirty="0">
                <a:solidFill>
                  <a:srgbClr val="050E17"/>
                </a:solidFill>
                <a:effectLst/>
                <a:latin typeface="-apple-system"/>
              </a:rPr>
              <a:t>Editor di codice: l'ambiente di sviluppo dovrebbe fornire un editor di codice completo di funzionalità come l'evidenziazione della sintassi, l'</a:t>
            </a:r>
            <a:r>
              <a:rPr lang="it-IT" sz="1500" b="0" i="0" dirty="0" err="1">
                <a:solidFill>
                  <a:srgbClr val="050E17"/>
                </a:solidFill>
                <a:effectLst/>
                <a:latin typeface="-apple-system"/>
              </a:rPr>
              <a:t>autocompletamento</a:t>
            </a:r>
            <a:r>
              <a:rPr lang="it-IT" sz="1500" b="0" i="0" dirty="0">
                <a:solidFill>
                  <a:srgbClr val="050E17"/>
                </a:solidFill>
                <a:effectLst/>
                <a:latin typeface="-apple-system"/>
              </a:rPr>
              <a:t> del codice, la ricerca e il rimpiazzo e altre funzioni di editing.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Debugging: l'ambiente di sviluppo dovrebbe fornire strumenti di debugging che consentano agli sviluppatori di individuare e risolvere i problemi nel codice. Tra le funzionalità di debugging ci sono il settaggio di </a:t>
            </a:r>
            <a:r>
              <a:rPr lang="it-IT" sz="1500" b="0" i="0" dirty="0" err="1">
                <a:solidFill>
                  <a:srgbClr val="050E17"/>
                </a:solidFill>
                <a:effectLst/>
                <a:latin typeface="-apple-system"/>
              </a:rPr>
              <a:t>breakpoint</a:t>
            </a:r>
            <a:r>
              <a:rPr lang="it-IT" sz="1500" b="0" i="0" dirty="0">
                <a:solidFill>
                  <a:srgbClr val="050E17"/>
                </a:solidFill>
                <a:effectLst/>
                <a:latin typeface="-apple-system"/>
              </a:rPr>
              <a:t>, la visualizzazione delle variabili e lo </a:t>
            </a:r>
            <a:r>
              <a:rPr lang="it-IT" sz="1500" b="0" i="0" dirty="0" err="1">
                <a:solidFill>
                  <a:srgbClr val="050E17"/>
                </a:solidFill>
                <a:effectLst/>
                <a:latin typeface="-apple-system"/>
              </a:rPr>
              <a:t>step-by-step</a:t>
            </a:r>
            <a:r>
              <a:rPr lang="it-IT" sz="1500" b="0" i="0" dirty="0">
                <a:solidFill>
                  <a:srgbClr val="050E17"/>
                </a:solidFill>
                <a:effectLst/>
                <a:latin typeface="-apple-system"/>
              </a:rPr>
              <a:t> debugging.</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Strumenti di testing: l'ambiente di sviluppo dovrebbe fornire strumenti di testing che consentano agli sviluppatori di testare le loro applicazioni Java. Tra gli strumenti di testing ci sono i framework di testing come </a:t>
            </a:r>
            <a:r>
              <a:rPr lang="it-IT" sz="1500" b="0" i="0" dirty="0" err="1">
                <a:solidFill>
                  <a:srgbClr val="050E17"/>
                </a:solidFill>
                <a:effectLst/>
                <a:latin typeface="-apple-system"/>
              </a:rPr>
              <a:t>JUnit</a:t>
            </a:r>
            <a:r>
              <a:rPr lang="it-IT" sz="1500" b="0" i="0" dirty="0">
                <a:solidFill>
                  <a:srgbClr val="050E17"/>
                </a:solidFill>
                <a:effectLst/>
                <a:latin typeface="-apple-system"/>
              </a:rPr>
              <a:t> e </a:t>
            </a:r>
            <a:r>
              <a:rPr lang="it-IT" sz="1500" b="0" i="0" dirty="0" err="1">
                <a:solidFill>
                  <a:srgbClr val="050E17"/>
                </a:solidFill>
                <a:effectLst/>
                <a:latin typeface="-apple-system"/>
              </a:rPr>
              <a:t>TestNG</a:t>
            </a:r>
            <a:r>
              <a:rPr lang="it-IT" sz="1500" b="0" i="0" dirty="0">
                <a:solidFill>
                  <a:srgbClr val="050E17"/>
                </a:solidFill>
                <a:effectLst/>
                <a:latin typeface="-apple-system"/>
              </a:rPr>
              <a:t>.</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Gestione del progetto: l'ambiente di sviluppo dovrebbe fornire strumenti per la gestione del progetto, come la gestione delle dipendenze, la creazione di progetti, la gestione delle librerie e la gestione delle versioni del codice.</a:t>
            </a:r>
          </a:p>
          <a:p>
            <a:pPr algn="l">
              <a:buFont typeface="+mj-lt"/>
              <a:buAutoNum type="arabicPeriod"/>
            </a:pPr>
            <a:endParaRPr lang="it-IT" sz="1500" b="0" i="0" dirty="0">
              <a:solidFill>
                <a:srgbClr val="050E17"/>
              </a:solidFill>
              <a:effectLst/>
              <a:latin typeface="-apple-system"/>
            </a:endParaRPr>
          </a:p>
          <a:p>
            <a:pPr algn="l">
              <a:buFont typeface="+mj-lt"/>
              <a:buAutoNum type="arabicPeriod"/>
            </a:pPr>
            <a:r>
              <a:rPr lang="it-IT" sz="1500" b="0" i="0" dirty="0">
                <a:solidFill>
                  <a:srgbClr val="050E17"/>
                </a:solidFill>
                <a:effectLst/>
                <a:latin typeface="-apple-system"/>
              </a:rPr>
              <a:t>Integrazione con strumenti di sviluppo: l'ambiente di sviluppo dovrebbe integrarsi con altri strumenti di sviluppo, come i sistemi di controllo versione come </a:t>
            </a:r>
            <a:r>
              <a:rPr lang="it-IT" sz="1500" b="0" i="0" dirty="0" err="1">
                <a:solidFill>
                  <a:srgbClr val="050E17"/>
                </a:solidFill>
                <a:effectLst/>
                <a:latin typeface="-apple-system"/>
              </a:rPr>
              <a:t>Git</a:t>
            </a:r>
            <a:r>
              <a:rPr lang="it-IT" sz="1500" b="0" i="0" dirty="0">
                <a:solidFill>
                  <a:srgbClr val="050E17"/>
                </a:solidFill>
                <a:effectLst/>
                <a:latin typeface="-apple-system"/>
              </a:rPr>
              <a:t>, le piattaforme di </a:t>
            </a:r>
            <a:r>
              <a:rPr lang="it-IT" sz="1500" b="0" i="0" dirty="0" err="1">
                <a:solidFill>
                  <a:srgbClr val="050E17"/>
                </a:solidFill>
                <a:effectLst/>
                <a:latin typeface="-apple-system"/>
              </a:rPr>
              <a:t>continuous</a:t>
            </a:r>
            <a:r>
              <a:rPr lang="it-IT" sz="1500" b="0" i="0" dirty="0">
                <a:solidFill>
                  <a:srgbClr val="050E17"/>
                </a:solidFill>
                <a:effectLst/>
                <a:latin typeface="-apple-system"/>
              </a:rPr>
              <a:t> </a:t>
            </a:r>
            <a:r>
              <a:rPr lang="it-IT" sz="1500" b="0" i="0" dirty="0" err="1">
                <a:solidFill>
                  <a:srgbClr val="050E17"/>
                </a:solidFill>
                <a:effectLst/>
                <a:latin typeface="-apple-system"/>
              </a:rPr>
              <a:t>integration</a:t>
            </a:r>
            <a:r>
              <a:rPr lang="it-IT" sz="1500" b="0" i="0" dirty="0">
                <a:solidFill>
                  <a:srgbClr val="050E17"/>
                </a:solidFill>
                <a:effectLst/>
                <a:latin typeface="-apple-system"/>
              </a:rPr>
              <a:t> come Jenkins e le piattaforme di deployment come Docker.</a:t>
            </a:r>
          </a:p>
        </p:txBody>
      </p:sp>
      <p:sp>
        <p:nvSpPr>
          <p:cNvPr id="5" name="CasellaDiTesto 4">
            <a:extLst>
              <a:ext uri="{FF2B5EF4-FFF2-40B4-BE49-F238E27FC236}">
                <a16:creationId xmlns:a16="http://schemas.microsoft.com/office/drawing/2014/main" id="{C5CAC2C9-92BB-67A2-BC4A-C1CA4AA432F9}"/>
              </a:ext>
            </a:extLst>
          </p:cNvPr>
          <p:cNvSpPr txBox="1"/>
          <p:nvPr/>
        </p:nvSpPr>
        <p:spPr>
          <a:xfrm>
            <a:off x="472044" y="906780"/>
            <a:ext cx="6097978" cy="646331"/>
          </a:xfrm>
          <a:prstGeom prst="rect">
            <a:avLst/>
          </a:prstGeom>
          <a:noFill/>
        </p:spPr>
        <p:txBody>
          <a:bodyPr wrap="square">
            <a:spAutoFit/>
          </a:bodyPr>
          <a:lstStyle/>
          <a:p>
            <a:r>
              <a:rPr lang="it-IT" b="0" i="0" dirty="0">
                <a:solidFill>
                  <a:srgbClr val="050E17"/>
                </a:solidFill>
                <a:effectLst/>
                <a:latin typeface="-apple-system"/>
              </a:rPr>
              <a:t>Ecco alcune delle caratteristiche che un buon ambiente di sviluppo Java dovrebbe avere:</a:t>
            </a:r>
            <a:endParaRPr lang="it-IT" dirty="0"/>
          </a:p>
        </p:txBody>
      </p:sp>
    </p:spTree>
    <p:extLst>
      <p:ext uri="{BB962C8B-B14F-4D97-AF65-F5344CB8AC3E}">
        <p14:creationId xmlns:p14="http://schemas.microsoft.com/office/powerpoint/2010/main" val="631188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L’ambiente di sviluppo JAVA</a:t>
            </a:r>
            <a:endParaRPr lang="it-IT" sz="18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2228671"/>
            <a:ext cx="6097978" cy="2400657"/>
          </a:xfrm>
          <a:prstGeom prst="rect">
            <a:avLst/>
          </a:prstGeom>
          <a:noFill/>
        </p:spPr>
        <p:txBody>
          <a:bodyPr wrap="square">
            <a:spAutoFit/>
          </a:bodyPr>
          <a:lstStyle/>
          <a:p>
            <a:r>
              <a:rPr lang="it-IT" sz="2500" b="0" i="0" dirty="0">
                <a:solidFill>
                  <a:srgbClr val="050E17"/>
                </a:solidFill>
                <a:effectLst/>
                <a:latin typeface="-apple-system"/>
              </a:rPr>
              <a:t>Tra gli ambienti di sviluppo Java più popolari ci sono Eclipse, IntelliJ IDEA e </a:t>
            </a:r>
            <a:r>
              <a:rPr lang="it-IT" sz="2500" b="0" i="0" dirty="0" err="1">
                <a:solidFill>
                  <a:srgbClr val="050E17"/>
                </a:solidFill>
                <a:effectLst/>
                <a:latin typeface="-apple-system"/>
              </a:rPr>
              <a:t>NetBeans</a:t>
            </a:r>
            <a:r>
              <a:rPr lang="it-IT" sz="2500" b="0" i="0" dirty="0">
                <a:solidFill>
                  <a:srgbClr val="050E17"/>
                </a:solidFill>
                <a:effectLst/>
                <a:latin typeface="-apple-system"/>
              </a:rPr>
              <a:t>. Ognuno di questi ambienti di sviluppo ha le proprie caratteristiche e funzionalità, quindi è importante scegliere quello che meglio si adatta alle proprie esigenze di sviluppo.</a:t>
            </a:r>
            <a:endParaRPr lang="it-IT" sz="2500" dirty="0"/>
          </a:p>
        </p:txBody>
      </p:sp>
    </p:spTree>
    <p:extLst>
      <p:ext uri="{BB962C8B-B14F-4D97-AF65-F5344CB8AC3E}">
        <p14:creationId xmlns:p14="http://schemas.microsoft.com/office/powerpoint/2010/main" val="3253490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3047011" y="2805752"/>
            <a:ext cx="6097978" cy="1246495"/>
          </a:xfrm>
          <a:prstGeom prst="rect">
            <a:avLst/>
          </a:prstGeom>
          <a:noFill/>
        </p:spPr>
        <p:txBody>
          <a:bodyPr wrap="square">
            <a:spAutoFit/>
          </a:bodyPr>
          <a:lstStyle/>
          <a:p>
            <a:r>
              <a:rPr lang="it-IT" sz="2500" b="0" i="0" dirty="0">
                <a:solidFill>
                  <a:srgbClr val="050E17"/>
                </a:solidFill>
                <a:effectLst/>
                <a:latin typeface="-apple-system"/>
              </a:rPr>
              <a:t>L'installazione di Java Development Kit (JDK) è un processo abbastanza semplice che richiede pochi passaggi.</a:t>
            </a:r>
            <a:endParaRPr lang="it-IT" sz="2500" dirty="0"/>
          </a:p>
        </p:txBody>
      </p:sp>
    </p:spTree>
    <p:extLst>
      <p:ext uri="{BB962C8B-B14F-4D97-AF65-F5344CB8AC3E}">
        <p14:creationId xmlns:p14="http://schemas.microsoft.com/office/powerpoint/2010/main" val="30619573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597109" y="1008879"/>
            <a:ext cx="6097978" cy="1631216"/>
          </a:xfrm>
          <a:prstGeom prst="rect">
            <a:avLst/>
          </a:prstGeom>
          <a:noFill/>
        </p:spPr>
        <p:txBody>
          <a:bodyPr wrap="square">
            <a:spAutoFit/>
          </a:bodyPr>
          <a:lstStyle/>
          <a:p>
            <a:pPr algn="l">
              <a:buFont typeface="+mj-lt"/>
              <a:buAutoNum type="arabicPeriod"/>
            </a:pPr>
            <a:r>
              <a:rPr lang="it-IT" sz="2500" b="0" i="0" dirty="0">
                <a:solidFill>
                  <a:srgbClr val="050E17"/>
                </a:solidFill>
                <a:effectLst/>
                <a:latin typeface="-apple-system"/>
              </a:rPr>
              <a:t>Scarica il pacchetto di installazione JDK dal sito ufficiale di Oracle, selezionando la versione più recente compatibile con il tuo sistema operativo.</a:t>
            </a:r>
          </a:p>
        </p:txBody>
      </p:sp>
    </p:spTree>
    <p:extLst>
      <p:ext uri="{BB962C8B-B14F-4D97-AF65-F5344CB8AC3E}">
        <p14:creationId xmlns:p14="http://schemas.microsoft.com/office/powerpoint/2010/main" val="8410989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597109" y="1008879"/>
            <a:ext cx="6097978" cy="1631216"/>
          </a:xfrm>
          <a:prstGeom prst="rect">
            <a:avLst/>
          </a:prstGeom>
          <a:noFill/>
        </p:spPr>
        <p:txBody>
          <a:bodyPr wrap="square">
            <a:spAutoFit/>
          </a:bodyPr>
          <a:lstStyle/>
          <a:p>
            <a:pPr algn="l">
              <a:buFont typeface="+mj-lt"/>
              <a:buAutoNum type="arabicPeriod"/>
            </a:pPr>
            <a:r>
              <a:rPr lang="it-IT" sz="2500" b="0" i="0" dirty="0">
                <a:solidFill>
                  <a:srgbClr val="050E17"/>
                </a:solidFill>
                <a:effectLst/>
                <a:latin typeface="-apple-system"/>
              </a:rPr>
              <a:t>Scarica il pacchetto di installazione JDK dal sito ufficiale di Oracle, selezionando la versione più recente compatibile con il tuo sistema operativo.</a:t>
            </a:r>
          </a:p>
        </p:txBody>
      </p:sp>
      <p:pic>
        <p:nvPicPr>
          <p:cNvPr id="7" name="Immagine 6">
            <a:extLst>
              <a:ext uri="{FF2B5EF4-FFF2-40B4-BE49-F238E27FC236}">
                <a16:creationId xmlns:a16="http://schemas.microsoft.com/office/drawing/2014/main" id="{B79B18A0-236E-3A01-6626-4CE87BB2A1E3}"/>
              </a:ext>
            </a:extLst>
          </p:cNvPr>
          <p:cNvPicPr>
            <a:picLocks noChangeAspect="1"/>
          </p:cNvPicPr>
          <p:nvPr/>
        </p:nvPicPr>
        <p:blipFill>
          <a:blip r:embed="rId3"/>
          <a:stretch>
            <a:fillRect/>
          </a:stretch>
        </p:blipFill>
        <p:spPr>
          <a:xfrm>
            <a:off x="761011" y="2640095"/>
            <a:ext cx="5398249" cy="3293396"/>
          </a:xfrm>
          <a:prstGeom prst="rect">
            <a:avLst/>
          </a:prstGeom>
        </p:spPr>
      </p:pic>
    </p:spTree>
    <p:extLst>
      <p:ext uri="{BB962C8B-B14F-4D97-AF65-F5344CB8AC3E}">
        <p14:creationId xmlns:p14="http://schemas.microsoft.com/office/powerpoint/2010/main" val="35987659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597109" y="1008879"/>
            <a:ext cx="6097978" cy="1631216"/>
          </a:xfrm>
          <a:prstGeom prst="rect">
            <a:avLst/>
          </a:prstGeom>
          <a:noFill/>
        </p:spPr>
        <p:txBody>
          <a:bodyPr wrap="square">
            <a:spAutoFit/>
          </a:bodyPr>
          <a:lstStyle/>
          <a:p>
            <a:pPr algn="l">
              <a:buFont typeface="+mj-lt"/>
              <a:buAutoNum type="arabicPeriod"/>
            </a:pPr>
            <a:r>
              <a:rPr lang="it-IT" sz="2500" b="0" i="0" dirty="0">
                <a:solidFill>
                  <a:srgbClr val="050E17"/>
                </a:solidFill>
                <a:effectLst/>
                <a:latin typeface="-apple-system"/>
              </a:rPr>
              <a:t>Scarica il pacchetto di installazione JDK dal sito ufficiale di Oracle, selezionando la versione più recente compatibile con il tuo sistema operativo.</a:t>
            </a:r>
          </a:p>
        </p:txBody>
      </p:sp>
      <p:pic>
        <p:nvPicPr>
          <p:cNvPr id="7" name="Immagine 6">
            <a:extLst>
              <a:ext uri="{FF2B5EF4-FFF2-40B4-BE49-F238E27FC236}">
                <a16:creationId xmlns:a16="http://schemas.microsoft.com/office/drawing/2014/main" id="{B79B18A0-236E-3A01-6626-4CE87BB2A1E3}"/>
              </a:ext>
            </a:extLst>
          </p:cNvPr>
          <p:cNvPicPr>
            <a:picLocks noChangeAspect="1"/>
          </p:cNvPicPr>
          <p:nvPr/>
        </p:nvPicPr>
        <p:blipFill>
          <a:blip r:embed="rId3"/>
          <a:stretch>
            <a:fillRect/>
          </a:stretch>
        </p:blipFill>
        <p:spPr>
          <a:xfrm>
            <a:off x="761011" y="2640095"/>
            <a:ext cx="5398249" cy="3293396"/>
          </a:xfrm>
          <a:prstGeom prst="rect">
            <a:avLst/>
          </a:prstGeom>
        </p:spPr>
      </p:pic>
      <p:pic>
        <p:nvPicPr>
          <p:cNvPr id="8" name="Immagine 7">
            <a:extLst>
              <a:ext uri="{FF2B5EF4-FFF2-40B4-BE49-F238E27FC236}">
                <a16:creationId xmlns:a16="http://schemas.microsoft.com/office/drawing/2014/main" id="{AF7997DC-6BEA-B26F-05CB-DE371AAA4AB8}"/>
              </a:ext>
            </a:extLst>
          </p:cNvPr>
          <p:cNvPicPr>
            <a:picLocks noChangeAspect="1"/>
          </p:cNvPicPr>
          <p:nvPr/>
        </p:nvPicPr>
        <p:blipFill>
          <a:blip r:embed="rId4"/>
          <a:stretch>
            <a:fillRect/>
          </a:stretch>
        </p:blipFill>
        <p:spPr>
          <a:xfrm>
            <a:off x="4751459" y="2191522"/>
            <a:ext cx="6843432" cy="3919814"/>
          </a:xfrm>
          <a:prstGeom prst="rect">
            <a:avLst/>
          </a:prstGeom>
        </p:spPr>
      </p:pic>
    </p:spTree>
    <p:extLst>
      <p:ext uri="{BB962C8B-B14F-4D97-AF65-F5344CB8AC3E}">
        <p14:creationId xmlns:p14="http://schemas.microsoft.com/office/powerpoint/2010/main" val="1102914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597109" y="1008879"/>
            <a:ext cx="6097978" cy="1631216"/>
          </a:xfrm>
          <a:prstGeom prst="rect">
            <a:avLst/>
          </a:prstGeom>
          <a:noFill/>
        </p:spPr>
        <p:txBody>
          <a:bodyPr wrap="square">
            <a:spAutoFit/>
          </a:bodyPr>
          <a:lstStyle/>
          <a:p>
            <a:pPr algn="l">
              <a:buFont typeface="+mj-lt"/>
              <a:buAutoNum type="arabicPeriod"/>
            </a:pPr>
            <a:r>
              <a:rPr lang="it-IT" sz="2500" b="0" i="0" dirty="0">
                <a:solidFill>
                  <a:srgbClr val="050E17"/>
                </a:solidFill>
                <a:effectLst/>
                <a:latin typeface="-apple-system"/>
              </a:rPr>
              <a:t>Scarica il pacchetto di installazione JDK dal sito ufficiale di Oracle, selezionando la versione più recente compatibile con il tuo sistema operativo.</a:t>
            </a:r>
          </a:p>
        </p:txBody>
      </p:sp>
      <p:pic>
        <p:nvPicPr>
          <p:cNvPr id="7" name="Immagine 6">
            <a:extLst>
              <a:ext uri="{FF2B5EF4-FFF2-40B4-BE49-F238E27FC236}">
                <a16:creationId xmlns:a16="http://schemas.microsoft.com/office/drawing/2014/main" id="{B79B18A0-236E-3A01-6626-4CE87BB2A1E3}"/>
              </a:ext>
            </a:extLst>
          </p:cNvPr>
          <p:cNvPicPr>
            <a:picLocks noChangeAspect="1"/>
          </p:cNvPicPr>
          <p:nvPr/>
        </p:nvPicPr>
        <p:blipFill>
          <a:blip r:embed="rId3"/>
          <a:stretch>
            <a:fillRect/>
          </a:stretch>
        </p:blipFill>
        <p:spPr>
          <a:xfrm>
            <a:off x="761011" y="2640095"/>
            <a:ext cx="5398249" cy="3293396"/>
          </a:xfrm>
          <a:prstGeom prst="rect">
            <a:avLst/>
          </a:prstGeom>
        </p:spPr>
      </p:pic>
      <p:pic>
        <p:nvPicPr>
          <p:cNvPr id="8" name="Immagine 7">
            <a:extLst>
              <a:ext uri="{FF2B5EF4-FFF2-40B4-BE49-F238E27FC236}">
                <a16:creationId xmlns:a16="http://schemas.microsoft.com/office/drawing/2014/main" id="{AF7997DC-6BEA-B26F-05CB-DE371AAA4AB8}"/>
              </a:ext>
            </a:extLst>
          </p:cNvPr>
          <p:cNvPicPr>
            <a:picLocks noChangeAspect="1"/>
          </p:cNvPicPr>
          <p:nvPr/>
        </p:nvPicPr>
        <p:blipFill>
          <a:blip r:embed="rId4"/>
          <a:stretch>
            <a:fillRect/>
          </a:stretch>
        </p:blipFill>
        <p:spPr>
          <a:xfrm>
            <a:off x="4751459" y="2191522"/>
            <a:ext cx="6843432" cy="3919814"/>
          </a:xfrm>
          <a:prstGeom prst="rect">
            <a:avLst/>
          </a:prstGeom>
        </p:spPr>
      </p:pic>
      <p:grpSp>
        <p:nvGrpSpPr>
          <p:cNvPr id="6" name="Gruppo 5">
            <a:extLst>
              <a:ext uri="{FF2B5EF4-FFF2-40B4-BE49-F238E27FC236}">
                <a16:creationId xmlns:a16="http://schemas.microsoft.com/office/drawing/2014/main" id="{0DEAAB7F-1AAC-4A24-112A-ABD9FF5E3A64}"/>
              </a:ext>
            </a:extLst>
          </p:cNvPr>
          <p:cNvGrpSpPr/>
          <p:nvPr/>
        </p:nvGrpSpPr>
        <p:grpSpPr>
          <a:xfrm>
            <a:off x="3504535" y="1635640"/>
            <a:ext cx="8891623" cy="2635671"/>
            <a:chOff x="3504535" y="1635640"/>
            <a:chExt cx="8891623" cy="2635671"/>
          </a:xfrm>
        </p:grpSpPr>
        <p:sp>
          <p:nvSpPr>
            <p:cNvPr id="2" name="Ovale 1">
              <a:extLst>
                <a:ext uri="{FF2B5EF4-FFF2-40B4-BE49-F238E27FC236}">
                  <a16:creationId xmlns:a16="http://schemas.microsoft.com/office/drawing/2014/main" id="{7FD12A44-8679-5EE5-4B17-8F398656073C}"/>
                </a:ext>
              </a:extLst>
            </p:cNvPr>
            <p:cNvSpPr/>
            <p:nvPr/>
          </p:nvSpPr>
          <p:spPr>
            <a:xfrm>
              <a:off x="6019542" y="1635640"/>
              <a:ext cx="6376616" cy="26356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Sarà sufficiente cercare </a:t>
              </a:r>
              <a:r>
                <a:rPr lang="it-IT" dirty="0" err="1">
                  <a:solidFill>
                    <a:schemeClr val="tx1"/>
                  </a:solidFill>
                </a:rPr>
                <a:t>jdk</a:t>
              </a:r>
              <a:r>
                <a:rPr lang="it-IT" dirty="0">
                  <a:solidFill>
                    <a:schemeClr val="tx1"/>
                  </a:solidFill>
                </a:rPr>
                <a:t> download su </a:t>
              </a:r>
              <a:r>
                <a:rPr lang="it-IT" dirty="0" err="1">
                  <a:solidFill>
                    <a:schemeClr val="tx1"/>
                  </a:solidFill>
                </a:rPr>
                <a:t>google</a:t>
              </a:r>
              <a:endParaRPr lang="it-IT" dirty="0">
                <a:solidFill>
                  <a:schemeClr val="tx1"/>
                </a:solidFill>
              </a:endParaRPr>
            </a:p>
          </p:txBody>
        </p:sp>
        <p:sp>
          <p:nvSpPr>
            <p:cNvPr id="5" name="Freccia a sinistra 4">
              <a:extLst>
                <a:ext uri="{FF2B5EF4-FFF2-40B4-BE49-F238E27FC236}">
                  <a16:creationId xmlns:a16="http://schemas.microsoft.com/office/drawing/2014/main" id="{848F9512-AE97-CCAD-F44F-4A32A4DE7193}"/>
                </a:ext>
              </a:extLst>
            </p:cNvPr>
            <p:cNvSpPr/>
            <p:nvPr/>
          </p:nvSpPr>
          <p:spPr>
            <a:xfrm rot="20989688">
              <a:off x="3504535" y="3074146"/>
              <a:ext cx="2609287" cy="424619"/>
            </a:xfrm>
            <a:prstGeom prst="lef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
        <p:nvSpPr>
          <p:cNvPr id="9" name="Rettangolo 8">
            <a:extLst>
              <a:ext uri="{FF2B5EF4-FFF2-40B4-BE49-F238E27FC236}">
                <a16:creationId xmlns:a16="http://schemas.microsoft.com/office/drawing/2014/main" id="{05AF0C6E-72A3-84F2-4E72-173E91284284}"/>
              </a:ext>
            </a:extLst>
          </p:cNvPr>
          <p:cNvSpPr/>
          <p:nvPr/>
        </p:nvSpPr>
        <p:spPr>
          <a:xfrm>
            <a:off x="6029864" y="2941608"/>
            <a:ext cx="293298" cy="2242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96614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3047011" y="2805752"/>
            <a:ext cx="6097978" cy="1246495"/>
          </a:xfrm>
          <a:prstGeom prst="rect">
            <a:avLst/>
          </a:prstGeom>
          <a:noFill/>
        </p:spPr>
        <p:txBody>
          <a:bodyPr wrap="square">
            <a:spAutoFit/>
          </a:bodyPr>
          <a:lstStyle/>
          <a:p>
            <a:pPr algn="l"/>
            <a:r>
              <a:rPr lang="it-IT" sz="2500" b="0" i="0" dirty="0">
                <a:solidFill>
                  <a:srgbClr val="050E17"/>
                </a:solidFill>
                <a:effectLst/>
                <a:latin typeface="-apple-system"/>
              </a:rPr>
              <a:t>2. Una volta scaricato il pacchetto, fai doppio clic sul file di installazione per avviare il processo di installazione.</a:t>
            </a:r>
          </a:p>
        </p:txBody>
      </p:sp>
    </p:spTree>
    <p:extLst>
      <p:ext uri="{BB962C8B-B14F-4D97-AF65-F5344CB8AC3E}">
        <p14:creationId xmlns:p14="http://schemas.microsoft.com/office/powerpoint/2010/main" val="32597166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3047011" y="2228671"/>
            <a:ext cx="6097978" cy="2400657"/>
          </a:xfrm>
          <a:prstGeom prst="rect">
            <a:avLst/>
          </a:prstGeom>
          <a:noFill/>
        </p:spPr>
        <p:txBody>
          <a:bodyPr wrap="square">
            <a:spAutoFit/>
          </a:bodyPr>
          <a:lstStyle/>
          <a:p>
            <a:pPr algn="l"/>
            <a:r>
              <a:rPr lang="it-IT" sz="2500" b="0" i="0" dirty="0">
                <a:solidFill>
                  <a:srgbClr val="050E17"/>
                </a:solidFill>
                <a:effectLst/>
                <a:latin typeface="-apple-system"/>
              </a:rPr>
              <a:t>3.Segui le istruzioni visualizzate sullo schermo per completare l'installazione. Durante l'installazione, verranno visualizzate diverse opzioni, come la selezione della directory di installazione e l'aggiunta di variabili d'ambiente.</a:t>
            </a:r>
          </a:p>
        </p:txBody>
      </p:sp>
    </p:spTree>
    <p:extLst>
      <p:ext uri="{BB962C8B-B14F-4D97-AF65-F5344CB8AC3E}">
        <p14:creationId xmlns:p14="http://schemas.microsoft.com/office/powerpoint/2010/main" val="11040910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3047011" y="1951672"/>
            <a:ext cx="6097978" cy="2785378"/>
          </a:xfrm>
          <a:prstGeom prst="rect">
            <a:avLst/>
          </a:prstGeom>
          <a:noFill/>
        </p:spPr>
        <p:txBody>
          <a:bodyPr wrap="square">
            <a:spAutoFit/>
          </a:bodyPr>
          <a:lstStyle/>
          <a:p>
            <a:pPr algn="l"/>
            <a:r>
              <a:rPr lang="it-IT" sz="2500" b="0" i="0" dirty="0">
                <a:solidFill>
                  <a:srgbClr val="050E17"/>
                </a:solidFill>
                <a:effectLst/>
                <a:latin typeface="-apple-system"/>
              </a:rPr>
              <a:t>4. Dopo aver completato l'installazione, apri il prompt dei comandi o il terminale e digita il comando "java -</a:t>
            </a:r>
            <a:r>
              <a:rPr lang="it-IT" sz="2500" b="0" i="0" dirty="0" err="1">
                <a:solidFill>
                  <a:srgbClr val="050E17"/>
                </a:solidFill>
                <a:effectLst/>
                <a:latin typeface="-apple-system"/>
              </a:rPr>
              <a:t>version</a:t>
            </a:r>
            <a:r>
              <a:rPr lang="it-IT" sz="2500" b="0" i="0" dirty="0">
                <a:solidFill>
                  <a:srgbClr val="050E17"/>
                </a:solidFill>
                <a:effectLst/>
                <a:latin typeface="-apple-system"/>
              </a:rPr>
              <a:t>" per verificare se l'installazione di JDK è stata eseguita correttamente. Se viene visualizzata la versione di Java installata, allora JDK è stato installato correttamente</a:t>
            </a:r>
          </a:p>
        </p:txBody>
      </p:sp>
    </p:spTree>
    <p:extLst>
      <p:ext uri="{BB962C8B-B14F-4D97-AF65-F5344CB8AC3E}">
        <p14:creationId xmlns:p14="http://schemas.microsoft.com/office/powerpoint/2010/main" val="4207718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Installazione di Java Development Kit (JDK)</a:t>
            </a:r>
          </a:p>
        </p:txBody>
      </p:sp>
      <p:sp>
        <p:nvSpPr>
          <p:cNvPr id="4" name="CasellaDiTesto 3">
            <a:extLst>
              <a:ext uri="{FF2B5EF4-FFF2-40B4-BE49-F238E27FC236}">
                <a16:creationId xmlns:a16="http://schemas.microsoft.com/office/drawing/2014/main" id="{AEC14670-71A7-265C-DE54-0DF4F8022E8B}"/>
              </a:ext>
            </a:extLst>
          </p:cNvPr>
          <p:cNvSpPr txBox="1"/>
          <p:nvPr/>
        </p:nvSpPr>
        <p:spPr>
          <a:xfrm>
            <a:off x="3047011" y="1651590"/>
            <a:ext cx="6097978" cy="3554819"/>
          </a:xfrm>
          <a:prstGeom prst="rect">
            <a:avLst/>
          </a:prstGeom>
          <a:noFill/>
        </p:spPr>
        <p:txBody>
          <a:bodyPr wrap="square">
            <a:spAutoFit/>
          </a:bodyPr>
          <a:lstStyle/>
          <a:p>
            <a:pPr algn="l"/>
            <a:r>
              <a:rPr lang="it-IT" sz="2500" b="0" i="0" dirty="0">
                <a:solidFill>
                  <a:srgbClr val="050E17"/>
                </a:solidFill>
                <a:effectLst/>
                <a:latin typeface="-apple-system"/>
              </a:rPr>
              <a:t>Ricorda che dopo aver installato JDK, potresti dover configurare alcune variabili d'ambiente. Ad esempio, potresti dover aggiungere la directory bin di JDK al tuo </a:t>
            </a:r>
            <a:r>
              <a:rPr lang="it-IT" sz="2500" b="0" i="0" dirty="0" err="1">
                <a:solidFill>
                  <a:srgbClr val="050E17"/>
                </a:solidFill>
                <a:effectLst/>
                <a:latin typeface="-apple-system"/>
              </a:rPr>
              <a:t>path</a:t>
            </a:r>
            <a:r>
              <a:rPr lang="it-IT" sz="2500" b="0" i="0" dirty="0">
                <a:solidFill>
                  <a:srgbClr val="050E17"/>
                </a:solidFill>
                <a:effectLst/>
                <a:latin typeface="-apple-system"/>
              </a:rPr>
              <a:t> di sistema in modo che il sistema possa trovare il comando "java". Inoltre, è possibile che tu debba installare anche un ambiente di sviluppo integrato (IDE) come Eclipse o IntelliJ IDEA per iniziare a sviluppare applicazioni Java.</a:t>
            </a:r>
          </a:p>
        </p:txBody>
      </p:sp>
    </p:spTree>
    <p:extLst>
      <p:ext uri="{BB962C8B-B14F-4D97-AF65-F5344CB8AC3E}">
        <p14:creationId xmlns:p14="http://schemas.microsoft.com/office/powerpoint/2010/main" val="27928727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I ferri del mestiere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Gli strumenti</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5262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2182505"/>
            <a:ext cx="6097978" cy="1246495"/>
          </a:xfrm>
          <a:prstGeom prst="rect">
            <a:avLst/>
          </a:prstGeom>
          <a:noFill/>
        </p:spPr>
        <p:txBody>
          <a:bodyPr wrap="square">
            <a:spAutoFit/>
          </a:bodyPr>
          <a:lstStyle/>
          <a:p>
            <a:r>
              <a:rPr lang="it-IT" sz="2500" b="0" i="0" dirty="0">
                <a:solidFill>
                  <a:srgbClr val="050E17"/>
                </a:solidFill>
                <a:effectLst/>
                <a:latin typeface="-apple-system"/>
              </a:rPr>
              <a:t>Ci sono diversi strumenti di sviluppo disponibili per Java, ma tra i più popolari ci sono Eclipse, </a:t>
            </a:r>
            <a:r>
              <a:rPr lang="it-IT" sz="2500" b="0" i="0" dirty="0" err="1">
                <a:solidFill>
                  <a:srgbClr val="050E17"/>
                </a:solidFill>
                <a:effectLst/>
                <a:latin typeface="-apple-system"/>
              </a:rPr>
              <a:t>NetBeans</a:t>
            </a:r>
            <a:r>
              <a:rPr lang="it-IT" sz="2500" b="0" i="0" dirty="0">
                <a:solidFill>
                  <a:srgbClr val="050E17"/>
                </a:solidFill>
                <a:effectLst/>
                <a:latin typeface="-apple-system"/>
              </a:rPr>
              <a:t> e IntelliJ IDEA. </a:t>
            </a:r>
            <a:endParaRPr lang="it-IT" sz="2500" dirty="0"/>
          </a:p>
        </p:txBody>
      </p:sp>
    </p:spTree>
    <p:extLst>
      <p:ext uri="{BB962C8B-B14F-4D97-AF65-F5344CB8AC3E}">
        <p14:creationId xmlns:p14="http://schemas.microsoft.com/office/powerpoint/2010/main" val="40565844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1459230"/>
            <a:ext cx="6097978" cy="3939540"/>
          </a:xfrm>
          <a:prstGeom prst="rect">
            <a:avLst/>
          </a:prstGeom>
          <a:noFill/>
        </p:spPr>
        <p:txBody>
          <a:bodyPr wrap="square">
            <a:spAutoFit/>
          </a:bodyPr>
          <a:lstStyle/>
          <a:p>
            <a:pPr algn="l"/>
            <a:r>
              <a:rPr lang="it-IT" sz="2500" b="1" i="0" dirty="0">
                <a:solidFill>
                  <a:srgbClr val="050E17"/>
                </a:solidFill>
                <a:effectLst/>
                <a:latin typeface="-apple-system"/>
              </a:rPr>
              <a:t>Eclipse</a:t>
            </a:r>
            <a:r>
              <a:rPr lang="it-IT" sz="2500" b="0" i="0" dirty="0">
                <a:solidFill>
                  <a:srgbClr val="050E17"/>
                </a:solidFill>
                <a:effectLst/>
                <a:latin typeface="-apple-system"/>
              </a:rPr>
              <a:t>: Eclipse è un ambiente di sviluppo integrato (IDE) open source per Java. È un ambiente di sviluppo molto popolare e potente, dotato di una vasta gamma di strumenti, tra cui un editor di codice, un debugger, un profiler, un sistema di gestione del progetto e molto altro. Eclipse è altamente personalizzabile e supporta una vasta gamma di plugin, il che lo rende un'opzione popolare tra gli sviluppatori Java.</a:t>
            </a:r>
          </a:p>
        </p:txBody>
      </p:sp>
    </p:spTree>
    <p:extLst>
      <p:ext uri="{BB962C8B-B14F-4D97-AF65-F5344CB8AC3E}">
        <p14:creationId xmlns:p14="http://schemas.microsoft.com/office/powerpoint/2010/main" val="2567845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1459230"/>
            <a:ext cx="6097978" cy="3939540"/>
          </a:xfrm>
          <a:prstGeom prst="rect">
            <a:avLst/>
          </a:prstGeom>
          <a:noFill/>
        </p:spPr>
        <p:txBody>
          <a:bodyPr wrap="square">
            <a:spAutoFit/>
          </a:bodyPr>
          <a:lstStyle/>
          <a:p>
            <a:pPr algn="l"/>
            <a:r>
              <a:rPr lang="it-IT" sz="2500" b="1" i="0" dirty="0" err="1">
                <a:solidFill>
                  <a:srgbClr val="050E17"/>
                </a:solidFill>
                <a:effectLst/>
                <a:latin typeface="-apple-system"/>
              </a:rPr>
              <a:t>NetBeans</a:t>
            </a:r>
            <a:r>
              <a:rPr lang="it-IT" sz="2500" b="0" i="0" dirty="0">
                <a:solidFill>
                  <a:srgbClr val="050E17"/>
                </a:solidFill>
                <a:effectLst/>
                <a:latin typeface="-apple-system"/>
              </a:rPr>
              <a:t>: </a:t>
            </a:r>
            <a:r>
              <a:rPr lang="it-IT" sz="2500" b="0" i="0" dirty="0" err="1">
                <a:solidFill>
                  <a:srgbClr val="050E17"/>
                </a:solidFill>
                <a:effectLst/>
                <a:latin typeface="-apple-system"/>
              </a:rPr>
              <a:t>NetBeans</a:t>
            </a:r>
            <a:r>
              <a:rPr lang="it-IT" sz="2500" b="0" i="0" dirty="0">
                <a:solidFill>
                  <a:srgbClr val="050E17"/>
                </a:solidFill>
                <a:effectLst/>
                <a:latin typeface="-apple-system"/>
              </a:rPr>
              <a:t> è un altro ambiente di sviluppo integrato open source per Java. </a:t>
            </a:r>
            <a:r>
              <a:rPr lang="it-IT" sz="2500" b="0" i="0" dirty="0" err="1">
                <a:solidFill>
                  <a:srgbClr val="050E17"/>
                </a:solidFill>
                <a:effectLst/>
                <a:latin typeface="-apple-system"/>
              </a:rPr>
              <a:t>NetBeans</a:t>
            </a:r>
            <a:r>
              <a:rPr lang="it-IT" sz="2500" b="0" i="0" dirty="0">
                <a:solidFill>
                  <a:srgbClr val="050E17"/>
                </a:solidFill>
                <a:effectLst/>
                <a:latin typeface="-apple-system"/>
              </a:rPr>
              <a:t> è noto per la sua facilità d'uso e la sua interfaccia utente intuitiva. Come Eclipse, </a:t>
            </a:r>
            <a:r>
              <a:rPr lang="it-IT" sz="2500" b="0" i="0" dirty="0" err="1">
                <a:solidFill>
                  <a:srgbClr val="050E17"/>
                </a:solidFill>
                <a:effectLst/>
                <a:latin typeface="-apple-system"/>
              </a:rPr>
              <a:t>NetBeans</a:t>
            </a:r>
            <a:r>
              <a:rPr lang="it-IT" sz="2500" b="0" i="0" dirty="0">
                <a:solidFill>
                  <a:srgbClr val="050E17"/>
                </a:solidFill>
                <a:effectLst/>
                <a:latin typeface="-apple-system"/>
              </a:rPr>
              <a:t> offre un'ampia gamma di strumenti e funzionalità, tra cui un editor di codice, un debugger, un profiler e un sistema di gestione del progetto. </a:t>
            </a:r>
            <a:r>
              <a:rPr lang="it-IT" sz="2500" b="0" i="0" dirty="0" err="1">
                <a:solidFill>
                  <a:srgbClr val="050E17"/>
                </a:solidFill>
                <a:effectLst/>
                <a:latin typeface="-apple-system"/>
              </a:rPr>
              <a:t>NetBeans</a:t>
            </a:r>
            <a:r>
              <a:rPr lang="it-IT" sz="2500" b="0" i="0" dirty="0">
                <a:solidFill>
                  <a:srgbClr val="050E17"/>
                </a:solidFill>
                <a:effectLst/>
                <a:latin typeface="-apple-system"/>
              </a:rPr>
              <a:t> è anche altamente personalizzabile e supporta una vasta gamma di plugin.</a:t>
            </a:r>
          </a:p>
        </p:txBody>
      </p:sp>
    </p:spTree>
    <p:extLst>
      <p:ext uri="{BB962C8B-B14F-4D97-AF65-F5344CB8AC3E}">
        <p14:creationId xmlns:p14="http://schemas.microsoft.com/office/powerpoint/2010/main" val="3543805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1459230"/>
            <a:ext cx="6097978" cy="3939540"/>
          </a:xfrm>
          <a:prstGeom prst="rect">
            <a:avLst/>
          </a:prstGeom>
          <a:noFill/>
        </p:spPr>
        <p:txBody>
          <a:bodyPr wrap="square">
            <a:spAutoFit/>
          </a:bodyPr>
          <a:lstStyle/>
          <a:p>
            <a:pPr algn="l"/>
            <a:r>
              <a:rPr lang="it-IT" sz="2500" b="1" i="0" dirty="0" err="1">
                <a:solidFill>
                  <a:srgbClr val="050E17"/>
                </a:solidFill>
                <a:effectLst/>
                <a:latin typeface="-apple-system"/>
              </a:rPr>
              <a:t>NetBeans</a:t>
            </a:r>
            <a:r>
              <a:rPr lang="it-IT" sz="2500" b="0" i="0" dirty="0">
                <a:solidFill>
                  <a:srgbClr val="050E17"/>
                </a:solidFill>
                <a:effectLst/>
                <a:latin typeface="-apple-system"/>
              </a:rPr>
              <a:t>: </a:t>
            </a:r>
            <a:r>
              <a:rPr lang="it-IT" sz="2500" b="0" i="0" dirty="0" err="1">
                <a:solidFill>
                  <a:srgbClr val="050E17"/>
                </a:solidFill>
                <a:effectLst/>
                <a:latin typeface="-apple-system"/>
              </a:rPr>
              <a:t>NetBeans</a:t>
            </a:r>
            <a:r>
              <a:rPr lang="it-IT" sz="2500" b="0" i="0" dirty="0">
                <a:solidFill>
                  <a:srgbClr val="050E17"/>
                </a:solidFill>
                <a:effectLst/>
                <a:latin typeface="-apple-system"/>
              </a:rPr>
              <a:t> è un altro ambiente di sviluppo integrato open source per Java. </a:t>
            </a:r>
            <a:r>
              <a:rPr lang="it-IT" sz="2500" b="0" i="0" dirty="0" err="1">
                <a:solidFill>
                  <a:srgbClr val="050E17"/>
                </a:solidFill>
                <a:effectLst/>
                <a:latin typeface="-apple-system"/>
              </a:rPr>
              <a:t>NetBeans</a:t>
            </a:r>
            <a:r>
              <a:rPr lang="it-IT" sz="2500" b="0" i="0" dirty="0">
                <a:solidFill>
                  <a:srgbClr val="050E17"/>
                </a:solidFill>
                <a:effectLst/>
                <a:latin typeface="-apple-system"/>
              </a:rPr>
              <a:t> è noto per la sua facilità d'uso e la sua interfaccia utente intuitiva. Come Eclipse, </a:t>
            </a:r>
            <a:r>
              <a:rPr lang="it-IT" sz="2500" b="0" i="0" dirty="0" err="1">
                <a:solidFill>
                  <a:srgbClr val="050E17"/>
                </a:solidFill>
                <a:effectLst/>
                <a:latin typeface="-apple-system"/>
              </a:rPr>
              <a:t>NetBeans</a:t>
            </a:r>
            <a:r>
              <a:rPr lang="it-IT" sz="2500" b="0" i="0" dirty="0">
                <a:solidFill>
                  <a:srgbClr val="050E17"/>
                </a:solidFill>
                <a:effectLst/>
                <a:latin typeface="-apple-system"/>
              </a:rPr>
              <a:t> offre un'ampia gamma di strumenti e funzionalità, tra cui un editor di codice, un debugger, un profiler e un sistema di gestione del progetto. </a:t>
            </a:r>
            <a:r>
              <a:rPr lang="it-IT" sz="2500" b="0" i="0" dirty="0" err="1">
                <a:solidFill>
                  <a:srgbClr val="050E17"/>
                </a:solidFill>
                <a:effectLst/>
                <a:latin typeface="-apple-system"/>
              </a:rPr>
              <a:t>NetBeans</a:t>
            </a:r>
            <a:r>
              <a:rPr lang="it-IT" sz="2500" b="0" i="0" dirty="0">
                <a:solidFill>
                  <a:srgbClr val="050E17"/>
                </a:solidFill>
                <a:effectLst/>
                <a:latin typeface="-apple-system"/>
              </a:rPr>
              <a:t> è anche altamente personalizzabile e supporta una vasta gamma di plugin.</a:t>
            </a:r>
          </a:p>
        </p:txBody>
      </p:sp>
    </p:spTree>
    <p:extLst>
      <p:ext uri="{BB962C8B-B14F-4D97-AF65-F5344CB8AC3E}">
        <p14:creationId xmlns:p14="http://schemas.microsoft.com/office/powerpoint/2010/main" val="1067991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1266869"/>
            <a:ext cx="6097978" cy="4324261"/>
          </a:xfrm>
          <a:prstGeom prst="rect">
            <a:avLst/>
          </a:prstGeom>
          <a:noFill/>
        </p:spPr>
        <p:txBody>
          <a:bodyPr wrap="square">
            <a:spAutoFit/>
          </a:bodyPr>
          <a:lstStyle/>
          <a:p>
            <a:pPr algn="l"/>
            <a:r>
              <a:rPr lang="it-IT" sz="2500" b="1" i="0" dirty="0">
                <a:solidFill>
                  <a:srgbClr val="050E17"/>
                </a:solidFill>
                <a:effectLst/>
                <a:latin typeface="-apple-system"/>
              </a:rPr>
              <a:t>IntelliJ IDEA</a:t>
            </a:r>
            <a:r>
              <a:rPr lang="it-IT" sz="2500" b="0" i="0" dirty="0">
                <a:solidFill>
                  <a:srgbClr val="050E17"/>
                </a:solidFill>
                <a:effectLst/>
                <a:latin typeface="-apple-system"/>
              </a:rPr>
              <a:t>: IntelliJ IDEA è un ambiente di sviluppo integrato commerciale per Java sviluppato da </a:t>
            </a:r>
            <a:r>
              <a:rPr lang="it-IT" sz="2500" b="0" i="0" dirty="0" err="1">
                <a:solidFill>
                  <a:srgbClr val="050E17"/>
                </a:solidFill>
                <a:effectLst/>
                <a:latin typeface="-apple-system"/>
              </a:rPr>
              <a:t>JetBrains</a:t>
            </a:r>
            <a:r>
              <a:rPr lang="it-IT" sz="2500" b="0" i="0" dirty="0">
                <a:solidFill>
                  <a:srgbClr val="050E17"/>
                </a:solidFill>
                <a:effectLst/>
                <a:latin typeface="-apple-system"/>
              </a:rPr>
              <a:t>. IntelliJ IDEA è noto per la sua facilità d'uso e la sua interfaccia utente intuitiva. IntelliJ IDEA offre un'ampia gamma di strumenti, tra cui un editor di codice altamente avanzato, un debugger, un profiler e un sistema di gestione del progetto. IntelliJ IDEA è anche altamente personalizzabile e supporta una vasta gamma di plugin.</a:t>
            </a:r>
          </a:p>
        </p:txBody>
      </p:sp>
    </p:spTree>
    <p:extLst>
      <p:ext uri="{BB962C8B-B14F-4D97-AF65-F5344CB8AC3E}">
        <p14:creationId xmlns:p14="http://schemas.microsoft.com/office/powerpoint/2010/main" val="38902213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Strumenti di sviluppo come Eclipse, </a:t>
            </a:r>
            <a:r>
              <a:rPr lang="it-IT" b="1" i="0" dirty="0" err="1">
                <a:solidFill>
                  <a:srgbClr val="050E17"/>
                </a:solidFill>
                <a:effectLst/>
                <a:latin typeface="-apple-system"/>
              </a:rPr>
              <a:t>NetBeans</a:t>
            </a:r>
            <a:r>
              <a:rPr lang="it-IT" b="1" i="0" dirty="0">
                <a:solidFill>
                  <a:srgbClr val="050E17"/>
                </a:solidFill>
                <a:effectLst/>
                <a:latin typeface="-apple-system"/>
              </a:rPr>
              <a:t>, IntelliJ IDEA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1843950"/>
            <a:ext cx="6097978" cy="3170099"/>
          </a:xfrm>
          <a:prstGeom prst="rect">
            <a:avLst/>
          </a:prstGeom>
          <a:noFill/>
        </p:spPr>
        <p:txBody>
          <a:bodyPr wrap="square">
            <a:spAutoFit/>
          </a:bodyPr>
          <a:lstStyle/>
          <a:p>
            <a:pPr algn="l"/>
            <a:r>
              <a:rPr lang="it-IT" sz="2500" b="0" i="0" dirty="0">
                <a:solidFill>
                  <a:srgbClr val="050E17"/>
                </a:solidFill>
                <a:effectLst/>
                <a:latin typeface="-apple-system"/>
              </a:rPr>
              <a:t>Ognuno di questi strumenti di sviluppo ha le proprie caratteristiche e funzionalità, quindi è importante scegliere quello che meglio si adatta alle proprie esigenze di sviluppo. Tuttavia, tutti e tre gli strumenti sono molto popolari tra gli sviluppatori Java e hanno dimostrato di essere utili per lo sviluppo di applicazioni Java di alta qualità.</a:t>
            </a:r>
          </a:p>
        </p:txBody>
      </p:sp>
    </p:spTree>
    <p:extLst>
      <p:ext uri="{BB962C8B-B14F-4D97-AF65-F5344CB8AC3E}">
        <p14:creationId xmlns:p14="http://schemas.microsoft.com/office/powerpoint/2010/main" val="23672952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2274838"/>
            <a:ext cx="6097978" cy="1631216"/>
          </a:xfrm>
          <a:prstGeom prst="rect">
            <a:avLst/>
          </a:prstGeom>
          <a:noFill/>
        </p:spPr>
        <p:txBody>
          <a:bodyPr wrap="square">
            <a:spAutoFit/>
          </a:bodyPr>
          <a:lstStyle/>
          <a:p>
            <a:pPr algn="l"/>
            <a:r>
              <a:rPr lang="it-IT" sz="2500" b="0" i="0" dirty="0">
                <a:solidFill>
                  <a:srgbClr val="050E17"/>
                </a:solidFill>
                <a:effectLst/>
                <a:latin typeface="-apple-system"/>
              </a:rPr>
              <a:t>L'interfaccia di Eclipse per Java è composta da diversi componenti che consentono agli sviluppatori di scrivere, testare e debuggare le loro applicazioni.</a:t>
            </a:r>
          </a:p>
        </p:txBody>
      </p:sp>
    </p:spTree>
    <p:extLst>
      <p:ext uri="{BB962C8B-B14F-4D97-AF65-F5344CB8AC3E}">
        <p14:creationId xmlns:p14="http://schemas.microsoft.com/office/powerpoint/2010/main" val="20223187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738664"/>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p:txBody>
      </p:sp>
      <p:pic>
        <p:nvPicPr>
          <p:cNvPr id="2050" name="Picture 2" descr="menu di Eclipse">
            <a:extLst>
              <a:ext uri="{FF2B5EF4-FFF2-40B4-BE49-F238E27FC236}">
                <a16:creationId xmlns:a16="http://schemas.microsoft.com/office/drawing/2014/main" id="{6A3DB57F-F09B-6ADB-7C3F-D1D33A5D34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017" y="1164979"/>
            <a:ext cx="5334000"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07031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1815882"/>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Area di lavoro: l'area di lavoro di Eclipse è l'area principale in cui gli sviluppatori possono creare e gestire i loro progetti. Qui è possibile visualizzare le cartelle del progetto, creare nuovi file, modificare i file esistenti e gestire le dipendenze.</a:t>
            </a:r>
          </a:p>
          <a:p>
            <a:pPr algn="l"/>
            <a:endParaRPr lang="it-IT" sz="1400" b="0" i="0" dirty="0">
              <a:solidFill>
                <a:srgbClr val="050E17"/>
              </a:solidFill>
              <a:effectLst/>
              <a:latin typeface="-apple-system"/>
            </a:endParaRPr>
          </a:p>
        </p:txBody>
      </p:sp>
      <p:pic>
        <p:nvPicPr>
          <p:cNvPr id="3074" name="Picture 2" descr="workspace di Eclipse (Area di lavoro)">
            <a:extLst>
              <a:ext uri="{FF2B5EF4-FFF2-40B4-BE49-F238E27FC236}">
                <a16:creationId xmlns:a16="http://schemas.microsoft.com/office/drawing/2014/main" id="{4DD483A2-52A8-57D8-6A5E-A73ABFB766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6656" y="1412121"/>
            <a:ext cx="4969033" cy="3379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6577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2677656"/>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Area di lavoro: l'area di lavoro di Eclipse è l'area principale in cui gli sviluppatori possono creare e gestire i loro progetti. Qui è possibile visualizzare le cartelle del progetto, creare nuovi file, modificare i file esistenti e gestire le dipendenze.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Editor di codice: l'editor di codice di Eclipse è un'area in cui gli sviluppatori possono scrivere e modificare il codice Java. L'editor di codice offre funzionalità come l'evidenziazione della sintassi, l'</a:t>
            </a:r>
            <a:r>
              <a:rPr lang="it-IT" sz="1400" b="0" i="0" dirty="0" err="1">
                <a:solidFill>
                  <a:srgbClr val="050E17"/>
                </a:solidFill>
                <a:effectLst/>
                <a:latin typeface="-apple-system"/>
              </a:rPr>
              <a:t>autocompletamento</a:t>
            </a:r>
            <a:r>
              <a:rPr lang="it-IT" sz="1400" b="0" i="0" dirty="0">
                <a:solidFill>
                  <a:srgbClr val="050E17"/>
                </a:solidFill>
                <a:effectLst/>
                <a:latin typeface="-apple-system"/>
              </a:rPr>
              <a:t> del codice e la ricerca e il rimpiazzo.</a:t>
            </a:r>
          </a:p>
        </p:txBody>
      </p:sp>
      <p:pic>
        <p:nvPicPr>
          <p:cNvPr id="4098" name="Picture 2" descr="Eclipse (informatica) - Wikipedia">
            <a:extLst>
              <a:ext uri="{FF2B5EF4-FFF2-40B4-BE49-F238E27FC236}">
                <a16:creationId xmlns:a16="http://schemas.microsoft.com/office/drawing/2014/main" id="{7F1D047E-59C3-77B3-D150-8BAB17F570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6896" y="1266577"/>
            <a:ext cx="5317178" cy="2831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281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353943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Area di lavoro: l'area di lavoro di Eclipse è l'area principale in cui gli sviluppatori possono creare e gestire i loro progetti. Qui è possibile visualizzare le cartelle del progetto, creare nuovi file, modificare i file esistenti e gestire le dipendenze.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Editor di codice: l'editor di codice di Eclipse è un'area in cui gli sviluppatori possono scrivere e modificare il codice Java. L'editor di codice offre funzionalità come l'evidenziazione della sintassi, l'</a:t>
            </a:r>
            <a:r>
              <a:rPr lang="it-IT" sz="1400" b="0" i="0" dirty="0" err="1">
                <a:solidFill>
                  <a:srgbClr val="050E17"/>
                </a:solidFill>
                <a:effectLst/>
                <a:latin typeface="-apple-system"/>
              </a:rPr>
              <a:t>autocompletamento</a:t>
            </a:r>
            <a:r>
              <a:rPr lang="it-IT" sz="1400" b="0" i="0" dirty="0">
                <a:solidFill>
                  <a:srgbClr val="050E17"/>
                </a:solidFill>
                <a:effectLst/>
                <a:latin typeface="-apple-system"/>
              </a:rPr>
              <a:t> del codice e la ricerca e il rimpiazzo.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Visualizzatore di console: il visualizzatore di console di Eclipse è un'area in cui gli sviluppatori possono visualizzare i messaggi del sistema, i messaggi di debugging e gli errori.</a:t>
            </a:r>
          </a:p>
        </p:txBody>
      </p:sp>
      <p:pic>
        <p:nvPicPr>
          <p:cNvPr id="5122" name="Picture 2" descr="How do I open a Windows Command Prompt in my console? - Web Tutorials -  avajava.com">
            <a:extLst>
              <a:ext uri="{FF2B5EF4-FFF2-40B4-BE49-F238E27FC236}">
                <a16:creationId xmlns:a16="http://schemas.microsoft.com/office/drawing/2014/main" id="{7A334671-885B-F610-F5BA-7A1667DD8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5076" y="4082945"/>
            <a:ext cx="6097978" cy="2507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2548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4401205"/>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Area di lavoro: l'area di lavoro di Eclipse è l'area principale in cui gli sviluppatori possono creare e gestire i loro progetti. Qui è possibile visualizzare le cartelle del progetto, creare nuovi file, modificare i file esistenti e gestire le dipendenze.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Editor di codice: l'editor di codice di Eclipse è un'area in cui gli sviluppatori possono scrivere e modificare il codice Java. L'editor di codice offre funzionalità come l'evidenziazione della sintassi, l'</a:t>
            </a:r>
            <a:r>
              <a:rPr lang="it-IT" sz="1400" b="0" i="0" dirty="0" err="1">
                <a:solidFill>
                  <a:srgbClr val="050E17"/>
                </a:solidFill>
                <a:effectLst/>
                <a:latin typeface="-apple-system"/>
              </a:rPr>
              <a:t>autocompletamento</a:t>
            </a:r>
            <a:r>
              <a:rPr lang="it-IT" sz="1400" b="0" i="0" dirty="0">
                <a:solidFill>
                  <a:srgbClr val="050E17"/>
                </a:solidFill>
                <a:effectLst/>
                <a:latin typeface="-apple-system"/>
              </a:rPr>
              <a:t> del codice e la ricerca e il rimpiazzo.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Visualizzatore di console: il visualizzatore di console di Eclipse è un'area in cui gli sviluppatori possono visualizzare i messaggi del sistema, i messaggi di debugging e gli errori.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Visualizzatore di problemi: il visualizzatore di problemi di Eclipse è un'area in cui gli sviluppatori possono visualizzare gli errori e gli avvisi che si verificano durante la compilazione del codice.</a:t>
            </a:r>
          </a:p>
        </p:txBody>
      </p:sp>
      <p:pic>
        <p:nvPicPr>
          <p:cNvPr id="6146" name="Picture 2" descr="Problems view">
            <a:extLst>
              <a:ext uri="{FF2B5EF4-FFF2-40B4-BE49-F238E27FC236}">
                <a16:creationId xmlns:a16="http://schemas.microsoft.com/office/drawing/2014/main" id="{24BF652A-C72B-F4C6-81DF-76BEC09E66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1828" y="862012"/>
            <a:ext cx="6696075"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68323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282039" y="795647"/>
            <a:ext cx="6097978" cy="5478423"/>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Barra dei menu: la barra dei menu di Eclipse contiene comandi per eseguire azioni come la creazione di un nuovo progetto, l'apertura di un file, la compilazione del codice e il debugging.</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Area di lavoro: l'area di lavoro di Eclipse è l'area principale in cui gli sviluppatori possono creare e gestire i loro progetti. Qui è possibile visualizzare le cartelle del progetto, creare nuovi file, modificare i file esistenti e gestire le dipendenze.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Editor di codice: l'editor di codice di Eclipse è un'area in cui gli sviluppatori possono scrivere e modificare il codice Java. L'editor di codice offre funzionalità come l'evidenziazione della sintassi, l'</a:t>
            </a:r>
            <a:r>
              <a:rPr lang="it-IT" sz="1400" b="0" i="0" dirty="0" err="1">
                <a:solidFill>
                  <a:srgbClr val="050E17"/>
                </a:solidFill>
                <a:effectLst/>
                <a:latin typeface="-apple-system"/>
              </a:rPr>
              <a:t>autocompletamento</a:t>
            </a:r>
            <a:r>
              <a:rPr lang="it-IT" sz="1400" b="0" i="0" dirty="0">
                <a:solidFill>
                  <a:srgbClr val="050E17"/>
                </a:solidFill>
                <a:effectLst/>
                <a:latin typeface="-apple-system"/>
              </a:rPr>
              <a:t> del codice e la ricerca e il rimpiazzo.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Visualizzatore di console: il visualizzatore di console di Eclipse è un'area in cui gli sviluppatori possono visualizzare i messaggi del sistema, i messaggi di debugging e gli errori.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Visualizzatore di problemi: il visualizzatore di problemi di Eclipse è un'area in cui gli sviluppatori possono visualizzare gli errori e gli avvisi che si verificano durante la compilazione del codice.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err="1">
                <a:solidFill>
                  <a:srgbClr val="050E17"/>
                </a:solidFill>
                <a:effectLst/>
                <a:latin typeface="-apple-system"/>
              </a:rPr>
              <a:t>Launcher</a:t>
            </a:r>
            <a:r>
              <a:rPr lang="it-IT" sz="1400" b="0" i="0" dirty="0">
                <a:solidFill>
                  <a:srgbClr val="050E17"/>
                </a:solidFill>
                <a:effectLst/>
                <a:latin typeface="-apple-system"/>
              </a:rPr>
              <a:t>: il </a:t>
            </a:r>
            <a:r>
              <a:rPr lang="it-IT" sz="1400" b="0" i="0" dirty="0" err="1">
                <a:solidFill>
                  <a:srgbClr val="050E17"/>
                </a:solidFill>
                <a:effectLst/>
                <a:latin typeface="-apple-system"/>
              </a:rPr>
              <a:t>launcher</a:t>
            </a:r>
            <a:r>
              <a:rPr lang="it-IT" sz="1400" b="0" i="0" dirty="0">
                <a:solidFill>
                  <a:srgbClr val="050E17"/>
                </a:solidFill>
                <a:effectLst/>
                <a:latin typeface="-apple-system"/>
              </a:rPr>
              <a:t> di Eclipse consente agli sviluppatori di eseguire le loro applicazioni Java all'interno di Eclipse. Il </a:t>
            </a:r>
            <a:r>
              <a:rPr lang="it-IT" sz="1400" b="0" i="0" dirty="0" err="1">
                <a:solidFill>
                  <a:srgbClr val="050E17"/>
                </a:solidFill>
                <a:effectLst/>
                <a:latin typeface="-apple-system"/>
              </a:rPr>
              <a:t>launcher</a:t>
            </a:r>
            <a:r>
              <a:rPr lang="it-IT" sz="1400" b="0" i="0" dirty="0">
                <a:solidFill>
                  <a:srgbClr val="050E17"/>
                </a:solidFill>
                <a:effectLst/>
                <a:latin typeface="-apple-system"/>
              </a:rPr>
              <a:t> offre funzionalità come la configurazione degli argomenti della riga di comando e la selezione della classe principale.</a:t>
            </a:r>
          </a:p>
        </p:txBody>
      </p:sp>
      <p:pic>
        <p:nvPicPr>
          <p:cNvPr id="7172" name="Picture 4" descr="How to pass arguments when running a Java program in Eclipse">
            <a:extLst>
              <a:ext uri="{FF2B5EF4-FFF2-40B4-BE49-F238E27FC236}">
                <a16:creationId xmlns:a16="http://schemas.microsoft.com/office/drawing/2014/main" id="{A060260D-6CB2-BDC7-89B5-282B7A246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9336" y="1597046"/>
            <a:ext cx="5000625"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5564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L'interfaccia di Eclipse per Java</a:t>
            </a:r>
          </a:p>
        </p:txBody>
      </p:sp>
      <p:sp>
        <p:nvSpPr>
          <p:cNvPr id="5" name="CasellaDiTesto 4">
            <a:extLst>
              <a:ext uri="{FF2B5EF4-FFF2-40B4-BE49-F238E27FC236}">
                <a16:creationId xmlns:a16="http://schemas.microsoft.com/office/drawing/2014/main" id="{129FEE92-30A3-392A-226E-8F3CCF7598CD}"/>
              </a:ext>
            </a:extLst>
          </p:cNvPr>
          <p:cNvSpPr txBox="1"/>
          <p:nvPr/>
        </p:nvSpPr>
        <p:spPr>
          <a:xfrm>
            <a:off x="3047011" y="2274838"/>
            <a:ext cx="6097978" cy="1477328"/>
          </a:xfrm>
          <a:prstGeom prst="rect">
            <a:avLst/>
          </a:prstGeom>
          <a:noFill/>
        </p:spPr>
        <p:txBody>
          <a:bodyPr wrap="square">
            <a:spAutoFit/>
          </a:bodyPr>
          <a:lstStyle/>
          <a:p>
            <a:pPr algn="l"/>
            <a:r>
              <a:rPr lang="it-IT" b="0" i="0" dirty="0">
                <a:solidFill>
                  <a:srgbClr val="050E17"/>
                </a:solidFill>
                <a:effectLst/>
                <a:latin typeface="-apple-system"/>
              </a:rPr>
              <a:t>Questi sono solo alcuni dei principali componenti dell'interfaccia di Eclipse per Java. Ci sono anche molte altre funzionalità e strumenti disponibili in Eclipse che consentono agli sviluppatori di scrivere, testare e debuggare le loro applicazioni Java in modo efficace.</a:t>
            </a:r>
          </a:p>
        </p:txBody>
      </p:sp>
    </p:spTree>
    <p:extLst>
      <p:ext uri="{BB962C8B-B14F-4D97-AF65-F5344CB8AC3E}">
        <p14:creationId xmlns:p14="http://schemas.microsoft.com/office/powerpoint/2010/main" val="3192720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a:extLst>
              <a:ext uri="{FF2B5EF4-FFF2-40B4-BE49-F238E27FC236}">
                <a16:creationId xmlns:a16="http://schemas.microsoft.com/office/drawing/2014/main" id="{1A212217-9D4F-4A22-037D-B2963AD47E4E}"/>
              </a:ext>
            </a:extLst>
          </p:cNvPr>
          <p:cNvSpPr txBox="1"/>
          <p:nvPr/>
        </p:nvSpPr>
        <p:spPr>
          <a:xfrm>
            <a:off x="282039" y="467234"/>
            <a:ext cx="3280558" cy="366895"/>
          </a:xfrm>
          <a:prstGeom prst="rect">
            <a:avLst/>
          </a:prstGeom>
          <a:solidFill>
            <a:schemeClr val="accent2">
              <a:lumMod val="40000"/>
              <a:lumOff val="60000"/>
            </a:schemeClr>
          </a:solidFill>
        </p:spPr>
        <p:txBody>
          <a:bodyPr wrap="square">
            <a:spAutoFit/>
          </a:bodyPr>
          <a:lstStyle/>
          <a:p>
            <a:pPr lvl="0">
              <a:lnSpc>
                <a:spcPct val="107000"/>
              </a:lnSpc>
              <a:spcAft>
                <a:spcPts val="800"/>
              </a:spcAft>
              <a:buSzPts val="1000"/>
              <a:tabLst>
                <a:tab pos="678180" algn="l"/>
              </a:tabLst>
            </a:pPr>
            <a:r>
              <a:rPr lang="it-IT" kern="0" dirty="0">
                <a:solidFill>
                  <a:srgbClr val="374151"/>
                </a:solidFill>
                <a:latin typeface="Segoe UI" panose="020B0502040204020203" pitchFamily="34" charset="0"/>
                <a:ea typeface="Times New Roman" panose="02020603050405020304" pitchFamily="18" charset="0"/>
                <a:cs typeface="Times New Roman" panose="02020603050405020304" pitchFamily="18" charset="0"/>
              </a:rPr>
              <a:t>Creazione di una applicazione</a:t>
            </a:r>
            <a:endParaRPr lang="it-IT"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endParaRPr>
          </a:p>
        </p:txBody>
      </p:sp>
      <p:sp>
        <p:nvSpPr>
          <p:cNvPr id="15" name="CasellaDiTesto 14">
            <a:extLst>
              <a:ext uri="{FF2B5EF4-FFF2-40B4-BE49-F238E27FC236}">
                <a16:creationId xmlns:a16="http://schemas.microsoft.com/office/drawing/2014/main" id="{9A0A3C28-9442-27C8-6F76-AF6B37045AB5}"/>
              </a:ext>
            </a:extLst>
          </p:cNvPr>
          <p:cNvSpPr txBox="1"/>
          <p:nvPr/>
        </p:nvSpPr>
        <p:spPr>
          <a:xfrm>
            <a:off x="3902735" y="373682"/>
            <a:ext cx="7164956" cy="553998"/>
          </a:xfrm>
          <a:prstGeom prst="rect">
            <a:avLst/>
          </a:prstGeom>
          <a:noFill/>
        </p:spPr>
        <p:txBody>
          <a:bodyPr wrap="square">
            <a:spAutoFit/>
          </a:bodyPr>
          <a:lstStyle/>
          <a:p>
            <a:r>
              <a:rPr lang="it-IT" sz="3000" dirty="0"/>
              <a:t>Iniziamo</a:t>
            </a:r>
          </a:p>
        </p:txBody>
      </p:sp>
      <p:pic>
        <p:nvPicPr>
          <p:cNvPr id="3" name="Picture 2" descr="Java Logo, symbol, meaning, history, PNG, brand">
            <a:extLst>
              <a:ext uri="{FF2B5EF4-FFF2-40B4-BE49-F238E27FC236}">
                <a16:creationId xmlns:a16="http://schemas.microsoft.com/office/drawing/2014/main" id="{D46019AA-70FE-F8F5-93CF-35CACE4F4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2597" y="1464293"/>
            <a:ext cx="4693388" cy="2628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7980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Tree>
    <p:extLst>
      <p:ext uri="{BB962C8B-B14F-4D97-AF65-F5344CB8AC3E}">
        <p14:creationId xmlns:p14="http://schemas.microsoft.com/office/powerpoint/2010/main" val="6119081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30777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p:txBody>
      </p:sp>
    </p:spTree>
    <p:extLst>
      <p:ext uri="{BB962C8B-B14F-4D97-AF65-F5344CB8AC3E}">
        <p14:creationId xmlns:p14="http://schemas.microsoft.com/office/powerpoint/2010/main" val="42135754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95410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p:txBody>
      </p:sp>
    </p:spTree>
    <p:extLst>
      <p:ext uri="{BB962C8B-B14F-4D97-AF65-F5344CB8AC3E}">
        <p14:creationId xmlns:p14="http://schemas.microsoft.com/office/powerpoint/2010/main" val="24252162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1600438"/>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p:txBody>
      </p:sp>
    </p:spTree>
    <p:extLst>
      <p:ext uri="{BB962C8B-B14F-4D97-AF65-F5344CB8AC3E}">
        <p14:creationId xmlns:p14="http://schemas.microsoft.com/office/powerpoint/2010/main" val="27101290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2031325"/>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p:txBody>
      </p:sp>
    </p:spTree>
    <p:extLst>
      <p:ext uri="{BB962C8B-B14F-4D97-AF65-F5344CB8AC3E}">
        <p14:creationId xmlns:p14="http://schemas.microsoft.com/office/powerpoint/2010/main" val="3035434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289310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r>
              <a:rPr lang="it-IT" sz="1400" dirty="0">
                <a:solidFill>
                  <a:srgbClr val="050E17"/>
                </a:solidFill>
                <a:latin typeface="-apple-system"/>
              </a:rPr>
              <a:t>.</a:t>
            </a:r>
            <a:endParaRPr lang="it-IT" sz="1400" b="0" i="0" dirty="0">
              <a:solidFill>
                <a:srgbClr val="050E17"/>
              </a:solidFill>
              <a:effectLst/>
              <a:latin typeface="-apple-system"/>
            </a:endParaRPr>
          </a:p>
        </p:txBody>
      </p:sp>
    </p:spTree>
    <p:extLst>
      <p:ext uri="{BB962C8B-B14F-4D97-AF65-F5344CB8AC3E}">
        <p14:creationId xmlns:p14="http://schemas.microsoft.com/office/powerpoint/2010/main" val="40569823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332398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p:txBody>
      </p:sp>
    </p:spTree>
    <p:extLst>
      <p:ext uri="{BB962C8B-B14F-4D97-AF65-F5344CB8AC3E}">
        <p14:creationId xmlns:p14="http://schemas.microsoft.com/office/powerpoint/2010/main" val="27726303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3754874"/>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cartella in cui salvare il tuo nuovo progetto Java.</a:t>
            </a:r>
          </a:p>
        </p:txBody>
      </p:sp>
    </p:spTree>
    <p:extLst>
      <p:ext uri="{BB962C8B-B14F-4D97-AF65-F5344CB8AC3E}">
        <p14:creationId xmlns:p14="http://schemas.microsoft.com/office/powerpoint/2010/main" val="5315471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4185761"/>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cartella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Eclipse.</a:t>
            </a:r>
          </a:p>
        </p:txBody>
      </p:sp>
    </p:spTree>
    <p:extLst>
      <p:ext uri="{BB962C8B-B14F-4D97-AF65-F5344CB8AC3E}">
        <p14:creationId xmlns:p14="http://schemas.microsoft.com/office/powerpoint/2010/main" val="2135960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5047536"/>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cartella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Eclipse. Espandi la cartella del progetto per vedere la struttura del progetto, inclusi i pacchetti e i file di codice sorgente.</a:t>
            </a:r>
          </a:p>
        </p:txBody>
      </p:sp>
    </p:spTree>
    <p:extLst>
      <p:ext uri="{BB962C8B-B14F-4D97-AF65-F5344CB8AC3E}">
        <p14:creationId xmlns:p14="http://schemas.microsoft.com/office/powerpoint/2010/main" val="24761230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369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ECLIPSE</a:t>
            </a:r>
          </a:p>
        </p:txBody>
      </p:sp>
      <p:sp>
        <p:nvSpPr>
          <p:cNvPr id="5" name="CasellaDiTesto 4">
            <a:extLst>
              <a:ext uri="{FF2B5EF4-FFF2-40B4-BE49-F238E27FC236}">
                <a16:creationId xmlns:a16="http://schemas.microsoft.com/office/drawing/2014/main" id="{01853EBF-6C26-3B6F-894C-85850140F0B5}"/>
              </a:ext>
            </a:extLst>
          </p:cNvPr>
          <p:cNvSpPr txBox="1"/>
          <p:nvPr/>
        </p:nvSpPr>
        <p:spPr>
          <a:xfrm>
            <a:off x="4426528" y="608801"/>
            <a:ext cx="6097978" cy="590931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"Java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versione di Java dal menu a discesa "Java 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configurazione del progetto dal menu a discesa "Project layout". La configurazione predefinita è "Java", ma puoi scegliere altre configurazioni se lo desideri.</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cartella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Eclipse.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Eclipse. Espandi la cartella del progetto per vedere la struttura del progetto, inclusi i pacchetti e i file di codice sorgente.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Per iniziare a scrivere il codice del tuo progetto Java, fai clic con il pulsante destro del mouse sulla cartella del pacchetto all'interno del tuo progetto e seleziona "New" -&gt; "Class". Inserisci il nome della classe e fai clic su "Finish".</a:t>
            </a:r>
          </a:p>
        </p:txBody>
      </p:sp>
    </p:spTree>
    <p:extLst>
      <p:ext uri="{BB962C8B-B14F-4D97-AF65-F5344CB8AC3E}">
        <p14:creationId xmlns:p14="http://schemas.microsoft.com/office/powerpoint/2010/main" val="20647601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30777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p:txBody>
      </p:sp>
    </p:spTree>
    <p:extLst>
      <p:ext uri="{BB962C8B-B14F-4D97-AF65-F5344CB8AC3E}">
        <p14:creationId xmlns:p14="http://schemas.microsoft.com/office/powerpoint/2010/main" val="25314075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95410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p:txBody>
      </p:sp>
    </p:spTree>
    <p:extLst>
      <p:ext uri="{BB962C8B-B14F-4D97-AF65-F5344CB8AC3E}">
        <p14:creationId xmlns:p14="http://schemas.microsoft.com/office/powerpoint/2010/main" val="341071818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2246769"/>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p:txBody>
      </p:sp>
    </p:spTree>
    <p:extLst>
      <p:ext uri="{BB962C8B-B14F-4D97-AF65-F5344CB8AC3E}">
        <p14:creationId xmlns:p14="http://schemas.microsoft.com/office/powerpoint/2010/main" val="231788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2677656"/>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p:txBody>
      </p:sp>
    </p:spTree>
    <p:extLst>
      <p:ext uri="{BB962C8B-B14F-4D97-AF65-F5344CB8AC3E}">
        <p14:creationId xmlns:p14="http://schemas.microsoft.com/office/powerpoint/2010/main" val="19733078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3108543"/>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p:txBody>
      </p:sp>
    </p:spTree>
    <p:extLst>
      <p:ext uri="{BB962C8B-B14F-4D97-AF65-F5344CB8AC3E}">
        <p14:creationId xmlns:p14="http://schemas.microsoft.com/office/powerpoint/2010/main" val="14333649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353943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p:txBody>
      </p:sp>
    </p:spTree>
    <p:extLst>
      <p:ext uri="{BB962C8B-B14F-4D97-AF65-F5344CB8AC3E}">
        <p14:creationId xmlns:p14="http://schemas.microsoft.com/office/powerpoint/2010/main" val="41828854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4185761"/>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IntelliJ IDEA.</a:t>
            </a:r>
          </a:p>
        </p:txBody>
      </p:sp>
    </p:spTree>
    <p:extLst>
      <p:ext uri="{BB962C8B-B14F-4D97-AF65-F5344CB8AC3E}">
        <p14:creationId xmlns:p14="http://schemas.microsoft.com/office/powerpoint/2010/main" val="27812554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5047536"/>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IntelliJ IDEA. Espandi la cartella del progetto per vedere la struttura del progetto, inclusi i pacchetti e i file di codice sorgente.</a:t>
            </a:r>
          </a:p>
        </p:txBody>
      </p:sp>
    </p:spTree>
    <p:extLst>
      <p:ext uri="{BB962C8B-B14F-4D97-AF65-F5344CB8AC3E}">
        <p14:creationId xmlns:p14="http://schemas.microsoft.com/office/powerpoint/2010/main" val="29579664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IntelliJ IDEA</a:t>
            </a:r>
          </a:p>
        </p:txBody>
      </p:sp>
      <p:sp>
        <p:nvSpPr>
          <p:cNvPr id="10" name="CasellaDiTesto 9">
            <a:extLst>
              <a:ext uri="{FF2B5EF4-FFF2-40B4-BE49-F238E27FC236}">
                <a16:creationId xmlns:a16="http://schemas.microsoft.com/office/drawing/2014/main" id="{9E8C1743-FEDC-D147-EF10-95F25D39AD9E}"/>
              </a:ext>
            </a:extLst>
          </p:cNvPr>
          <p:cNvSpPr txBox="1"/>
          <p:nvPr/>
        </p:nvSpPr>
        <p:spPr>
          <a:xfrm>
            <a:off x="3989259" y="608801"/>
            <a:ext cx="6097978" cy="590931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-&gt;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la versione di Java che desideri utilizzare per il tuo progetto.</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il tipo di progetto che desideri creare. Ad esempio, puoi selezionare "Java" per un progetto Java standard o "</a:t>
            </a:r>
            <a:r>
              <a:rPr lang="it-IT" sz="1400" b="0" i="0" dirty="0" err="1">
                <a:solidFill>
                  <a:srgbClr val="050E17"/>
                </a:solidFill>
                <a:effectLst/>
                <a:latin typeface="-apple-system"/>
              </a:rPr>
              <a:t>Maven</a:t>
            </a:r>
            <a:r>
              <a:rPr lang="it-IT" sz="1400" b="0" i="0" dirty="0">
                <a:solidFill>
                  <a:srgbClr val="050E17"/>
                </a:solidFill>
                <a:effectLst/>
                <a:latin typeface="-apple-system"/>
              </a:rPr>
              <a:t>" per un progetto </a:t>
            </a:r>
            <a:r>
              <a:rPr lang="it-IT" sz="1400" b="0" i="0" dirty="0" err="1">
                <a:solidFill>
                  <a:srgbClr val="050E17"/>
                </a:solidFill>
                <a:effectLst/>
                <a:latin typeface="-apple-system"/>
              </a:rPr>
              <a:t>Maven</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"Next" per continuare.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IntelliJ IDEA.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IntelliJ IDEA. Espandi la cartella del progetto per vedere la struttura del progetto, inclusi i pacchetti e i file di codice sorgente.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Per iniziare a scrivere il codice del tuo progetto Java, fai clic con il pulsante destro del mouse sulla cartella del pacchetto all'interno del tuo progetto e seleziona "New" -&gt; "Java Class". Inserisci il nome della classe e fai clic su "OK".</a:t>
            </a:r>
          </a:p>
        </p:txBody>
      </p:sp>
    </p:spTree>
    <p:extLst>
      <p:ext uri="{BB962C8B-B14F-4D97-AF65-F5344CB8AC3E}">
        <p14:creationId xmlns:p14="http://schemas.microsoft.com/office/powerpoint/2010/main" val="3257613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30777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p:txBody>
      </p:sp>
    </p:spTree>
    <p:extLst>
      <p:ext uri="{BB962C8B-B14F-4D97-AF65-F5344CB8AC3E}">
        <p14:creationId xmlns:p14="http://schemas.microsoft.com/office/powerpoint/2010/main" val="90457324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95410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p:txBody>
      </p:sp>
    </p:spTree>
    <p:extLst>
      <p:ext uri="{BB962C8B-B14F-4D97-AF65-F5344CB8AC3E}">
        <p14:creationId xmlns:p14="http://schemas.microsoft.com/office/powerpoint/2010/main" val="15106691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2031325"/>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p:txBody>
      </p:sp>
    </p:spTree>
    <p:extLst>
      <p:ext uri="{BB962C8B-B14F-4D97-AF65-F5344CB8AC3E}">
        <p14:creationId xmlns:p14="http://schemas.microsoft.com/office/powerpoint/2010/main" val="25778351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2462213"/>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p:txBody>
      </p:sp>
    </p:spTree>
    <p:extLst>
      <p:ext uri="{BB962C8B-B14F-4D97-AF65-F5344CB8AC3E}">
        <p14:creationId xmlns:p14="http://schemas.microsoft.com/office/powerpoint/2010/main" val="288055869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2893100"/>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p:txBody>
      </p:sp>
    </p:spTree>
    <p:extLst>
      <p:ext uri="{BB962C8B-B14F-4D97-AF65-F5344CB8AC3E}">
        <p14:creationId xmlns:p14="http://schemas.microsoft.com/office/powerpoint/2010/main" val="19410519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3323987"/>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p:txBody>
      </p:sp>
    </p:spTree>
    <p:extLst>
      <p:ext uri="{BB962C8B-B14F-4D97-AF65-F5344CB8AC3E}">
        <p14:creationId xmlns:p14="http://schemas.microsoft.com/office/powerpoint/2010/main" val="337083646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4185761"/>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a:t>
            </a:r>
            <a:r>
              <a:rPr lang="it-IT" sz="1400" b="0" i="0" dirty="0" err="1">
                <a:solidFill>
                  <a:srgbClr val="050E17"/>
                </a:solidFill>
                <a:effectLst/>
                <a:latin typeface="-apple-system"/>
              </a:rPr>
              <a:t>NetBeans</a:t>
            </a:r>
            <a:r>
              <a:rPr lang="it-IT" sz="1400" b="0" i="0" dirty="0">
                <a:solidFill>
                  <a:srgbClr val="050E17"/>
                </a:solidFill>
                <a:effectLst/>
                <a:latin typeface="-apple-system"/>
              </a:rPr>
              <a:t>. Espandi la cartella del progetto per vedere la struttura del progetto, inclusi i pacchetti e i file di codice sorgente.</a:t>
            </a:r>
          </a:p>
        </p:txBody>
      </p:sp>
    </p:spTree>
    <p:extLst>
      <p:ext uri="{BB962C8B-B14F-4D97-AF65-F5344CB8AC3E}">
        <p14:creationId xmlns:p14="http://schemas.microsoft.com/office/powerpoint/2010/main" val="215634748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NETBEANS</a:t>
            </a:r>
          </a:p>
        </p:txBody>
      </p:sp>
      <p:sp>
        <p:nvSpPr>
          <p:cNvPr id="5" name="CasellaDiTesto 4">
            <a:extLst>
              <a:ext uri="{FF2B5EF4-FFF2-40B4-BE49-F238E27FC236}">
                <a16:creationId xmlns:a16="http://schemas.microsoft.com/office/drawing/2014/main" id="{EECE513E-F573-3C98-9AA9-B19533ACCECE}"/>
              </a:ext>
            </a:extLst>
          </p:cNvPr>
          <p:cNvSpPr txBox="1"/>
          <p:nvPr/>
        </p:nvSpPr>
        <p:spPr>
          <a:xfrm>
            <a:off x="3785259" y="983423"/>
            <a:ext cx="6097978" cy="5047536"/>
          </a:xfrm>
          <a:prstGeom prst="rect">
            <a:avLst/>
          </a:prstGeom>
          <a:noFill/>
        </p:spPr>
        <p:txBody>
          <a:bodyPr wrap="square">
            <a:spAutoFit/>
          </a:bodyPr>
          <a:lstStyle/>
          <a:p>
            <a:pPr algn="l">
              <a:buFont typeface="+mj-lt"/>
              <a:buAutoNum type="arabicPeriod"/>
            </a:pPr>
            <a:r>
              <a:rPr lang="it-IT" sz="1400" b="0" i="0" dirty="0">
                <a:solidFill>
                  <a:srgbClr val="050E17"/>
                </a:solidFill>
                <a:effectLst/>
                <a:latin typeface="-apple-system"/>
              </a:rPr>
              <a:t>Apri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"File" -&gt; "New Project" dalla barra dei menu. Si aprirà una finestra di dialogo per la creazione di un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Nella finestra di dialogo, seleziona "Java" nella sezione a sinistra e quindi seleziona il tipo di progetto che desideri creare. Ad esempio, puoi selezionare "Java Application" per un'applicazione Java standard o "Java Class Library" per una libreria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Inserisci il nome del tuo nuovo progetto Java nel campo "Project Name".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Seleziona una directory in cui salvare il tuo nuovo progetto Java.</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Fai clic sul pulsante "Finish" per creare il tuo nuovo progetto Java in </a:t>
            </a:r>
            <a:r>
              <a:rPr lang="it-IT" sz="1400" b="0" i="0" dirty="0" err="1">
                <a:solidFill>
                  <a:srgbClr val="050E17"/>
                </a:solidFill>
                <a:effectLst/>
                <a:latin typeface="-apple-system"/>
              </a:rPr>
              <a:t>NetBeans</a:t>
            </a:r>
            <a:r>
              <a:rPr lang="it-IT" sz="1400" b="0" i="0" dirty="0">
                <a:solidFill>
                  <a:srgbClr val="050E17"/>
                </a:solidFill>
                <a:effectLst/>
                <a:latin typeface="-apple-system"/>
              </a:rPr>
              <a:t>.</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Il tuo nuovo progetto Java verrà visualizzato nell'area di lavoro di </a:t>
            </a:r>
            <a:r>
              <a:rPr lang="it-IT" sz="1400" b="0" i="0" dirty="0" err="1">
                <a:solidFill>
                  <a:srgbClr val="050E17"/>
                </a:solidFill>
                <a:effectLst/>
                <a:latin typeface="-apple-system"/>
              </a:rPr>
              <a:t>NetBeans</a:t>
            </a:r>
            <a:r>
              <a:rPr lang="it-IT" sz="1400" b="0" i="0" dirty="0">
                <a:solidFill>
                  <a:srgbClr val="050E17"/>
                </a:solidFill>
                <a:effectLst/>
                <a:latin typeface="-apple-system"/>
              </a:rPr>
              <a:t>. Espandi la cartella del progetto per vedere la struttura del progetto, inclusi i pacchetti e i file di codice sorgente.</a:t>
            </a:r>
          </a:p>
          <a:p>
            <a:pPr algn="l">
              <a:buFont typeface="+mj-lt"/>
              <a:buAutoNum type="arabicPeriod"/>
            </a:pPr>
            <a:endParaRPr lang="it-IT" sz="1400" b="0" i="0" dirty="0">
              <a:solidFill>
                <a:srgbClr val="050E17"/>
              </a:solidFill>
              <a:effectLst/>
              <a:latin typeface="-apple-system"/>
            </a:endParaRPr>
          </a:p>
          <a:p>
            <a:pPr algn="l">
              <a:buFont typeface="+mj-lt"/>
              <a:buAutoNum type="arabicPeriod"/>
            </a:pPr>
            <a:r>
              <a:rPr lang="it-IT" sz="1400" b="0" i="0" dirty="0">
                <a:solidFill>
                  <a:srgbClr val="050E17"/>
                </a:solidFill>
                <a:effectLst/>
                <a:latin typeface="-apple-system"/>
              </a:rPr>
              <a:t>Per iniziare a scrivere il codice del tuo progetto Java, fai clic con il pulsante destro del mouse sulla cartella del pacchetto all'interno del tuo progetto e seleziona "New" -&gt; "Java Class". Inserisci il nome della classe e fai clic su "Finish".</a:t>
            </a:r>
          </a:p>
        </p:txBody>
      </p:sp>
    </p:spTree>
    <p:extLst>
      <p:ext uri="{BB962C8B-B14F-4D97-AF65-F5344CB8AC3E}">
        <p14:creationId xmlns:p14="http://schemas.microsoft.com/office/powerpoint/2010/main" val="42123711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Senza MAVEN</a:t>
            </a:r>
          </a:p>
        </p:txBody>
      </p:sp>
    </p:spTree>
    <p:extLst>
      <p:ext uri="{BB962C8B-B14F-4D97-AF65-F5344CB8AC3E}">
        <p14:creationId xmlns:p14="http://schemas.microsoft.com/office/powerpoint/2010/main" val="24283466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Senza MAVEN</a:t>
            </a:r>
          </a:p>
        </p:txBody>
      </p:sp>
      <p:sp>
        <p:nvSpPr>
          <p:cNvPr id="8" name="CasellaDiTesto 7">
            <a:extLst>
              <a:ext uri="{FF2B5EF4-FFF2-40B4-BE49-F238E27FC236}">
                <a16:creationId xmlns:a16="http://schemas.microsoft.com/office/drawing/2014/main" id="{89B98D2E-E47E-52BF-4E1F-8FA4B86225F1}"/>
              </a:ext>
            </a:extLst>
          </p:cNvPr>
          <p:cNvSpPr txBox="1"/>
          <p:nvPr/>
        </p:nvSpPr>
        <p:spPr>
          <a:xfrm>
            <a:off x="3048990" y="2831805"/>
            <a:ext cx="6097978" cy="646331"/>
          </a:xfrm>
          <a:prstGeom prst="rect">
            <a:avLst/>
          </a:prstGeom>
          <a:noFill/>
        </p:spPr>
        <p:txBody>
          <a:bodyPr wrap="square">
            <a:spAutoFit/>
          </a:bodyPr>
          <a:lstStyle/>
          <a:p>
            <a:pPr algn="l">
              <a:buFont typeface="+mj-lt"/>
              <a:buAutoNum type="arabicPeriod"/>
            </a:pPr>
            <a:r>
              <a:rPr lang="it-IT" b="0" i="0" dirty="0">
                <a:solidFill>
                  <a:srgbClr val="050E17"/>
                </a:solidFill>
                <a:effectLst/>
                <a:latin typeface="-apple-system"/>
              </a:rPr>
              <a:t>Crea un nuovo file con estensione ".</a:t>
            </a:r>
            <a:r>
              <a:rPr lang="it-IT" dirty="0">
                <a:solidFill>
                  <a:srgbClr val="050E17"/>
                </a:solidFill>
                <a:latin typeface="-apple-system"/>
              </a:rPr>
              <a:t>Java" con nome equivalente al nome della classe-progetto che desideri</a:t>
            </a:r>
            <a:endParaRPr lang="it-IT" b="0" i="0" dirty="0">
              <a:solidFill>
                <a:srgbClr val="050E17"/>
              </a:solidFill>
              <a:effectLst/>
              <a:latin typeface="-apple-system"/>
            </a:endParaRPr>
          </a:p>
        </p:txBody>
      </p:sp>
    </p:spTree>
    <p:extLst>
      <p:ext uri="{BB962C8B-B14F-4D97-AF65-F5344CB8AC3E}">
        <p14:creationId xmlns:p14="http://schemas.microsoft.com/office/powerpoint/2010/main" val="22633383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Senza MAVEN</a:t>
            </a:r>
          </a:p>
        </p:txBody>
      </p:sp>
      <p:sp>
        <p:nvSpPr>
          <p:cNvPr id="8" name="CasellaDiTesto 7">
            <a:extLst>
              <a:ext uri="{FF2B5EF4-FFF2-40B4-BE49-F238E27FC236}">
                <a16:creationId xmlns:a16="http://schemas.microsoft.com/office/drawing/2014/main" id="{89B98D2E-E47E-52BF-4E1F-8FA4B86225F1}"/>
              </a:ext>
            </a:extLst>
          </p:cNvPr>
          <p:cNvSpPr txBox="1"/>
          <p:nvPr/>
        </p:nvSpPr>
        <p:spPr>
          <a:xfrm>
            <a:off x="3048990" y="2831805"/>
            <a:ext cx="6097978" cy="923330"/>
          </a:xfrm>
          <a:prstGeom prst="rect">
            <a:avLst/>
          </a:prstGeom>
          <a:noFill/>
        </p:spPr>
        <p:txBody>
          <a:bodyPr wrap="square">
            <a:spAutoFit/>
          </a:bodyPr>
          <a:lstStyle/>
          <a:p>
            <a:pPr algn="l">
              <a:buFont typeface="+mj-lt"/>
              <a:buAutoNum type="arabicPeriod"/>
            </a:pPr>
            <a:r>
              <a:rPr lang="it-IT" b="0" i="0" dirty="0">
                <a:solidFill>
                  <a:srgbClr val="050E17"/>
                </a:solidFill>
                <a:effectLst/>
                <a:latin typeface="-apple-system"/>
              </a:rPr>
              <a:t>Crea un nuovo file con estensione ".</a:t>
            </a:r>
            <a:r>
              <a:rPr lang="it-IT" dirty="0">
                <a:solidFill>
                  <a:srgbClr val="050E17"/>
                </a:solidFill>
                <a:latin typeface="-apple-system"/>
              </a:rPr>
              <a:t>Java" con nome equivalente al nome della classe-progetto che desideri</a:t>
            </a:r>
            <a:endParaRPr lang="it-IT" b="0" i="0" dirty="0">
              <a:solidFill>
                <a:srgbClr val="050E17"/>
              </a:solidFill>
              <a:effectLst/>
              <a:latin typeface="-apple-system"/>
            </a:endParaRPr>
          </a:p>
          <a:p>
            <a:pPr algn="l">
              <a:buFont typeface="+mj-lt"/>
              <a:buAutoNum type="arabicPeriod"/>
            </a:pPr>
            <a:r>
              <a:rPr lang="it-IT" b="0" i="0" dirty="0">
                <a:solidFill>
                  <a:srgbClr val="050E17"/>
                </a:solidFill>
                <a:effectLst/>
                <a:latin typeface="-apple-system"/>
              </a:rPr>
              <a:t>All’interno crea il codice necessario</a:t>
            </a:r>
          </a:p>
        </p:txBody>
      </p:sp>
    </p:spTree>
    <p:extLst>
      <p:ext uri="{BB962C8B-B14F-4D97-AF65-F5344CB8AC3E}">
        <p14:creationId xmlns:p14="http://schemas.microsoft.com/office/powerpoint/2010/main" val="283142523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Tree>
    <p:extLst>
      <p:ext uri="{BB962C8B-B14F-4D97-AF65-F5344CB8AC3E}">
        <p14:creationId xmlns:p14="http://schemas.microsoft.com/office/powerpoint/2010/main" val="25315774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248658"/>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8959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515910"/>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Visual Studio Code e seleziona l'icona "Extensions" sulla barra laterale sinistra.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2969833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1215076"/>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Visual Studio Code e seleziona l'icona "Extensions" sulla barra laterale sinistra.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Cerca e installa l'estensione "Java Extension Pack". Questa estensione include una serie di strumenti e funzioni per lo sviluppo di applicazioni Java in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l'installazione di "Java Extension Pack", riavvia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838366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1646989"/>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Visual Studio Code e seleziona l'icona "Extensions" sulla barra laterale sinistra.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Cerca e installa l'estensione "Java Extension Pack". Questa estensione include una serie di strumenti e funzioni per lo sviluppo di applicazioni Java in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l'installazione di "Java Extension Pack", riavvia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Seleziona "File" -&gt; "Open Folder" dalla barra dei menu. Seleziona una cartella in cui salvare il tuo nuovo progetto Java.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484008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2078902"/>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Visual Studio Code e seleziona l'icona "Extensions" sulla barra laterale sinistra.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Cerca e installa l'estensione "Java Extension Pack". Questa estensione include una serie di strumenti e funzioni per lo sviluppo di applicazioni Java in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l'installazione di "Java Extension Pack", riavvia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Seleziona "File" -&gt; "Open Folder" dalla barra dei menu. Seleziona una cartella in cui salvare il tuo nuovo progetto Java.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la finestra del terminale di Visual Studio Code selezionando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View</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 -&gt; "Terminal" dalla barra dei menu.</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2892545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3468585" y="1854748"/>
            <a:ext cx="6097978" cy="2078902"/>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Installa Visual Studio Code sul tuo computer, se non l'hai già fatto.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Visual Studio Code e seleziona l'icona "Extensions" sulla barra laterale sinistra.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Cerca e installa l'estensione "Java Extension Pack". Questa estensione include una serie di strumenti e funzioni per lo sviluppo di applicazioni Java in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l'installazione di "Java Extension Pack", riavvia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Seleziona "File" -&gt; "Open Folder" dalla barra dei menu. Seleziona una cartella in cui salvare il tuo nuovo progetto Java.</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Apri la finestra del terminale di Visual Studio Code selezionando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View</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 -&gt; "Terminal" dalla barra dei menu.</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442009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4367151" y="1576260"/>
            <a:ext cx="6097978" cy="1277144"/>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seguente comando nel terminale per creare una nuova applicazione Java utilizzando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mvn</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archetype:generate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DgroupId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com.mycompany.app</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=my-app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DarchetypeArtifactId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=maven-archetype-</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quickstart</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DinteractiveMode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Questo comando crea un nuovo progetto Java con un'architettura standard e una classe principale che stampa "Hello, world!" sulla console.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74570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4367151" y="1576260"/>
            <a:ext cx="6097978" cy="1277144"/>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seguente comando nel terminale per creare una nuova applicazione Java utilizzando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mvn</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archetype:generate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DgroupId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com.mycompany.app</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=my-app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DarchetypeArtifactId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=maven-archetype-</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quickstart</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DinteractiveMode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Questo comando crea un nuovo progetto Java con un'architettura standard e una classe principale che stampa "Hello, world!" sulla console.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6082175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4367151" y="1576260"/>
            <a:ext cx="6097978" cy="1709058"/>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seguente comando nel terminale per creare una nuova applicazione Java utilizzando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mvn</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archetype:generate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DgroupId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com.mycompany.app</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=my-app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DarchetypeArtifactId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=maven-archetype-</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quickstart</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DinteractiveMode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Questo comando crea un nuovo progetto Java con un'architettura standard e una classe principale che stampa "Hello, world!" sulla console.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aver completato il comando, seleziona la cartella del progetto appena creata nella finestra di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391496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4367151" y="1576260"/>
            <a:ext cx="6097978" cy="2140971"/>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seguente comando nel terminale per creare una nuova applicazione Java utilizzando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mvn</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archetype:generate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DgroupId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com.mycompany.app</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=my-app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DarchetypeArtifactId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=maven-archetype-</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quickstart</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DinteractiveMode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Questo comando crea un nuovo progetto Java con un'architettura standard e una classe principale che stampa "Hello, world!" sulla console.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aver completato il comando, seleziona la cartella del progetto appena creata nella finestra di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Fai clic con il pulsante destro del mouse sulla cartella del progetto e seleziona "Open in Terminal". Questo aprirà un nuovo terminale all'interno della cartella del progetto.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87549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Creare una applicazione JAVA</a:t>
            </a:r>
          </a:p>
        </p:txBody>
      </p:sp>
      <p:sp>
        <p:nvSpPr>
          <p:cNvPr id="2" name="CasellaDiTesto 1">
            <a:extLst>
              <a:ext uri="{FF2B5EF4-FFF2-40B4-BE49-F238E27FC236}">
                <a16:creationId xmlns:a16="http://schemas.microsoft.com/office/drawing/2014/main" id="{ADEACADD-CA2A-54D2-2E6A-F0F2E20CF41F}"/>
              </a:ext>
            </a:extLst>
          </p:cNvPr>
          <p:cNvSpPr txBox="1"/>
          <p:nvPr/>
        </p:nvSpPr>
        <p:spPr>
          <a:xfrm>
            <a:off x="282040" y="795647"/>
            <a:ext cx="2936174" cy="375552"/>
          </a:xfrm>
          <a:prstGeom prst="rect">
            <a:avLst/>
          </a:prstGeom>
          <a:solidFill>
            <a:schemeClr val="accent2">
              <a:lumMod val="40000"/>
              <a:lumOff val="6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Visual Studio Code</a:t>
            </a:r>
          </a:p>
        </p:txBody>
      </p:sp>
      <p:sp>
        <p:nvSpPr>
          <p:cNvPr id="5" name="CasellaDiTesto 4">
            <a:extLst>
              <a:ext uri="{FF2B5EF4-FFF2-40B4-BE49-F238E27FC236}">
                <a16:creationId xmlns:a16="http://schemas.microsoft.com/office/drawing/2014/main" id="{4FF7C1DC-C639-6041-AE0C-4B426E9BB48E}"/>
              </a:ext>
            </a:extLst>
          </p:cNvPr>
          <p:cNvSpPr txBox="1"/>
          <p:nvPr/>
        </p:nvSpPr>
        <p:spPr>
          <a:xfrm>
            <a:off x="3452751" y="795647"/>
            <a:ext cx="6097978" cy="923330"/>
          </a:xfrm>
          <a:prstGeom prst="rect">
            <a:avLst/>
          </a:prstGeom>
          <a:noFill/>
        </p:spPr>
        <p:txBody>
          <a:bodyPr wrap="square">
            <a:spAutoFit/>
          </a:bodyPr>
          <a:lstStyle/>
          <a:p>
            <a:r>
              <a:rPr lang="it-IT" b="0" i="0" dirty="0">
                <a:solidFill>
                  <a:srgbClr val="050E17"/>
                </a:solidFill>
                <a:effectLst/>
                <a:latin typeface="-apple-system"/>
              </a:rPr>
              <a:t>Visual Studio Code è un editor di codice sorgente leggero e versatile e non un ambiente di sviluppo integrato completo per Java. </a:t>
            </a:r>
            <a:endParaRPr lang="it-IT" dirty="0"/>
          </a:p>
        </p:txBody>
      </p:sp>
      <p:sp>
        <p:nvSpPr>
          <p:cNvPr id="6" name="CasellaDiTesto 5">
            <a:extLst>
              <a:ext uri="{FF2B5EF4-FFF2-40B4-BE49-F238E27FC236}">
                <a16:creationId xmlns:a16="http://schemas.microsoft.com/office/drawing/2014/main" id="{6EC6748B-2C43-2B41-9D35-75C13E33010A}"/>
              </a:ext>
            </a:extLst>
          </p:cNvPr>
          <p:cNvSpPr txBox="1"/>
          <p:nvPr/>
        </p:nvSpPr>
        <p:spPr>
          <a:xfrm>
            <a:off x="282040" y="1479196"/>
            <a:ext cx="2936174" cy="375552"/>
          </a:xfrm>
          <a:prstGeom prst="rect">
            <a:avLst/>
          </a:prstGeom>
          <a:solidFill>
            <a:schemeClr val="accent1">
              <a:lumMod val="20000"/>
              <a:lumOff val="80000"/>
            </a:schemeClr>
          </a:solidFill>
        </p:spPr>
        <p:txBody>
          <a:bodyPr wrap="square">
            <a:spAutoFit/>
          </a:bodyPr>
          <a:lstStyle/>
          <a:p>
            <a:pPr lvl="0" algn="just">
              <a:lnSpc>
                <a:spcPct val="107000"/>
              </a:lnSpc>
              <a:spcAft>
                <a:spcPts val="800"/>
              </a:spcAft>
              <a:buSzPts val="1000"/>
              <a:tabLst>
                <a:tab pos="678180" algn="l"/>
              </a:tabLst>
            </a:pPr>
            <a:r>
              <a:rPr lang="it-IT" i="0" dirty="0">
                <a:solidFill>
                  <a:srgbClr val="050E17"/>
                </a:solidFill>
                <a:effectLst/>
                <a:latin typeface="-apple-system"/>
              </a:rPr>
              <a:t>Con  MAVEN</a:t>
            </a:r>
          </a:p>
        </p:txBody>
      </p:sp>
      <p:sp>
        <p:nvSpPr>
          <p:cNvPr id="14" name="CasellaDiTesto 13">
            <a:extLst>
              <a:ext uri="{FF2B5EF4-FFF2-40B4-BE49-F238E27FC236}">
                <a16:creationId xmlns:a16="http://schemas.microsoft.com/office/drawing/2014/main" id="{4FA88245-48F2-604A-8577-57BBCF610EF3}"/>
              </a:ext>
            </a:extLst>
          </p:cNvPr>
          <p:cNvSpPr txBox="1"/>
          <p:nvPr/>
        </p:nvSpPr>
        <p:spPr>
          <a:xfrm>
            <a:off x="4367151" y="1576260"/>
            <a:ext cx="6097978" cy="2408223"/>
          </a:xfrm>
          <a:prstGeom prst="rect">
            <a:avLst/>
          </a:prstGeom>
          <a:noFill/>
        </p:spPr>
        <p:txBody>
          <a:bodyPr wrap="square">
            <a:spAutoFit/>
          </a:bodyPr>
          <a:lstStyle/>
          <a:p>
            <a:pPr marL="342900" lvl="0" indent="-342900">
              <a:lnSpc>
                <a:spcPct val="107000"/>
              </a:lnSpc>
              <a:spcAft>
                <a:spcPts val="800"/>
              </a:spcAft>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seguente comando nel terminale per creare una nuova applicazione Java utilizzando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mvn</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archetype:generate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DgroupId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com.mycompany.app</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=my-app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DarchetypeArtifactId</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=maven-archetype-</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quickstart</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 -</a:t>
            </a:r>
            <a:r>
              <a:rPr lang="en-GB" sz="1000" kern="0" dirty="0" err="1">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DinteractiveMode</a:t>
            </a:r>
            <a:r>
              <a:rPr lang="en-GB" sz="1000" kern="0" dirty="0">
                <a:solidFill>
                  <a:srgbClr val="050E17"/>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Questo comando crea un nuovo progetto Java con un'architettura standard e una classe principale che stampa "Hello, world!" sulla console.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Dopo aver completato il comando, seleziona la cartella del progetto appena creata nella finestra di Visual Studio Code.</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Fai clic con il pulsante destro del mouse sulla cartella del progetto e seleziona "Open in Terminal". Questo aprirà un nuovo terminale all'interno della cartella del progetto.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startAt="8"/>
              <a:tabLst>
                <a:tab pos="457200" algn="l"/>
              </a:tabLst>
            </a:pP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Digita il comando "</a:t>
            </a:r>
            <a:r>
              <a:rPr lang="it-IT" sz="1000" kern="0" dirty="0" err="1">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mvn</a:t>
            </a:r>
            <a:r>
              <a:rPr lang="it-IT" sz="1000" kern="0" dirty="0">
                <a:solidFill>
                  <a:srgbClr val="050E17"/>
                </a:solidFill>
                <a:effectLst/>
                <a:latin typeface="Segoe UI" panose="020B0502040204020203" pitchFamily="34" charset="0"/>
                <a:ea typeface="Times New Roman" panose="02020603050405020304" pitchFamily="18" charset="0"/>
                <a:cs typeface="Times New Roman" panose="02020603050405020304" pitchFamily="18" charset="0"/>
              </a:rPr>
              <a:t> compile" nel terminale per compilare il codice Java del tuo progetto.</a:t>
            </a:r>
            <a:endParaRPr lang="it-IT" sz="1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4738314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Compilare il codice  JAVA</a:t>
            </a:r>
          </a:p>
        </p:txBody>
      </p:sp>
      <p:sp>
        <p:nvSpPr>
          <p:cNvPr id="7" name="CasellaDiTesto 6">
            <a:extLst>
              <a:ext uri="{FF2B5EF4-FFF2-40B4-BE49-F238E27FC236}">
                <a16:creationId xmlns:a16="http://schemas.microsoft.com/office/drawing/2014/main" id="{DAC7B31C-D2C2-C243-DA32-83D492709768}"/>
              </a:ext>
            </a:extLst>
          </p:cNvPr>
          <p:cNvSpPr txBox="1"/>
          <p:nvPr/>
        </p:nvSpPr>
        <p:spPr>
          <a:xfrm>
            <a:off x="3048990" y="1031312"/>
            <a:ext cx="6097978" cy="1477328"/>
          </a:xfrm>
          <a:prstGeom prst="rect">
            <a:avLst/>
          </a:prstGeom>
          <a:noFill/>
        </p:spPr>
        <p:txBody>
          <a:bodyPr wrap="square">
            <a:spAutoFit/>
          </a:bodyPr>
          <a:lstStyle/>
          <a:p>
            <a:pPr algn="l"/>
            <a:r>
              <a:rPr lang="it-IT" b="0" i="0" dirty="0">
                <a:solidFill>
                  <a:srgbClr val="050E17"/>
                </a:solidFill>
                <a:effectLst/>
                <a:latin typeface="-apple-system"/>
              </a:rPr>
              <a:t>La compilazione del codice Java è il processo di traduzione del codice sorgente Java in un formato eseguibile, noto come </a:t>
            </a:r>
            <a:r>
              <a:rPr lang="it-IT" b="0" i="0" dirty="0" err="1">
                <a:solidFill>
                  <a:srgbClr val="050E17"/>
                </a:solidFill>
                <a:effectLst/>
                <a:latin typeface="-apple-system"/>
              </a:rPr>
              <a:t>bytecode</a:t>
            </a:r>
            <a:r>
              <a:rPr lang="it-IT" b="0" i="0" dirty="0">
                <a:solidFill>
                  <a:srgbClr val="050E17"/>
                </a:solidFill>
                <a:effectLst/>
                <a:latin typeface="-apple-system"/>
              </a:rPr>
              <a:t> Java. Il </a:t>
            </a:r>
            <a:r>
              <a:rPr lang="it-IT" b="0" i="0" dirty="0" err="1">
                <a:solidFill>
                  <a:srgbClr val="050E17"/>
                </a:solidFill>
                <a:effectLst/>
                <a:latin typeface="-apple-system"/>
              </a:rPr>
              <a:t>bytecode</a:t>
            </a:r>
            <a:r>
              <a:rPr lang="it-IT" b="0" i="0" dirty="0">
                <a:solidFill>
                  <a:srgbClr val="050E17"/>
                </a:solidFill>
                <a:effectLst/>
                <a:latin typeface="-apple-system"/>
              </a:rPr>
              <a:t> Java è un formato di codice intermedio che può essere eseguito su qualsiasi piattaforma che supporta la Java Virtual Machine (JVM).</a:t>
            </a:r>
          </a:p>
        </p:txBody>
      </p:sp>
    </p:spTree>
    <p:extLst>
      <p:ext uri="{BB962C8B-B14F-4D97-AF65-F5344CB8AC3E}">
        <p14:creationId xmlns:p14="http://schemas.microsoft.com/office/powerpoint/2010/main" val="380818137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Compilare il codice  JAVA</a:t>
            </a:r>
          </a:p>
        </p:txBody>
      </p:sp>
      <p:sp>
        <p:nvSpPr>
          <p:cNvPr id="7" name="CasellaDiTesto 6">
            <a:extLst>
              <a:ext uri="{FF2B5EF4-FFF2-40B4-BE49-F238E27FC236}">
                <a16:creationId xmlns:a16="http://schemas.microsoft.com/office/drawing/2014/main" id="{DAC7B31C-D2C2-C243-DA32-83D492709768}"/>
              </a:ext>
            </a:extLst>
          </p:cNvPr>
          <p:cNvSpPr txBox="1"/>
          <p:nvPr/>
        </p:nvSpPr>
        <p:spPr>
          <a:xfrm>
            <a:off x="3048990" y="1031312"/>
            <a:ext cx="6097978" cy="3416320"/>
          </a:xfrm>
          <a:prstGeom prst="rect">
            <a:avLst/>
          </a:prstGeom>
          <a:noFill/>
        </p:spPr>
        <p:txBody>
          <a:bodyPr wrap="square">
            <a:spAutoFit/>
          </a:bodyPr>
          <a:lstStyle/>
          <a:p>
            <a:pPr algn="l"/>
            <a:r>
              <a:rPr lang="it-IT" b="0" i="0" dirty="0">
                <a:solidFill>
                  <a:srgbClr val="050E17"/>
                </a:solidFill>
                <a:effectLst/>
                <a:latin typeface="-apple-system"/>
              </a:rPr>
              <a:t>La compilazione del codice Java è il processo di traduzione del codice sorgente Java in un formato eseguibile, noto come </a:t>
            </a:r>
            <a:r>
              <a:rPr lang="it-IT" b="0" i="0" dirty="0" err="1">
                <a:solidFill>
                  <a:srgbClr val="050E17"/>
                </a:solidFill>
                <a:effectLst/>
                <a:latin typeface="-apple-system"/>
              </a:rPr>
              <a:t>bytecode</a:t>
            </a:r>
            <a:r>
              <a:rPr lang="it-IT" b="0" i="0" dirty="0">
                <a:solidFill>
                  <a:srgbClr val="050E17"/>
                </a:solidFill>
                <a:effectLst/>
                <a:latin typeface="-apple-system"/>
              </a:rPr>
              <a:t> Java. Il </a:t>
            </a:r>
            <a:r>
              <a:rPr lang="it-IT" b="0" i="0" dirty="0" err="1">
                <a:solidFill>
                  <a:srgbClr val="050E17"/>
                </a:solidFill>
                <a:effectLst/>
                <a:latin typeface="-apple-system"/>
              </a:rPr>
              <a:t>bytecode</a:t>
            </a:r>
            <a:r>
              <a:rPr lang="it-IT" b="0" i="0" dirty="0">
                <a:solidFill>
                  <a:srgbClr val="050E17"/>
                </a:solidFill>
                <a:effectLst/>
                <a:latin typeface="-apple-system"/>
              </a:rPr>
              <a:t> Java è un formato di codice intermedio che può essere eseguito su qualsiasi piattaforma che supporta la Java Virtual Machine (JVM).</a:t>
            </a:r>
          </a:p>
          <a:p>
            <a:pPr algn="l"/>
            <a:r>
              <a:rPr lang="it-IT" b="0" i="0" dirty="0">
                <a:solidFill>
                  <a:srgbClr val="050E17"/>
                </a:solidFill>
                <a:effectLst/>
                <a:latin typeface="-apple-system"/>
              </a:rPr>
              <a:t>La compilazione del codice Java viene eseguita utilizzando un compilatore Java, che prende il codice sorgente Java e lo traduce in </a:t>
            </a:r>
            <a:r>
              <a:rPr lang="it-IT" b="0" i="0" dirty="0" err="1">
                <a:solidFill>
                  <a:srgbClr val="050E17"/>
                </a:solidFill>
                <a:effectLst/>
                <a:latin typeface="-apple-system"/>
              </a:rPr>
              <a:t>bytecode</a:t>
            </a:r>
            <a:r>
              <a:rPr lang="it-IT" b="0" i="0" dirty="0">
                <a:solidFill>
                  <a:srgbClr val="050E17"/>
                </a:solidFill>
                <a:effectLst/>
                <a:latin typeface="-apple-system"/>
              </a:rPr>
              <a:t> Java. Durante la compilazione, il compilatore Java esegue diverse fasi, tra cui l'analisi lessicale, sintattica e semantica del codice sorgente per verificare la correttezza del codice e generare il </a:t>
            </a:r>
            <a:r>
              <a:rPr lang="it-IT" b="0" i="0" dirty="0" err="1">
                <a:solidFill>
                  <a:srgbClr val="050E17"/>
                </a:solidFill>
                <a:effectLst/>
                <a:latin typeface="-apple-system"/>
              </a:rPr>
              <a:t>bytecode</a:t>
            </a:r>
            <a:r>
              <a:rPr lang="it-IT" b="0" i="0" dirty="0">
                <a:solidFill>
                  <a:srgbClr val="050E17"/>
                </a:solidFill>
                <a:effectLst/>
                <a:latin typeface="-apple-system"/>
              </a:rPr>
              <a:t> Java corrispondente.</a:t>
            </a:r>
          </a:p>
        </p:txBody>
      </p:sp>
    </p:spTree>
    <p:extLst>
      <p:ext uri="{BB962C8B-B14F-4D97-AF65-F5344CB8AC3E}">
        <p14:creationId xmlns:p14="http://schemas.microsoft.com/office/powerpoint/2010/main" val="41461271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va Logo, symbol, meaning, history, PNG, brand">
            <a:extLst>
              <a:ext uri="{FF2B5EF4-FFF2-40B4-BE49-F238E27FC236}">
                <a16:creationId xmlns:a16="http://schemas.microsoft.com/office/drawing/2014/main" id="{7E71EA73-A6D5-8267-6E8C-98224EFC2C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2655" y="0"/>
            <a:ext cx="1420799" cy="795647"/>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a:extLst>
              <a:ext uri="{FF2B5EF4-FFF2-40B4-BE49-F238E27FC236}">
                <a16:creationId xmlns:a16="http://schemas.microsoft.com/office/drawing/2014/main" id="{7EE7BD1F-A8F8-20FB-D2DA-5EA16AB18C53}"/>
              </a:ext>
            </a:extLst>
          </p:cNvPr>
          <p:cNvSpPr txBox="1"/>
          <p:nvPr/>
        </p:nvSpPr>
        <p:spPr>
          <a:xfrm>
            <a:off x="282039" y="421955"/>
            <a:ext cx="6097978" cy="373692"/>
          </a:xfrm>
          <a:prstGeom prst="rect">
            <a:avLst/>
          </a:prstGeom>
          <a:noFill/>
        </p:spPr>
        <p:txBody>
          <a:bodyPr wrap="square">
            <a:spAutoFit/>
          </a:bodyPr>
          <a:lstStyle/>
          <a:p>
            <a:pPr lvl="0" algn="just">
              <a:lnSpc>
                <a:spcPct val="107000"/>
              </a:lnSpc>
              <a:spcAft>
                <a:spcPts val="800"/>
              </a:spcAft>
              <a:buSzPts val="1000"/>
              <a:tabLst>
                <a:tab pos="678180" algn="l"/>
              </a:tabLst>
            </a:pPr>
            <a:r>
              <a:rPr lang="it-IT" b="1" i="0" dirty="0">
                <a:solidFill>
                  <a:srgbClr val="050E17"/>
                </a:solidFill>
                <a:effectLst/>
                <a:latin typeface="-apple-system"/>
              </a:rPr>
              <a:t>Compilare il codice  JAVA</a:t>
            </a:r>
          </a:p>
        </p:txBody>
      </p:sp>
      <p:sp>
        <p:nvSpPr>
          <p:cNvPr id="7" name="CasellaDiTesto 6">
            <a:extLst>
              <a:ext uri="{FF2B5EF4-FFF2-40B4-BE49-F238E27FC236}">
                <a16:creationId xmlns:a16="http://schemas.microsoft.com/office/drawing/2014/main" id="{DAC7B31C-D2C2-C243-DA32-83D492709768}"/>
              </a:ext>
            </a:extLst>
          </p:cNvPr>
          <p:cNvSpPr txBox="1"/>
          <p:nvPr/>
        </p:nvSpPr>
        <p:spPr>
          <a:xfrm>
            <a:off x="3048990" y="1031312"/>
            <a:ext cx="6097978" cy="4801314"/>
          </a:xfrm>
          <a:prstGeom prst="rect">
            <a:avLst/>
          </a:prstGeom>
          <a:noFill/>
        </p:spPr>
        <p:txBody>
          <a:bodyPr wrap="square">
            <a:spAutoFit/>
          </a:bodyPr>
          <a:lstStyle/>
          <a:p>
            <a:pPr algn="l"/>
            <a:r>
              <a:rPr lang="it-IT" b="0" i="0" dirty="0">
                <a:solidFill>
                  <a:srgbClr val="050E17"/>
                </a:solidFill>
                <a:effectLst/>
                <a:latin typeface="-apple-system"/>
              </a:rPr>
              <a:t>La compilazione del codice Java è il processo di traduzione del codice sorgente Java in un formato eseguibile, noto come </a:t>
            </a:r>
            <a:r>
              <a:rPr lang="it-IT" b="0" i="0" dirty="0" err="1">
                <a:solidFill>
                  <a:srgbClr val="050E17"/>
                </a:solidFill>
                <a:effectLst/>
                <a:latin typeface="-apple-system"/>
              </a:rPr>
              <a:t>bytecode</a:t>
            </a:r>
            <a:r>
              <a:rPr lang="it-IT" b="0" i="0" dirty="0">
                <a:solidFill>
                  <a:srgbClr val="050E17"/>
                </a:solidFill>
                <a:effectLst/>
                <a:latin typeface="-apple-system"/>
              </a:rPr>
              <a:t> Java. Il </a:t>
            </a:r>
            <a:r>
              <a:rPr lang="it-IT" b="0" i="0" dirty="0" err="1">
                <a:solidFill>
                  <a:srgbClr val="050E17"/>
                </a:solidFill>
                <a:effectLst/>
                <a:latin typeface="-apple-system"/>
              </a:rPr>
              <a:t>bytecode</a:t>
            </a:r>
            <a:r>
              <a:rPr lang="it-IT" b="0" i="0" dirty="0">
                <a:solidFill>
                  <a:srgbClr val="050E17"/>
                </a:solidFill>
                <a:effectLst/>
                <a:latin typeface="-apple-system"/>
              </a:rPr>
              <a:t> Java è un formato di codice intermedio che può essere eseguito su qualsiasi piattaforma che supporta la Java Virtual Machine (JVM).</a:t>
            </a:r>
          </a:p>
          <a:p>
            <a:pPr algn="l"/>
            <a:r>
              <a:rPr lang="it-IT" b="0" i="0" dirty="0">
                <a:solidFill>
                  <a:srgbClr val="050E17"/>
                </a:solidFill>
                <a:effectLst/>
                <a:latin typeface="-apple-system"/>
              </a:rPr>
              <a:t>La compilazione del codice Java viene eseguita utilizzando un compilatore Java, che prende il codice sorgente Java e lo traduce in </a:t>
            </a:r>
            <a:r>
              <a:rPr lang="it-IT" b="0" i="0" dirty="0" err="1">
                <a:solidFill>
                  <a:srgbClr val="050E17"/>
                </a:solidFill>
                <a:effectLst/>
                <a:latin typeface="-apple-system"/>
              </a:rPr>
              <a:t>bytecode</a:t>
            </a:r>
            <a:r>
              <a:rPr lang="it-IT" b="0" i="0" dirty="0">
                <a:solidFill>
                  <a:srgbClr val="050E17"/>
                </a:solidFill>
                <a:effectLst/>
                <a:latin typeface="-apple-system"/>
              </a:rPr>
              <a:t> Java. Durante la compilazione, il compilatore Java esegue diverse fasi, tra cui l'analisi lessicale, sintattica e semantica del codice sorgente per verificare la correttezza del codice e generare il </a:t>
            </a:r>
            <a:r>
              <a:rPr lang="it-IT" b="0" i="0" dirty="0" err="1">
                <a:solidFill>
                  <a:srgbClr val="050E17"/>
                </a:solidFill>
                <a:effectLst/>
                <a:latin typeface="-apple-system"/>
              </a:rPr>
              <a:t>bytecode</a:t>
            </a:r>
            <a:r>
              <a:rPr lang="it-IT" b="0" i="0" dirty="0">
                <a:solidFill>
                  <a:srgbClr val="050E17"/>
                </a:solidFill>
                <a:effectLst/>
                <a:latin typeface="-apple-system"/>
              </a:rPr>
              <a:t> Java corrispondente.</a:t>
            </a:r>
          </a:p>
          <a:p>
            <a:pPr algn="l"/>
            <a:r>
              <a:rPr lang="it-IT" b="0" i="0" dirty="0">
                <a:solidFill>
                  <a:srgbClr val="050E17"/>
                </a:solidFill>
                <a:effectLst/>
                <a:latin typeface="-apple-system"/>
              </a:rPr>
              <a:t>Il </a:t>
            </a:r>
            <a:r>
              <a:rPr lang="it-IT" b="0" i="0" dirty="0" err="1">
                <a:solidFill>
                  <a:srgbClr val="050E17"/>
                </a:solidFill>
                <a:effectLst/>
                <a:latin typeface="-apple-system"/>
              </a:rPr>
              <a:t>bytecode</a:t>
            </a:r>
            <a:r>
              <a:rPr lang="it-IT" b="0" i="0" dirty="0">
                <a:solidFill>
                  <a:srgbClr val="050E17"/>
                </a:solidFill>
                <a:effectLst/>
                <a:latin typeface="-apple-system"/>
              </a:rPr>
              <a:t> Java è un formato di codice intermedio che viene eseguito sulla JVM, che è un'implementazione software dell'architettura Java. La JVM converte il </a:t>
            </a:r>
            <a:r>
              <a:rPr lang="it-IT" b="0" i="0" dirty="0" err="1">
                <a:solidFill>
                  <a:srgbClr val="050E17"/>
                </a:solidFill>
                <a:effectLst/>
                <a:latin typeface="-apple-system"/>
              </a:rPr>
              <a:t>bytecode</a:t>
            </a:r>
            <a:r>
              <a:rPr lang="it-IT" b="0" i="0" dirty="0">
                <a:solidFill>
                  <a:srgbClr val="050E17"/>
                </a:solidFill>
                <a:effectLst/>
                <a:latin typeface="-apple-system"/>
              </a:rPr>
              <a:t> Java in codice eseguibile specifico della piattaforma, che viene eseguito sulla piattaforma in cui la JVM è installata.</a:t>
            </a:r>
          </a:p>
        </p:txBody>
      </p:sp>
    </p:spTree>
    <p:extLst>
      <p:ext uri="{BB962C8B-B14F-4D97-AF65-F5344CB8AC3E}">
        <p14:creationId xmlns:p14="http://schemas.microsoft.com/office/powerpoint/2010/main" val="70870844"/>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107</Slides>
  <Notes>0</Notes>
  <HiddenSlides>0</HiddenSlides>
  <MMClips>0</MMClips>
  <ScaleCrop>false</ScaleCrop>
  <HeadingPairs>
    <vt:vector size="4" baseType="variant">
      <vt:variant>
        <vt:lpstr>Tema</vt:lpstr>
      </vt:variant>
      <vt:variant>
        <vt:i4>2</vt:i4>
      </vt:variant>
      <vt:variant>
        <vt:lpstr>Titoli diapositive</vt:lpstr>
      </vt:variant>
      <vt:variant>
        <vt:i4>107</vt:i4>
      </vt:variant>
    </vt:vector>
  </HeadingPairs>
  <TitlesOfParts>
    <vt:vector size="109" baseType="lpstr">
      <vt:lpstr>Tema di Office</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Vincenzo Piccolo</cp:lastModifiedBy>
  <cp:revision>5</cp:revision>
  <dcterms:created xsi:type="dcterms:W3CDTF">2023-08-23T12:51:20Z</dcterms:created>
  <dcterms:modified xsi:type="dcterms:W3CDTF">2025-02-10T06:31:28Z</dcterms:modified>
</cp:coreProperties>
</file>