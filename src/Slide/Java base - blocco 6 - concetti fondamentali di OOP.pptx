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sldIdLst>
    <p:sldId id="396" r:id="rId3"/>
    <p:sldId id="395" r:id="rId4"/>
    <p:sldId id="394" r:id="rId5"/>
    <p:sldId id="393" r:id="rId6"/>
    <p:sldId id="392" r:id="rId7"/>
    <p:sldId id="391" r:id="rId8"/>
    <p:sldId id="390" r:id="rId9"/>
    <p:sldId id="389" r:id="rId10"/>
    <p:sldId id="388" r:id="rId11"/>
    <p:sldId id="387" r:id="rId12"/>
    <p:sldId id="386" r:id="rId13"/>
    <p:sldId id="385" r:id="rId14"/>
    <p:sldId id="384" r:id="rId15"/>
    <p:sldId id="383" r:id="rId16"/>
    <p:sldId id="382" r:id="rId17"/>
    <p:sldId id="381" r:id="rId18"/>
    <p:sldId id="380" r:id="rId19"/>
    <p:sldId id="379" r:id="rId20"/>
    <p:sldId id="378" r:id="rId21"/>
    <p:sldId id="377" r:id="rId22"/>
    <p:sldId id="376" r:id="rId23"/>
    <p:sldId id="375" r:id="rId24"/>
    <p:sldId id="374" r:id="rId25"/>
    <p:sldId id="373" r:id="rId26"/>
    <p:sldId id="372" r:id="rId27"/>
    <p:sldId id="371" r:id="rId28"/>
    <p:sldId id="370" r:id="rId29"/>
    <p:sldId id="369" r:id="rId30"/>
    <p:sldId id="368" r:id="rId31"/>
    <p:sldId id="367" r:id="rId32"/>
    <p:sldId id="366" r:id="rId33"/>
    <p:sldId id="365" r:id="rId34"/>
    <p:sldId id="364" r:id="rId35"/>
    <p:sldId id="363" r:id="rId36"/>
    <p:sldId id="362" r:id="rId37"/>
    <p:sldId id="361" r:id="rId38"/>
    <p:sldId id="360" r:id="rId39"/>
    <p:sldId id="359" r:id="rId40"/>
    <p:sldId id="358" r:id="rId41"/>
    <p:sldId id="357" r:id="rId42"/>
    <p:sldId id="356" r:id="rId43"/>
    <p:sldId id="355" r:id="rId44"/>
    <p:sldId id="354" r:id="rId45"/>
    <p:sldId id="353" r:id="rId46"/>
    <p:sldId id="352" r:id="rId47"/>
    <p:sldId id="351" r:id="rId48"/>
    <p:sldId id="350" r:id="rId49"/>
    <p:sldId id="349" r:id="rId50"/>
    <p:sldId id="348" r:id="rId51"/>
    <p:sldId id="347" r:id="rId52"/>
    <p:sldId id="346" r:id="rId53"/>
    <p:sldId id="345" r:id="rId54"/>
    <p:sldId id="344" r:id="rId55"/>
    <p:sldId id="343" r:id="rId56"/>
    <p:sldId id="342" r:id="rId57"/>
    <p:sldId id="341" r:id="rId58"/>
    <p:sldId id="340" r:id="rId59"/>
    <p:sldId id="339" r:id="rId60"/>
    <p:sldId id="338" r:id="rId61"/>
    <p:sldId id="337" r:id="rId62"/>
    <p:sldId id="336" r:id="rId63"/>
    <p:sldId id="335" r:id="rId64"/>
    <p:sldId id="334" r:id="rId65"/>
    <p:sldId id="333" r:id="rId66"/>
    <p:sldId id="332" r:id="rId67"/>
    <p:sldId id="331" r:id="rId68"/>
    <p:sldId id="330" r:id="rId69"/>
    <p:sldId id="329" r:id="rId70"/>
    <p:sldId id="328" r:id="rId71"/>
    <p:sldId id="327" r:id="rId72"/>
    <p:sldId id="326" r:id="rId73"/>
    <p:sldId id="325" r:id="rId74"/>
    <p:sldId id="324" r:id="rId75"/>
    <p:sldId id="323" r:id="rId76"/>
    <p:sldId id="322" r:id="rId77"/>
    <p:sldId id="321" r:id="rId78"/>
    <p:sldId id="320" r:id="rId79"/>
    <p:sldId id="319" r:id="rId80"/>
    <p:sldId id="318" r:id="rId81"/>
    <p:sldId id="317" r:id="rId82"/>
    <p:sldId id="316" r:id="rId83"/>
    <p:sldId id="315" r:id="rId84"/>
    <p:sldId id="314" r:id="rId85"/>
    <p:sldId id="313" r:id="rId86"/>
    <p:sldId id="312" r:id="rId87"/>
    <p:sldId id="311" r:id="rId88"/>
    <p:sldId id="310" r:id="rId89"/>
    <p:sldId id="309" r:id="rId90"/>
    <p:sldId id="308" r:id="rId91"/>
    <p:sldId id="307" r:id="rId92"/>
    <p:sldId id="306" r:id="rId93"/>
    <p:sldId id="305" r:id="rId94"/>
    <p:sldId id="304" r:id="rId95"/>
    <p:sldId id="303" r:id="rId96"/>
    <p:sldId id="302" r:id="rId97"/>
    <p:sldId id="301" r:id="rId98"/>
    <p:sldId id="300" r:id="rId99"/>
    <p:sldId id="299" r:id="rId100"/>
    <p:sldId id="298" r:id="rId101"/>
    <p:sldId id="297" r:id="rId102"/>
    <p:sldId id="296" r:id="rId103"/>
    <p:sldId id="295" r:id="rId104"/>
    <p:sldId id="294" r:id="rId105"/>
    <p:sldId id="293" r:id="rId106"/>
    <p:sldId id="292" r:id="rId107"/>
    <p:sldId id="291" r:id="rId108"/>
    <p:sldId id="290" r:id="rId109"/>
    <p:sldId id="289" r:id="rId110"/>
    <p:sldId id="288" r:id="rId111"/>
    <p:sldId id="287" r:id="rId112"/>
    <p:sldId id="286" r:id="rId113"/>
    <p:sldId id="285" r:id="rId114"/>
    <p:sldId id="284" r:id="rId115"/>
    <p:sldId id="283" r:id="rId116"/>
    <p:sldId id="282" r:id="rId117"/>
    <p:sldId id="281" r:id="rId118"/>
    <p:sldId id="280" r:id="rId119"/>
    <p:sldId id="279" r:id="rId120"/>
    <p:sldId id="278" r:id="rId121"/>
    <p:sldId id="277" r:id="rId122"/>
    <p:sldId id="276" r:id="rId123"/>
    <p:sldId id="275" r:id="rId124"/>
    <p:sldId id="274" r:id="rId125"/>
    <p:sldId id="273" r:id="rId126"/>
    <p:sldId id="272" r:id="rId127"/>
    <p:sldId id="271" r:id="rId128"/>
    <p:sldId id="270" r:id="rId129"/>
    <p:sldId id="269" r:id="rId130"/>
    <p:sldId id="268" r:id="rId131"/>
    <p:sldId id="267" r:id="rId132"/>
    <p:sldId id="266" r:id="rId133"/>
    <p:sldId id="265" r:id="rId134"/>
    <p:sldId id="264" r:id="rId135"/>
    <p:sldId id="263" r:id="rId136"/>
    <p:sldId id="262" r:id="rId137"/>
    <p:sldId id="261" r:id="rId138"/>
    <p:sldId id="260" r:id="rId139"/>
    <p:sldId id="259" r:id="rId140"/>
    <p:sldId id="258" r:id="rId141"/>
    <p:sldId id="257" r:id="rId14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a:t>
            </a:r>
            <a:endParaRPr lang="de-DE"/>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30.03.2026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186192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30.03.2026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26318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a:t>
            </a:r>
            <a:endParaRPr lang="de-DE"/>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p>
            <a:fld id="{F64A8E5F-40E5-4553-9F3C-699F1A5B8145}" type="datetimeFigureOut">
              <a:rPr lang="de-DE" smtClean="0"/>
              <a:t>30.03.2026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577393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contenuto 2"/>
          <p:cNvSpPr>
            <a:spLocks noGrp="1"/>
          </p:cNvSpPr>
          <p:nvPr>
            <p:ph sz="half" idx="1"/>
          </p:nvPr>
        </p:nvSpPr>
        <p:spPr>
          <a:xfrm>
            <a:off x="838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contenuto 3"/>
          <p:cNvSpPr>
            <a:spLocks noGrp="1"/>
          </p:cNvSpPr>
          <p:nvPr>
            <p:ph sz="half" idx="2"/>
          </p:nvPr>
        </p:nvSpPr>
        <p:spPr>
          <a:xfrm>
            <a:off x="6172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5" name="Segnaposto data 4"/>
          <p:cNvSpPr>
            <a:spLocks noGrp="1"/>
          </p:cNvSpPr>
          <p:nvPr>
            <p:ph type="dt" sz="half" idx="10"/>
          </p:nvPr>
        </p:nvSpPr>
        <p:spPr/>
        <p:txBody>
          <a:bodyPr/>
          <a:lstStyle/>
          <a:p>
            <a:fld id="{F64A8E5F-40E5-4553-9F3C-699F1A5B8145}" type="datetimeFigureOut">
              <a:rPr lang="de-DE" smtClean="0"/>
              <a:t>30.03.2026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284089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a:t>Fare clic per modificare lo stile del titolo</a:t>
            </a:r>
            <a:endParaRPr lang="de-DE"/>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7" name="Segnaposto data 6"/>
          <p:cNvSpPr>
            <a:spLocks noGrp="1"/>
          </p:cNvSpPr>
          <p:nvPr>
            <p:ph type="dt" sz="half" idx="10"/>
          </p:nvPr>
        </p:nvSpPr>
        <p:spPr/>
        <p:txBody>
          <a:bodyPr/>
          <a:lstStyle/>
          <a:p>
            <a:fld id="{F64A8E5F-40E5-4553-9F3C-699F1A5B8145}" type="datetimeFigureOut">
              <a:rPr lang="de-DE" smtClean="0"/>
              <a:t>30.03.2026</a:t>
            </a:fld>
            <a:endParaRPr lang="de-DE"/>
          </a:p>
        </p:txBody>
      </p:sp>
      <p:sp>
        <p:nvSpPr>
          <p:cNvPr id="8" name="Segnaposto piè di pagina 7"/>
          <p:cNvSpPr>
            <a:spLocks noGrp="1"/>
          </p:cNvSpPr>
          <p:nvPr>
            <p:ph type="ftr" sz="quarter" idx="11"/>
          </p:nvPr>
        </p:nvSpPr>
        <p:spPr/>
        <p:txBody>
          <a:bodyPr/>
          <a:lstStyle/>
          <a:p>
            <a:endParaRPr lang="de-DE"/>
          </a:p>
        </p:txBody>
      </p:sp>
      <p:sp>
        <p:nvSpPr>
          <p:cNvPr id="9" name="Segnaposto numero diapositiva 8"/>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747982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data 2"/>
          <p:cNvSpPr>
            <a:spLocks noGrp="1"/>
          </p:cNvSpPr>
          <p:nvPr>
            <p:ph type="dt" sz="half" idx="10"/>
          </p:nvPr>
        </p:nvSpPr>
        <p:spPr/>
        <p:txBody>
          <a:bodyPr/>
          <a:lstStyle/>
          <a:p>
            <a:fld id="{F64A8E5F-40E5-4553-9F3C-699F1A5B8145}" type="datetimeFigureOut">
              <a:rPr lang="de-DE" smtClean="0"/>
              <a:t>30.03.2026</a:t>
            </a:fld>
            <a:endParaRPr lang="de-DE"/>
          </a:p>
        </p:txBody>
      </p:sp>
      <p:sp>
        <p:nvSpPr>
          <p:cNvPr id="4" name="Segnaposto piè di pagina 3"/>
          <p:cNvSpPr>
            <a:spLocks noGrp="1"/>
          </p:cNvSpPr>
          <p:nvPr>
            <p:ph type="ftr" sz="quarter" idx="11"/>
          </p:nvPr>
        </p:nvSpPr>
        <p:spPr/>
        <p:txBody>
          <a:bodyPr/>
          <a:lstStyle/>
          <a:p>
            <a:endParaRPr lang="de-DE"/>
          </a:p>
        </p:txBody>
      </p:sp>
      <p:sp>
        <p:nvSpPr>
          <p:cNvPr id="5" name="Segnaposto numero diapositiva 4"/>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31782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F64A8E5F-40E5-4553-9F3C-699F1A5B8145}" type="datetimeFigureOut">
              <a:rPr lang="de-DE" smtClean="0"/>
              <a:t>30.03.2026</a:t>
            </a:fld>
            <a:endParaRPr lang="de-DE"/>
          </a:p>
        </p:txBody>
      </p:sp>
      <p:sp>
        <p:nvSpPr>
          <p:cNvPr id="3" name="Segnaposto piè di pagina 2"/>
          <p:cNvSpPr>
            <a:spLocks noGrp="1"/>
          </p:cNvSpPr>
          <p:nvPr>
            <p:ph type="ftr" sz="quarter" idx="11"/>
          </p:nvPr>
        </p:nvSpPr>
        <p:spPr/>
        <p:txBody>
          <a:bodyPr/>
          <a:lstStyle/>
          <a:p>
            <a:endParaRPr lang="de-DE"/>
          </a:p>
        </p:txBody>
      </p:sp>
      <p:sp>
        <p:nvSpPr>
          <p:cNvPr id="4" name="Segnaposto numero diapositiva 3"/>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89409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endParaRPr lang="de-DE"/>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F64A8E5F-40E5-4553-9F3C-699F1A5B8145}" type="datetimeFigureOut">
              <a:rPr lang="de-DE" smtClean="0"/>
              <a:t>30.03.2026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36581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endParaRPr lang="de-DE"/>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F64A8E5F-40E5-4553-9F3C-699F1A5B8145}" type="datetimeFigureOut">
              <a:rPr lang="de-DE" smtClean="0"/>
              <a:t>30.03.2026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688576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30.03.2026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424469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a:t>Fare clic per modificare lo stile del titolo</a:t>
            </a:r>
            <a:endParaRPr lang="de-DE"/>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30.03.2026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0268423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411C66A-B0C1-7866-3D26-29AECA7A6CFF}"/>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D7513622-0E25-D27C-B56E-5F02BBA3DF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37E2AB8D-2E87-1D80-7E8E-3DE87022B9A1}"/>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5" name="Segnaposto piè di pagina 4">
            <a:extLst>
              <a:ext uri="{FF2B5EF4-FFF2-40B4-BE49-F238E27FC236}">
                <a16:creationId xmlns:a16="http://schemas.microsoft.com/office/drawing/2014/main" id="{D62B23E6-7AFC-4519-0F56-4D06D921BBF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063B3F3-8769-6F7B-FEC4-E10F0FE31C83}"/>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717390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1521C64-FA1E-8945-57BB-EBC9F3E1DD6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00CB6B06-E4BA-9CD5-43D5-284D5EDD0656}"/>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A5CF074-0183-72A1-EE86-ABF9592357C5}"/>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5" name="Segnaposto piè di pagina 4">
            <a:extLst>
              <a:ext uri="{FF2B5EF4-FFF2-40B4-BE49-F238E27FC236}">
                <a16:creationId xmlns:a16="http://schemas.microsoft.com/office/drawing/2014/main" id="{D9E18A0C-6FEE-0DF4-2E3A-F5D511F73FC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B3F2827-C529-23AA-BC3A-F718C734B0A2}"/>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2909944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B51AFE0-CE1F-1BBB-A8FE-5E1A6C7E5884}"/>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AF741322-2136-BE73-F3C9-0284E9DAF0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6BDD83E5-9853-A50D-DDB7-885BB5BF4BD2}"/>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5" name="Segnaposto piè di pagina 4">
            <a:extLst>
              <a:ext uri="{FF2B5EF4-FFF2-40B4-BE49-F238E27FC236}">
                <a16:creationId xmlns:a16="http://schemas.microsoft.com/office/drawing/2014/main" id="{4FAF9313-012B-2107-BDB1-0747BBFD9EA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A328B51-437C-79F8-8CFB-E006BB22D92C}"/>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1906340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27C9E0E-AECB-76B4-49AE-55C0CA0D809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810DFC74-D8BF-9633-822B-5F67DF39F485}"/>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9FDC73C3-2A05-3BA7-ED76-8C3A440C64D7}"/>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19BABA24-DFE1-C1D0-9FD3-E5DF735A66AB}"/>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6" name="Segnaposto piè di pagina 5">
            <a:extLst>
              <a:ext uri="{FF2B5EF4-FFF2-40B4-BE49-F238E27FC236}">
                <a16:creationId xmlns:a16="http://schemas.microsoft.com/office/drawing/2014/main" id="{3FBD9E49-CECE-11E5-EFC3-DDAF5BAF437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27BBD9B3-F778-65E1-B3FA-7CE80C14C04D}"/>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3275160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FACB617-15AE-8FD2-B0E4-E7070FEA318E}"/>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4E19AF32-390E-819A-1ECC-D7674C2917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6B382BC5-E1AD-497C-F3C2-9D4C28310B58}"/>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7652B836-AF71-CDB6-F5B1-C1E212BD54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F51442CC-FB1A-9FDF-6250-16AA25952014}"/>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D80F8DA9-22EC-0D6F-3B5B-177D038C6E51}"/>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8" name="Segnaposto piè di pagina 7">
            <a:extLst>
              <a:ext uri="{FF2B5EF4-FFF2-40B4-BE49-F238E27FC236}">
                <a16:creationId xmlns:a16="http://schemas.microsoft.com/office/drawing/2014/main" id="{B1F7D1D5-6548-F064-1853-A99AC1A5A955}"/>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DB1C4147-34A9-F254-CD97-8B0B0D46D8B6}"/>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574009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AB8F660-5FAB-0706-57FD-238F9379405F}"/>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37EF1B78-C137-31EE-411A-63CA9B68B399}"/>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4" name="Segnaposto piè di pagina 3">
            <a:extLst>
              <a:ext uri="{FF2B5EF4-FFF2-40B4-BE49-F238E27FC236}">
                <a16:creationId xmlns:a16="http://schemas.microsoft.com/office/drawing/2014/main" id="{D720C33A-D9F8-230E-80BC-6070D64DBCA4}"/>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2A75A252-4F7E-A574-BBD5-74949925ACCA}"/>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1152966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2D6BC536-F4B2-4D94-2664-04549F9E05C7}"/>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3" name="Segnaposto piè di pagina 2">
            <a:extLst>
              <a:ext uri="{FF2B5EF4-FFF2-40B4-BE49-F238E27FC236}">
                <a16:creationId xmlns:a16="http://schemas.microsoft.com/office/drawing/2014/main" id="{EA31F2EE-89F2-DD90-BB32-DCE5120D4C98}"/>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4FC5E6F0-EECD-8109-1050-8565F07B857F}"/>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40621023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D385FD8-40B9-A7D3-9A94-AFB291AF8018}"/>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58B5F0B-1124-87FF-8AA1-C8DA6AF4F7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82A423BB-4ABB-EEB4-698A-0F64E9E7EF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2AB0BC1E-CFE1-A594-B10A-A4217C7B8B93}"/>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6" name="Segnaposto piè di pagina 5">
            <a:extLst>
              <a:ext uri="{FF2B5EF4-FFF2-40B4-BE49-F238E27FC236}">
                <a16:creationId xmlns:a16="http://schemas.microsoft.com/office/drawing/2014/main" id="{E187E49F-C309-4CE2-0983-EC9545D596F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FB5A6BA-A572-8243-E1E5-45059927DE6A}"/>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1874868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4D464F7-D228-FD5C-2FF0-6DC6C57473A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B92E35FA-4ADB-04E9-A265-7A03C96AE3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C9B6AE28-8F09-9536-754B-E5A67D4FEA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9338B1BA-3048-6D75-DE88-45D778AB5A8E}"/>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6" name="Segnaposto piè di pagina 5">
            <a:extLst>
              <a:ext uri="{FF2B5EF4-FFF2-40B4-BE49-F238E27FC236}">
                <a16:creationId xmlns:a16="http://schemas.microsoft.com/office/drawing/2014/main" id="{9A8DA03E-2831-51FC-E3B4-1F2FABF2152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1DB1B3F-6E85-61CC-CA1A-FCA9E8222DCF}"/>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3048917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957F892-C827-07B1-CD90-33732AC5FCCB}"/>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4AE4A31C-2935-1092-90D0-A666786B7639}"/>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B71052BA-2199-CFA1-5130-310ACF2BDD20}"/>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5" name="Segnaposto piè di pagina 4">
            <a:extLst>
              <a:ext uri="{FF2B5EF4-FFF2-40B4-BE49-F238E27FC236}">
                <a16:creationId xmlns:a16="http://schemas.microsoft.com/office/drawing/2014/main" id="{1050635D-C1B0-8120-0835-CED8BEA0C8F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3FD6E55-EF4D-9828-E631-F28B200AFBB0}"/>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6583025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D6BF5F9E-C47B-428B-8A8E-B7622BF357AC}"/>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85479440-E149-2460-5D3F-E36BEF0D787D}"/>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7DAA5A2-B373-F6DA-51E6-235FDB47FE48}"/>
              </a:ext>
            </a:extLst>
          </p:cNvPr>
          <p:cNvSpPr>
            <a:spLocks noGrp="1"/>
          </p:cNvSpPr>
          <p:nvPr>
            <p:ph type="dt" sz="half" idx="10"/>
          </p:nvPr>
        </p:nvSpPr>
        <p:spPr/>
        <p:txBody>
          <a:bodyPr/>
          <a:lstStyle/>
          <a:p>
            <a:fld id="{734271AC-57B9-42F6-A82F-430D47D1FB54}" type="datetimeFigureOut">
              <a:rPr lang="it-IT" smtClean="0"/>
              <a:t>30/03/2026</a:t>
            </a:fld>
            <a:endParaRPr lang="it-IT"/>
          </a:p>
        </p:txBody>
      </p:sp>
      <p:sp>
        <p:nvSpPr>
          <p:cNvPr id="5" name="Segnaposto piè di pagina 4">
            <a:extLst>
              <a:ext uri="{FF2B5EF4-FFF2-40B4-BE49-F238E27FC236}">
                <a16:creationId xmlns:a16="http://schemas.microsoft.com/office/drawing/2014/main" id="{D322361F-5C91-3E41-62FD-1C2ED7A1BCD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AA796F5-AFC0-B29F-0C3D-0AF29CAD4168}"/>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576324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a:t>
            </a:r>
            <a:endParaRPr lang="de-DE"/>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4A8E5F-40E5-4553-9F3C-699F1A5B8145}" type="datetimeFigureOut">
              <a:rPr lang="de-DE" smtClean="0"/>
              <a:t>30.03.2026</a:t>
            </a:fld>
            <a:endParaRPr lang="de-DE"/>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CD45B7-DFE2-4393-8D37-380FC36BF3AA}" type="slidenum">
              <a:rPr lang="de-DE" smtClean="0"/>
              <a:t>‹N›</a:t>
            </a:fld>
            <a:endParaRPr lang="de-DE"/>
          </a:p>
        </p:txBody>
      </p:sp>
    </p:spTree>
    <p:extLst>
      <p:ext uri="{BB962C8B-B14F-4D97-AF65-F5344CB8AC3E}">
        <p14:creationId xmlns:p14="http://schemas.microsoft.com/office/powerpoint/2010/main" val="18019314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ACB31383-5659-2940-236C-F9346E91B4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E67A1E06-4FB4-3F20-564F-4FA29D5A19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DBC1E01-19BC-CF30-A5B1-1974D7E586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4271AC-57B9-42F6-A82F-430D47D1FB54}" type="datetimeFigureOut">
              <a:rPr lang="it-IT" smtClean="0"/>
              <a:t>30/03/2026</a:t>
            </a:fld>
            <a:endParaRPr lang="it-IT"/>
          </a:p>
        </p:txBody>
      </p:sp>
      <p:sp>
        <p:nvSpPr>
          <p:cNvPr id="5" name="Segnaposto piè di pagina 4">
            <a:extLst>
              <a:ext uri="{FF2B5EF4-FFF2-40B4-BE49-F238E27FC236}">
                <a16:creationId xmlns:a16="http://schemas.microsoft.com/office/drawing/2014/main" id="{B91BCDDF-DD4D-D38B-E8DE-90714829F9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BD5B9393-E55B-8C2C-7636-1010066DE2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D7E2DB-F4FF-4776-8D08-CC7AA39C3F39}" type="slidenum">
              <a:rPr lang="it-IT" smtClean="0"/>
              <a:t>‹N›</a:t>
            </a:fld>
            <a:endParaRPr lang="it-IT"/>
          </a:p>
        </p:txBody>
      </p:sp>
    </p:spTree>
    <p:extLst>
      <p:ext uri="{BB962C8B-B14F-4D97-AF65-F5344CB8AC3E}">
        <p14:creationId xmlns:p14="http://schemas.microsoft.com/office/powerpoint/2010/main" val="424742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visibilità</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902735" y="373682"/>
            <a:ext cx="7164956" cy="553998"/>
          </a:xfrm>
          <a:prstGeom prst="rect">
            <a:avLst/>
          </a:prstGeom>
          <a:noFill/>
        </p:spPr>
        <p:txBody>
          <a:bodyPr wrap="square">
            <a:spAutoFit/>
          </a:bodyPr>
          <a:lstStyle/>
          <a:p>
            <a:r>
              <a:rPr lang="it-IT" sz="3000" dirty="0"/>
              <a:t>Public e private</a:t>
            </a:r>
          </a:p>
        </p:txBody>
      </p:sp>
      <p:pic>
        <p:nvPicPr>
          <p:cNvPr id="3" name="Picture 2" descr="Java Logo, symbol, meaning, history, PNG, brand">
            <a:extLst>
              <a:ext uri="{FF2B5EF4-FFF2-40B4-BE49-F238E27FC236}">
                <a16:creationId xmlns:a16="http://schemas.microsoft.com/office/drawing/2014/main" id="{D46019AA-70FE-F8F5-93CF-35CACE4F4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597" y="1464293"/>
            <a:ext cx="4693388" cy="2628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4392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Tree>
    <p:extLst>
      <p:ext uri="{BB962C8B-B14F-4D97-AF65-F5344CB8AC3E}">
        <p14:creationId xmlns:p14="http://schemas.microsoft.com/office/powerpoint/2010/main" val="2584740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417713"/>
            <a:ext cx="11581410" cy="923330"/>
          </a:xfrm>
          <a:prstGeom prst="rect">
            <a:avLst/>
          </a:prstGeom>
          <a:noFill/>
        </p:spPr>
        <p:txBody>
          <a:bodyPr wrap="square">
            <a:spAutoFit/>
          </a:bodyPr>
          <a:lstStyle/>
          <a:p>
            <a:r>
              <a:rPr lang="it-IT" b="0" i="0" dirty="0">
                <a:solidFill>
                  <a:srgbClr val="050E17"/>
                </a:solidFill>
                <a:effectLst/>
                <a:latin typeface="-apple-system"/>
              </a:rPr>
              <a:t>In JAVA esiste il concetto di scope (visibilità): i metodi di una classe e dei suoi oggetti non sono sempre visibili ed utilizzabili da qualunque altro oggetto provi ad usare quella classe.</a:t>
            </a:r>
          </a:p>
          <a:p>
            <a:endParaRPr lang="it-IT" b="0" i="0" dirty="0">
              <a:solidFill>
                <a:srgbClr val="050E17"/>
              </a:solidFill>
              <a:effectLst/>
              <a:latin typeface="-apple-system"/>
            </a:endParaRPr>
          </a:p>
        </p:txBody>
      </p:sp>
    </p:spTree>
    <p:extLst>
      <p:ext uri="{BB962C8B-B14F-4D97-AF65-F5344CB8AC3E}">
        <p14:creationId xmlns:p14="http://schemas.microsoft.com/office/powerpoint/2010/main" val="872402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417713"/>
            <a:ext cx="11581410" cy="923330"/>
          </a:xfrm>
          <a:prstGeom prst="rect">
            <a:avLst/>
          </a:prstGeom>
          <a:noFill/>
        </p:spPr>
        <p:txBody>
          <a:bodyPr wrap="square">
            <a:spAutoFit/>
          </a:bodyPr>
          <a:lstStyle/>
          <a:p>
            <a:r>
              <a:rPr lang="it-IT" b="0" i="0" dirty="0">
                <a:solidFill>
                  <a:srgbClr val="050E17"/>
                </a:solidFill>
                <a:effectLst/>
                <a:latin typeface="-apple-system"/>
              </a:rPr>
              <a:t>In JAVA esiste il concetto di scope (visibilità): i metodi di una classe e dei suoi oggetti non sono sempre visibili ed utilizzabili da qualunque altro oggetto provi ad usare quella classe.</a:t>
            </a:r>
          </a:p>
          <a:p>
            <a:endParaRPr lang="it-IT" b="0" i="0" dirty="0">
              <a:solidFill>
                <a:srgbClr val="050E17"/>
              </a:solidFill>
              <a:effectLst/>
              <a:latin typeface="-apple-system"/>
            </a:endParaRPr>
          </a:p>
        </p:txBody>
      </p:sp>
      <p:sp>
        <p:nvSpPr>
          <p:cNvPr id="3" name="CasellaDiTesto 2">
            <a:extLst>
              <a:ext uri="{FF2B5EF4-FFF2-40B4-BE49-F238E27FC236}">
                <a16:creationId xmlns:a16="http://schemas.microsoft.com/office/drawing/2014/main" id="{A5F8E9AD-F05F-E572-065E-3357FC8409B3}"/>
              </a:ext>
            </a:extLst>
          </p:cNvPr>
          <p:cNvSpPr txBox="1"/>
          <p:nvPr/>
        </p:nvSpPr>
        <p:spPr>
          <a:xfrm>
            <a:off x="282039" y="1971711"/>
            <a:ext cx="10910095" cy="369332"/>
          </a:xfrm>
          <a:prstGeom prst="rect">
            <a:avLst/>
          </a:prstGeom>
          <a:noFill/>
        </p:spPr>
        <p:txBody>
          <a:bodyPr wrap="square">
            <a:spAutoFit/>
          </a:bodyPr>
          <a:lstStyle/>
          <a:p>
            <a:r>
              <a:rPr lang="it-IT" b="0" i="0" dirty="0">
                <a:solidFill>
                  <a:srgbClr val="050E17"/>
                </a:solidFill>
                <a:effectLst/>
                <a:latin typeface="-apple-system"/>
              </a:rPr>
              <a:t>ci sono quattro livelli di visibilità o scope per i metodi e le variabili:</a:t>
            </a:r>
            <a:endParaRPr lang="it-IT" dirty="0"/>
          </a:p>
        </p:txBody>
      </p:sp>
    </p:spTree>
    <p:extLst>
      <p:ext uri="{BB962C8B-B14F-4D97-AF65-F5344CB8AC3E}">
        <p14:creationId xmlns:p14="http://schemas.microsoft.com/office/powerpoint/2010/main" val="58717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417713"/>
            <a:ext cx="11581410" cy="923330"/>
          </a:xfrm>
          <a:prstGeom prst="rect">
            <a:avLst/>
          </a:prstGeom>
          <a:noFill/>
        </p:spPr>
        <p:txBody>
          <a:bodyPr wrap="square">
            <a:spAutoFit/>
          </a:bodyPr>
          <a:lstStyle/>
          <a:p>
            <a:r>
              <a:rPr lang="it-IT" b="0" i="0" dirty="0">
                <a:solidFill>
                  <a:srgbClr val="050E17"/>
                </a:solidFill>
                <a:effectLst/>
                <a:latin typeface="-apple-system"/>
              </a:rPr>
              <a:t>In JAVA esiste il concetto di scope (visibilità): i metodi di una classe e dei suoi oggetti non sono sempre visibili ed utilizzabili da qualunque altro oggetto provi ad usare quella classe.</a:t>
            </a:r>
          </a:p>
          <a:p>
            <a:endParaRPr lang="it-IT" b="0" i="0" dirty="0">
              <a:solidFill>
                <a:srgbClr val="050E17"/>
              </a:solidFill>
              <a:effectLst/>
              <a:latin typeface="-apple-system"/>
            </a:endParaRPr>
          </a:p>
        </p:txBody>
      </p:sp>
      <p:sp>
        <p:nvSpPr>
          <p:cNvPr id="3" name="CasellaDiTesto 2">
            <a:extLst>
              <a:ext uri="{FF2B5EF4-FFF2-40B4-BE49-F238E27FC236}">
                <a16:creationId xmlns:a16="http://schemas.microsoft.com/office/drawing/2014/main" id="{A5F8E9AD-F05F-E572-065E-3357FC8409B3}"/>
              </a:ext>
            </a:extLst>
          </p:cNvPr>
          <p:cNvSpPr txBox="1"/>
          <p:nvPr/>
        </p:nvSpPr>
        <p:spPr>
          <a:xfrm>
            <a:off x="282039" y="1971711"/>
            <a:ext cx="10910095" cy="369332"/>
          </a:xfrm>
          <a:prstGeom prst="rect">
            <a:avLst/>
          </a:prstGeom>
          <a:noFill/>
        </p:spPr>
        <p:txBody>
          <a:bodyPr wrap="square">
            <a:spAutoFit/>
          </a:bodyPr>
          <a:lstStyle/>
          <a:p>
            <a:r>
              <a:rPr lang="it-IT" b="0" i="0" dirty="0">
                <a:solidFill>
                  <a:srgbClr val="050E17"/>
                </a:solidFill>
                <a:effectLst/>
                <a:latin typeface="-apple-system"/>
              </a:rPr>
              <a:t>ci sono quattro livelli di visibilità o scope per i metodi e le variabili:</a:t>
            </a:r>
            <a:endParaRPr lang="it-IT" dirty="0"/>
          </a:p>
        </p:txBody>
      </p:sp>
      <p:sp>
        <p:nvSpPr>
          <p:cNvPr id="6" name="Rectangle 2">
            <a:extLst>
              <a:ext uri="{FF2B5EF4-FFF2-40B4-BE49-F238E27FC236}">
                <a16:creationId xmlns:a16="http://schemas.microsoft.com/office/drawing/2014/main" id="{FB401501-DC40-043F-8D58-E9DEC30E933F}"/>
              </a:ext>
            </a:extLst>
          </p:cNvPr>
          <p:cNvSpPr>
            <a:spLocks noChangeArrowheads="1"/>
          </p:cNvSpPr>
          <p:nvPr/>
        </p:nvSpPr>
        <p:spPr bwMode="auto">
          <a:xfrm>
            <a:off x="4137182" y="2427723"/>
            <a:ext cx="3477531" cy="884797"/>
          </a:xfrm>
          <a:prstGeom prst="rect">
            <a:avLst/>
          </a:prstGeom>
          <a:solidFill>
            <a:srgbClr val="F1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9044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endParaRPr kumimoji="0" lang="it-IT" altLang="it-IT" sz="1500" b="0" i="0" u="none" strike="noStrike" cap="none" normalizeH="0" baseline="0" dirty="0">
              <a:ln>
                <a:noFill/>
              </a:ln>
              <a:solidFill>
                <a:srgbClr val="050E17"/>
              </a:solidFill>
              <a:effectLst/>
              <a:latin typeface="-apple-system"/>
            </a:endParaRPr>
          </a:p>
          <a:p>
            <a:pPr marL="0" marR="0" lvl="0" indent="0" algn="ctr" defTabSz="914400" rtl="0" eaLnBrk="0" fontAlgn="base" latinLnBrk="0" hangingPunct="0">
              <a:lnSpc>
                <a:spcPct val="100000"/>
              </a:lnSpc>
              <a:spcBef>
                <a:spcPct val="0"/>
              </a:spcBef>
              <a:spcAft>
                <a:spcPct val="0"/>
              </a:spcAft>
              <a:buClrTx/>
              <a:buSzTx/>
              <a:tabLst/>
            </a:pPr>
            <a:r>
              <a:rPr kumimoji="0" lang="it-IT" altLang="it-IT" sz="1500" b="1" i="0" u="none" strike="noStrike" cap="none" normalizeH="0" baseline="0" dirty="0">
                <a:ln>
                  <a:noFill/>
                </a:ln>
                <a:solidFill>
                  <a:srgbClr val="050E17"/>
                </a:solidFill>
                <a:effectLst/>
                <a:latin typeface="-apple-system"/>
              </a:rPr>
              <a:t>Public</a:t>
            </a:r>
            <a:r>
              <a:rPr kumimoji="0" lang="it-IT" altLang="it-IT" sz="1500" b="0" i="0" u="none" strike="noStrike" cap="none" normalizeH="0" baseline="0" dirty="0">
                <a:ln>
                  <a:noFill/>
                </a:ln>
                <a:solidFill>
                  <a:srgbClr val="050E17"/>
                </a:solidFill>
                <a:effectLst/>
                <a:latin typeface="-apple-system"/>
              </a:rPr>
              <a:t>, </a:t>
            </a:r>
            <a:r>
              <a:rPr kumimoji="0" lang="it-IT" altLang="it-IT" sz="1500" b="1" i="0" u="none" strike="noStrike" cap="none" normalizeH="0" baseline="0" dirty="0">
                <a:ln>
                  <a:noFill/>
                </a:ln>
                <a:solidFill>
                  <a:srgbClr val="050E17"/>
                </a:solidFill>
                <a:effectLst/>
                <a:latin typeface="-apple-system"/>
              </a:rPr>
              <a:t>Private</a:t>
            </a:r>
            <a:r>
              <a:rPr kumimoji="0" lang="it-IT" altLang="it-IT" sz="1500" b="0" i="0" u="none" strike="noStrike" cap="none" normalizeH="0" baseline="0" dirty="0">
                <a:ln>
                  <a:noFill/>
                </a:ln>
                <a:solidFill>
                  <a:srgbClr val="050E17"/>
                </a:solidFill>
                <a:effectLst/>
                <a:latin typeface="-apple-system"/>
              </a:rPr>
              <a:t>, </a:t>
            </a:r>
            <a:r>
              <a:rPr kumimoji="0" lang="it-IT" altLang="it-IT" sz="1500" b="1" i="0" u="none" strike="noStrike" cap="none" normalizeH="0" baseline="0" dirty="0" err="1">
                <a:ln>
                  <a:noFill/>
                </a:ln>
                <a:solidFill>
                  <a:srgbClr val="050E17"/>
                </a:solidFill>
                <a:effectLst/>
                <a:latin typeface="-apple-system"/>
              </a:rPr>
              <a:t>Protected</a:t>
            </a:r>
            <a:r>
              <a:rPr kumimoji="0" lang="it-IT" altLang="it-IT" sz="1500" b="0" i="0" u="none" strike="noStrike" cap="none" normalizeH="0" baseline="0" dirty="0">
                <a:ln>
                  <a:noFill/>
                </a:ln>
                <a:solidFill>
                  <a:srgbClr val="050E17"/>
                </a:solidFill>
                <a:effectLst/>
                <a:latin typeface="-apple-system"/>
              </a:rPr>
              <a:t> e </a:t>
            </a:r>
            <a:r>
              <a:rPr kumimoji="0" lang="it-IT" altLang="it-IT" sz="1500" b="1" i="0" u="none" strike="noStrike" cap="none" normalizeH="0" baseline="0" dirty="0">
                <a:ln>
                  <a:noFill/>
                </a:ln>
                <a:solidFill>
                  <a:srgbClr val="050E17"/>
                </a:solidFill>
                <a:effectLst/>
                <a:latin typeface="-apple-system"/>
              </a:rPr>
              <a:t>Package-private</a:t>
            </a:r>
          </a:p>
          <a:p>
            <a:pPr marL="0" marR="0" lvl="0" indent="0" algn="ctr" defTabSz="914400" rtl="0" eaLnBrk="0" fontAlgn="base" latinLnBrk="0" hangingPunct="0">
              <a:lnSpc>
                <a:spcPct val="100000"/>
              </a:lnSpc>
              <a:spcBef>
                <a:spcPct val="0"/>
              </a:spcBef>
              <a:spcAft>
                <a:spcPct val="0"/>
              </a:spcAft>
              <a:buClrTx/>
              <a:buSzTx/>
              <a:tabLst/>
            </a:pPr>
            <a:endParaRPr kumimoji="0" lang="it-IT" altLang="it-IT" sz="15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56756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417713"/>
            <a:ext cx="11581410" cy="923330"/>
          </a:xfrm>
          <a:prstGeom prst="rect">
            <a:avLst/>
          </a:prstGeom>
          <a:noFill/>
        </p:spPr>
        <p:txBody>
          <a:bodyPr wrap="square">
            <a:spAutoFit/>
          </a:bodyPr>
          <a:lstStyle/>
          <a:p>
            <a:r>
              <a:rPr lang="it-IT" b="0" i="0" dirty="0">
                <a:solidFill>
                  <a:srgbClr val="050E17"/>
                </a:solidFill>
                <a:effectLst/>
                <a:latin typeface="-apple-system"/>
              </a:rPr>
              <a:t>In JAVA esiste il concetto di scope (visibilità): i metodi di una classe e dei suoi oggetti non sono sempre visibili ed utilizzabili da qualunque altro oggetto provi ad usare quella classe.</a:t>
            </a:r>
          </a:p>
          <a:p>
            <a:endParaRPr lang="it-IT" b="0" i="0" dirty="0">
              <a:solidFill>
                <a:srgbClr val="050E17"/>
              </a:solidFill>
              <a:effectLst/>
              <a:latin typeface="-apple-system"/>
            </a:endParaRPr>
          </a:p>
        </p:txBody>
      </p:sp>
      <p:sp>
        <p:nvSpPr>
          <p:cNvPr id="3" name="CasellaDiTesto 2">
            <a:extLst>
              <a:ext uri="{FF2B5EF4-FFF2-40B4-BE49-F238E27FC236}">
                <a16:creationId xmlns:a16="http://schemas.microsoft.com/office/drawing/2014/main" id="{A5F8E9AD-F05F-E572-065E-3357FC8409B3}"/>
              </a:ext>
            </a:extLst>
          </p:cNvPr>
          <p:cNvSpPr txBox="1"/>
          <p:nvPr/>
        </p:nvSpPr>
        <p:spPr>
          <a:xfrm>
            <a:off x="282039" y="1971711"/>
            <a:ext cx="10910095" cy="369332"/>
          </a:xfrm>
          <a:prstGeom prst="rect">
            <a:avLst/>
          </a:prstGeom>
          <a:noFill/>
        </p:spPr>
        <p:txBody>
          <a:bodyPr wrap="square">
            <a:spAutoFit/>
          </a:bodyPr>
          <a:lstStyle/>
          <a:p>
            <a:r>
              <a:rPr lang="it-IT" b="0" i="0" dirty="0">
                <a:solidFill>
                  <a:srgbClr val="050E17"/>
                </a:solidFill>
                <a:effectLst/>
                <a:latin typeface="-apple-system"/>
              </a:rPr>
              <a:t>ci sono quattro livelli di visibilità o scope per i metodi e le variabili:</a:t>
            </a:r>
            <a:endParaRPr lang="it-IT" dirty="0"/>
          </a:p>
        </p:txBody>
      </p:sp>
      <p:sp>
        <p:nvSpPr>
          <p:cNvPr id="6" name="Rectangle 2">
            <a:extLst>
              <a:ext uri="{FF2B5EF4-FFF2-40B4-BE49-F238E27FC236}">
                <a16:creationId xmlns:a16="http://schemas.microsoft.com/office/drawing/2014/main" id="{FB401501-DC40-043F-8D58-E9DEC30E933F}"/>
              </a:ext>
            </a:extLst>
          </p:cNvPr>
          <p:cNvSpPr>
            <a:spLocks noChangeArrowheads="1"/>
          </p:cNvSpPr>
          <p:nvPr/>
        </p:nvSpPr>
        <p:spPr bwMode="auto">
          <a:xfrm>
            <a:off x="4137182" y="2427723"/>
            <a:ext cx="3477531" cy="884797"/>
          </a:xfrm>
          <a:prstGeom prst="rect">
            <a:avLst/>
          </a:prstGeom>
          <a:solidFill>
            <a:srgbClr val="F1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9044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endParaRPr kumimoji="0" lang="it-IT" altLang="it-IT" sz="1500" b="0" i="0" u="none" strike="noStrike" cap="none" normalizeH="0" baseline="0" dirty="0">
              <a:ln>
                <a:noFill/>
              </a:ln>
              <a:solidFill>
                <a:srgbClr val="050E17"/>
              </a:solidFill>
              <a:effectLst/>
              <a:latin typeface="-apple-system"/>
            </a:endParaRPr>
          </a:p>
          <a:p>
            <a:pPr marL="0" marR="0" lvl="0" indent="0" algn="ctr" defTabSz="914400" rtl="0" eaLnBrk="0" fontAlgn="base" latinLnBrk="0" hangingPunct="0">
              <a:lnSpc>
                <a:spcPct val="100000"/>
              </a:lnSpc>
              <a:spcBef>
                <a:spcPct val="0"/>
              </a:spcBef>
              <a:spcAft>
                <a:spcPct val="0"/>
              </a:spcAft>
              <a:buClrTx/>
              <a:buSzTx/>
              <a:tabLst/>
            </a:pPr>
            <a:r>
              <a:rPr kumimoji="0" lang="it-IT" altLang="it-IT" sz="1500" b="1" i="0" u="none" strike="noStrike" cap="none" normalizeH="0" baseline="0" dirty="0">
                <a:ln>
                  <a:noFill/>
                </a:ln>
                <a:solidFill>
                  <a:srgbClr val="050E17"/>
                </a:solidFill>
                <a:effectLst/>
                <a:latin typeface="-apple-system"/>
              </a:rPr>
              <a:t>Public</a:t>
            </a:r>
            <a:r>
              <a:rPr kumimoji="0" lang="it-IT" altLang="it-IT" sz="1500" b="0" i="0" u="none" strike="noStrike" cap="none" normalizeH="0" baseline="0" dirty="0">
                <a:ln>
                  <a:noFill/>
                </a:ln>
                <a:solidFill>
                  <a:srgbClr val="050E17"/>
                </a:solidFill>
                <a:effectLst/>
                <a:latin typeface="-apple-system"/>
              </a:rPr>
              <a:t>, </a:t>
            </a:r>
            <a:r>
              <a:rPr kumimoji="0" lang="it-IT" altLang="it-IT" sz="1500" b="1" i="0" u="none" strike="noStrike" cap="none" normalizeH="0" baseline="0" dirty="0">
                <a:ln>
                  <a:noFill/>
                </a:ln>
                <a:solidFill>
                  <a:srgbClr val="050E17"/>
                </a:solidFill>
                <a:effectLst/>
                <a:latin typeface="-apple-system"/>
              </a:rPr>
              <a:t>Private</a:t>
            </a:r>
            <a:r>
              <a:rPr kumimoji="0" lang="it-IT" altLang="it-IT" sz="1500" b="0" i="0" u="none" strike="noStrike" cap="none" normalizeH="0" baseline="0" dirty="0">
                <a:ln>
                  <a:noFill/>
                </a:ln>
                <a:solidFill>
                  <a:srgbClr val="050E17"/>
                </a:solidFill>
                <a:effectLst/>
                <a:latin typeface="-apple-system"/>
              </a:rPr>
              <a:t>, </a:t>
            </a:r>
            <a:r>
              <a:rPr kumimoji="0" lang="it-IT" altLang="it-IT" sz="1500" b="1" i="0" u="none" strike="noStrike" cap="none" normalizeH="0" baseline="0" dirty="0" err="1">
                <a:ln>
                  <a:noFill/>
                </a:ln>
                <a:solidFill>
                  <a:srgbClr val="050E17"/>
                </a:solidFill>
                <a:effectLst/>
                <a:latin typeface="-apple-system"/>
              </a:rPr>
              <a:t>Protected</a:t>
            </a:r>
            <a:r>
              <a:rPr kumimoji="0" lang="it-IT" altLang="it-IT" sz="1500" b="0" i="0" u="none" strike="noStrike" cap="none" normalizeH="0" baseline="0" dirty="0">
                <a:ln>
                  <a:noFill/>
                </a:ln>
                <a:solidFill>
                  <a:srgbClr val="050E17"/>
                </a:solidFill>
                <a:effectLst/>
                <a:latin typeface="-apple-system"/>
              </a:rPr>
              <a:t> e </a:t>
            </a:r>
            <a:r>
              <a:rPr kumimoji="0" lang="it-IT" altLang="it-IT" sz="1500" b="1" i="0" u="none" strike="noStrike" cap="none" normalizeH="0" baseline="0" dirty="0">
                <a:ln>
                  <a:noFill/>
                </a:ln>
                <a:solidFill>
                  <a:srgbClr val="050E17"/>
                </a:solidFill>
                <a:effectLst/>
                <a:latin typeface="-apple-system"/>
              </a:rPr>
              <a:t>Package-private</a:t>
            </a:r>
          </a:p>
          <a:p>
            <a:pPr marL="0" marR="0" lvl="0" indent="0" algn="ctr" defTabSz="914400" rtl="0" eaLnBrk="0" fontAlgn="base" latinLnBrk="0" hangingPunct="0">
              <a:lnSpc>
                <a:spcPct val="100000"/>
              </a:lnSpc>
              <a:spcBef>
                <a:spcPct val="0"/>
              </a:spcBef>
              <a:spcAft>
                <a:spcPct val="0"/>
              </a:spcAft>
              <a:buClrTx/>
              <a:buSzTx/>
              <a:tabLst/>
            </a:pPr>
            <a:endParaRPr kumimoji="0" lang="it-IT" altLang="it-IT" sz="1500" b="0" i="0" u="none" strike="noStrike" cap="none" normalizeH="0" baseline="0" dirty="0">
              <a:ln>
                <a:noFill/>
              </a:ln>
              <a:solidFill>
                <a:schemeClr val="tx1"/>
              </a:solidFill>
              <a:effectLst/>
              <a:latin typeface="Arial" panose="020B0604020202020204" pitchFamily="34" charset="0"/>
            </a:endParaRPr>
          </a:p>
        </p:txBody>
      </p:sp>
      <p:sp>
        <p:nvSpPr>
          <p:cNvPr id="7" name="CasellaDiTesto 6">
            <a:extLst>
              <a:ext uri="{FF2B5EF4-FFF2-40B4-BE49-F238E27FC236}">
                <a16:creationId xmlns:a16="http://schemas.microsoft.com/office/drawing/2014/main" id="{9A9E4A99-0A8E-C9E8-D981-0F4544F0BCCD}"/>
              </a:ext>
            </a:extLst>
          </p:cNvPr>
          <p:cNvSpPr txBox="1"/>
          <p:nvPr/>
        </p:nvSpPr>
        <p:spPr>
          <a:xfrm>
            <a:off x="178494" y="3467584"/>
            <a:ext cx="10910095" cy="646331"/>
          </a:xfrm>
          <a:prstGeom prst="rect">
            <a:avLst/>
          </a:prstGeom>
          <a:noFill/>
        </p:spPr>
        <p:txBody>
          <a:bodyPr wrap="square">
            <a:spAutoFit/>
          </a:bodyPr>
          <a:lstStyle/>
          <a:p>
            <a:pPr algn="just"/>
            <a:r>
              <a:rPr lang="it-IT" dirty="0">
                <a:solidFill>
                  <a:srgbClr val="050E17"/>
                </a:solidFill>
                <a:latin typeface="-apple-system"/>
              </a:rPr>
              <a:t>Di questi 4 noi, in questa fase approfondiremo solo i </a:t>
            </a:r>
            <a:r>
              <a:rPr lang="it-IT" b="1" dirty="0">
                <a:solidFill>
                  <a:srgbClr val="050E17"/>
                </a:solidFill>
                <a:latin typeface="-apple-system"/>
              </a:rPr>
              <a:t>public</a:t>
            </a:r>
            <a:r>
              <a:rPr lang="it-IT" dirty="0">
                <a:solidFill>
                  <a:srgbClr val="050E17"/>
                </a:solidFill>
                <a:latin typeface="-apple-system"/>
              </a:rPr>
              <a:t> ed i </a:t>
            </a:r>
            <a:r>
              <a:rPr lang="it-IT" b="1" dirty="0">
                <a:solidFill>
                  <a:srgbClr val="050E17"/>
                </a:solidFill>
                <a:latin typeface="-apple-system"/>
              </a:rPr>
              <a:t>private</a:t>
            </a:r>
            <a:r>
              <a:rPr lang="it-IT" dirty="0">
                <a:solidFill>
                  <a:srgbClr val="050E17"/>
                </a:solidFill>
                <a:latin typeface="-apple-system"/>
              </a:rPr>
              <a:t>, perché per meglio comprendere gli altri sarà necessario acquisire i concetti di estensione di classe;</a:t>
            </a:r>
            <a:endParaRPr lang="it-IT" dirty="0"/>
          </a:p>
        </p:txBody>
      </p:sp>
    </p:spTree>
    <p:extLst>
      <p:ext uri="{BB962C8B-B14F-4D97-AF65-F5344CB8AC3E}">
        <p14:creationId xmlns:p14="http://schemas.microsoft.com/office/powerpoint/2010/main" val="3166776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417713"/>
            <a:ext cx="11581410" cy="923330"/>
          </a:xfrm>
          <a:prstGeom prst="rect">
            <a:avLst/>
          </a:prstGeom>
          <a:noFill/>
        </p:spPr>
        <p:txBody>
          <a:bodyPr wrap="square">
            <a:spAutoFit/>
          </a:bodyPr>
          <a:lstStyle/>
          <a:p>
            <a:r>
              <a:rPr lang="it-IT" b="0" i="0" dirty="0">
                <a:solidFill>
                  <a:srgbClr val="050E17"/>
                </a:solidFill>
                <a:effectLst/>
                <a:latin typeface="-apple-system"/>
              </a:rPr>
              <a:t>In JAVA esiste il concetto di scope (visibilità): i metodi di una classe e dei suoi oggetti non sono sempre visibili ed utilizzabili da qualunque altro oggetto provi ad usare quella classe.</a:t>
            </a:r>
          </a:p>
          <a:p>
            <a:endParaRPr lang="it-IT" b="0" i="0" dirty="0">
              <a:solidFill>
                <a:srgbClr val="050E17"/>
              </a:solidFill>
              <a:effectLst/>
              <a:latin typeface="-apple-system"/>
            </a:endParaRPr>
          </a:p>
        </p:txBody>
      </p:sp>
      <p:sp>
        <p:nvSpPr>
          <p:cNvPr id="3" name="CasellaDiTesto 2">
            <a:extLst>
              <a:ext uri="{FF2B5EF4-FFF2-40B4-BE49-F238E27FC236}">
                <a16:creationId xmlns:a16="http://schemas.microsoft.com/office/drawing/2014/main" id="{A5F8E9AD-F05F-E572-065E-3357FC8409B3}"/>
              </a:ext>
            </a:extLst>
          </p:cNvPr>
          <p:cNvSpPr txBox="1"/>
          <p:nvPr/>
        </p:nvSpPr>
        <p:spPr>
          <a:xfrm>
            <a:off x="282039" y="1971711"/>
            <a:ext cx="10910095" cy="369332"/>
          </a:xfrm>
          <a:prstGeom prst="rect">
            <a:avLst/>
          </a:prstGeom>
          <a:noFill/>
        </p:spPr>
        <p:txBody>
          <a:bodyPr wrap="square">
            <a:spAutoFit/>
          </a:bodyPr>
          <a:lstStyle/>
          <a:p>
            <a:r>
              <a:rPr lang="it-IT" b="0" i="0" dirty="0">
                <a:solidFill>
                  <a:srgbClr val="050E17"/>
                </a:solidFill>
                <a:effectLst/>
                <a:latin typeface="-apple-system"/>
              </a:rPr>
              <a:t>ci sono quattro livelli di visibilità o scope per i metodi e le variabili:</a:t>
            </a:r>
            <a:endParaRPr lang="it-IT" dirty="0"/>
          </a:p>
        </p:txBody>
      </p:sp>
      <p:sp>
        <p:nvSpPr>
          <p:cNvPr id="6" name="Rectangle 2">
            <a:extLst>
              <a:ext uri="{FF2B5EF4-FFF2-40B4-BE49-F238E27FC236}">
                <a16:creationId xmlns:a16="http://schemas.microsoft.com/office/drawing/2014/main" id="{FB401501-DC40-043F-8D58-E9DEC30E933F}"/>
              </a:ext>
            </a:extLst>
          </p:cNvPr>
          <p:cNvSpPr>
            <a:spLocks noChangeArrowheads="1"/>
          </p:cNvSpPr>
          <p:nvPr/>
        </p:nvSpPr>
        <p:spPr bwMode="auto">
          <a:xfrm>
            <a:off x="4137182" y="2427723"/>
            <a:ext cx="3477531" cy="884797"/>
          </a:xfrm>
          <a:prstGeom prst="rect">
            <a:avLst/>
          </a:prstGeom>
          <a:solidFill>
            <a:srgbClr val="F1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9044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endParaRPr kumimoji="0" lang="it-IT" altLang="it-IT" sz="1500" b="0" i="0" u="none" strike="noStrike" cap="none" normalizeH="0" baseline="0" dirty="0">
              <a:ln>
                <a:noFill/>
              </a:ln>
              <a:solidFill>
                <a:srgbClr val="050E17"/>
              </a:solidFill>
              <a:effectLst/>
              <a:latin typeface="-apple-system"/>
            </a:endParaRPr>
          </a:p>
          <a:p>
            <a:pPr marL="0" marR="0" lvl="0" indent="0" algn="ctr" defTabSz="914400" rtl="0" eaLnBrk="0" fontAlgn="base" latinLnBrk="0" hangingPunct="0">
              <a:lnSpc>
                <a:spcPct val="100000"/>
              </a:lnSpc>
              <a:spcBef>
                <a:spcPct val="0"/>
              </a:spcBef>
              <a:spcAft>
                <a:spcPct val="0"/>
              </a:spcAft>
              <a:buClrTx/>
              <a:buSzTx/>
              <a:tabLst/>
            </a:pPr>
            <a:r>
              <a:rPr kumimoji="0" lang="it-IT" altLang="it-IT" sz="1500" b="1" i="0" u="none" strike="noStrike" cap="none" normalizeH="0" baseline="0" dirty="0">
                <a:ln>
                  <a:noFill/>
                </a:ln>
                <a:solidFill>
                  <a:srgbClr val="050E17"/>
                </a:solidFill>
                <a:effectLst/>
                <a:latin typeface="-apple-system"/>
              </a:rPr>
              <a:t>Public</a:t>
            </a:r>
            <a:r>
              <a:rPr kumimoji="0" lang="it-IT" altLang="it-IT" sz="1500" b="0" i="0" u="none" strike="noStrike" cap="none" normalizeH="0" baseline="0" dirty="0">
                <a:ln>
                  <a:noFill/>
                </a:ln>
                <a:solidFill>
                  <a:srgbClr val="050E17"/>
                </a:solidFill>
                <a:effectLst/>
                <a:latin typeface="-apple-system"/>
              </a:rPr>
              <a:t>, </a:t>
            </a:r>
            <a:r>
              <a:rPr kumimoji="0" lang="it-IT" altLang="it-IT" sz="1500" b="1" i="0" u="none" strike="noStrike" cap="none" normalizeH="0" baseline="0" dirty="0">
                <a:ln>
                  <a:noFill/>
                </a:ln>
                <a:solidFill>
                  <a:srgbClr val="050E17"/>
                </a:solidFill>
                <a:effectLst/>
                <a:latin typeface="-apple-system"/>
              </a:rPr>
              <a:t>Private</a:t>
            </a:r>
            <a:r>
              <a:rPr kumimoji="0" lang="it-IT" altLang="it-IT" sz="1500" b="0" i="0" u="none" strike="noStrike" cap="none" normalizeH="0" baseline="0" dirty="0">
                <a:ln>
                  <a:noFill/>
                </a:ln>
                <a:solidFill>
                  <a:srgbClr val="050E17"/>
                </a:solidFill>
                <a:effectLst/>
                <a:latin typeface="-apple-system"/>
              </a:rPr>
              <a:t>, </a:t>
            </a:r>
            <a:r>
              <a:rPr kumimoji="0" lang="it-IT" altLang="it-IT" sz="1500" b="1" i="0" u="none" strike="noStrike" cap="none" normalizeH="0" baseline="0" dirty="0" err="1">
                <a:ln>
                  <a:noFill/>
                </a:ln>
                <a:solidFill>
                  <a:srgbClr val="050E17"/>
                </a:solidFill>
                <a:effectLst/>
                <a:latin typeface="-apple-system"/>
              </a:rPr>
              <a:t>Protected</a:t>
            </a:r>
            <a:r>
              <a:rPr kumimoji="0" lang="it-IT" altLang="it-IT" sz="1500" b="0" i="0" u="none" strike="noStrike" cap="none" normalizeH="0" baseline="0" dirty="0">
                <a:ln>
                  <a:noFill/>
                </a:ln>
                <a:solidFill>
                  <a:srgbClr val="050E17"/>
                </a:solidFill>
                <a:effectLst/>
                <a:latin typeface="-apple-system"/>
              </a:rPr>
              <a:t> e </a:t>
            </a:r>
            <a:r>
              <a:rPr kumimoji="0" lang="it-IT" altLang="it-IT" sz="1500" b="1" i="0" u="none" strike="noStrike" cap="none" normalizeH="0" baseline="0" dirty="0">
                <a:ln>
                  <a:noFill/>
                </a:ln>
                <a:solidFill>
                  <a:srgbClr val="050E17"/>
                </a:solidFill>
                <a:effectLst/>
                <a:latin typeface="-apple-system"/>
              </a:rPr>
              <a:t>Package-private</a:t>
            </a:r>
          </a:p>
          <a:p>
            <a:pPr marL="0" marR="0" lvl="0" indent="0" algn="ctr" defTabSz="914400" rtl="0" eaLnBrk="0" fontAlgn="base" latinLnBrk="0" hangingPunct="0">
              <a:lnSpc>
                <a:spcPct val="100000"/>
              </a:lnSpc>
              <a:spcBef>
                <a:spcPct val="0"/>
              </a:spcBef>
              <a:spcAft>
                <a:spcPct val="0"/>
              </a:spcAft>
              <a:buClrTx/>
              <a:buSzTx/>
              <a:tabLst/>
            </a:pPr>
            <a:endParaRPr kumimoji="0" lang="it-IT" altLang="it-IT" sz="1500" b="0" i="0" u="none" strike="noStrike" cap="none" normalizeH="0" baseline="0" dirty="0">
              <a:ln>
                <a:noFill/>
              </a:ln>
              <a:solidFill>
                <a:schemeClr val="tx1"/>
              </a:solidFill>
              <a:effectLst/>
              <a:latin typeface="Arial" panose="020B0604020202020204" pitchFamily="34" charset="0"/>
            </a:endParaRPr>
          </a:p>
        </p:txBody>
      </p:sp>
      <p:sp>
        <p:nvSpPr>
          <p:cNvPr id="7" name="CasellaDiTesto 6">
            <a:extLst>
              <a:ext uri="{FF2B5EF4-FFF2-40B4-BE49-F238E27FC236}">
                <a16:creationId xmlns:a16="http://schemas.microsoft.com/office/drawing/2014/main" id="{9A9E4A99-0A8E-C9E8-D981-0F4544F0BCCD}"/>
              </a:ext>
            </a:extLst>
          </p:cNvPr>
          <p:cNvSpPr txBox="1"/>
          <p:nvPr/>
        </p:nvSpPr>
        <p:spPr>
          <a:xfrm>
            <a:off x="178494" y="3467584"/>
            <a:ext cx="10910095" cy="923330"/>
          </a:xfrm>
          <a:prstGeom prst="rect">
            <a:avLst/>
          </a:prstGeom>
          <a:noFill/>
        </p:spPr>
        <p:txBody>
          <a:bodyPr wrap="square">
            <a:spAutoFit/>
          </a:bodyPr>
          <a:lstStyle/>
          <a:p>
            <a:pPr algn="just"/>
            <a:r>
              <a:rPr lang="it-IT" dirty="0">
                <a:solidFill>
                  <a:srgbClr val="050E17"/>
                </a:solidFill>
                <a:latin typeface="-apple-system"/>
              </a:rPr>
              <a:t>Di questi 4 noi, in questa fase approfondiremo solo i </a:t>
            </a:r>
            <a:r>
              <a:rPr lang="it-IT" b="1" dirty="0">
                <a:solidFill>
                  <a:srgbClr val="050E17"/>
                </a:solidFill>
                <a:latin typeface="-apple-system"/>
              </a:rPr>
              <a:t>public</a:t>
            </a:r>
            <a:r>
              <a:rPr lang="it-IT" dirty="0">
                <a:solidFill>
                  <a:srgbClr val="050E17"/>
                </a:solidFill>
                <a:latin typeface="-apple-system"/>
              </a:rPr>
              <a:t> ed i </a:t>
            </a:r>
            <a:r>
              <a:rPr lang="it-IT" b="1" dirty="0">
                <a:solidFill>
                  <a:srgbClr val="050E17"/>
                </a:solidFill>
                <a:latin typeface="-apple-system"/>
              </a:rPr>
              <a:t>private</a:t>
            </a:r>
            <a:r>
              <a:rPr lang="it-IT" dirty="0">
                <a:solidFill>
                  <a:srgbClr val="050E17"/>
                </a:solidFill>
                <a:latin typeface="-apple-system"/>
              </a:rPr>
              <a:t>, perché per meglio comprendere gli altri sarà necessario acquisire i concetti di estensione di classe; mentre per questi due non ci dovrebbero essere problemi.</a:t>
            </a:r>
            <a:endParaRPr lang="it-IT" dirty="0"/>
          </a:p>
        </p:txBody>
      </p:sp>
    </p:spTree>
    <p:extLst>
      <p:ext uri="{BB962C8B-B14F-4D97-AF65-F5344CB8AC3E}">
        <p14:creationId xmlns:p14="http://schemas.microsoft.com/office/powerpoint/2010/main" val="928844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417713"/>
            <a:ext cx="11581410" cy="369332"/>
          </a:xfrm>
          <a:prstGeom prst="rect">
            <a:avLst/>
          </a:prstGeom>
          <a:noFill/>
        </p:spPr>
        <p:txBody>
          <a:bodyPr wrap="square">
            <a:spAutoFit/>
          </a:bodyPr>
          <a:lstStyle/>
          <a:p>
            <a:r>
              <a:rPr lang="it-IT" b="0" i="0" dirty="0">
                <a:solidFill>
                  <a:srgbClr val="050E17"/>
                </a:solidFill>
                <a:effectLst/>
                <a:latin typeface="-apple-system"/>
              </a:rPr>
              <a:t>In Java, i due livelli di visibilità più comuni per i metodi e le variabili sono public e private.</a:t>
            </a:r>
          </a:p>
        </p:txBody>
      </p:sp>
    </p:spTree>
    <p:extLst>
      <p:ext uri="{BB962C8B-B14F-4D97-AF65-F5344CB8AC3E}">
        <p14:creationId xmlns:p14="http://schemas.microsoft.com/office/powerpoint/2010/main" val="141445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417713"/>
            <a:ext cx="11581410" cy="923330"/>
          </a:xfrm>
          <a:prstGeom prst="rect">
            <a:avLst/>
          </a:prstGeom>
          <a:noFill/>
        </p:spPr>
        <p:txBody>
          <a:bodyPr wrap="square">
            <a:spAutoFit/>
          </a:bodyPr>
          <a:lstStyle/>
          <a:p>
            <a:r>
              <a:rPr lang="it-IT" b="0" i="0" dirty="0">
                <a:solidFill>
                  <a:srgbClr val="050E17"/>
                </a:solidFill>
                <a:effectLst/>
                <a:latin typeface="-apple-system"/>
              </a:rPr>
              <a:t>In Java, i due livelli di visibilità più comuni per i metodi e le variabili sono public e private.</a:t>
            </a:r>
          </a:p>
          <a:p>
            <a:endParaRPr lang="it-IT" b="0" i="0" dirty="0">
              <a:solidFill>
                <a:srgbClr val="050E17"/>
              </a:solidFill>
              <a:effectLst/>
              <a:latin typeface="-apple-system"/>
            </a:endParaRPr>
          </a:p>
          <a:p>
            <a:r>
              <a:rPr lang="it-IT" b="0" i="0" dirty="0">
                <a:solidFill>
                  <a:srgbClr val="050E17"/>
                </a:solidFill>
                <a:effectLst/>
                <a:latin typeface="-apple-system"/>
              </a:rPr>
              <a:t>Un metodo o una variabile dichiarati come public sono accessibili da qualsiasi classe in qualsiasi pacchetto. </a:t>
            </a:r>
          </a:p>
        </p:txBody>
      </p:sp>
    </p:spTree>
    <p:extLst>
      <p:ext uri="{BB962C8B-B14F-4D97-AF65-F5344CB8AC3E}">
        <p14:creationId xmlns:p14="http://schemas.microsoft.com/office/powerpoint/2010/main" val="2742113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417713"/>
            <a:ext cx="11581410" cy="1200329"/>
          </a:xfrm>
          <a:prstGeom prst="rect">
            <a:avLst/>
          </a:prstGeom>
          <a:noFill/>
        </p:spPr>
        <p:txBody>
          <a:bodyPr wrap="square">
            <a:spAutoFit/>
          </a:bodyPr>
          <a:lstStyle/>
          <a:p>
            <a:r>
              <a:rPr lang="it-IT" b="0" i="0" dirty="0">
                <a:solidFill>
                  <a:srgbClr val="050E17"/>
                </a:solidFill>
                <a:effectLst/>
                <a:latin typeface="-apple-system"/>
              </a:rPr>
              <a:t>In Java, i due livelli di visibilità più comuni per i metodi e le variabili sono public e private.</a:t>
            </a:r>
          </a:p>
          <a:p>
            <a:endParaRPr lang="it-IT" b="0" i="0" dirty="0">
              <a:solidFill>
                <a:srgbClr val="050E17"/>
              </a:solidFill>
              <a:effectLst/>
              <a:latin typeface="-apple-system"/>
            </a:endParaRPr>
          </a:p>
          <a:p>
            <a:r>
              <a:rPr lang="it-IT" b="0" i="0" dirty="0">
                <a:solidFill>
                  <a:srgbClr val="050E17"/>
                </a:solidFill>
                <a:effectLst/>
                <a:latin typeface="-apple-system"/>
              </a:rPr>
              <a:t>Un metodo o una variabile dichiarati come public sono accessibili da qualsiasi classe in qualsiasi pacchetto. Questo significa che se una classe ha un metodo pubblico, qualsiasi altra classe in qualsiasi pacchetto può chiamare quel metodo.</a:t>
            </a:r>
          </a:p>
        </p:txBody>
      </p:sp>
    </p:spTree>
    <p:extLst>
      <p:ext uri="{BB962C8B-B14F-4D97-AF65-F5344CB8AC3E}">
        <p14:creationId xmlns:p14="http://schemas.microsoft.com/office/powerpoint/2010/main" val="2133247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417713"/>
            <a:ext cx="11581410" cy="2031325"/>
          </a:xfrm>
          <a:prstGeom prst="rect">
            <a:avLst/>
          </a:prstGeom>
          <a:noFill/>
        </p:spPr>
        <p:txBody>
          <a:bodyPr wrap="square">
            <a:spAutoFit/>
          </a:bodyPr>
          <a:lstStyle/>
          <a:p>
            <a:r>
              <a:rPr lang="it-IT" b="0" i="0" dirty="0">
                <a:solidFill>
                  <a:srgbClr val="050E17"/>
                </a:solidFill>
                <a:effectLst/>
                <a:latin typeface="-apple-system"/>
              </a:rPr>
              <a:t>In Java, i due livelli di visibilità più comuni per i metodi e le variabili sono public e private.</a:t>
            </a:r>
          </a:p>
          <a:p>
            <a:endParaRPr lang="it-IT" b="0" i="0" dirty="0">
              <a:solidFill>
                <a:srgbClr val="050E17"/>
              </a:solidFill>
              <a:effectLst/>
              <a:latin typeface="-apple-system"/>
            </a:endParaRPr>
          </a:p>
          <a:p>
            <a:r>
              <a:rPr lang="it-IT" b="0" i="0" dirty="0">
                <a:solidFill>
                  <a:srgbClr val="050E17"/>
                </a:solidFill>
                <a:effectLst/>
                <a:latin typeface="-apple-system"/>
              </a:rPr>
              <a:t>Un metodo o una variabile dichiarati come public sono accessibili da qualsiasi classe in qualsiasi pacchetto. Questo significa che se una classe ha un metodo pubblico, qualsiasi altra classe in qualsiasi pacchetto può chiamare quel metodo.</a:t>
            </a:r>
          </a:p>
          <a:p>
            <a:endParaRPr lang="it-IT" b="0" i="0" dirty="0">
              <a:solidFill>
                <a:srgbClr val="050E17"/>
              </a:solidFill>
              <a:effectLst/>
              <a:latin typeface="-apple-system"/>
            </a:endParaRPr>
          </a:p>
          <a:p>
            <a:r>
              <a:rPr lang="it-IT" b="0" i="0" dirty="0">
                <a:solidFill>
                  <a:srgbClr val="050E17"/>
                </a:solidFill>
                <a:effectLst/>
                <a:latin typeface="-apple-system"/>
              </a:rPr>
              <a:t>Ad esempio, supponiamo di avere una classe </a:t>
            </a:r>
            <a:r>
              <a:rPr lang="it-IT" b="0" i="0" dirty="0" err="1">
                <a:solidFill>
                  <a:srgbClr val="050E17"/>
                </a:solidFill>
                <a:effectLst/>
                <a:latin typeface="-apple-system"/>
              </a:rPr>
              <a:t>ContoBancario</a:t>
            </a:r>
            <a:r>
              <a:rPr lang="it-IT" b="0" i="0" dirty="0">
                <a:solidFill>
                  <a:srgbClr val="050E17"/>
                </a:solidFill>
                <a:effectLst/>
                <a:latin typeface="-apple-system"/>
              </a:rPr>
              <a:t> con un metodo pubblico </a:t>
            </a:r>
            <a:r>
              <a:rPr lang="it-IT" b="0" i="0" dirty="0" err="1">
                <a:solidFill>
                  <a:srgbClr val="050E17"/>
                </a:solidFill>
                <a:effectLst/>
                <a:latin typeface="-apple-system"/>
              </a:rPr>
              <a:t>getSaldo</a:t>
            </a:r>
            <a:r>
              <a:rPr lang="it-IT" b="0" i="0" dirty="0">
                <a:solidFill>
                  <a:srgbClr val="050E17"/>
                </a:solidFill>
                <a:effectLst/>
                <a:latin typeface="-apple-system"/>
              </a:rPr>
              <a:t>() che restituisce il saldo del conto bancario:</a:t>
            </a:r>
          </a:p>
        </p:txBody>
      </p:sp>
    </p:spTree>
    <p:extLst>
      <p:ext uri="{BB962C8B-B14F-4D97-AF65-F5344CB8AC3E}">
        <p14:creationId xmlns:p14="http://schemas.microsoft.com/office/powerpoint/2010/main" val="376441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417713"/>
            <a:ext cx="11581410" cy="2031325"/>
          </a:xfrm>
          <a:prstGeom prst="rect">
            <a:avLst/>
          </a:prstGeom>
          <a:noFill/>
        </p:spPr>
        <p:txBody>
          <a:bodyPr wrap="square">
            <a:spAutoFit/>
          </a:bodyPr>
          <a:lstStyle/>
          <a:p>
            <a:r>
              <a:rPr lang="it-IT" b="0" i="0" dirty="0">
                <a:solidFill>
                  <a:srgbClr val="050E17"/>
                </a:solidFill>
                <a:effectLst/>
                <a:latin typeface="-apple-system"/>
              </a:rPr>
              <a:t>In Java, i due livelli di visibilità più comuni per i metodi e le variabili sono public e private.</a:t>
            </a:r>
          </a:p>
          <a:p>
            <a:endParaRPr lang="it-IT" b="0" i="0" dirty="0">
              <a:solidFill>
                <a:srgbClr val="050E17"/>
              </a:solidFill>
              <a:effectLst/>
              <a:latin typeface="-apple-system"/>
            </a:endParaRPr>
          </a:p>
          <a:p>
            <a:r>
              <a:rPr lang="it-IT" b="0" i="0" dirty="0">
                <a:solidFill>
                  <a:srgbClr val="050E17"/>
                </a:solidFill>
                <a:effectLst/>
                <a:latin typeface="-apple-system"/>
              </a:rPr>
              <a:t>Un metodo o una variabile dichiarati come public sono accessibili da qualsiasi classe in qualsiasi pacchetto. Questo significa che se una classe ha un metodo pubblico, qualsiasi altra classe in qualsiasi pacchetto può chiamare quel metodo.</a:t>
            </a:r>
          </a:p>
          <a:p>
            <a:endParaRPr lang="it-IT" b="0" i="0" dirty="0">
              <a:solidFill>
                <a:srgbClr val="050E17"/>
              </a:solidFill>
              <a:effectLst/>
              <a:latin typeface="-apple-system"/>
            </a:endParaRPr>
          </a:p>
          <a:p>
            <a:r>
              <a:rPr lang="it-IT" b="0" i="0" dirty="0">
                <a:solidFill>
                  <a:srgbClr val="050E17"/>
                </a:solidFill>
                <a:effectLst/>
                <a:latin typeface="-apple-system"/>
              </a:rPr>
              <a:t>Ad esempio, supponiamo di avere una classe </a:t>
            </a:r>
            <a:r>
              <a:rPr lang="it-IT" b="0" i="0" dirty="0" err="1">
                <a:solidFill>
                  <a:srgbClr val="050E17"/>
                </a:solidFill>
                <a:effectLst/>
                <a:latin typeface="-apple-system"/>
              </a:rPr>
              <a:t>ContoBancario</a:t>
            </a:r>
            <a:r>
              <a:rPr lang="it-IT" b="0" i="0" dirty="0">
                <a:solidFill>
                  <a:srgbClr val="050E17"/>
                </a:solidFill>
                <a:effectLst/>
                <a:latin typeface="-apple-system"/>
              </a:rPr>
              <a:t> con un metodo pubblico </a:t>
            </a:r>
            <a:r>
              <a:rPr lang="it-IT" b="0" i="0" dirty="0" err="1">
                <a:solidFill>
                  <a:srgbClr val="050E17"/>
                </a:solidFill>
                <a:effectLst/>
                <a:latin typeface="-apple-system"/>
              </a:rPr>
              <a:t>getSaldo</a:t>
            </a:r>
            <a:r>
              <a:rPr lang="it-IT" b="0" i="0" dirty="0">
                <a:solidFill>
                  <a:srgbClr val="050E17"/>
                </a:solidFill>
                <a:effectLst/>
                <a:latin typeface="-apple-system"/>
              </a:rPr>
              <a:t>() che restituisce il saldo del conto bancario:</a:t>
            </a:r>
          </a:p>
        </p:txBody>
      </p:sp>
      <p:sp>
        <p:nvSpPr>
          <p:cNvPr id="11" name="CasellaDiTesto 10">
            <a:extLst>
              <a:ext uri="{FF2B5EF4-FFF2-40B4-BE49-F238E27FC236}">
                <a16:creationId xmlns:a16="http://schemas.microsoft.com/office/drawing/2014/main" id="{E6300ACC-F048-612C-C2BB-41B7B9BC6094}"/>
              </a:ext>
            </a:extLst>
          </p:cNvPr>
          <p:cNvSpPr txBox="1"/>
          <p:nvPr/>
        </p:nvSpPr>
        <p:spPr>
          <a:xfrm>
            <a:off x="2609603" y="3938575"/>
            <a:ext cx="6097978" cy="1980350"/>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class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ContoBancario</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private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saldo</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getSaldo</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saldo</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33823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11" name="CasellaDiTesto 10">
            <a:extLst>
              <a:ext uri="{FF2B5EF4-FFF2-40B4-BE49-F238E27FC236}">
                <a16:creationId xmlns:a16="http://schemas.microsoft.com/office/drawing/2014/main" id="{E6300ACC-F048-612C-C2BB-41B7B9BC6094}"/>
              </a:ext>
            </a:extLst>
          </p:cNvPr>
          <p:cNvSpPr txBox="1"/>
          <p:nvPr/>
        </p:nvSpPr>
        <p:spPr>
          <a:xfrm>
            <a:off x="3789442" y="793412"/>
            <a:ext cx="6097978" cy="1980350"/>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class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ContoBancario</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private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saldo</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getSaldo</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saldo</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40145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11" name="CasellaDiTesto 10">
            <a:extLst>
              <a:ext uri="{FF2B5EF4-FFF2-40B4-BE49-F238E27FC236}">
                <a16:creationId xmlns:a16="http://schemas.microsoft.com/office/drawing/2014/main" id="{E6300ACC-F048-612C-C2BB-41B7B9BC6094}"/>
              </a:ext>
            </a:extLst>
          </p:cNvPr>
          <p:cNvSpPr txBox="1"/>
          <p:nvPr/>
        </p:nvSpPr>
        <p:spPr>
          <a:xfrm>
            <a:off x="3789442" y="793412"/>
            <a:ext cx="6097978" cy="1980350"/>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class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ContoBancario</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private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saldo</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getSaldo</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saldo</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79683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305295" y="2794544"/>
            <a:ext cx="11581410" cy="646331"/>
          </a:xfrm>
          <a:prstGeom prst="rect">
            <a:avLst/>
          </a:prstGeom>
          <a:noFill/>
        </p:spPr>
        <p:txBody>
          <a:bodyPr wrap="square">
            <a:spAutoFit/>
          </a:bodyPr>
          <a:lstStyle/>
          <a:p>
            <a:r>
              <a:rPr lang="it-IT" b="0" i="0" dirty="0">
                <a:solidFill>
                  <a:srgbClr val="050E17"/>
                </a:solidFill>
                <a:effectLst/>
                <a:latin typeface="-apple-system"/>
              </a:rPr>
              <a:t>In questo caso, il metodo </a:t>
            </a:r>
            <a:r>
              <a:rPr lang="it-IT" b="0" i="0" dirty="0" err="1">
                <a:solidFill>
                  <a:srgbClr val="050E17"/>
                </a:solidFill>
                <a:effectLst/>
                <a:latin typeface="-apple-system"/>
              </a:rPr>
              <a:t>getSaldo</a:t>
            </a:r>
            <a:r>
              <a:rPr lang="it-IT" b="0" i="0" dirty="0">
                <a:solidFill>
                  <a:srgbClr val="050E17"/>
                </a:solidFill>
                <a:effectLst/>
                <a:latin typeface="-apple-system"/>
              </a:rPr>
              <a:t>() è dichiarato come public, quindi qualsiasi altra classe può chiamarlo per ottenere il saldo del conto bancario.</a:t>
            </a:r>
          </a:p>
        </p:txBody>
      </p:sp>
      <p:sp>
        <p:nvSpPr>
          <p:cNvPr id="11" name="CasellaDiTesto 10">
            <a:extLst>
              <a:ext uri="{FF2B5EF4-FFF2-40B4-BE49-F238E27FC236}">
                <a16:creationId xmlns:a16="http://schemas.microsoft.com/office/drawing/2014/main" id="{E6300ACC-F048-612C-C2BB-41B7B9BC6094}"/>
              </a:ext>
            </a:extLst>
          </p:cNvPr>
          <p:cNvSpPr txBox="1"/>
          <p:nvPr/>
        </p:nvSpPr>
        <p:spPr>
          <a:xfrm>
            <a:off x="3789442" y="793412"/>
            <a:ext cx="6097978" cy="1980350"/>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class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ContoBancario</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private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saldo</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getSaldo</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saldo</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14394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305295" y="2794544"/>
            <a:ext cx="11581410" cy="1200329"/>
          </a:xfrm>
          <a:prstGeom prst="rect">
            <a:avLst/>
          </a:prstGeom>
          <a:noFill/>
        </p:spPr>
        <p:txBody>
          <a:bodyPr wrap="square">
            <a:spAutoFit/>
          </a:bodyPr>
          <a:lstStyle/>
          <a:p>
            <a:r>
              <a:rPr lang="it-IT" b="0" i="0" dirty="0">
                <a:solidFill>
                  <a:srgbClr val="050E17"/>
                </a:solidFill>
                <a:effectLst/>
                <a:latin typeface="-apple-system"/>
              </a:rPr>
              <a:t>In questo caso, il metodo </a:t>
            </a:r>
            <a:r>
              <a:rPr lang="it-IT" b="0" i="0" dirty="0" err="1">
                <a:solidFill>
                  <a:srgbClr val="050E17"/>
                </a:solidFill>
                <a:effectLst/>
                <a:latin typeface="-apple-system"/>
              </a:rPr>
              <a:t>getSaldo</a:t>
            </a:r>
            <a:r>
              <a:rPr lang="it-IT" b="0" i="0" dirty="0">
                <a:solidFill>
                  <a:srgbClr val="050E17"/>
                </a:solidFill>
                <a:effectLst/>
                <a:latin typeface="-apple-system"/>
              </a:rPr>
              <a:t>() è dichiarato come public, quindi qualsiasi altra classe può chiamarlo per ottenere il saldo del conto bancario.</a:t>
            </a:r>
          </a:p>
          <a:p>
            <a:r>
              <a:rPr lang="it-IT" b="0" i="0" dirty="0">
                <a:solidFill>
                  <a:srgbClr val="050E17"/>
                </a:solidFill>
                <a:effectLst/>
                <a:latin typeface="-apple-system"/>
              </a:rPr>
              <a:t>D'altra parte, un metodo o una variabile dichiarati come private sono accessibili solo all'interno della classe in cui sono definiti. Questo significa che se una classe ha un metodo privato, solo la stessa classe può chiamare quel metodo.</a:t>
            </a:r>
          </a:p>
        </p:txBody>
      </p:sp>
      <p:sp>
        <p:nvSpPr>
          <p:cNvPr id="11" name="CasellaDiTesto 10">
            <a:extLst>
              <a:ext uri="{FF2B5EF4-FFF2-40B4-BE49-F238E27FC236}">
                <a16:creationId xmlns:a16="http://schemas.microsoft.com/office/drawing/2014/main" id="{E6300ACC-F048-612C-C2BB-41B7B9BC6094}"/>
              </a:ext>
            </a:extLst>
          </p:cNvPr>
          <p:cNvSpPr txBox="1"/>
          <p:nvPr/>
        </p:nvSpPr>
        <p:spPr>
          <a:xfrm>
            <a:off x="3789442" y="793412"/>
            <a:ext cx="6097978" cy="1980350"/>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class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ContoBancario</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private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saldo</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getSaldo</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saldo</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417758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305295" y="2794544"/>
            <a:ext cx="11581410" cy="1754326"/>
          </a:xfrm>
          <a:prstGeom prst="rect">
            <a:avLst/>
          </a:prstGeom>
          <a:noFill/>
        </p:spPr>
        <p:txBody>
          <a:bodyPr wrap="square">
            <a:spAutoFit/>
          </a:bodyPr>
          <a:lstStyle/>
          <a:p>
            <a:r>
              <a:rPr lang="it-IT" b="0" i="0" dirty="0">
                <a:solidFill>
                  <a:srgbClr val="050E17"/>
                </a:solidFill>
                <a:effectLst/>
                <a:latin typeface="-apple-system"/>
              </a:rPr>
              <a:t>In questo caso, il metodo </a:t>
            </a:r>
            <a:r>
              <a:rPr lang="it-IT" b="0" i="0" dirty="0" err="1">
                <a:solidFill>
                  <a:srgbClr val="050E17"/>
                </a:solidFill>
                <a:effectLst/>
                <a:latin typeface="-apple-system"/>
              </a:rPr>
              <a:t>getSaldo</a:t>
            </a:r>
            <a:r>
              <a:rPr lang="it-IT" b="0" i="0" dirty="0">
                <a:solidFill>
                  <a:srgbClr val="050E17"/>
                </a:solidFill>
                <a:effectLst/>
                <a:latin typeface="-apple-system"/>
              </a:rPr>
              <a:t>() è dichiarato come public, quindi qualsiasi altra classe può chiamarlo per ottenere il saldo del conto bancario.</a:t>
            </a:r>
          </a:p>
          <a:p>
            <a:r>
              <a:rPr lang="it-IT" b="0" i="0" dirty="0">
                <a:solidFill>
                  <a:srgbClr val="050E17"/>
                </a:solidFill>
                <a:effectLst/>
                <a:latin typeface="-apple-system"/>
              </a:rPr>
              <a:t>D'altra parte, un metodo o una variabile dichiarati come private sono accessibili solo all'interno della classe in cui sono definiti. Questo significa che se una classe ha un metodo privato, solo la stessa classe può chiamare quel metodo.</a:t>
            </a:r>
          </a:p>
          <a:p>
            <a:r>
              <a:rPr lang="it-IT" b="0" i="0" dirty="0">
                <a:solidFill>
                  <a:srgbClr val="050E17"/>
                </a:solidFill>
                <a:effectLst/>
                <a:latin typeface="-apple-system"/>
              </a:rPr>
              <a:t>Ad esempio, supponiamo di avere una classe </a:t>
            </a:r>
            <a:r>
              <a:rPr lang="it-IT" b="0" i="0" dirty="0" err="1">
                <a:solidFill>
                  <a:srgbClr val="050E17"/>
                </a:solidFill>
                <a:effectLst/>
                <a:latin typeface="-apple-system"/>
              </a:rPr>
              <a:t>ContoBancario</a:t>
            </a:r>
            <a:r>
              <a:rPr lang="it-IT" b="0" i="0" dirty="0">
                <a:solidFill>
                  <a:srgbClr val="050E17"/>
                </a:solidFill>
                <a:effectLst/>
                <a:latin typeface="-apple-system"/>
              </a:rPr>
              <a:t> con un metodo privato </a:t>
            </a:r>
            <a:r>
              <a:rPr lang="it-IT" b="0" i="0" dirty="0" err="1">
                <a:solidFill>
                  <a:srgbClr val="050E17"/>
                </a:solidFill>
                <a:effectLst/>
                <a:latin typeface="-apple-system"/>
              </a:rPr>
              <a:t>aggiornaSaldo</a:t>
            </a:r>
            <a:r>
              <a:rPr lang="it-IT" b="0" i="0" dirty="0">
                <a:solidFill>
                  <a:srgbClr val="050E17"/>
                </a:solidFill>
                <a:effectLst/>
                <a:latin typeface="-apple-system"/>
              </a:rPr>
              <a:t>() che aggiorna il saldo del conto bancario:</a:t>
            </a:r>
          </a:p>
        </p:txBody>
      </p:sp>
      <p:sp>
        <p:nvSpPr>
          <p:cNvPr id="11" name="CasellaDiTesto 10">
            <a:extLst>
              <a:ext uri="{FF2B5EF4-FFF2-40B4-BE49-F238E27FC236}">
                <a16:creationId xmlns:a16="http://schemas.microsoft.com/office/drawing/2014/main" id="{E6300ACC-F048-612C-C2BB-41B7B9BC6094}"/>
              </a:ext>
            </a:extLst>
          </p:cNvPr>
          <p:cNvSpPr txBox="1"/>
          <p:nvPr/>
        </p:nvSpPr>
        <p:spPr>
          <a:xfrm>
            <a:off x="3789442" y="793412"/>
            <a:ext cx="6097978" cy="1980350"/>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class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ContoBancario</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private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saldo</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getSaldo</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saldo</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08146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305295" y="2794544"/>
            <a:ext cx="11581410" cy="1754326"/>
          </a:xfrm>
          <a:prstGeom prst="rect">
            <a:avLst/>
          </a:prstGeom>
          <a:noFill/>
        </p:spPr>
        <p:txBody>
          <a:bodyPr wrap="square">
            <a:spAutoFit/>
          </a:bodyPr>
          <a:lstStyle/>
          <a:p>
            <a:r>
              <a:rPr lang="it-IT" b="0" i="0" dirty="0">
                <a:solidFill>
                  <a:srgbClr val="050E17"/>
                </a:solidFill>
                <a:effectLst/>
                <a:latin typeface="-apple-system"/>
              </a:rPr>
              <a:t>In questo caso, il metodo </a:t>
            </a:r>
            <a:r>
              <a:rPr lang="it-IT" b="0" i="0" dirty="0" err="1">
                <a:solidFill>
                  <a:srgbClr val="050E17"/>
                </a:solidFill>
                <a:effectLst/>
                <a:latin typeface="-apple-system"/>
              </a:rPr>
              <a:t>getSaldo</a:t>
            </a:r>
            <a:r>
              <a:rPr lang="it-IT" b="0" i="0" dirty="0">
                <a:solidFill>
                  <a:srgbClr val="050E17"/>
                </a:solidFill>
                <a:effectLst/>
                <a:latin typeface="-apple-system"/>
              </a:rPr>
              <a:t>() è dichiarato come public, quindi qualsiasi altra classe può chiamarlo per ottenere il saldo del conto bancario.</a:t>
            </a:r>
          </a:p>
          <a:p>
            <a:r>
              <a:rPr lang="it-IT" b="0" i="0" dirty="0">
                <a:solidFill>
                  <a:srgbClr val="050E17"/>
                </a:solidFill>
                <a:effectLst/>
                <a:latin typeface="-apple-system"/>
              </a:rPr>
              <a:t>D'altra parte, un metodo o una variabile dichiarati come private sono accessibili solo all'interno della classe in cui sono definiti. Questo significa che se una classe ha un metodo privato, solo la stessa classe può chiamare quel metodo.</a:t>
            </a:r>
          </a:p>
          <a:p>
            <a:r>
              <a:rPr lang="it-IT" b="0" i="0" dirty="0">
                <a:solidFill>
                  <a:srgbClr val="050E17"/>
                </a:solidFill>
                <a:effectLst/>
                <a:latin typeface="-apple-system"/>
              </a:rPr>
              <a:t>Ad esempio, supponiamo di avere una classe </a:t>
            </a:r>
            <a:r>
              <a:rPr lang="it-IT" b="0" i="0" dirty="0" err="1">
                <a:solidFill>
                  <a:srgbClr val="050E17"/>
                </a:solidFill>
                <a:effectLst/>
                <a:latin typeface="-apple-system"/>
              </a:rPr>
              <a:t>ContoBancario</a:t>
            </a:r>
            <a:r>
              <a:rPr lang="it-IT" b="0" i="0" dirty="0">
                <a:solidFill>
                  <a:srgbClr val="050E17"/>
                </a:solidFill>
                <a:effectLst/>
                <a:latin typeface="-apple-system"/>
              </a:rPr>
              <a:t> con un metodo privato </a:t>
            </a:r>
            <a:r>
              <a:rPr lang="it-IT" b="0" i="0" dirty="0" err="1">
                <a:solidFill>
                  <a:srgbClr val="050E17"/>
                </a:solidFill>
                <a:effectLst/>
                <a:latin typeface="-apple-system"/>
              </a:rPr>
              <a:t>aggiornaSaldo</a:t>
            </a:r>
            <a:r>
              <a:rPr lang="it-IT" b="0" i="0" dirty="0">
                <a:solidFill>
                  <a:srgbClr val="050E17"/>
                </a:solidFill>
                <a:effectLst/>
                <a:latin typeface="-apple-system"/>
              </a:rPr>
              <a:t>() che aggiorna il saldo del conto bancario:</a:t>
            </a:r>
          </a:p>
        </p:txBody>
      </p:sp>
      <p:sp>
        <p:nvSpPr>
          <p:cNvPr id="11" name="CasellaDiTesto 10">
            <a:extLst>
              <a:ext uri="{FF2B5EF4-FFF2-40B4-BE49-F238E27FC236}">
                <a16:creationId xmlns:a16="http://schemas.microsoft.com/office/drawing/2014/main" id="{E6300ACC-F048-612C-C2BB-41B7B9BC6094}"/>
              </a:ext>
            </a:extLst>
          </p:cNvPr>
          <p:cNvSpPr txBox="1"/>
          <p:nvPr/>
        </p:nvSpPr>
        <p:spPr>
          <a:xfrm>
            <a:off x="3789442" y="793412"/>
            <a:ext cx="6097978" cy="1980350"/>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class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ContoBancario</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private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saldo</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getSaldo</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saldo</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CasellaDiTesto 6">
            <a:extLst>
              <a:ext uri="{FF2B5EF4-FFF2-40B4-BE49-F238E27FC236}">
                <a16:creationId xmlns:a16="http://schemas.microsoft.com/office/drawing/2014/main" id="{8E0186E3-8FB9-7489-49D1-379B7A733BED}"/>
              </a:ext>
            </a:extLst>
          </p:cNvPr>
          <p:cNvSpPr txBox="1"/>
          <p:nvPr/>
        </p:nvSpPr>
        <p:spPr>
          <a:xfrm>
            <a:off x="305295" y="4569652"/>
            <a:ext cx="11177649" cy="1980350"/>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class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ContoBancario</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private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saldo</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private</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aggiornaSaldo</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importo)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saldo += importo</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70856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7" name="CasellaDiTesto 6">
            <a:extLst>
              <a:ext uri="{FF2B5EF4-FFF2-40B4-BE49-F238E27FC236}">
                <a16:creationId xmlns:a16="http://schemas.microsoft.com/office/drawing/2014/main" id="{8E0186E3-8FB9-7489-49D1-379B7A733BED}"/>
              </a:ext>
            </a:extLst>
          </p:cNvPr>
          <p:cNvSpPr txBox="1"/>
          <p:nvPr/>
        </p:nvSpPr>
        <p:spPr>
          <a:xfrm>
            <a:off x="305295" y="1427240"/>
            <a:ext cx="11177649" cy="1980350"/>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class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ContoBancario</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private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saldo</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private</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aggiornaSaldo</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importo)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saldo += importo</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74840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305295" y="3450411"/>
            <a:ext cx="11581410" cy="646331"/>
          </a:xfrm>
          <a:prstGeom prst="rect">
            <a:avLst/>
          </a:prstGeom>
          <a:noFill/>
        </p:spPr>
        <p:txBody>
          <a:bodyPr wrap="square">
            <a:spAutoFit/>
          </a:bodyPr>
          <a:lstStyle/>
          <a:p>
            <a:r>
              <a:rPr lang="it-IT" b="0" i="0" dirty="0">
                <a:solidFill>
                  <a:srgbClr val="050E17"/>
                </a:solidFill>
                <a:effectLst/>
                <a:latin typeface="-apple-system"/>
              </a:rPr>
              <a:t>In questo caso, il metodo </a:t>
            </a:r>
            <a:r>
              <a:rPr lang="it-IT" b="0" i="0" dirty="0" err="1">
                <a:solidFill>
                  <a:srgbClr val="050E17"/>
                </a:solidFill>
                <a:effectLst/>
                <a:latin typeface="-apple-system"/>
              </a:rPr>
              <a:t>aggiornaSaldo</a:t>
            </a:r>
            <a:r>
              <a:rPr lang="it-IT" b="0" i="0" dirty="0">
                <a:solidFill>
                  <a:srgbClr val="050E17"/>
                </a:solidFill>
                <a:effectLst/>
                <a:latin typeface="-apple-system"/>
              </a:rPr>
              <a:t>() è dichiarato come private, quindi solo la stessa classe </a:t>
            </a:r>
            <a:r>
              <a:rPr lang="it-IT" b="0" i="0" dirty="0" err="1">
                <a:solidFill>
                  <a:srgbClr val="050E17"/>
                </a:solidFill>
                <a:effectLst/>
                <a:latin typeface="-apple-system"/>
              </a:rPr>
              <a:t>ContoBancario</a:t>
            </a:r>
            <a:r>
              <a:rPr lang="it-IT" b="0" i="0" dirty="0">
                <a:solidFill>
                  <a:srgbClr val="050E17"/>
                </a:solidFill>
                <a:effectLst/>
                <a:latin typeface="-apple-system"/>
              </a:rPr>
              <a:t> può chiamarlo per aggiornare il saldo del conto bancario.</a:t>
            </a:r>
          </a:p>
        </p:txBody>
      </p:sp>
      <p:sp>
        <p:nvSpPr>
          <p:cNvPr id="7" name="CasellaDiTesto 6">
            <a:extLst>
              <a:ext uri="{FF2B5EF4-FFF2-40B4-BE49-F238E27FC236}">
                <a16:creationId xmlns:a16="http://schemas.microsoft.com/office/drawing/2014/main" id="{8E0186E3-8FB9-7489-49D1-379B7A733BED}"/>
              </a:ext>
            </a:extLst>
          </p:cNvPr>
          <p:cNvSpPr txBox="1"/>
          <p:nvPr/>
        </p:nvSpPr>
        <p:spPr>
          <a:xfrm>
            <a:off x="305295" y="1427240"/>
            <a:ext cx="11177649" cy="1980350"/>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class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ContoBancario</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private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saldo</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private</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aggiornaSaldo</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importo)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saldo += importo</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29152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305295" y="3450411"/>
            <a:ext cx="11581410" cy="1477328"/>
          </a:xfrm>
          <a:prstGeom prst="rect">
            <a:avLst/>
          </a:prstGeom>
          <a:noFill/>
        </p:spPr>
        <p:txBody>
          <a:bodyPr wrap="square">
            <a:spAutoFit/>
          </a:bodyPr>
          <a:lstStyle/>
          <a:p>
            <a:r>
              <a:rPr lang="it-IT" b="0" i="0" dirty="0">
                <a:solidFill>
                  <a:srgbClr val="050E17"/>
                </a:solidFill>
                <a:effectLst/>
                <a:latin typeface="-apple-system"/>
              </a:rPr>
              <a:t>In questo caso, il metodo </a:t>
            </a:r>
            <a:r>
              <a:rPr lang="it-IT" b="0" i="0" dirty="0" err="1">
                <a:solidFill>
                  <a:srgbClr val="050E17"/>
                </a:solidFill>
                <a:effectLst/>
                <a:latin typeface="-apple-system"/>
              </a:rPr>
              <a:t>aggiornaSaldo</a:t>
            </a:r>
            <a:r>
              <a:rPr lang="it-IT" b="0" i="0" dirty="0">
                <a:solidFill>
                  <a:srgbClr val="050E17"/>
                </a:solidFill>
                <a:effectLst/>
                <a:latin typeface="-apple-system"/>
              </a:rPr>
              <a:t>() è dichiarato come private, quindi solo la stessa classe </a:t>
            </a:r>
            <a:r>
              <a:rPr lang="it-IT" b="0" i="0" dirty="0" err="1">
                <a:solidFill>
                  <a:srgbClr val="050E17"/>
                </a:solidFill>
                <a:effectLst/>
                <a:latin typeface="-apple-system"/>
              </a:rPr>
              <a:t>ContoBancario</a:t>
            </a:r>
            <a:r>
              <a:rPr lang="it-IT" b="0" i="0" dirty="0">
                <a:solidFill>
                  <a:srgbClr val="050E17"/>
                </a:solidFill>
                <a:effectLst/>
                <a:latin typeface="-apple-system"/>
              </a:rPr>
              <a:t> può chiamarlo per aggiornare il saldo del conto bancario.</a:t>
            </a:r>
          </a:p>
          <a:p>
            <a:endParaRPr lang="it-IT" b="0" i="0" dirty="0">
              <a:solidFill>
                <a:srgbClr val="050E17"/>
              </a:solidFill>
              <a:effectLst/>
              <a:latin typeface="-apple-system"/>
            </a:endParaRPr>
          </a:p>
          <a:p>
            <a:r>
              <a:rPr lang="it-IT" b="0" i="0" dirty="0">
                <a:solidFill>
                  <a:srgbClr val="050E17"/>
                </a:solidFill>
                <a:effectLst/>
                <a:latin typeface="-apple-system"/>
              </a:rPr>
              <a:t>In generale, la scelta tra public e private dipende dalle esigenze di progettazione dell'applicazione e dalle esigenze di accessibilità dei metodi da parte di altre classi e pacchetti. </a:t>
            </a:r>
          </a:p>
        </p:txBody>
      </p:sp>
      <p:sp>
        <p:nvSpPr>
          <p:cNvPr id="7" name="CasellaDiTesto 6">
            <a:extLst>
              <a:ext uri="{FF2B5EF4-FFF2-40B4-BE49-F238E27FC236}">
                <a16:creationId xmlns:a16="http://schemas.microsoft.com/office/drawing/2014/main" id="{8E0186E3-8FB9-7489-49D1-379B7A733BED}"/>
              </a:ext>
            </a:extLst>
          </p:cNvPr>
          <p:cNvSpPr txBox="1"/>
          <p:nvPr/>
        </p:nvSpPr>
        <p:spPr>
          <a:xfrm>
            <a:off x="305295" y="1427240"/>
            <a:ext cx="11177649" cy="1980350"/>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class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ContoBancario</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private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saldo</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private</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aggiornaSaldo</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importo)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saldo += importo</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59978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305295" y="3450411"/>
            <a:ext cx="11581410" cy="1754326"/>
          </a:xfrm>
          <a:prstGeom prst="rect">
            <a:avLst/>
          </a:prstGeom>
          <a:noFill/>
        </p:spPr>
        <p:txBody>
          <a:bodyPr wrap="square">
            <a:spAutoFit/>
          </a:bodyPr>
          <a:lstStyle/>
          <a:p>
            <a:r>
              <a:rPr lang="it-IT" b="0" i="0" dirty="0">
                <a:solidFill>
                  <a:srgbClr val="050E17"/>
                </a:solidFill>
                <a:effectLst/>
                <a:latin typeface="-apple-system"/>
              </a:rPr>
              <a:t>In questo caso, il metodo </a:t>
            </a:r>
            <a:r>
              <a:rPr lang="it-IT" b="0" i="0" dirty="0" err="1">
                <a:solidFill>
                  <a:srgbClr val="050E17"/>
                </a:solidFill>
                <a:effectLst/>
                <a:latin typeface="-apple-system"/>
              </a:rPr>
              <a:t>aggiornaSaldo</a:t>
            </a:r>
            <a:r>
              <a:rPr lang="it-IT" b="0" i="0" dirty="0">
                <a:solidFill>
                  <a:srgbClr val="050E17"/>
                </a:solidFill>
                <a:effectLst/>
                <a:latin typeface="-apple-system"/>
              </a:rPr>
              <a:t>() è dichiarato come private, quindi solo la stessa classe </a:t>
            </a:r>
            <a:r>
              <a:rPr lang="it-IT" b="0" i="0" dirty="0" err="1">
                <a:solidFill>
                  <a:srgbClr val="050E17"/>
                </a:solidFill>
                <a:effectLst/>
                <a:latin typeface="-apple-system"/>
              </a:rPr>
              <a:t>ContoBancario</a:t>
            </a:r>
            <a:r>
              <a:rPr lang="it-IT" b="0" i="0" dirty="0">
                <a:solidFill>
                  <a:srgbClr val="050E17"/>
                </a:solidFill>
                <a:effectLst/>
                <a:latin typeface="-apple-system"/>
              </a:rPr>
              <a:t> può chiamarlo per aggiornare il saldo del conto bancario.</a:t>
            </a:r>
          </a:p>
          <a:p>
            <a:endParaRPr lang="it-IT" b="0" i="0" dirty="0">
              <a:solidFill>
                <a:srgbClr val="050E17"/>
              </a:solidFill>
              <a:effectLst/>
              <a:latin typeface="-apple-system"/>
            </a:endParaRPr>
          </a:p>
          <a:p>
            <a:r>
              <a:rPr lang="it-IT" b="0" i="0" dirty="0">
                <a:solidFill>
                  <a:srgbClr val="050E17"/>
                </a:solidFill>
                <a:effectLst/>
                <a:latin typeface="-apple-system"/>
              </a:rPr>
              <a:t>In generale, la scelta tra public e private dipende dalle esigenze di progettazione dell'applicazione e dalle esigenze di accessibilità dei metodi da parte di altre classi e pacchetti. Se si desidera che un metodo sia accessibile da qualsiasi parte dell'applicazione, è necessario dichiararlo come public. </a:t>
            </a:r>
          </a:p>
        </p:txBody>
      </p:sp>
      <p:sp>
        <p:nvSpPr>
          <p:cNvPr id="7" name="CasellaDiTesto 6">
            <a:extLst>
              <a:ext uri="{FF2B5EF4-FFF2-40B4-BE49-F238E27FC236}">
                <a16:creationId xmlns:a16="http://schemas.microsoft.com/office/drawing/2014/main" id="{8E0186E3-8FB9-7489-49D1-379B7A733BED}"/>
              </a:ext>
            </a:extLst>
          </p:cNvPr>
          <p:cNvSpPr txBox="1"/>
          <p:nvPr/>
        </p:nvSpPr>
        <p:spPr>
          <a:xfrm>
            <a:off x="305295" y="1427240"/>
            <a:ext cx="11177649" cy="1980350"/>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class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ContoBancario</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private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saldo</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private</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aggiornaSaldo</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importo)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saldo += importo</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16273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Public e private</a:t>
            </a:r>
            <a:endParaRPr lang="it-IT" b="1"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305295" y="3450411"/>
            <a:ext cx="11581410" cy="2031325"/>
          </a:xfrm>
          <a:prstGeom prst="rect">
            <a:avLst/>
          </a:prstGeom>
          <a:noFill/>
        </p:spPr>
        <p:txBody>
          <a:bodyPr wrap="square">
            <a:spAutoFit/>
          </a:bodyPr>
          <a:lstStyle/>
          <a:p>
            <a:r>
              <a:rPr lang="it-IT" b="0" i="0" dirty="0">
                <a:solidFill>
                  <a:srgbClr val="050E17"/>
                </a:solidFill>
                <a:effectLst/>
                <a:latin typeface="-apple-system"/>
              </a:rPr>
              <a:t>In questo caso, il metodo </a:t>
            </a:r>
            <a:r>
              <a:rPr lang="it-IT" b="0" i="0" dirty="0" err="1">
                <a:solidFill>
                  <a:srgbClr val="050E17"/>
                </a:solidFill>
                <a:effectLst/>
                <a:latin typeface="-apple-system"/>
              </a:rPr>
              <a:t>aggiornaSaldo</a:t>
            </a:r>
            <a:r>
              <a:rPr lang="it-IT" b="0" i="0" dirty="0">
                <a:solidFill>
                  <a:srgbClr val="050E17"/>
                </a:solidFill>
                <a:effectLst/>
                <a:latin typeface="-apple-system"/>
              </a:rPr>
              <a:t>() è dichiarato come private, quindi solo la stessa classe </a:t>
            </a:r>
            <a:r>
              <a:rPr lang="it-IT" b="0" i="0" dirty="0" err="1">
                <a:solidFill>
                  <a:srgbClr val="050E17"/>
                </a:solidFill>
                <a:effectLst/>
                <a:latin typeface="-apple-system"/>
              </a:rPr>
              <a:t>ContoBancario</a:t>
            </a:r>
            <a:r>
              <a:rPr lang="it-IT" b="0" i="0" dirty="0">
                <a:solidFill>
                  <a:srgbClr val="050E17"/>
                </a:solidFill>
                <a:effectLst/>
                <a:latin typeface="-apple-system"/>
              </a:rPr>
              <a:t> può chiamarlo per aggiornare il saldo del conto bancario.</a:t>
            </a:r>
          </a:p>
          <a:p>
            <a:endParaRPr lang="it-IT" b="0" i="0" dirty="0">
              <a:solidFill>
                <a:srgbClr val="050E17"/>
              </a:solidFill>
              <a:effectLst/>
              <a:latin typeface="-apple-system"/>
            </a:endParaRPr>
          </a:p>
          <a:p>
            <a:r>
              <a:rPr lang="it-IT" b="0" i="0" dirty="0">
                <a:solidFill>
                  <a:srgbClr val="050E17"/>
                </a:solidFill>
                <a:effectLst/>
                <a:latin typeface="-apple-system"/>
              </a:rPr>
              <a:t>In generale, la scelta tra public e private dipende dalle esigenze di progettazione dell'applicazione e dalle esigenze di accessibilità dei metodi da parte di altre classi e pacchetti. Se si desidera che un metodo sia accessibile da qualsiasi parte dell'applicazione, è necessario dichiararlo come public. Se si desidera che un metodo sia accessibile solo all'interno della stessa classe, è necessario dichiararlo come private.</a:t>
            </a:r>
          </a:p>
        </p:txBody>
      </p:sp>
      <p:sp>
        <p:nvSpPr>
          <p:cNvPr id="7" name="CasellaDiTesto 6">
            <a:extLst>
              <a:ext uri="{FF2B5EF4-FFF2-40B4-BE49-F238E27FC236}">
                <a16:creationId xmlns:a16="http://schemas.microsoft.com/office/drawing/2014/main" id="{8E0186E3-8FB9-7489-49D1-379B7A733BED}"/>
              </a:ext>
            </a:extLst>
          </p:cNvPr>
          <p:cNvSpPr txBox="1"/>
          <p:nvPr/>
        </p:nvSpPr>
        <p:spPr>
          <a:xfrm>
            <a:off x="305295" y="1427240"/>
            <a:ext cx="11177649" cy="1980350"/>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class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ContoBancario</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private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saldo</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private</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aggiornaSaldo</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importo)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saldo += importo</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1105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La sicurezza del privato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Perché dello scope private?</a:t>
            </a:r>
            <a:endParaRPr lang="it-IT" b="1" dirty="0"/>
          </a:p>
        </p:txBody>
      </p:sp>
    </p:spTree>
    <p:extLst>
      <p:ext uri="{BB962C8B-B14F-4D97-AF65-F5344CB8AC3E}">
        <p14:creationId xmlns:p14="http://schemas.microsoft.com/office/powerpoint/2010/main" val="12203488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La sicurezza del privato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Perché dello scope private?</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282039" y="1657597"/>
            <a:ext cx="6097978" cy="923330"/>
          </a:xfrm>
          <a:prstGeom prst="rect">
            <a:avLst/>
          </a:prstGeom>
          <a:noFill/>
        </p:spPr>
        <p:txBody>
          <a:bodyPr wrap="square">
            <a:spAutoFit/>
          </a:bodyPr>
          <a:lstStyle/>
          <a:p>
            <a:r>
              <a:rPr lang="it-IT" dirty="0"/>
              <a:t>In Java, la visibilità di un metodo o di un campo di una classe indica se tale metodo o campo può essere accessibile da altre classi o no.</a:t>
            </a:r>
          </a:p>
        </p:txBody>
      </p:sp>
    </p:spTree>
    <p:extLst>
      <p:ext uri="{BB962C8B-B14F-4D97-AF65-F5344CB8AC3E}">
        <p14:creationId xmlns:p14="http://schemas.microsoft.com/office/powerpoint/2010/main" val="14332868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La sicurezza del privato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Perché dello scope private?</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282039" y="1657597"/>
            <a:ext cx="6097978" cy="1200329"/>
          </a:xfrm>
          <a:prstGeom prst="rect">
            <a:avLst/>
          </a:prstGeom>
          <a:noFill/>
        </p:spPr>
        <p:txBody>
          <a:bodyPr wrap="square">
            <a:spAutoFit/>
          </a:bodyPr>
          <a:lstStyle/>
          <a:p>
            <a:r>
              <a:rPr lang="it-IT" dirty="0"/>
              <a:t>In Java, la visibilità di un metodo o di un campo di una classe indica se tale metodo o campo può essere accessibile da altre classi o no. La scelta della visibilità dipende dalle esigenze di progettazione dell'applicazione e dalla sicurezza dei dati.</a:t>
            </a:r>
          </a:p>
        </p:txBody>
      </p:sp>
    </p:spTree>
    <p:extLst>
      <p:ext uri="{BB962C8B-B14F-4D97-AF65-F5344CB8AC3E}">
        <p14:creationId xmlns:p14="http://schemas.microsoft.com/office/powerpoint/2010/main" val="1848669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La sicurezza del privato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Perché dello scope private?</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282039" y="1657597"/>
            <a:ext cx="6097978" cy="2031325"/>
          </a:xfrm>
          <a:prstGeom prst="rect">
            <a:avLst/>
          </a:prstGeom>
          <a:noFill/>
        </p:spPr>
        <p:txBody>
          <a:bodyPr wrap="square">
            <a:spAutoFit/>
          </a:bodyPr>
          <a:lstStyle/>
          <a:p>
            <a:r>
              <a:rPr lang="it-IT" dirty="0"/>
              <a:t>In Java, la visibilità di un metodo o di un campo di una classe indica se tale metodo o campo può essere accessibile da altre classi o no. La scelta della visibilità dipende dalle esigenze di progettazione dell'applicazione e dalla sicurezza dei dati.</a:t>
            </a:r>
          </a:p>
          <a:p>
            <a:endParaRPr lang="it-IT" dirty="0"/>
          </a:p>
          <a:p>
            <a:r>
              <a:rPr lang="it-IT" dirty="0"/>
              <a:t>Un motivo comune per dichiarare un metodo o un campo come private è quello di garantire l'incapsulamento dei dati. </a:t>
            </a:r>
          </a:p>
        </p:txBody>
      </p:sp>
    </p:spTree>
    <p:extLst>
      <p:ext uri="{BB962C8B-B14F-4D97-AF65-F5344CB8AC3E}">
        <p14:creationId xmlns:p14="http://schemas.microsoft.com/office/powerpoint/2010/main" val="16696669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La sicurezza del privato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Perché dello scope private?</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282039" y="1657597"/>
            <a:ext cx="6097978" cy="3139321"/>
          </a:xfrm>
          <a:prstGeom prst="rect">
            <a:avLst/>
          </a:prstGeom>
          <a:noFill/>
        </p:spPr>
        <p:txBody>
          <a:bodyPr wrap="square">
            <a:spAutoFit/>
          </a:bodyPr>
          <a:lstStyle/>
          <a:p>
            <a:r>
              <a:rPr lang="it-IT" dirty="0"/>
              <a:t>In Java, la visibilità di un metodo o di un campo di una classe indica se tale metodo o campo può essere accessibile da altre classi o no. La scelta della visibilità dipende dalle esigenze di progettazione dell'applicazione e dalla sicurezza dei dati.</a:t>
            </a:r>
          </a:p>
          <a:p>
            <a:endParaRPr lang="it-IT" dirty="0"/>
          </a:p>
          <a:p>
            <a:r>
              <a:rPr lang="it-IT" dirty="0"/>
              <a:t>Un motivo comune per dichiarare un metodo o un campo come private è quello di garantire l'incapsulamento dei dati. L'incapsulamento è un principio di programmazione che prevede di nascondere i dettagli interni di una classe, in modo che le altre classi possano interagire solo attraverso metodi pubblici.</a:t>
            </a:r>
          </a:p>
        </p:txBody>
      </p:sp>
    </p:spTree>
    <p:extLst>
      <p:ext uri="{BB962C8B-B14F-4D97-AF65-F5344CB8AC3E}">
        <p14:creationId xmlns:p14="http://schemas.microsoft.com/office/powerpoint/2010/main" val="25193238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La sicurezza del privato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Perché dello scope private?</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282039" y="1657597"/>
            <a:ext cx="6097978" cy="3970318"/>
          </a:xfrm>
          <a:prstGeom prst="rect">
            <a:avLst/>
          </a:prstGeom>
          <a:noFill/>
        </p:spPr>
        <p:txBody>
          <a:bodyPr wrap="square">
            <a:spAutoFit/>
          </a:bodyPr>
          <a:lstStyle/>
          <a:p>
            <a:r>
              <a:rPr lang="it-IT" dirty="0"/>
              <a:t>In Java, la visibilità di un metodo o di un campo di una classe indica se tale metodo o campo può essere accessibile da altre classi o no. La scelta della visibilità dipende dalle esigenze di progettazione dell'applicazione e dalla sicurezza dei dati.</a:t>
            </a:r>
          </a:p>
          <a:p>
            <a:endParaRPr lang="it-IT" dirty="0"/>
          </a:p>
          <a:p>
            <a:r>
              <a:rPr lang="it-IT" dirty="0"/>
              <a:t>Un motivo comune per dichiarare un metodo o un campo come private è quello di garantire l'incapsulamento dei dati. L'incapsulamento è un principio di programmazione che prevede di nascondere i dettagli interni di una classe, in modo che le altre classi possano interagire solo attraverso metodi pubblici.</a:t>
            </a:r>
          </a:p>
          <a:p>
            <a:endParaRPr lang="it-IT" dirty="0"/>
          </a:p>
          <a:p>
            <a:r>
              <a:rPr lang="it-IT" dirty="0"/>
              <a:t>Ad esempio, supponiamo di avere una classe </a:t>
            </a:r>
            <a:r>
              <a:rPr lang="it-IT" dirty="0" err="1"/>
              <a:t>ContoBancario</a:t>
            </a:r>
            <a:r>
              <a:rPr lang="it-IT" dirty="0"/>
              <a:t> che ha un campo saldo:</a:t>
            </a:r>
          </a:p>
        </p:txBody>
      </p:sp>
    </p:spTree>
    <p:extLst>
      <p:ext uri="{BB962C8B-B14F-4D97-AF65-F5344CB8AC3E}">
        <p14:creationId xmlns:p14="http://schemas.microsoft.com/office/powerpoint/2010/main" val="24183248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La sicurezza del privato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Perché dello scope private?</a:t>
            </a:r>
            <a:endParaRPr lang="it-IT" b="1" dirty="0"/>
          </a:p>
        </p:txBody>
      </p:sp>
      <p:sp>
        <p:nvSpPr>
          <p:cNvPr id="10" name="CasellaDiTesto 9">
            <a:extLst>
              <a:ext uri="{FF2B5EF4-FFF2-40B4-BE49-F238E27FC236}">
                <a16:creationId xmlns:a16="http://schemas.microsoft.com/office/drawing/2014/main" id="{86E659BB-08B0-31A5-B621-FC466C17DCB6}"/>
              </a:ext>
            </a:extLst>
          </p:cNvPr>
          <p:cNvSpPr txBox="1"/>
          <p:nvPr/>
        </p:nvSpPr>
        <p:spPr>
          <a:xfrm>
            <a:off x="3904507" y="795647"/>
            <a:ext cx="5506192" cy="3139321"/>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ContoBancario</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double</a:t>
            </a:r>
            <a:r>
              <a:rPr lang="it-IT" b="0" dirty="0">
                <a:solidFill>
                  <a:srgbClr val="D4D4D4"/>
                </a:solidFill>
                <a:effectLst/>
                <a:latin typeface="Consolas" panose="020B0609020204030204" pitchFamily="49" charset="0"/>
              </a:rPr>
              <a:t> saldo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deposita(</a:t>
            </a:r>
            <a:r>
              <a:rPr lang="it-IT" b="0" dirty="0">
                <a:solidFill>
                  <a:srgbClr val="569CD6"/>
                </a:solidFill>
                <a:effectLst/>
                <a:latin typeface="Consolas" panose="020B0609020204030204" pitchFamily="49" charset="0"/>
              </a:rPr>
              <a:t>double</a:t>
            </a:r>
            <a:r>
              <a:rPr lang="it-IT" b="0" dirty="0">
                <a:solidFill>
                  <a:srgbClr val="D4D4D4"/>
                </a:solidFill>
                <a:effectLst/>
                <a:latin typeface="Consolas" panose="020B0609020204030204" pitchFamily="49" charset="0"/>
              </a:rPr>
              <a:t> importo) {</a:t>
            </a:r>
          </a:p>
          <a:p>
            <a:r>
              <a:rPr lang="it-IT" b="0" dirty="0">
                <a:solidFill>
                  <a:srgbClr val="D4D4D4"/>
                </a:solidFill>
                <a:effectLst/>
                <a:latin typeface="Consolas" panose="020B0609020204030204" pitchFamily="49" charset="0"/>
              </a:rPr>
              <a:t>        saldo += importo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double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getSaldo</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return</a:t>
            </a:r>
            <a:r>
              <a:rPr lang="it-IT" b="0" dirty="0">
                <a:solidFill>
                  <a:srgbClr val="D4D4D4"/>
                </a:solidFill>
                <a:effectLst/>
                <a:latin typeface="Consolas" panose="020B0609020204030204" pitchFamily="49" charset="0"/>
              </a:rPr>
              <a:t> saldo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2479481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La sicurezza del privato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Perché dello scope private?</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3789442" y="4185267"/>
            <a:ext cx="6097978" cy="646331"/>
          </a:xfrm>
          <a:prstGeom prst="rect">
            <a:avLst/>
          </a:prstGeom>
          <a:noFill/>
        </p:spPr>
        <p:txBody>
          <a:bodyPr wrap="square">
            <a:spAutoFit/>
          </a:bodyPr>
          <a:lstStyle/>
          <a:p>
            <a:r>
              <a:rPr lang="it-IT" dirty="0"/>
              <a:t>In questo caso, il campo saldo è dichiarato come private, quindi non è accessibile direttamente da altre classi. </a:t>
            </a:r>
          </a:p>
        </p:txBody>
      </p:sp>
      <p:sp>
        <p:nvSpPr>
          <p:cNvPr id="10" name="CasellaDiTesto 9">
            <a:extLst>
              <a:ext uri="{FF2B5EF4-FFF2-40B4-BE49-F238E27FC236}">
                <a16:creationId xmlns:a16="http://schemas.microsoft.com/office/drawing/2014/main" id="{86E659BB-08B0-31A5-B621-FC466C17DCB6}"/>
              </a:ext>
            </a:extLst>
          </p:cNvPr>
          <p:cNvSpPr txBox="1"/>
          <p:nvPr/>
        </p:nvSpPr>
        <p:spPr>
          <a:xfrm>
            <a:off x="3904507" y="795647"/>
            <a:ext cx="5506192" cy="3139321"/>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ContoBancario</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double</a:t>
            </a:r>
            <a:r>
              <a:rPr lang="it-IT" b="0" dirty="0">
                <a:solidFill>
                  <a:srgbClr val="D4D4D4"/>
                </a:solidFill>
                <a:effectLst/>
                <a:latin typeface="Consolas" panose="020B0609020204030204" pitchFamily="49" charset="0"/>
              </a:rPr>
              <a:t> saldo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deposita(</a:t>
            </a:r>
            <a:r>
              <a:rPr lang="it-IT" b="0" dirty="0">
                <a:solidFill>
                  <a:srgbClr val="569CD6"/>
                </a:solidFill>
                <a:effectLst/>
                <a:latin typeface="Consolas" panose="020B0609020204030204" pitchFamily="49" charset="0"/>
              </a:rPr>
              <a:t>double</a:t>
            </a:r>
            <a:r>
              <a:rPr lang="it-IT" b="0" dirty="0">
                <a:solidFill>
                  <a:srgbClr val="D4D4D4"/>
                </a:solidFill>
                <a:effectLst/>
                <a:latin typeface="Consolas" panose="020B0609020204030204" pitchFamily="49" charset="0"/>
              </a:rPr>
              <a:t> importo) {</a:t>
            </a:r>
          </a:p>
          <a:p>
            <a:r>
              <a:rPr lang="it-IT" b="0" dirty="0">
                <a:solidFill>
                  <a:srgbClr val="D4D4D4"/>
                </a:solidFill>
                <a:effectLst/>
                <a:latin typeface="Consolas" panose="020B0609020204030204" pitchFamily="49" charset="0"/>
              </a:rPr>
              <a:t>        saldo += importo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double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getSaldo</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return</a:t>
            </a:r>
            <a:r>
              <a:rPr lang="it-IT" b="0" dirty="0">
                <a:solidFill>
                  <a:srgbClr val="D4D4D4"/>
                </a:solidFill>
                <a:effectLst/>
                <a:latin typeface="Consolas" panose="020B0609020204030204" pitchFamily="49" charset="0"/>
              </a:rPr>
              <a:t> saldo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1520307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La sicurezza del privato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Perché dello scope private?</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3789442" y="4185267"/>
            <a:ext cx="6097978" cy="1200329"/>
          </a:xfrm>
          <a:prstGeom prst="rect">
            <a:avLst/>
          </a:prstGeom>
          <a:noFill/>
        </p:spPr>
        <p:txBody>
          <a:bodyPr wrap="square">
            <a:spAutoFit/>
          </a:bodyPr>
          <a:lstStyle/>
          <a:p>
            <a:r>
              <a:rPr lang="it-IT" dirty="0"/>
              <a:t>In questo caso, il campo saldo è dichiarato come private, quindi non è accessibile direttamente da altre classi. La classe fornisce due metodi pubblici deposita() e </a:t>
            </a:r>
            <a:r>
              <a:rPr lang="it-IT" dirty="0" err="1"/>
              <a:t>getSaldo</a:t>
            </a:r>
            <a:r>
              <a:rPr lang="it-IT" dirty="0"/>
              <a:t>() per aggiungere denaro al conto e ottenere il saldo, rispettivamente. </a:t>
            </a:r>
          </a:p>
        </p:txBody>
      </p:sp>
      <p:sp>
        <p:nvSpPr>
          <p:cNvPr id="10" name="CasellaDiTesto 9">
            <a:extLst>
              <a:ext uri="{FF2B5EF4-FFF2-40B4-BE49-F238E27FC236}">
                <a16:creationId xmlns:a16="http://schemas.microsoft.com/office/drawing/2014/main" id="{86E659BB-08B0-31A5-B621-FC466C17DCB6}"/>
              </a:ext>
            </a:extLst>
          </p:cNvPr>
          <p:cNvSpPr txBox="1"/>
          <p:nvPr/>
        </p:nvSpPr>
        <p:spPr>
          <a:xfrm>
            <a:off x="3904507" y="795647"/>
            <a:ext cx="5506192" cy="3139321"/>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ContoBancario</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double</a:t>
            </a:r>
            <a:r>
              <a:rPr lang="it-IT" b="0" dirty="0">
                <a:solidFill>
                  <a:srgbClr val="D4D4D4"/>
                </a:solidFill>
                <a:effectLst/>
                <a:latin typeface="Consolas" panose="020B0609020204030204" pitchFamily="49" charset="0"/>
              </a:rPr>
              <a:t> saldo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deposita(</a:t>
            </a:r>
            <a:r>
              <a:rPr lang="it-IT" b="0" dirty="0">
                <a:solidFill>
                  <a:srgbClr val="569CD6"/>
                </a:solidFill>
                <a:effectLst/>
                <a:latin typeface="Consolas" panose="020B0609020204030204" pitchFamily="49" charset="0"/>
              </a:rPr>
              <a:t>double</a:t>
            </a:r>
            <a:r>
              <a:rPr lang="it-IT" b="0" dirty="0">
                <a:solidFill>
                  <a:srgbClr val="D4D4D4"/>
                </a:solidFill>
                <a:effectLst/>
                <a:latin typeface="Consolas" panose="020B0609020204030204" pitchFamily="49" charset="0"/>
              </a:rPr>
              <a:t> importo) {</a:t>
            </a:r>
          </a:p>
          <a:p>
            <a:r>
              <a:rPr lang="it-IT" b="0" dirty="0">
                <a:solidFill>
                  <a:srgbClr val="D4D4D4"/>
                </a:solidFill>
                <a:effectLst/>
                <a:latin typeface="Consolas" panose="020B0609020204030204" pitchFamily="49" charset="0"/>
              </a:rPr>
              <a:t>        saldo += importo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double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getSaldo</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return</a:t>
            </a:r>
            <a:r>
              <a:rPr lang="it-IT" b="0" dirty="0">
                <a:solidFill>
                  <a:srgbClr val="D4D4D4"/>
                </a:solidFill>
                <a:effectLst/>
                <a:latin typeface="Consolas" panose="020B0609020204030204" pitchFamily="49" charset="0"/>
              </a:rPr>
              <a:t> saldo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7048009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La sicurezza del privato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Perché dello scope private?</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3789442" y="4185267"/>
            <a:ext cx="6097978" cy="2031325"/>
          </a:xfrm>
          <a:prstGeom prst="rect">
            <a:avLst/>
          </a:prstGeom>
          <a:noFill/>
        </p:spPr>
        <p:txBody>
          <a:bodyPr wrap="square">
            <a:spAutoFit/>
          </a:bodyPr>
          <a:lstStyle/>
          <a:p>
            <a:r>
              <a:rPr lang="it-IT" dirty="0"/>
              <a:t>In questo caso, il campo saldo è dichiarato come private, quindi non è accessibile direttamente da altre classi. La classe fornisce due metodi pubblici deposita() e </a:t>
            </a:r>
            <a:r>
              <a:rPr lang="it-IT" dirty="0" err="1"/>
              <a:t>getSaldo</a:t>
            </a:r>
            <a:r>
              <a:rPr lang="it-IT" dirty="0"/>
              <a:t>() per aggiungere denaro al conto e ottenere il saldo, rispettivamente. Questo garantisce che il campo saldo sia protetto dall'accesso diretto e che tutte le operazioni sul saldo vengano effettuate attraverso i metodi pubblici.</a:t>
            </a:r>
          </a:p>
        </p:txBody>
      </p:sp>
      <p:sp>
        <p:nvSpPr>
          <p:cNvPr id="10" name="CasellaDiTesto 9">
            <a:extLst>
              <a:ext uri="{FF2B5EF4-FFF2-40B4-BE49-F238E27FC236}">
                <a16:creationId xmlns:a16="http://schemas.microsoft.com/office/drawing/2014/main" id="{86E659BB-08B0-31A5-B621-FC466C17DCB6}"/>
              </a:ext>
            </a:extLst>
          </p:cNvPr>
          <p:cNvSpPr txBox="1"/>
          <p:nvPr/>
        </p:nvSpPr>
        <p:spPr>
          <a:xfrm>
            <a:off x="3904507" y="795647"/>
            <a:ext cx="5506192" cy="3139321"/>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ContoBancario</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double</a:t>
            </a:r>
            <a:r>
              <a:rPr lang="it-IT" b="0" dirty="0">
                <a:solidFill>
                  <a:srgbClr val="D4D4D4"/>
                </a:solidFill>
                <a:effectLst/>
                <a:latin typeface="Consolas" panose="020B0609020204030204" pitchFamily="49" charset="0"/>
              </a:rPr>
              <a:t> saldo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deposita(</a:t>
            </a:r>
            <a:r>
              <a:rPr lang="it-IT" b="0" dirty="0">
                <a:solidFill>
                  <a:srgbClr val="569CD6"/>
                </a:solidFill>
                <a:effectLst/>
                <a:latin typeface="Consolas" panose="020B0609020204030204" pitchFamily="49" charset="0"/>
              </a:rPr>
              <a:t>double</a:t>
            </a:r>
            <a:r>
              <a:rPr lang="it-IT" b="0" dirty="0">
                <a:solidFill>
                  <a:srgbClr val="D4D4D4"/>
                </a:solidFill>
                <a:effectLst/>
                <a:latin typeface="Consolas" panose="020B0609020204030204" pitchFamily="49" charset="0"/>
              </a:rPr>
              <a:t> importo) {</a:t>
            </a:r>
          </a:p>
          <a:p>
            <a:r>
              <a:rPr lang="it-IT" b="0" dirty="0">
                <a:solidFill>
                  <a:srgbClr val="D4D4D4"/>
                </a:solidFill>
                <a:effectLst/>
                <a:latin typeface="Consolas" panose="020B0609020204030204" pitchFamily="49" charset="0"/>
              </a:rPr>
              <a:t>        saldo += importo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double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getSaldo</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return</a:t>
            </a:r>
            <a:r>
              <a:rPr lang="it-IT" b="0" dirty="0">
                <a:solidFill>
                  <a:srgbClr val="D4D4D4"/>
                </a:solidFill>
                <a:effectLst/>
                <a:latin typeface="Consolas" panose="020B0609020204030204" pitchFamily="49" charset="0"/>
              </a:rPr>
              <a:t> saldo</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1468297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La sicurezza del privato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Perché dello scope private?</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3789442" y="939075"/>
            <a:ext cx="6097978" cy="923330"/>
          </a:xfrm>
          <a:prstGeom prst="rect">
            <a:avLst/>
          </a:prstGeom>
          <a:noFill/>
        </p:spPr>
        <p:txBody>
          <a:bodyPr wrap="square">
            <a:spAutoFit/>
          </a:bodyPr>
          <a:lstStyle/>
          <a:p>
            <a:r>
              <a:rPr lang="it-IT" dirty="0"/>
              <a:t>Un altro motivo per dichiarare un metodo o un campo come private è quello di nascondere l'implementazione interna della classe. </a:t>
            </a:r>
          </a:p>
        </p:txBody>
      </p:sp>
    </p:spTree>
    <p:extLst>
      <p:ext uri="{BB962C8B-B14F-4D97-AF65-F5344CB8AC3E}">
        <p14:creationId xmlns:p14="http://schemas.microsoft.com/office/powerpoint/2010/main" val="30414861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La sicurezza del privato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Perché dello scope private?</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3789442" y="939075"/>
            <a:ext cx="6097978" cy="1200329"/>
          </a:xfrm>
          <a:prstGeom prst="rect">
            <a:avLst/>
          </a:prstGeom>
          <a:noFill/>
        </p:spPr>
        <p:txBody>
          <a:bodyPr wrap="square">
            <a:spAutoFit/>
          </a:bodyPr>
          <a:lstStyle/>
          <a:p>
            <a:r>
              <a:rPr lang="it-IT" dirty="0"/>
              <a:t>Un altro motivo per dichiarare un metodo o un campo come private è quello di nascondere l'implementazione interna della classe. Ad esempio, supponiamo di avere una classe Database che ha un campo connessione per la connessione al database:</a:t>
            </a:r>
          </a:p>
        </p:txBody>
      </p:sp>
    </p:spTree>
    <p:extLst>
      <p:ext uri="{BB962C8B-B14F-4D97-AF65-F5344CB8AC3E}">
        <p14:creationId xmlns:p14="http://schemas.microsoft.com/office/powerpoint/2010/main" val="2158935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La sicurezza del privato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Perché dello scope private?</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3789442" y="939075"/>
            <a:ext cx="6097978" cy="1200329"/>
          </a:xfrm>
          <a:prstGeom prst="rect">
            <a:avLst/>
          </a:prstGeom>
          <a:noFill/>
        </p:spPr>
        <p:txBody>
          <a:bodyPr wrap="square">
            <a:spAutoFit/>
          </a:bodyPr>
          <a:lstStyle/>
          <a:p>
            <a:r>
              <a:rPr lang="it-IT" dirty="0"/>
              <a:t>Un altro motivo per dichiarare un metodo o un campo come private è quello di nascondere l'implementazione interna della classe. Ad esempio, supponiamo di avere una classe Database che ha un campo connessione per la connessione al database:</a:t>
            </a:r>
          </a:p>
        </p:txBody>
      </p:sp>
      <p:sp>
        <p:nvSpPr>
          <p:cNvPr id="7" name="CasellaDiTesto 6">
            <a:extLst>
              <a:ext uri="{FF2B5EF4-FFF2-40B4-BE49-F238E27FC236}">
                <a16:creationId xmlns:a16="http://schemas.microsoft.com/office/drawing/2014/main" id="{847D2DD1-30F6-834B-42ED-1ABEAD1319FE}"/>
              </a:ext>
            </a:extLst>
          </p:cNvPr>
          <p:cNvSpPr txBox="1"/>
          <p:nvPr/>
        </p:nvSpPr>
        <p:spPr>
          <a:xfrm>
            <a:off x="3832218" y="2115109"/>
            <a:ext cx="7484966" cy="1077218"/>
          </a:xfrm>
          <a:prstGeom prst="rect">
            <a:avLst/>
          </a:prstGeom>
          <a:solidFill>
            <a:schemeClr val="tx1">
              <a:lumMod val="85000"/>
              <a:lumOff val="15000"/>
            </a:schemeClr>
          </a:solidFill>
        </p:spPr>
        <p:txBody>
          <a:bodyPr wrap="square">
            <a:spAutoFit/>
          </a:bodyPr>
          <a:lstStyle/>
          <a:p>
            <a:r>
              <a:rPr lang="it-IT" sz="1600" b="0" dirty="0">
                <a:solidFill>
                  <a:srgbClr val="569CD6"/>
                </a:solidFill>
                <a:effectLst/>
                <a:latin typeface="Consolas" panose="020B0609020204030204" pitchFamily="49" charset="0"/>
              </a:rPr>
              <a:t>public</a:t>
            </a:r>
            <a:r>
              <a:rPr lang="it-IT" sz="1600" b="0" dirty="0">
                <a:solidFill>
                  <a:srgbClr val="D4D4D4"/>
                </a:solidFill>
                <a:effectLst/>
                <a:latin typeface="Consolas" panose="020B0609020204030204" pitchFamily="49" charset="0"/>
              </a:rPr>
              <a:t> </a:t>
            </a:r>
            <a:r>
              <a:rPr lang="it-IT" sz="1600" b="0" dirty="0">
                <a:solidFill>
                  <a:srgbClr val="569CD6"/>
                </a:solidFill>
                <a:effectLst/>
                <a:latin typeface="Consolas" panose="020B0609020204030204" pitchFamily="49" charset="0"/>
              </a:rPr>
              <a:t>class</a:t>
            </a:r>
            <a:r>
              <a:rPr lang="it-IT" sz="1600" b="0" dirty="0">
                <a:solidFill>
                  <a:srgbClr val="D4D4D4"/>
                </a:solidFill>
                <a:effectLst/>
                <a:latin typeface="Consolas" panose="020B0609020204030204" pitchFamily="49" charset="0"/>
              </a:rPr>
              <a:t> Database {</a:t>
            </a:r>
          </a:p>
          <a:p>
            <a:r>
              <a:rPr lang="it-IT" sz="1600" b="0" dirty="0">
                <a:solidFill>
                  <a:srgbClr val="D4D4D4"/>
                </a:solidFill>
                <a:effectLst/>
                <a:latin typeface="Consolas" panose="020B0609020204030204" pitchFamily="49" charset="0"/>
              </a:rPr>
              <a:t>    </a:t>
            </a:r>
            <a:r>
              <a:rPr lang="it-IT" sz="1600" b="0" dirty="0">
                <a:solidFill>
                  <a:srgbClr val="569CD6"/>
                </a:solidFill>
                <a:effectLst/>
                <a:latin typeface="Consolas" panose="020B0609020204030204" pitchFamily="49" charset="0"/>
              </a:rPr>
              <a:t>private</a:t>
            </a:r>
            <a:r>
              <a:rPr lang="it-IT" sz="1600" b="0" dirty="0">
                <a:solidFill>
                  <a:srgbClr val="D4D4D4"/>
                </a:solidFill>
                <a:effectLst/>
                <a:latin typeface="Consolas" panose="020B0609020204030204" pitchFamily="49" charset="0"/>
              </a:rPr>
              <a:t> Connection connessione</a:t>
            </a:r>
            <a:r>
              <a:rPr lang="it-IT" sz="1600" b="0" dirty="0">
                <a:solidFill>
                  <a:srgbClr val="569CD6"/>
                </a:solidFill>
                <a:effectLst/>
                <a:latin typeface="Consolas" panose="020B0609020204030204" pitchFamily="49" charset="0"/>
              </a:rPr>
              <a:t>;</a:t>
            </a:r>
            <a:endParaRPr lang="it-IT" sz="1600" b="0" dirty="0">
              <a:solidFill>
                <a:srgbClr val="D4D4D4"/>
              </a:solidFill>
              <a:effectLst/>
              <a:latin typeface="Consolas" panose="020B0609020204030204" pitchFamily="49" charset="0"/>
            </a:endParaRPr>
          </a:p>
          <a:p>
            <a:r>
              <a:rPr lang="it-IT" sz="1600" b="0" dirty="0">
                <a:solidFill>
                  <a:srgbClr val="D4D4D4"/>
                </a:solidFill>
                <a:effectLst/>
                <a:latin typeface="Consolas" panose="020B0609020204030204" pitchFamily="49" charset="0"/>
              </a:rPr>
              <a:t>        </a:t>
            </a:r>
          </a:p>
          <a:p>
            <a:r>
              <a:rPr lang="it-IT" sz="16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9464516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La sicurezza del privato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Perché dello scope private?</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3789442" y="939075"/>
            <a:ext cx="6097978" cy="1200329"/>
          </a:xfrm>
          <a:prstGeom prst="rect">
            <a:avLst/>
          </a:prstGeom>
          <a:noFill/>
        </p:spPr>
        <p:txBody>
          <a:bodyPr wrap="square">
            <a:spAutoFit/>
          </a:bodyPr>
          <a:lstStyle/>
          <a:p>
            <a:r>
              <a:rPr lang="it-IT" dirty="0"/>
              <a:t>Un altro motivo per dichiarare un metodo o un campo come private è quello di nascondere l'implementazione interna della classe. Ad esempio, supponiamo di avere una classe Database che ha un campo connessione per la connessione al database:</a:t>
            </a:r>
          </a:p>
        </p:txBody>
      </p:sp>
      <p:sp>
        <p:nvSpPr>
          <p:cNvPr id="7" name="CasellaDiTesto 6">
            <a:extLst>
              <a:ext uri="{FF2B5EF4-FFF2-40B4-BE49-F238E27FC236}">
                <a16:creationId xmlns:a16="http://schemas.microsoft.com/office/drawing/2014/main" id="{847D2DD1-30F6-834B-42ED-1ABEAD1319FE}"/>
              </a:ext>
            </a:extLst>
          </p:cNvPr>
          <p:cNvSpPr txBox="1"/>
          <p:nvPr/>
        </p:nvSpPr>
        <p:spPr>
          <a:xfrm>
            <a:off x="3832218" y="2115109"/>
            <a:ext cx="7484966" cy="2062103"/>
          </a:xfrm>
          <a:prstGeom prst="rect">
            <a:avLst/>
          </a:prstGeom>
          <a:solidFill>
            <a:schemeClr val="tx1">
              <a:lumMod val="85000"/>
              <a:lumOff val="15000"/>
            </a:schemeClr>
          </a:solidFill>
        </p:spPr>
        <p:txBody>
          <a:bodyPr wrap="square">
            <a:spAutoFit/>
          </a:bodyPr>
          <a:lstStyle/>
          <a:p>
            <a:r>
              <a:rPr lang="it-IT" sz="1600" b="0" dirty="0">
                <a:solidFill>
                  <a:srgbClr val="569CD6"/>
                </a:solidFill>
                <a:effectLst/>
                <a:latin typeface="Consolas" panose="020B0609020204030204" pitchFamily="49" charset="0"/>
              </a:rPr>
              <a:t>public</a:t>
            </a:r>
            <a:r>
              <a:rPr lang="it-IT" sz="1600" b="0" dirty="0">
                <a:solidFill>
                  <a:srgbClr val="D4D4D4"/>
                </a:solidFill>
                <a:effectLst/>
                <a:latin typeface="Consolas" panose="020B0609020204030204" pitchFamily="49" charset="0"/>
              </a:rPr>
              <a:t> </a:t>
            </a:r>
            <a:r>
              <a:rPr lang="it-IT" sz="1600" b="0" dirty="0">
                <a:solidFill>
                  <a:srgbClr val="569CD6"/>
                </a:solidFill>
                <a:effectLst/>
                <a:latin typeface="Consolas" panose="020B0609020204030204" pitchFamily="49" charset="0"/>
              </a:rPr>
              <a:t>class</a:t>
            </a:r>
            <a:r>
              <a:rPr lang="it-IT" sz="1600" b="0" dirty="0">
                <a:solidFill>
                  <a:srgbClr val="D4D4D4"/>
                </a:solidFill>
                <a:effectLst/>
                <a:latin typeface="Consolas" panose="020B0609020204030204" pitchFamily="49" charset="0"/>
              </a:rPr>
              <a:t> Database {</a:t>
            </a:r>
          </a:p>
          <a:p>
            <a:r>
              <a:rPr lang="it-IT" sz="1600" b="0" dirty="0">
                <a:solidFill>
                  <a:srgbClr val="D4D4D4"/>
                </a:solidFill>
                <a:effectLst/>
                <a:latin typeface="Consolas" panose="020B0609020204030204" pitchFamily="49" charset="0"/>
              </a:rPr>
              <a:t>    </a:t>
            </a:r>
            <a:r>
              <a:rPr lang="it-IT" sz="1600" b="0" dirty="0">
                <a:solidFill>
                  <a:srgbClr val="569CD6"/>
                </a:solidFill>
                <a:effectLst/>
                <a:latin typeface="Consolas" panose="020B0609020204030204" pitchFamily="49" charset="0"/>
              </a:rPr>
              <a:t>private</a:t>
            </a:r>
            <a:r>
              <a:rPr lang="it-IT" sz="1600" b="0" dirty="0">
                <a:solidFill>
                  <a:srgbClr val="D4D4D4"/>
                </a:solidFill>
                <a:effectLst/>
                <a:latin typeface="Consolas" panose="020B0609020204030204" pitchFamily="49" charset="0"/>
              </a:rPr>
              <a:t> Connection connessione</a:t>
            </a:r>
            <a:r>
              <a:rPr lang="it-IT" sz="1600" b="0" dirty="0">
                <a:solidFill>
                  <a:srgbClr val="569CD6"/>
                </a:solidFill>
                <a:effectLst/>
                <a:latin typeface="Consolas" panose="020B0609020204030204" pitchFamily="49" charset="0"/>
              </a:rPr>
              <a:t>;</a:t>
            </a:r>
            <a:endParaRPr lang="it-IT" sz="1600" b="0" dirty="0">
              <a:solidFill>
                <a:srgbClr val="D4D4D4"/>
              </a:solidFill>
              <a:effectLst/>
              <a:latin typeface="Consolas" panose="020B0609020204030204" pitchFamily="49" charset="0"/>
            </a:endParaRPr>
          </a:p>
          <a:p>
            <a:r>
              <a:rPr lang="it-IT" sz="1600" b="0" dirty="0">
                <a:solidFill>
                  <a:srgbClr val="D4D4D4"/>
                </a:solidFill>
                <a:effectLst/>
                <a:latin typeface="Consolas" panose="020B0609020204030204" pitchFamily="49" charset="0"/>
              </a:rPr>
              <a:t>    </a:t>
            </a:r>
          </a:p>
          <a:p>
            <a:r>
              <a:rPr lang="it-IT" sz="1600" b="0" dirty="0">
                <a:solidFill>
                  <a:srgbClr val="D4D4D4"/>
                </a:solidFill>
                <a:effectLst/>
                <a:latin typeface="Consolas" panose="020B0609020204030204" pitchFamily="49" charset="0"/>
              </a:rPr>
              <a:t>    </a:t>
            </a:r>
            <a:r>
              <a:rPr lang="it-IT" sz="1600" b="0" dirty="0">
                <a:solidFill>
                  <a:srgbClr val="569CD6"/>
                </a:solidFill>
                <a:effectLst/>
                <a:latin typeface="Consolas" panose="020B0609020204030204" pitchFamily="49" charset="0"/>
              </a:rPr>
              <a:t>private</a:t>
            </a:r>
            <a:r>
              <a:rPr lang="it-IT" sz="1600" b="0" dirty="0">
                <a:solidFill>
                  <a:srgbClr val="D4D4D4"/>
                </a:solidFill>
                <a:effectLst/>
                <a:latin typeface="Consolas" panose="020B0609020204030204" pitchFamily="49" charset="0"/>
              </a:rPr>
              <a:t> </a:t>
            </a:r>
            <a:r>
              <a:rPr lang="it-IT" sz="1600" b="0" dirty="0" err="1">
                <a:solidFill>
                  <a:srgbClr val="569CD6"/>
                </a:solidFill>
                <a:effectLst/>
                <a:latin typeface="Consolas" panose="020B0609020204030204" pitchFamily="49" charset="0"/>
              </a:rPr>
              <a:t>void</a:t>
            </a:r>
            <a:r>
              <a:rPr lang="it-IT" sz="1600" b="0" dirty="0">
                <a:solidFill>
                  <a:srgbClr val="D4D4D4"/>
                </a:solidFill>
                <a:effectLst/>
                <a:latin typeface="Consolas" panose="020B0609020204030204" pitchFamily="49" charset="0"/>
              </a:rPr>
              <a:t> </a:t>
            </a:r>
            <a:r>
              <a:rPr lang="it-IT" sz="1600" b="0" dirty="0" err="1">
                <a:solidFill>
                  <a:srgbClr val="D4D4D4"/>
                </a:solidFill>
                <a:effectLst/>
                <a:latin typeface="Consolas" panose="020B0609020204030204" pitchFamily="49" charset="0"/>
              </a:rPr>
              <a:t>creaConnessione</a:t>
            </a:r>
            <a:r>
              <a:rPr lang="it-IT" sz="1600" b="0" dirty="0">
                <a:solidFill>
                  <a:srgbClr val="D4D4D4"/>
                </a:solidFill>
                <a:effectLst/>
                <a:latin typeface="Consolas" panose="020B0609020204030204" pitchFamily="49" charset="0"/>
              </a:rPr>
              <a:t>() {</a:t>
            </a:r>
          </a:p>
          <a:p>
            <a:r>
              <a:rPr lang="it-IT" sz="1600" b="0" dirty="0">
                <a:solidFill>
                  <a:srgbClr val="D4D4D4"/>
                </a:solidFill>
                <a:effectLst/>
                <a:latin typeface="Consolas" panose="020B0609020204030204" pitchFamily="49" charset="0"/>
              </a:rPr>
              <a:t>        </a:t>
            </a:r>
            <a:r>
              <a:rPr lang="it-IT" sz="1600" b="0" dirty="0">
                <a:solidFill>
                  <a:srgbClr val="6A9955"/>
                </a:solidFill>
                <a:effectLst/>
                <a:latin typeface="Consolas" panose="020B0609020204030204" pitchFamily="49" charset="0"/>
              </a:rPr>
              <a:t>// codice per creare una connessione al database</a:t>
            </a:r>
            <a:endParaRPr lang="it-IT" sz="1600" b="0" dirty="0">
              <a:solidFill>
                <a:srgbClr val="D4D4D4"/>
              </a:solidFill>
              <a:effectLst/>
              <a:latin typeface="Consolas" panose="020B0609020204030204" pitchFamily="49" charset="0"/>
            </a:endParaRPr>
          </a:p>
          <a:p>
            <a:r>
              <a:rPr lang="it-IT" sz="1600" b="0" dirty="0">
                <a:solidFill>
                  <a:srgbClr val="D4D4D4"/>
                </a:solidFill>
                <a:effectLst/>
                <a:latin typeface="Consolas" panose="020B0609020204030204" pitchFamily="49" charset="0"/>
              </a:rPr>
              <a:t>    }</a:t>
            </a:r>
          </a:p>
          <a:p>
            <a:r>
              <a:rPr lang="it-IT" sz="1600" b="0" dirty="0">
                <a:solidFill>
                  <a:srgbClr val="D4D4D4"/>
                </a:solidFill>
                <a:effectLst/>
                <a:latin typeface="Consolas" panose="020B0609020204030204" pitchFamily="49" charset="0"/>
              </a:rPr>
              <a:t>        </a:t>
            </a:r>
          </a:p>
          <a:p>
            <a:r>
              <a:rPr lang="it-IT" sz="16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2264364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La sicurezza del privato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Perché dello scope private?</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3789442" y="939075"/>
            <a:ext cx="6097978" cy="1200329"/>
          </a:xfrm>
          <a:prstGeom prst="rect">
            <a:avLst/>
          </a:prstGeom>
          <a:noFill/>
        </p:spPr>
        <p:txBody>
          <a:bodyPr wrap="square">
            <a:spAutoFit/>
          </a:bodyPr>
          <a:lstStyle/>
          <a:p>
            <a:r>
              <a:rPr lang="it-IT" dirty="0"/>
              <a:t>Un altro motivo per dichiarare un metodo o un campo come private è quello di nascondere l'implementazione interna della classe. Ad esempio, supponiamo di avere una classe Database che ha un campo connessione per la connessione al database:</a:t>
            </a:r>
          </a:p>
        </p:txBody>
      </p:sp>
      <p:sp>
        <p:nvSpPr>
          <p:cNvPr id="7" name="CasellaDiTesto 6">
            <a:extLst>
              <a:ext uri="{FF2B5EF4-FFF2-40B4-BE49-F238E27FC236}">
                <a16:creationId xmlns:a16="http://schemas.microsoft.com/office/drawing/2014/main" id="{847D2DD1-30F6-834B-42ED-1ABEAD1319FE}"/>
              </a:ext>
            </a:extLst>
          </p:cNvPr>
          <p:cNvSpPr txBox="1"/>
          <p:nvPr/>
        </p:nvSpPr>
        <p:spPr>
          <a:xfrm>
            <a:off x="3832218" y="2115109"/>
            <a:ext cx="7484966" cy="3046988"/>
          </a:xfrm>
          <a:prstGeom prst="rect">
            <a:avLst/>
          </a:prstGeom>
          <a:solidFill>
            <a:schemeClr val="tx1">
              <a:lumMod val="85000"/>
              <a:lumOff val="15000"/>
            </a:schemeClr>
          </a:solidFill>
        </p:spPr>
        <p:txBody>
          <a:bodyPr wrap="square">
            <a:spAutoFit/>
          </a:bodyPr>
          <a:lstStyle/>
          <a:p>
            <a:r>
              <a:rPr lang="it-IT" sz="1600" b="0" dirty="0">
                <a:solidFill>
                  <a:srgbClr val="569CD6"/>
                </a:solidFill>
                <a:effectLst/>
                <a:latin typeface="Consolas" panose="020B0609020204030204" pitchFamily="49" charset="0"/>
              </a:rPr>
              <a:t>public</a:t>
            </a:r>
            <a:r>
              <a:rPr lang="it-IT" sz="1600" b="0" dirty="0">
                <a:solidFill>
                  <a:srgbClr val="D4D4D4"/>
                </a:solidFill>
                <a:effectLst/>
                <a:latin typeface="Consolas" panose="020B0609020204030204" pitchFamily="49" charset="0"/>
              </a:rPr>
              <a:t> </a:t>
            </a:r>
            <a:r>
              <a:rPr lang="it-IT" sz="1600" b="0" dirty="0">
                <a:solidFill>
                  <a:srgbClr val="569CD6"/>
                </a:solidFill>
                <a:effectLst/>
                <a:latin typeface="Consolas" panose="020B0609020204030204" pitchFamily="49" charset="0"/>
              </a:rPr>
              <a:t>class</a:t>
            </a:r>
            <a:r>
              <a:rPr lang="it-IT" sz="1600" b="0" dirty="0">
                <a:solidFill>
                  <a:srgbClr val="D4D4D4"/>
                </a:solidFill>
                <a:effectLst/>
                <a:latin typeface="Consolas" panose="020B0609020204030204" pitchFamily="49" charset="0"/>
              </a:rPr>
              <a:t> Database {</a:t>
            </a:r>
          </a:p>
          <a:p>
            <a:r>
              <a:rPr lang="it-IT" sz="1600" b="0" dirty="0">
                <a:solidFill>
                  <a:srgbClr val="D4D4D4"/>
                </a:solidFill>
                <a:effectLst/>
                <a:latin typeface="Consolas" panose="020B0609020204030204" pitchFamily="49" charset="0"/>
              </a:rPr>
              <a:t>    </a:t>
            </a:r>
            <a:r>
              <a:rPr lang="it-IT" sz="1600" b="0" dirty="0">
                <a:solidFill>
                  <a:srgbClr val="569CD6"/>
                </a:solidFill>
                <a:effectLst/>
                <a:latin typeface="Consolas" panose="020B0609020204030204" pitchFamily="49" charset="0"/>
              </a:rPr>
              <a:t>private</a:t>
            </a:r>
            <a:r>
              <a:rPr lang="it-IT" sz="1600" b="0" dirty="0">
                <a:solidFill>
                  <a:srgbClr val="D4D4D4"/>
                </a:solidFill>
                <a:effectLst/>
                <a:latin typeface="Consolas" panose="020B0609020204030204" pitchFamily="49" charset="0"/>
              </a:rPr>
              <a:t> Connection connessione</a:t>
            </a:r>
            <a:r>
              <a:rPr lang="it-IT" sz="1600" b="0" dirty="0">
                <a:solidFill>
                  <a:srgbClr val="569CD6"/>
                </a:solidFill>
                <a:effectLst/>
                <a:latin typeface="Consolas" panose="020B0609020204030204" pitchFamily="49" charset="0"/>
              </a:rPr>
              <a:t>;</a:t>
            </a:r>
            <a:endParaRPr lang="it-IT" sz="1600" b="0" dirty="0">
              <a:solidFill>
                <a:srgbClr val="D4D4D4"/>
              </a:solidFill>
              <a:effectLst/>
              <a:latin typeface="Consolas" panose="020B0609020204030204" pitchFamily="49" charset="0"/>
            </a:endParaRPr>
          </a:p>
          <a:p>
            <a:r>
              <a:rPr lang="it-IT" sz="1600" b="0" dirty="0">
                <a:solidFill>
                  <a:srgbClr val="D4D4D4"/>
                </a:solidFill>
                <a:effectLst/>
                <a:latin typeface="Consolas" panose="020B0609020204030204" pitchFamily="49" charset="0"/>
              </a:rPr>
              <a:t>    </a:t>
            </a:r>
          </a:p>
          <a:p>
            <a:r>
              <a:rPr lang="it-IT" sz="1600" b="0" dirty="0">
                <a:solidFill>
                  <a:srgbClr val="D4D4D4"/>
                </a:solidFill>
                <a:effectLst/>
                <a:latin typeface="Consolas" panose="020B0609020204030204" pitchFamily="49" charset="0"/>
              </a:rPr>
              <a:t>    </a:t>
            </a:r>
            <a:r>
              <a:rPr lang="it-IT" sz="1600" b="0" dirty="0">
                <a:solidFill>
                  <a:srgbClr val="569CD6"/>
                </a:solidFill>
                <a:effectLst/>
                <a:latin typeface="Consolas" panose="020B0609020204030204" pitchFamily="49" charset="0"/>
              </a:rPr>
              <a:t>private</a:t>
            </a:r>
            <a:r>
              <a:rPr lang="it-IT" sz="1600" b="0" dirty="0">
                <a:solidFill>
                  <a:srgbClr val="D4D4D4"/>
                </a:solidFill>
                <a:effectLst/>
                <a:latin typeface="Consolas" panose="020B0609020204030204" pitchFamily="49" charset="0"/>
              </a:rPr>
              <a:t> </a:t>
            </a:r>
            <a:r>
              <a:rPr lang="it-IT" sz="1600" b="0" dirty="0" err="1">
                <a:solidFill>
                  <a:srgbClr val="569CD6"/>
                </a:solidFill>
                <a:effectLst/>
                <a:latin typeface="Consolas" panose="020B0609020204030204" pitchFamily="49" charset="0"/>
              </a:rPr>
              <a:t>void</a:t>
            </a:r>
            <a:r>
              <a:rPr lang="it-IT" sz="1600" b="0" dirty="0">
                <a:solidFill>
                  <a:srgbClr val="D4D4D4"/>
                </a:solidFill>
                <a:effectLst/>
                <a:latin typeface="Consolas" panose="020B0609020204030204" pitchFamily="49" charset="0"/>
              </a:rPr>
              <a:t> </a:t>
            </a:r>
            <a:r>
              <a:rPr lang="it-IT" sz="1600" b="0" dirty="0" err="1">
                <a:solidFill>
                  <a:srgbClr val="D4D4D4"/>
                </a:solidFill>
                <a:effectLst/>
                <a:latin typeface="Consolas" panose="020B0609020204030204" pitchFamily="49" charset="0"/>
              </a:rPr>
              <a:t>creaConnessione</a:t>
            </a:r>
            <a:r>
              <a:rPr lang="it-IT" sz="1600" b="0" dirty="0">
                <a:solidFill>
                  <a:srgbClr val="D4D4D4"/>
                </a:solidFill>
                <a:effectLst/>
                <a:latin typeface="Consolas" panose="020B0609020204030204" pitchFamily="49" charset="0"/>
              </a:rPr>
              <a:t>() {</a:t>
            </a:r>
          </a:p>
          <a:p>
            <a:r>
              <a:rPr lang="it-IT" sz="1600" b="0" dirty="0">
                <a:solidFill>
                  <a:srgbClr val="D4D4D4"/>
                </a:solidFill>
                <a:effectLst/>
                <a:latin typeface="Consolas" panose="020B0609020204030204" pitchFamily="49" charset="0"/>
              </a:rPr>
              <a:t>        </a:t>
            </a:r>
            <a:r>
              <a:rPr lang="it-IT" sz="1600" b="0" dirty="0">
                <a:solidFill>
                  <a:srgbClr val="6A9955"/>
                </a:solidFill>
                <a:effectLst/>
                <a:latin typeface="Consolas" panose="020B0609020204030204" pitchFamily="49" charset="0"/>
              </a:rPr>
              <a:t>// codice per creare una connessione al database</a:t>
            </a:r>
            <a:endParaRPr lang="it-IT" sz="1600" b="0" dirty="0">
              <a:solidFill>
                <a:srgbClr val="D4D4D4"/>
              </a:solidFill>
              <a:effectLst/>
              <a:latin typeface="Consolas" panose="020B0609020204030204" pitchFamily="49" charset="0"/>
            </a:endParaRPr>
          </a:p>
          <a:p>
            <a:r>
              <a:rPr lang="it-IT" sz="1600" b="0" dirty="0">
                <a:solidFill>
                  <a:srgbClr val="D4D4D4"/>
                </a:solidFill>
                <a:effectLst/>
                <a:latin typeface="Consolas" panose="020B0609020204030204" pitchFamily="49" charset="0"/>
              </a:rPr>
              <a:t>    }</a:t>
            </a:r>
          </a:p>
          <a:p>
            <a:r>
              <a:rPr lang="it-IT" sz="1600" b="0" dirty="0">
                <a:solidFill>
                  <a:srgbClr val="D4D4D4"/>
                </a:solidFill>
                <a:effectLst/>
                <a:latin typeface="Consolas" panose="020B0609020204030204" pitchFamily="49" charset="0"/>
              </a:rPr>
              <a:t>    </a:t>
            </a:r>
          </a:p>
          <a:p>
            <a:r>
              <a:rPr lang="it-IT" sz="1600" b="0" dirty="0">
                <a:solidFill>
                  <a:srgbClr val="D4D4D4"/>
                </a:solidFill>
                <a:effectLst/>
                <a:latin typeface="Consolas" panose="020B0609020204030204" pitchFamily="49" charset="0"/>
              </a:rPr>
              <a:t>    </a:t>
            </a:r>
            <a:r>
              <a:rPr lang="it-IT" sz="1600" b="0" dirty="0">
                <a:solidFill>
                  <a:srgbClr val="569CD6"/>
                </a:solidFill>
                <a:effectLst/>
                <a:latin typeface="Consolas" panose="020B0609020204030204" pitchFamily="49" charset="0"/>
              </a:rPr>
              <a:t>private</a:t>
            </a:r>
            <a:r>
              <a:rPr lang="it-IT" sz="1600" b="0" dirty="0">
                <a:solidFill>
                  <a:srgbClr val="D4D4D4"/>
                </a:solidFill>
                <a:effectLst/>
                <a:latin typeface="Consolas" panose="020B0609020204030204" pitchFamily="49" charset="0"/>
              </a:rPr>
              <a:t> </a:t>
            </a:r>
            <a:r>
              <a:rPr lang="it-IT" sz="1600" b="0" dirty="0" err="1">
                <a:solidFill>
                  <a:srgbClr val="569CD6"/>
                </a:solidFill>
                <a:effectLst/>
                <a:latin typeface="Consolas" panose="020B0609020204030204" pitchFamily="49" charset="0"/>
              </a:rPr>
              <a:t>void</a:t>
            </a:r>
            <a:r>
              <a:rPr lang="it-IT" sz="1600" b="0" dirty="0">
                <a:solidFill>
                  <a:srgbClr val="D4D4D4"/>
                </a:solidFill>
                <a:effectLst/>
                <a:latin typeface="Consolas" panose="020B0609020204030204" pitchFamily="49" charset="0"/>
              </a:rPr>
              <a:t> </a:t>
            </a:r>
            <a:r>
              <a:rPr lang="it-IT" sz="1600" b="0" dirty="0" err="1">
                <a:solidFill>
                  <a:srgbClr val="D4D4D4"/>
                </a:solidFill>
                <a:effectLst/>
                <a:latin typeface="Consolas" panose="020B0609020204030204" pitchFamily="49" charset="0"/>
              </a:rPr>
              <a:t>chiudiConnessione</a:t>
            </a:r>
            <a:r>
              <a:rPr lang="it-IT" sz="1600" b="0" dirty="0">
                <a:solidFill>
                  <a:srgbClr val="D4D4D4"/>
                </a:solidFill>
                <a:effectLst/>
                <a:latin typeface="Consolas" panose="020B0609020204030204" pitchFamily="49" charset="0"/>
              </a:rPr>
              <a:t>() {</a:t>
            </a:r>
          </a:p>
          <a:p>
            <a:r>
              <a:rPr lang="it-IT" sz="1600" b="0" dirty="0">
                <a:solidFill>
                  <a:srgbClr val="D4D4D4"/>
                </a:solidFill>
                <a:effectLst/>
                <a:latin typeface="Consolas" panose="020B0609020204030204" pitchFamily="49" charset="0"/>
              </a:rPr>
              <a:t>        </a:t>
            </a:r>
            <a:r>
              <a:rPr lang="it-IT" sz="1600" b="0" dirty="0">
                <a:solidFill>
                  <a:srgbClr val="6A9955"/>
                </a:solidFill>
                <a:effectLst/>
                <a:latin typeface="Consolas" panose="020B0609020204030204" pitchFamily="49" charset="0"/>
              </a:rPr>
              <a:t>// codice per chiudere la connessione al database</a:t>
            </a:r>
            <a:endParaRPr lang="it-IT" sz="1600" b="0" dirty="0">
              <a:solidFill>
                <a:srgbClr val="D4D4D4"/>
              </a:solidFill>
              <a:effectLst/>
              <a:latin typeface="Consolas" panose="020B0609020204030204" pitchFamily="49" charset="0"/>
            </a:endParaRPr>
          </a:p>
          <a:p>
            <a:r>
              <a:rPr lang="it-IT" sz="1600" b="0" dirty="0">
                <a:solidFill>
                  <a:srgbClr val="D4D4D4"/>
                </a:solidFill>
                <a:effectLst/>
                <a:latin typeface="Consolas" panose="020B0609020204030204" pitchFamily="49" charset="0"/>
              </a:rPr>
              <a:t>    }</a:t>
            </a:r>
          </a:p>
          <a:p>
            <a:r>
              <a:rPr lang="it-IT" sz="1600" b="0" dirty="0">
                <a:solidFill>
                  <a:srgbClr val="D4D4D4"/>
                </a:solidFill>
                <a:effectLst/>
                <a:latin typeface="Consolas" panose="020B0609020204030204" pitchFamily="49" charset="0"/>
              </a:rPr>
              <a:t>    </a:t>
            </a:r>
          </a:p>
          <a:p>
            <a:r>
              <a:rPr lang="it-IT" sz="16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984911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La sicurezza del privato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Perché dello scope private?</a:t>
            </a:r>
            <a:endParaRPr lang="it-IT" b="1" dirty="0"/>
          </a:p>
        </p:txBody>
      </p:sp>
      <p:sp>
        <p:nvSpPr>
          <p:cNvPr id="7" name="CasellaDiTesto 6">
            <a:extLst>
              <a:ext uri="{FF2B5EF4-FFF2-40B4-BE49-F238E27FC236}">
                <a16:creationId xmlns:a16="http://schemas.microsoft.com/office/drawing/2014/main" id="{847D2DD1-30F6-834B-42ED-1ABEAD1319FE}"/>
              </a:ext>
            </a:extLst>
          </p:cNvPr>
          <p:cNvSpPr txBox="1"/>
          <p:nvPr/>
        </p:nvSpPr>
        <p:spPr>
          <a:xfrm>
            <a:off x="3858088" y="847306"/>
            <a:ext cx="7484966" cy="3785652"/>
          </a:xfrm>
          <a:prstGeom prst="rect">
            <a:avLst/>
          </a:prstGeom>
          <a:solidFill>
            <a:schemeClr val="tx1">
              <a:lumMod val="85000"/>
              <a:lumOff val="15000"/>
            </a:schemeClr>
          </a:solidFill>
        </p:spPr>
        <p:txBody>
          <a:bodyPr wrap="square">
            <a:spAutoFit/>
          </a:bodyPr>
          <a:lstStyle/>
          <a:p>
            <a:r>
              <a:rPr lang="it-IT" sz="1600" b="0" dirty="0">
                <a:solidFill>
                  <a:srgbClr val="569CD6"/>
                </a:solidFill>
                <a:effectLst/>
                <a:latin typeface="Consolas" panose="020B0609020204030204" pitchFamily="49" charset="0"/>
              </a:rPr>
              <a:t>public</a:t>
            </a:r>
            <a:r>
              <a:rPr lang="it-IT" sz="1600" b="0" dirty="0">
                <a:solidFill>
                  <a:srgbClr val="D4D4D4"/>
                </a:solidFill>
                <a:effectLst/>
                <a:latin typeface="Consolas" panose="020B0609020204030204" pitchFamily="49" charset="0"/>
              </a:rPr>
              <a:t> </a:t>
            </a:r>
            <a:r>
              <a:rPr lang="it-IT" sz="1600" b="0" dirty="0">
                <a:solidFill>
                  <a:srgbClr val="569CD6"/>
                </a:solidFill>
                <a:effectLst/>
                <a:latin typeface="Consolas" panose="020B0609020204030204" pitchFamily="49" charset="0"/>
              </a:rPr>
              <a:t>class</a:t>
            </a:r>
            <a:r>
              <a:rPr lang="it-IT" sz="1600" b="0" dirty="0">
                <a:solidFill>
                  <a:srgbClr val="D4D4D4"/>
                </a:solidFill>
                <a:effectLst/>
                <a:latin typeface="Consolas" panose="020B0609020204030204" pitchFamily="49" charset="0"/>
              </a:rPr>
              <a:t> Database {</a:t>
            </a:r>
          </a:p>
          <a:p>
            <a:r>
              <a:rPr lang="it-IT" sz="1600" b="0" dirty="0">
                <a:solidFill>
                  <a:srgbClr val="D4D4D4"/>
                </a:solidFill>
                <a:effectLst/>
                <a:latin typeface="Consolas" panose="020B0609020204030204" pitchFamily="49" charset="0"/>
              </a:rPr>
              <a:t>    </a:t>
            </a:r>
            <a:r>
              <a:rPr lang="it-IT" sz="1600" b="0" dirty="0">
                <a:solidFill>
                  <a:srgbClr val="569CD6"/>
                </a:solidFill>
                <a:effectLst/>
                <a:latin typeface="Consolas" panose="020B0609020204030204" pitchFamily="49" charset="0"/>
              </a:rPr>
              <a:t>private</a:t>
            </a:r>
            <a:r>
              <a:rPr lang="it-IT" sz="1600" b="0" dirty="0">
                <a:solidFill>
                  <a:srgbClr val="D4D4D4"/>
                </a:solidFill>
                <a:effectLst/>
                <a:latin typeface="Consolas" panose="020B0609020204030204" pitchFamily="49" charset="0"/>
              </a:rPr>
              <a:t> Connection connessione</a:t>
            </a:r>
            <a:r>
              <a:rPr lang="it-IT" sz="1600" b="0" dirty="0">
                <a:solidFill>
                  <a:srgbClr val="569CD6"/>
                </a:solidFill>
                <a:effectLst/>
                <a:latin typeface="Consolas" panose="020B0609020204030204" pitchFamily="49" charset="0"/>
              </a:rPr>
              <a:t>;</a:t>
            </a:r>
            <a:endParaRPr lang="it-IT" sz="1600" b="0" dirty="0">
              <a:solidFill>
                <a:srgbClr val="D4D4D4"/>
              </a:solidFill>
              <a:effectLst/>
              <a:latin typeface="Consolas" panose="020B0609020204030204" pitchFamily="49" charset="0"/>
            </a:endParaRPr>
          </a:p>
          <a:p>
            <a:r>
              <a:rPr lang="it-IT" sz="1600" b="0" dirty="0">
                <a:solidFill>
                  <a:srgbClr val="D4D4D4"/>
                </a:solidFill>
                <a:effectLst/>
                <a:latin typeface="Consolas" panose="020B0609020204030204" pitchFamily="49" charset="0"/>
              </a:rPr>
              <a:t>    </a:t>
            </a:r>
          </a:p>
          <a:p>
            <a:r>
              <a:rPr lang="it-IT" sz="1600" b="0" dirty="0">
                <a:solidFill>
                  <a:srgbClr val="D4D4D4"/>
                </a:solidFill>
                <a:effectLst/>
                <a:latin typeface="Consolas" panose="020B0609020204030204" pitchFamily="49" charset="0"/>
              </a:rPr>
              <a:t>    </a:t>
            </a:r>
            <a:r>
              <a:rPr lang="it-IT" sz="1600" b="0" dirty="0">
                <a:solidFill>
                  <a:srgbClr val="569CD6"/>
                </a:solidFill>
                <a:effectLst/>
                <a:latin typeface="Consolas" panose="020B0609020204030204" pitchFamily="49" charset="0"/>
              </a:rPr>
              <a:t>private</a:t>
            </a:r>
            <a:r>
              <a:rPr lang="it-IT" sz="1600" b="0" dirty="0">
                <a:solidFill>
                  <a:srgbClr val="D4D4D4"/>
                </a:solidFill>
                <a:effectLst/>
                <a:latin typeface="Consolas" panose="020B0609020204030204" pitchFamily="49" charset="0"/>
              </a:rPr>
              <a:t> </a:t>
            </a:r>
            <a:r>
              <a:rPr lang="it-IT" sz="1600" b="0" dirty="0" err="1">
                <a:solidFill>
                  <a:srgbClr val="569CD6"/>
                </a:solidFill>
                <a:effectLst/>
                <a:latin typeface="Consolas" panose="020B0609020204030204" pitchFamily="49" charset="0"/>
              </a:rPr>
              <a:t>void</a:t>
            </a:r>
            <a:r>
              <a:rPr lang="it-IT" sz="1600" b="0" dirty="0">
                <a:solidFill>
                  <a:srgbClr val="D4D4D4"/>
                </a:solidFill>
                <a:effectLst/>
                <a:latin typeface="Consolas" panose="020B0609020204030204" pitchFamily="49" charset="0"/>
              </a:rPr>
              <a:t> </a:t>
            </a:r>
            <a:r>
              <a:rPr lang="it-IT" sz="1600" b="0" dirty="0" err="1">
                <a:solidFill>
                  <a:srgbClr val="D4D4D4"/>
                </a:solidFill>
                <a:effectLst/>
                <a:latin typeface="Consolas" panose="020B0609020204030204" pitchFamily="49" charset="0"/>
              </a:rPr>
              <a:t>creaConnessione</a:t>
            </a:r>
            <a:r>
              <a:rPr lang="it-IT" sz="1600" b="0" dirty="0">
                <a:solidFill>
                  <a:srgbClr val="D4D4D4"/>
                </a:solidFill>
                <a:effectLst/>
                <a:latin typeface="Consolas" panose="020B0609020204030204" pitchFamily="49" charset="0"/>
              </a:rPr>
              <a:t>() {</a:t>
            </a:r>
          </a:p>
          <a:p>
            <a:r>
              <a:rPr lang="it-IT" sz="1600" b="0" dirty="0">
                <a:solidFill>
                  <a:srgbClr val="D4D4D4"/>
                </a:solidFill>
                <a:effectLst/>
                <a:latin typeface="Consolas" panose="020B0609020204030204" pitchFamily="49" charset="0"/>
              </a:rPr>
              <a:t>        </a:t>
            </a:r>
            <a:r>
              <a:rPr lang="it-IT" sz="1600" b="0" dirty="0">
                <a:solidFill>
                  <a:srgbClr val="6A9955"/>
                </a:solidFill>
                <a:effectLst/>
                <a:latin typeface="Consolas" panose="020B0609020204030204" pitchFamily="49" charset="0"/>
              </a:rPr>
              <a:t>// codice per creare una connessione al database</a:t>
            </a:r>
            <a:endParaRPr lang="it-IT" sz="1600" b="0" dirty="0">
              <a:solidFill>
                <a:srgbClr val="D4D4D4"/>
              </a:solidFill>
              <a:effectLst/>
              <a:latin typeface="Consolas" panose="020B0609020204030204" pitchFamily="49" charset="0"/>
            </a:endParaRPr>
          </a:p>
          <a:p>
            <a:r>
              <a:rPr lang="it-IT" sz="1600" b="0" dirty="0">
                <a:solidFill>
                  <a:srgbClr val="D4D4D4"/>
                </a:solidFill>
                <a:effectLst/>
                <a:latin typeface="Consolas" panose="020B0609020204030204" pitchFamily="49" charset="0"/>
              </a:rPr>
              <a:t>    }</a:t>
            </a:r>
          </a:p>
          <a:p>
            <a:r>
              <a:rPr lang="it-IT" sz="1600" b="0" dirty="0">
                <a:solidFill>
                  <a:srgbClr val="D4D4D4"/>
                </a:solidFill>
                <a:effectLst/>
                <a:latin typeface="Consolas" panose="020B0609020204030204" pitchFamily="49" charset="0"/>
              </a:rPr>
              <a:t>    </a:t>
            </a:r>
          </a:p>
          <a:p>
            <a:r>
              <a:rPr lang="it-IT" sz="1600" b="0" dirty="0">
                <a:solidFill>
                  <a:srgbClr val="D4D4D4"/>
                </a:solidFill>
                <a:effectLst/>
                <a:latin typeface="Consolas" panose="020B0609020204030204" pitchFamily="49" charset="0"/>
              </a:rPr>
              <a:t>    </a:t>
            </a:r>
            <a:r>
              <a:rPr lang="it-IT" sz="1600" b="0" dirty="0">
                <a:solidFill>
                  <a:srgbClr val="569CD6"/>
                </a:solidFill>
                <a:effectLst/>
                <a:latin typeface="Consolas" panose="020B0609020204030204" pitchFamily="49" charset="0"/>
              </a:rPr>
              <a:t>private</a:t>
            </a:r>
            <a:r>
              <a:rPr lang="it-IT" sz="1600" b="0" dirty="0">
                <a:solidFill>
                  <a:srgbClr val="D4D4D4"/>
                </a:solidFill>
                <a:effectLst/>
                <a:latin typeface="Consolas" panose="020B0609020204030204" pitchFamily="49" charset="0"/>
              </a:rPr>
              <a:t> </a:t>
            </a:r>
            <a:r>
              <a:rPr lang="it-IT" sz="1600" b="0" dirty="0" err="1">
                <a:solidFill>
                  <a:srgbClr val="569CD6"/>
                </a:solidFill>
                <a:effectLst/>
                <a:latin typeface="Consolas" panose="020B0609020204030204" pitchFamily="49" charset="0"/>
              </a:rPr>
              <a:t>void</a:t>
            </a:r>
            <a:r>
              <a:rPr lang="it-IT" sz="1600" b="0" dirty="0">
                <a:solidFill>
                  <a:srgbClr val="D4D4D4"/>
                </a:solidFill>
                <a:effectLst/>
                <a:latin typeface="Consolas" panose="020B0609020204030204" pitchFamily="49" charset="0"/>
              </a:rPr>
              <a:t> </a:t>
            </a:r>
            <a:r>
              <a:rPr lang="it-IT" sz="1600" b="0" dirty="0" err="1">
                <a:solidFill>
                  <a:srgbClr val="D4D4D4"/>
                </a:solidFill>
                <a:effectLst/>
                <a:latin typeface="Consolas" panose="020B0609020204030204" pitchFamily="49" charset="0"/>
              </a:rPr>
              <a:t>chiudiConnessione</a:t>
            </a:r>
            <a:r>
              <a:rPr lang="it-IT" sz="1600" b="0" dirty="0">
                <a:solidFill>
                  <a:srgbClr val="D4D4D4"/>
                </a:solidFill>
                <a:effectLst/>
                <a:latin typeface="Consolas" panose="020B0609020204030204" pitchFamily="49" charset="0"/>
              </a:rPr>
              <a:t>() {</a:t>
            </a:r>
          </a:p>
          <a:p>
            <a:r>
              <a:rPr lang="it-IT" sz="1600" b="0" dirty="0">
                <a:solidFill>
                  <a:srgbClr val="D4D4D4"/>
                </a:solidFill>
                <a:effectLst/>
                <a:latin typeface="Consolas" panose="020B0609020204030204" pitchFamily="49" charset="0"/>
              </a:rPr>
              <a:t>        </a:t>
            </a:r>
            <a:r>
              <a:rPr lang="it-IT" sz="1600" b="0" dirty="0">
                <a:solidFill>
                  <a:srgbClr val="6A9955"/>
                </a:solidFill>
                <a:effectLst/>
                <a:latin typeface="Consolas" panose="020B0609020204030204" pitchFamily="49" charset="0"/>
              </a:rPr>
              <a:t>// codice per chiudere la connessione al database</a:t>
            </a:r>
            <a:endParaRPr lang="it-IT" sz="1600" b="0" dirty="0">
              <a:solidFill>
                <a:srgbClr val="D4D4D4"/>
              </a:solidFill>
              <a:effectLst/>
              <a:latin typeface="Consolas" panose="020B0609020204030204" pitchFamily="49" charset="0"/>
            </a:endParaRPr>
          </a:p>
          <a:p>
            <a:r>
              <a:rPr lang="it-IT" sz="1600" b="0" dirty="0">
                <a:solidFill>
                  <a:srgbClr val="D4D4D4"/>
                </a:solidFill>
                <a:effectLst/>
                <a:latin typeface="Consolas" panose="020B0609020204030204" pitchFamily="49" charset="0"/>
              </a:rPr>
              <a:t>    }</a:t>
            </a:r>
          </a:p>
          <a:p>
            <a:r>
              <a:rPr lang="it-IT" sz="1600" b="0" dirty="0">
                <a:solidFill>
                  <a:srgbClr val="D4D4D4"/>
                </a:solidFill>
                <a:effectLst/>
                <a:latin typeface="Consolas" panose="020B0609020204030204" pitchFamily="49" charset="0"/>
              </a:rPr>
              <a:t>    </a:t>
            </a:r>
          </a:p>
          <a:p>
            <a:r>
              <a:rPr lang="it-IT" sz="1600" b="0" dirty="0">
                <a:solidFill>
                  <a:srgbClr val="D4D4D4"/>
                </a:solidFill>
                <a:effectLst/>
                <a:latin typeface="Consolas" panose="020B0609020204030204" pitchFamily="49" charset="0"/>
              </a:rPr>
              <a:t>    </a:t>
            </a:r>
            <a:r>
              <a:rPr lang="it-IT" sz="1600" b="0" dirty="0">
                <a:solidFill>
                  <a:srgbClr val="569CD6"/>
                </a:solidFill>
                <a:effectLst/>
                <a:latin typeface="Consolas" panose="020B0609020204030204" pitchFamily="49" charset="0"/>
              </a:rPr>
              <a:t>public</a:t>
            </a:r>
            <a:r>
              <a:rPr lang="it-IT" sz="1600" b="0" dirty="0">
                <a:solidFill>
                  <a:srgbClr val="D4D4D4"/>
                </a:solidFill>
                <a:effectLst/>
                <a:latin typeface="Consolas" panose="020B0609020204030204" pitchFamily="49" charset="0"/>
              </a:rPr>
              <a:t> </a:t>
            </a:r>
            <a:r>
              <a:rPr lang="it-IT" sz="1600" b="0" dirty="0" err="1">
                <a:solidFill>
                  <a:srgbClr val="569CD6"/>
                </a:solidFill>
                <a:effectLst/>
                <a:latin typeface="Consolas" panose="020B0609020204030204" pitchFamily="49" charset="0"/>
              </a:rPr>
              <a:t>void</a:t>
            </a:r>
            <a:r>
              <a:rPr lang="it-IT" sz="1600" b="0" dirty="0">
                <a:solidFill>
                  <a:srgbClr val="D4D4D4"/>
                </a:solidFill>
                <a:effectLst/>
                <a:latin typeface="Consolas" panose="020B0609020204030204" pitchFamily="49" charset="0"/>
              </a:rPr>
              <a:t> </a:t>
            </a:r>
            <a:r>
              <a:rPr lang="it-IT" sz="1600" b="0" dirty="0" err="1">
                <a:solidFill>
                  <a:srgbClr val="D4D4D4"/>
                </a:solidFill>
                <a:effectLst/>
                <a:latin typeface="Consolas" panose="020B0609020204030204" pitchFamily="49" charset="0"/>
              </a:rPr>
              <a:t>eseguiQuery</a:t>
            </a:r>
            <a:r>
              <a:rPr lang="it-IT" sz="1600" b="0" dirty="0">
                <a:solidFill>
                  <a:srgbClr val="D4D4D4"/>
                </a:solidFill>
                <a:effectLst/>
                <a:latin typeface="Consolas" panose="020B0609020204030204" pitchFamily="49" charset="0"/>
              </a:rPr>
              <a:t>(</a:t>
            </a:r>
            <a:r>
              <a:rPr lang="it-IT" sz="1600" b="0" dirty="0" err="1">
                <a:solidFill>
                  <a:srgbClr val="D4D4D4"/>
                </a:solidFill>
                <a:effectLst/>
                <a:latin typeface="Consolas" panose="020B0609020204030204" pitchFamily="49" charset="0"/>
              </a:rPr>
              <a:t>String</a:t>
            </a:r>
            <a:r>
              <a:rPr lang="it-IT" sz="1600" b="0" dirty="0">
                <a:solidFill>
                  <a:srgbClr val="D4D4D4"/>
                </a:solidFill>
                <a:effectLst/>
                <a:latin typeface="Consolas" panose="020B0609020204030204" pitchFamily="49" charset="0"/>
              </a:rPr>
              <a:t> query) {</a:t>
            </a:r>
          </a:p>
          <a:p>
            <a:r>
              <a:rPr lang="it-IT" sz="1600" b="0" dirty="0">
                <a:solidFill>
                  <a:srgbClr val="D4D4D4"/>
                </a:solidFill>
                <a:effectLst/>
                <a:latin typeface="Consolas" panose="020B0609020204030204" pitchFamily="49" charset="0"/>
              </a:rPr>
              <a:t>        </a:t>
            </a:r>
            <a:r>
              <a:rPr lang="it-IT" sz="1600" b="0" dirty="0">
                <a:solidFill>
                  <a:srgbClr val="6A9955"/>
                </a:solidFill>
                <a:effectLst/>
                <a:latin typeface="Consolas" panose="020B0609020204030204" pitchFamily="49" charset="0"/>
              </a:rPr>
              <a:t>// codice per eseguire la query sul database</a:t>
            </a:r>
            <a:endParaRPr lang="it-IT" sz="1600" b="0" dirty="0">
              <a:solidFill>
                <a:srgbClr val="D4D4D4"/>
              </a:solidFill>
              <a:effectLst/>
              <a:latin typeface="Consolas" panose="020B0609020204030204" pitchFamily="49" charset="0"/>
            </a:endParaRPr>
          </a:p>
          <a:p>
            <a:r>
              <a:rPr lang="it-IT" sz="1600" b="0" dirty="0">
                <a:solidFill>
                  <a:srgbClr val="D4D4D4"/>
                </a:solidFill>
                <a:effectLst/>
                <a:latin typeface="Consolas" panose="020B0609020204030204" pitchFamily="49" charset="0"/>
              </a:rPr>
              <a:t>    }</a:t>
            </a:r>
          </a:p>
          <a:p>
            <a:r>
              <a:rPr lang="it-IT" sz="16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7456599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La sicurezza del privato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Perché dello scope private?</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496332" y="2459504"/>
            <a:ext cx="11199336" cy="1938992"/>
          </a:xfrm>
          <a:prstGeom prst="rect">
            <a:avLst/>
          </a:prstGeom>
          <a:noFill/>
        </p:spPr>
        <p:txBody>
          <a:bodyPr wrap="square">
            <a:spAutoFit/>
          </a:bodyPr>
          <a:lstStyle/>
          <a:p>
            <a:r>
              <a:rPr lang="it-IT" sz="3000" dirty="0"/>
              <a:t>In sintesi, la dichiarazione di metodi e campi come private in Java consente di garantire l'incapsulamento dei dati e di nascondere l'implementazione interna delle classi, migliorando la sicurezza e la modularità del codice.</a:t>
            </a:r>
          </a:p>
        </p:txBody>
      </p:sp>
    </p:spTree>
    <p:extLst>
      <p:ext uri="{BB962C8B-B14F-4D97-AF65-F5344CB8AC3E}">
        <p14:creationId xmlns:p14="http://schemas.microsoft.com/office/powerpoint/2010/main" val="14306249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pubblico ai dati privati</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902735" y="373682"/>
            <a:ext cx="7164956" cy="553998"/>
          </a:xfrm>
          <a:prstGeom prst="rect">
            <a:avLst/>
          </a:prstGeom>
          <a:noFill/>
        </p:spPr>
        <p:txBody>
          <a:bodyPr wrap="square">
            <a:spAutoFit/>
          </a:bodyPr>
          <a:lstStyle/>
          <a:p>
            <a:r>
              <a:rPr lang="it-IT" sz="3000" dirty="0"/>
              <a:t>I metodi </a:t>
            </a:r>
            <a:r>
              <a:rPr lang="it-IT" sz="3000" dirty="0" err="1"/>
              <a:t>get</a:t>
            </a:r>
            <a:r>
              <a:rPr lang="it-IT" sz="3000" dirty="0"/>
              <a:t> e set</a:t>
            </a:r>
          </a:p>
        </p:txBody>
      </p:sp>
      <p:pic>
        <p:nvPicPr>
          <p:cNvPr id="3" name="Picture 2" descr="Java Logo, symbol, meaning, history, PNG, brand">
            <a:extLst>
              <a:ext uri="{FF2B5EF4-FFF2-40B4-BE49-F238E27FC236}">
                <a16:creationId xmlns:a16="http://schemas.microsoft.com/office/drawing/2014/main" id="{D46019AA-70FE-F8F5-93CF-35CACE4F4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597" y="1464293"/>
            <a:ext cx="4693388" cy="2628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49101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992664" y="1767006"/>
            <a:ext cx="11199336" cy="3323987"/>
          </a:xfrm>
          <a:prstGeom prst="rect">
            <a:avLst/>
          </a:prstGeom>
          <a:noFill/>
        </p:spPr>
        <p:txBody>
          <a:bodyPr wrap="square">
            <a:spAutoFit/>
          </a:bodyPr>
          <a:lstStyle/>
          <a:p>
            <a:r>
              <a:rPr lang="it-IT" sz="3000" dirty="0"/>
              <a:t>Con i nomi di metodi </a:t>
            </a:r>
            <a:r>
              <a:rPr lang="it-IT" sz="3000" dirty="0" err="1"/>
              <a:t>get</a:t>
            </a:r>
            <a:r>
              <a:rPr lang="it-IT" sz="3000" dirty="0"/>
              <a:t> e set si indicano in JAVA una tipologia di metodi, chiamati così perché generalmente per la tipologia di operazione che svolgono spesso i programmatori tendono a chiamarli in questo modo, che svolgono il compito di consentire un accesso controllato (ossia nei limiti ed eventualmente a chi vuole il programmatore che li ha realizzati) di dati, altrimenti privati ed inaccessibili</a:t>
            </a:r>
          </a:p>
        </p:txBody>
      </p:sp>
    </p:spTree>
    <p:extLst>
      <p:ext uri="{BB962C8B-B14F-4D97-AF65-F5344CB8AC3E}">
        <p14:creationId xmlns:p14="http://schemas.microsoft.com/office/powerpoint/2010/main" val="7201947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3789442" y="1312767"/>
            <a:ext cx="6346287" cy="707886"/>
          </a:xfrm>
          <a:prstGeom prst="rect">
            <a:avLst/>
          </a:prstGeom>
          <a:noFill/>
        </p:spPr>
        <p:txBody>
          <a:bodyPr wrap="square">
            <a:spAutoFit/>
          </a:bodyPr>
          <a:lstStyle/>
          <a:p>
            <a:r>
              <a:rPr lang="it-IT" sz="2000" dirty="0"/>
              <a:t>Praticamente, i metodi </a:t>
            </a:r>
            <a:r>
              <a:rPr lang="it-IT" sz="2000" dirty="0" err="1"/>
              <a:t>get</a:t>
            </a:r>
            <a:r>
              <a:rPr lang="it-IT" sz="2000" dirty="0"/>
              <a:t> e set sono metodi pubblici utilizzati per accedere ai campi privati di una classe</a:t>
            </a:r>
          </a:p>
        </p:txBody>
      </p:sp>
    </p:spTree>
    <p:extLst>
      <p:ext uri="{BB962C8B-B14F-4D97-AF65-F5344CB8AC3E}">
        <p14:creationId xmlns:p14="http://schemas.microsoft.com/office/powerpoint/2010/main" val="35039503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3789442" y="1312767"/>
            <a:ext cx="6346287" cy="1631216"/>
          </a:xfrm>
          <a:prstGeom prst="rect">
            <a:avLst/>
          </a:prstGeom>
          <a:noFill/>
        </p:spPr>
        <p:txBody>
          <a:bodyPr wrap="square">
            <a:spAutoFit/>
          </a:bodyPr>
          <a:lstStyle/>
          <a:p>
            <a:r>
              <a:rPr lang="it-IT" sz="2000" dirty="0"/>
              <a:t>Praticamente, i metodi </a:t>
            </a:r>
            <a:r>
              <a:rPr lang="it-IT" sz="2000" dirty="0" err="1"/>
              <a:t>get</a:t>
            </a:r>
            <a:r>
              <a:rPr lang="it-IT" sz="2000" dirty="0"/>
              <a:t> e set sono metodi pubblici utilizzati per accedere ai campi privati di una classe. I metodi </a:t>
            </a:r>
            <a:r>
              <a:rPr lang="it-IT" sz="2000" dirty="0" err="1"/>
              <a:t>get</a:t>
            </a:r>
            <a:r>
              <a:rPr lang="it-IT" sz="2000" dirty="0"/>
              <a:t> vengono utilizzati per ottenere il valore di un campo, mentre i metodi set vengono utilizzati per impostare il valore di un campo.</a:t>
            </a:r>
          </a:p>
        </p:txBody>
      </p:sp>
    </p:spTree>
    <p:extLst>
      <p:ext uri="{BB962C8B-B14F-4D97-AF65-F5344CB8AC3E}">
        <p14:creationId xmlns:p14="http://schemas.microsoft.com/office/powerpoint/2010/main" val="35957345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3789442" y="1312767"/>
            <a:ext cx="6346287" cy="2554545"/>
          </a:xfrm>
          <a:prstGeom prst="rect">
            <a:avLst/>
          </a:prstGeom>
          <a:noFill/>
        </p:spPr>
        <p:txBody>
          <a:bodyPr wrap="square">
            <a:spAutoFit/>
          </a:bodyPr>
          <a:lstStyle/>
          <a:p>
            <a:r>
              <a:rPr lang="it-IT" sz="2000" dirty="0"/>
              <a:t>Praticamente, i metodi </a:t>
            </a:r>
            <a:r>
              <a:rPr lang="it-IT" sz="2000" dirty="0" err="1"/>
              <a:t>get</a:t>
            </a:r>
            <a:r>
              <a:rPr lang="it-IT" sz="2000" dirty="0"/>
              <a:t> e set sono metodi pubblici utilizzati per accedere ai campi privati di una classe. I metodi </a:t>
            </a:r>
            <a:r>
              <a:rPr lang="it-IT" sz="2000" dirty="0" err="1"/>
              <a:t>get</a:t>
            </a:r>
            <a:r>
              <a:rPr lang="it-IT" sz="2000" dirty="0"/>
              <a:t> vengono utilizzati per ottenere il valore di un campo, mentre i metodi set vengono utilizzati per impostare il valore di un campo.</a:t>
            </a:r>
          </a:p>
          <a:p>
            <a:endParaRPr lang="it-IT" sz="2000" dirty="0"/>
          </a:p>
          <a:p>
            <a:r>
              <a:rPr lang="it-IT" sz="2000" dirty="0"/>
              <a:t>Ad esempio, supponiamo di avere una classe Persona con i campi privati nome </a:t>
            </a:r>
            <a:r>
              <a:rPr lang="it-IT" sz="2000"/>
              <a:t>e età:</a:t>
            </a:r>
            <a:endParaRPr lang="it-IT" sz="2000" dirty="0"/>
          </a:p>
        </p:txBody>
      </p:sp>
    </p:spTree>
    <p:extLst>
      <p:ext uri="{BB962C8B-B14F-4D97-AF65-F5344CB8AC3E}">
        <p14:creationId xmlns:p14="http://schemas.microsoft.com/office/powerpoint/2010/main" val="25159806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3789442" y="1312767"/>
            <a:ext cx="6346287" cy="2554545"/>
          </a:xfrm>
          <a:prstGeom prst="rect">
            <a:avLst/>
          </a:prstGeom>
          <a:noFill/>
        </p:spPr>
        <p:txBody>
          <a:bodyPr wrap="square">
            <a:spAutoFit/>
          </a:bodyPr>
          <a:lstStyle/>
          <a:p>
            <a:r>
              <a:rPr lang="it-IT" sz="2000" dirty="0"/>
              <a:t>Praticamente, i metodi </a:t>
            </a:r>
            <a:r>
              <a:rPr lang="it-IT" sz="2000" dirty="0" err="1"/>
              <a:t>get</a:t>
            </a:r>
            <a:r>
              <a:rPr lang="it-IT" sz="2000" dirty="0"/>
              <a:t> e set sono metodi pubblici utilizzati per accedere ai campi privati di una classe. I metodi </a:t>
            </a:r>
            <a:r>
              <a:rPr lang="it-IT" sz="2000" dirty="0" err="1"/>
              <a:t>get</a:t>
            </a:r>
            <a:r>
              <a:rPr lang="it-IT" sz="2000" dirty="0"/>
              <a:t> vengono utilizzati per ottenere il valore di un campo, mentre i metodi set vengono utilizzati per impostare il valore di un campo.</a:t>
            </a:r>
          </a:p>
          <a:p>
            <a:endParaRPr lang="it-IT" sz="2000" dirty="0"/>
          </a:p>
          <a:p>
            <a:r>
              <a:rPr lang="it-IT" sz="2000" dirty="0"/>
              <a:t>Ad esempio, supponiamo di avere una classe Persona con i campi privati nome </a:t>
            </a:r>
            <a:r>
              <a:rPr lang="it-IT" sz="2000"/>
              <a:t>e età:</a:t>
            </a:r>
            <a:endParaRPr lang="it-IT" sz="2000" dirty="0"/>
          </a:p>
        </p:txBody>
      </p:sp>
      <p:sp>
        <p:nvSpPr>
          <p:cNvPr id="3" name="CasellaDiTesto 2">
            <a:extLst>
              <a:ext uri="{FF2B5EF4-FFF2-40B4-BE49-F238E27FC236}">
                <a16:creationId xmlns:a16="http://schemas.microsoft.com/office/drawing/2014/main" id="{47520E20-2558-A200-E2C1-90D89ACACC25}"/>
              </a:ext>
            </a:extLst>
          </p:cNvPr>
          <p:cNvSpPr txBox="1"/>
          <p:nvPr/>
        </p:nvSpPr>
        <p:spPr>
          <a:xfrm>
            <a:off x="3789442" y="4022183"/>
            <a:ext cx="5204003" cy="1200329"/>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Persona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569CD6"/>
                </a:solidFill>
                <a:effectLst/>
                <a:latin typeface="Consolas" panose="020B0609020204030204" pitchFamily="49" charset="0"/>
              </a:rPr>
              <a:t> </a:t>
            </a:r>
            <a:r>
              <a:rPr lang="it-IT" b="0" dirty="0" err="1">
                <a:solidFill>
                  <a:srgbClr val="569CD6"/>
                </a:solidFill>
                <a:effectLst/>
                <a:latin typeface="Consolas" panose="020B0609020204030204" pitchFamily="49" charset="0"/>
              </a:rPr>
              <a:t>eta</a:t>
            </a:r>
            <a:r>
              <a:rPr lang="it-IT" b="0" dirty="0">
                <a:solidFill>
                  <a:srgbClr val="569CD6"/>
                </a:solidFill>
                <a:effectLst/>
                <a:latin typeface="Consolas" panose="020B0609020204030204" pitchFamily="49" charset="0"/>
              </a:rPr>
              <a:t>;</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3016916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3789442" y="1312767"/>
            <a:ext cx="6346287" cy="2554545"/>
          </a:xfrm>
          <a:prstGeom prst="rect">
            <a:avLst/>
          </a:prstGeom>
          <a:noFill/>
        </p:spPr>
        <p:txBody>
          <a:bodyPr wrap="square">
            <a:spAutoFit/>
          </a:bodyPr>
          <a:lstStyle/>
          <a:p>
            <a:r>
              <a:rPr lang="it-IT" sz="2000" dirty="0"/>
              <a:t>Praticamente, i metodi </a:t>
            </a:r>
            <a:r>
              <a:rPr lang="it-IT" sz="2000" dirty="0" err="1"/>
              <a:t>get</a:t>
            </a:r>
            <a:r>
              <a:rPr lang="it-IT" sz="2000" dirty="0"/>
              <a:t> e set sono metodi pubblici utilizzati per accedere ai campi privati di una classe. I metodi </a:t>
            </a:r>
            <a:r>
              <a:rPr lang="it-IT" sz="2000" dirty="0" err="1"/>
              <a:t>get</a:t>
            </a:r>
            <a:r>
              <a:rPr lang="it-IT" sz="2000" dirty="0"/>
              <a:t> vengono utilizzati per ottenere il valore di un campo, mentre i metodi set vengono utilizzati per impostare il valore di un campo.</a:t>
            </a:r>
          </a:p>
          <a:p>
            <a:endParaRPr lang="it-IT" sz="2000" dirty="0"/>
          </a:p>
          <a:p>
            <a:r>
              <a:rPr lang="it-IT" sz="2000" dirty="0"/>
              <a:t>Ad esempio, supponiamo di avere una classe Persona con i campi privati nome </a:t>
            </a:r>
            <a:r>
              <a:rPr lang="it-IT" sz="2000"/>
              <a:t>e età:</a:t>
            </a:r>
            <a:endParaRPr lang="it-IT" sz="2000" dirty="0"/>
          </a:p>
        </p:txBody>
      </p:sp>
      <p:sp>
        <p:nvSpPr>
          <p:cNvPr id="3" name="CasellaDiTesto 2">
            <a:extLst>
              <a:ext uri="{FF2B5EF4-FFF2-40B4-BE49-F238E27FC236}">
                <a16:creationId xmlns:a16="http://schemas.microsoft.com/office/drawing/2014/main" id="{47520E20-2558-A200-E2C1-90D89ACACC25}"/>
              </a:ext>
            </a:extLst>
          </p:cNvPr>
          <p:cNvSpPr txBox="1"/>
          <p:nvPr/>
        </p:nvSpPr>
        <p:spPr>
          <a:xfrm>
            <a:off x="3789442" y="4022183"/>
            <a:ext cx="5204003" cy="1200329"/>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Persona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569CD6"/>
                </a:solidFill>
                <a:effectLst/>
                <a:latin typeface="Consolas" panose="020B0609020204030204" pitchFamily="49" charset="0"/>
              </a:rPr>
              <a:t> </a:t>
            </a:r>
            <a:r>
              <a:rPr lang="it-IT" b="0" dirty="0" err="1">
                <a:solidFill>
                  <a:srgbClr val="569CD6"/>
                </a:solidFill>
                <a:effectLst/>
                <a:latin typeface="Consolas" panose="020B0609020204030204" pitchFamily="49" charset="0"/>
              </a:rPr>
              <a:t>eta</a:t>
            </a:r>
            <a:r>
              <a:rPr lang="it-IT" b="0" dirty="0">
                <a:solidFill>
                  <a:srgbClr val="569CD6"/>
                </a:solidFill>
                <a:effectLst/>
                <a:latin typeface="Consolas" panose="020B0609020204030204" pitchFamily="49" charset="0"/>
              </a:rPr>
              <a:t>;</a:t>
            </a:r>
          </a:p>
          <a:p>
            <a:r>
              <a:rPr lang="it-IT" b="0" dirty="0">
                <a:solidFill>
                  <a:srgbClr val="D4D4D4"/>
                </a:solidFill>
                <a:effectLst/>
                <a:latin typeface="Consolas" panose="020B0609020204030204" pitchFamily="49" charset="0"/>
              </a:rPr>
              <a:t>}</a:t>
            </a:r>
          </a:p>
        </p:txBody>
      </p:sp>
      <p:sp>
        <p:nvSpPr>
          <p:cNvPr id="9" name="CasellaDiTesto 8">
            <a:extLst>
              <a:ext uri="{FF2B5EF4-FFF2-40B4-BE49-F238E27FC236}">
                <a16:creationId xmlns:a16="http://schemas.microsoft.com/office/drawing/2014/main" id="{5CDD5E4D-3202-264D-F11F-8BBBBC378943}"/>
              </a:ext>
            </a:extLst>
          </p:cNvPr>
          <p:cNvSpPr txBox="1"/>
          <p:nvPr/>
        </p:nvSpPr>
        <p:spPr>
          <a:xfrm>
            <a:off x="3789442" y="5444575"/>
            <a:ext cx="6097978" cy="646331"/>
          </a:xfrm>
          <a:prstGeom prst="rect">
            <a:avLst/>
          </a:prstGeom>
          <a:solidFill>
            <a:srgbClr val="FF0000"/>
          </a:solidFill>
        </p:spPr>
        <p:txBody>
          <a:bodyPr wrap="square">
            <a:spAutoFit/>
          </a:bodyPr>
          <a:lstStyle/>
          <a:p>
            <a:r>
              <a:rPr lang="it-IT" sz="1800" b="1" dirty="0">
                <a:solidFill>
                  <a:schemeClr val="bg1"/>
                </a:solidFill>
              </a:rPr>
              <a:t>NOTA =&gt; COME SI PUO’ CONSENTIRE DI MODIFICARE OD ACCEDERE AI VALORI DELLE VARIABILI PRIVATE?</a:t>
            </a:r>
          </a:p>
        </p:txBody>
      </p:sp>
    </p:spTree>
    <p:extLst>
      <p:ext uri="{BB962C8B-B14F-4D97-AF65-F5344CB8AC3E}">
        <p14:creationId xmlns:p14="http://schemas.microsoft.com/office/powerpoint/2010/main" val="36094041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5585805" y="434019"/>
            <a:ext cx="3308814" cy="400110"/>
          </a:xfrm>
          <a:prstGeom prst="rect">
            <a:avLst/>
          </a:prstGeom>
          <a:solidFill>
            <a:schemeClr val="tx2">
              <a:lumMod val="20000"/>
              <a:lumOff val="80000"/>
            </a:schemeClr>
          </a:solidFill>
        </p:spPr>
        <p:txBody>
          <a:bodyPr wrap="square">
            <a:spAutoFit/>
          </a:bodyPr>
          <a:lstStyle/>
          <a:p>
            <a:r>
              <a:rPr lang="it-IT" sz="2000" dirty="0"/>
              <a:t>Una soluzione!</a:t>
            </a:r>
          </a:p>
        </p:txBody>
      </p:sp>
      <p:sp>
        <p:nvSpPr>
          <p:cNvPr id="3" name="CasellaDiTesto 2">
            <a:extLst>
              <a:ext uri="{FF2B5EF4-FFF2-40B4-BE49-F238E27FC236}">
                <a16:creationId xmlns:a16="http://schemas.microsoft.com/office/drawing/2014/main" id="{47520E20-2558-A200-E2C1-90D89ACACC25}"/>
              </a:ext>
            </a:extLst>
          </p:cNvPr>
          <p:cNvSpPr txBox="1"/>
          <p:nvPr/>
        </p:nvSpPr>
        <p:spPr>
          <a:xfrm>
            <a:off x="3789442" y="939075"/>
            <a:ext cx="5204003" cy="1200329"/>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Persona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569CD6"/>
                </a:solidFill>
                <a:effectLst/>
                <a:latin typeface="Consolas" panose="020B0609020204030204" pitchFamily="49" charset="0"/>
              </a:rPr>
              <a:t> </a:t>
            </a:r>
            <a:r>
              <a:rPr lang="it-IT" b="0" dirty="0" err="1">
                <a:solidFill>
                  <a:srgbClr val="569CD6"/>
                </a:solidFill>
                <a:effectLst/>
                <a:latin typeface="Consolas" panose="020B0609020204030204" pitchFamily="49" charset="0"/>
              </a:rPr>
              <a:t>eta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3427308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5585805" y="434019"/>
            <a:ext cx="3308814" cy="400110"/>
          </a:xfrm>
          <a:prstGeom prst="rect">
            <a:avLst/>
          </a:prstGeom>
          <a:solidFill>
            <a:schemeClr val="tx2">
              <a:lumMod val="20000"/>
              <a:lumOff val="80000"/>
            </a:schemeClr>
          </a:solidFill>
        </p:spPr>
        <p:txBody>
          <a:bodyPr wrap="square">
            <a:spAutoFit/>
          </a:bodyPr>
          <a:lstStyle/>
          <a:p>
            <a:r>
              <a:rPr lang="it-IT" sz="2000" dirty="0"/>
              <a:t>Una soluzione!</a:t>
            </a:r>
          </a:p>
        </p:txBody>
      </p:sp>
      <p:sp>
        <p:nvSpPr>
          <p:cNvPr id="3" name="CasellaDiTesto 2">
            <a:extLst>
              <a:ext uri="{FF2B5EF4-FFF2-40B4-BE49-F238E27FC236}">
                <a16:creationId xmlns:a16="http://schemas.microsoft.com/office/drawing/2014/main" id="{47520E20-2558-A200-E2C1-90D89ACACC25}"/>
              </a:ext>
            </a:extLst>
          </p:cNvPr>
          <p:cNvSpPr txBox="1"/>
          <p:nvPr/>
        </p:nvSpPr>
        <p:spPr>
          <a:xfrm>
            <a:off x="3789442" y="939075"/>
            <a:ext cx="5204003" cy="2308324"/>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Persona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569CD6"/>
                </a:solidFill>
                <a:effectLst/>
                <a:latin typeface="Consolas" panose="020B0609020204030204" pitchFamily="49" charset="0"/>
              </a:rPr>
              <a:t> </a:t>
            </a:r>
            <a:r>
              <a:rPr lang="it-IT" b="0" dirty="0" err="1">
                <a:solidFill>
                  <a:srgbClr val="569CD6"/>
                </a:solidFill>
                <a:effectLst/>
                <a:latin typeface="Consolas" panose="020B0609020204030204" pitchFamily="49" charset="0"/>
              </a:rPr>
              <a:t>eta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getNome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return</a:t>
            </a:r>
            <a:r>
              <a:rPr lang="it-IT" b="0" dirty="0">
                <a:solidFill>
                  <a:srgbClr val="D4D4D4"/>
                </a:solidFill>
                <a:effectLst/>
                <a:latin typeface="Consolas" panose="020B0609020204030204" pitchFamily="49" charset="0"/>
              </a:rPr>
              <a:t>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5212768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5585805" y="434019"/>
            <a:ext cx="3308814" cy="400110"/>
          </a:xfrm>
          <a:prstGeom prst="rect">
            <a:avLst/>
          </a:prstGeom>
          <a:solidFill>
            <a:schemeClr val="tx2">
              <a:lumMod val="20000"/>
              <a:lumOff val="80000"/>
            </a:schemeClr>
          </a:solidFill>
        </p:spPr>
        <p:txBody>
          <a:bodyPr wrap="square">
            <a:spAutoFit/>
          </a:bodyPr>
          <a:lstStyle/>
          <a:p>
            <a:r>
              <a:rPr lang="it-IT" sz="2000" dirty="0"/>
              <a:t>Una soluzione!</a:t>
            </a:r>
          </a:p>
        </p:txBody>
      </p:sp>
      <p:sp>
        <p:nvSpPr>
          <p:cNvPr id="3" name="CasellaDiTesto 2">
            <a:extLst>
              <a:ext uri="{FF2B5EF4-FFF2-40B4-BE49-F238E27FC236}">
                <a16:creationId xmlns:a16="http://schemas.microsoft.com/office/drawing/2014/main" id="{47520E20-2558-A200-E2C1-90D89ACACC25}"/>
              </a:ext>
            </a:extLst>
          </p:cNvPr>
          <p:cNvSpPr txBox="1"/>
          <p:nvPr/>
        </p:nvSpPr>
        <p:spPr>
          <a:xfrm>
            <a:off x="3789442" y="939075"/>
            <a:ext cx="5204003" cy="3416320"/>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Persona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569CD6"/>
                </a:solidFill>
                <a:effectLst/>
                <a:latin typeface="Consolas" panose="020B0609020204030204" pitchFamily="49" charset="0"/>
              </a:rPr>
              <a:t> </a:t>
            </a:r>
            <a:r>
              <a:rPr lang="it-IT" b="0" dirty="0" err="1">
                <a:solidFill>
                  <a:srgbClr val="569CD6"/>
                </a:solidFill>
                <a:effectLst/>
                <a:latin typeface="Consolas" panose="020B0609020204030204" pitchFamily="49" charset="0"/>
              </a:rPr>
              <a:t>eta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getNome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return</a:t>
            </a:r>
            <a:r>
              <a:rPr lang="it-IT" b="0" dirty="0">
                <a:solidFill>
                  <a:srgbClr val="D4D4D4"/>
                </a:solidFill>
                <a:effectLst/>
                <a:latin typeface="Consolas" panose="020B0609020204030204" pitchFamily="49" charset="0"/>
              </a:rPr>
              <a:t>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setNome</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this</a:t>
            </a:r>
            <a:r>
              <a:rPr lang="it-IT" b="0" dirty="0" err="1">
                <a:solidFill>
                  <a:srgbClr val="D4D4D4"/>
                </a:solidFill>
                <a:effectLst/>
                <a:latin typeface="Consolas" panose="020B0609020204030204" pitchFamily="49" charset="0"/>
              </a:rPr>
              <a:t>.nome</a:t>
            </a:r>
            <a:r>
              <a:rPr lang="it-IT" b="0" dirty="0">
                <a:solidFill>
                  <a:srgbClr val="D4D4D4"/>
                </a:solidFill>
                <a:effectLst/>
                <a:latin typeface="Consolas" panose="020B0609020204030204" pitchFamily="49" charset="0"/>
              </a:rPr>
              <a:t> =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7986680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5585805" y="434019"/>
            <a:ext cx="3308814" cy="400110"/>
          </a:xfrm>
          <a:prstGeom prst="rect">
            <a:avLst/>
          </a:prstGeom>
          <a:solidFill>
            <a:schemeClr val="tx2">
              <a:lumMod val="20000"/>
              <a:lumOff val="80000"/>
            </a:schemeClr>
          </a:solidFill>
        </p:spPr>
        <p:txBody>
          <a:bodyPr wrap="square">
            <a:spAutoFit/>
          </a:bodyPr>
          <a:lstStyle/>
          <a:p>
            <a:r>
              <a:rPr lang="it-IT" sz="2000" dirty="0"/>
              <a:t>Una soluzione!</a:t>
            </a:r>
          </a:p>
        </p:txBody>
      </p:sp>
      <p:sp>
        <p:nvSpPr>
          <p:cNvPr id="3" name="CasellaDiTesto 2">
            <a:extLst>
              <a:ext uri="{FF2B5EF4-FFF2-40B4-BE49-F238E27FC236}">
                <a16:creationId xmlns:a16="http://schemas.microsoft.com/office/drawing/2014/main" id="{47520E20-2558-A200-E2C1-90D89ACACC25}"/>
              </a:ext>
            </a:extLst>
          </p:cNvPr>
          <p:cNvSpPr txBox="1"/>
          <p:nvPr/>
        </p:nvSpPr>
        <p:spPr>
          <a:xfrm>
            <a:off x="3789442" y="939075"/>
            <a:ext cx="5204003" cy="4524315"/>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Persona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eta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getNome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return</a:t>
            </a:r>
            <a:r>
              <a:rPr lang="it-IT" b="0" dirty="0">
                <a:solidFill>
                  <a:srgbClr val="D4D4D4"/>
                </a:solidFill>
                <a:effectLst/>
                <a:latin typeface="Consolas" panose="020B0609020204030204" pitchFamily="49" charset="0"/>
              </a:rPr>
              <a:t>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setNome</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this</a:t>
            </a:r>
            <a:r>
              <a:rPr lang="it-IT" b="0" dirty="0" err="1">
                <a:solidFill>
                  <a:srgbClr val="D4D4D4"/>
                </a:solidFill>
                <a:effectLst/>
                <a:latin typeface="Consolas" panose="020B0609020204030204" pitchFamily="49" charset="0"/>
              </a:rPr>
              <a:t>.nome</a:t>
            </a:r>
            <a:r>
              <a:rPr lang="it-IT" b="0" dirty="0">
                <a:solidFill>
                  <a:srgbClr val="D4D4D4"/>
                </a:solidFill>
                <a:effectLst/>
                <a:latin typeface="Consolas" panose="020B0609020204030204" pitchFamily="49" charset="0"/>
              </a:rPr>
              <a:t> =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getEta</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return</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eta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464667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6" name="CasellaDiTesto 5">
            <a:extLst>
              <a:ext uri="{FF2B5EF4-FFF2-40B4-BE49-F238E27FC236}">
                <a16:creationId xmlns:a16="http://schemas.microsoft.com/office/drawing/2014/main" id="{DA07A434-C500-18B2-1819-9691C7516DD1}"/>
              </a:ext>
            </a:extLst>
          </p:cNvPr>
          <p:cNvSpPr txBox="1"/>
          <p:nvPr/>
        </p:nvSpPr>
        <p:spPr>
          <a:xfrm>
            <a:off x="5585805" y="434019"/>
            <a:ext cx="3308814" cy="400110"/>
          </a:xfrm>
          <a:prstGeom prst="rect">
            <a:avLst/>
          </a:prstGeom>
          <a:solidFill>
            <a:schemeClr val="tx2">
              <a:lumMod val="20000"/>
              <a:lumOff val="80000"/>
            </a:schemeClr>
          </a:solidFill>
        </p:spPr>
        <p:txBody>
          <a:bodyPr wrap="square">
            <a:spAutoFit/>
          </a:bodyPr>
          <a:lstStyle/>
          <a:p>
            <a:r>
              <a:rPr lang="it-IT" sz="2000" dirty="0"/>
              <a:t>Una soluzione!</a:t>
            </a:r>
          </a:p>
        </p:txBody>
      </p:sp>
      <p:sp>
        <p:nvSpPr>
          <p:cNvPr id="3" name="CasellaDiTesto 2">
            <a:extLst>
              <a:ext uri="{FF2B5EF4-FFF2-40B4-BE49-F238E27FC236}">
                <a16:creationId xmlns:a16="http://schemas.microsoft.com/office/drawing/2014/main" id="{47520E20-2558-A200-E2C1-90D89ACACC25}"/>
              </a:ext>
            </a:extLst>
          </p:cNvPr>
          <p:cNvSpPr txBox="1"/>
          <p:nvPr/>
        </p:nvSpPr>
        <p:spPr>
          <a:xfrm>
            <a:off x="3789442" y="939075"/>
            <a:ext cx="5204003" cy="5632311"/>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Persona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eta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getNome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return</a:t>
            </a:r>
            <a:r>
              <a:rPr lang="it-IT" b="0" dirty="0">
                <a:solidFill>
                  <a:srgbClr val="D4D4D4"/>
                </a:solidFill>
                <a:effectLst/>
                <a:latin typeface="Consolas" panose="020B0609020204030204" pitchFamily="49" charset="0"/>
              </a:rPr>
              <a:t>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setNome</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this</a:t>
            </a:r>
            <a:r>
              <a:rPr lang="it-IT" b="0" dirty="0" err="1">
                <a:solidFill>
                  <a:srgbClr val="D4D4D4"/>
                </a:solidFill>
                <a:effectLst/>
                <a:latin typeface="Consolas" panose="020B0609020204030204" pitchFamily="49" charset="0"/>
              </a:rPr>
              <a:t>.nome</a:t>
            </a:r>
            <a:r>
              <a:rPr lang="it-IT" b="0" dirty="0">
                <a:solidFill>
                  <a:srgbClr val="D4D4D4"/>
                </a:solidFill>
                <a:effectLst/>
                <a:latin typeface="Consolas" panose="020B0609020204030204" pitchFamily="49" charset="0"/>
              </a:rPr>
              <a:t> =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getEta</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return</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eta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setEta</a:t>
            </a:r>
            <a:r>
              <a:rPr lang="it-IT" b="0" dirty="0">
                <a:solidFill>
                  <a:srgbClr val="D4D4D4"/>
                </a:solidFill>
                <a:effectLst/>
                <a:latin typeface="Consolas" panose="020B0609020204030204" pitchFamily="49" charset="0"/>
              </a:rPr>
              <a:t>(</a:t>
            </a:r>
            <a:r>
              <a:rPr lang="it-IT" b="0" dirty="0" err="1">
                <a:solidFill>
                  <a:srgbClr val="569CD6"/>
                </a:solidFill>
                <a:effectLst/>
                <a:latin typeface="Consolas" panose="020B0609020204030204" pitchFamily="49" charset="0"/>
              </a:rPr>
              <a:t>int</a:t>
            </a:r>
            <a:r>
              <a:rPr lang="it-IT" b="0" dirty="0">
                <a:solidFill>
                  <a:srgbClr val="569CD6"/>
                </a:solidFill>
                <a:effectLst/>
                <a:latin typeface="Consolas" panose="020B0609020204030204" pitchFamily="49" charset="0"/>
              </a:rPr>
              <a:t> </a:t>
            </a:r>
            <a:r>
              <a:rPr lang="it-IT" b="0" dirty="0" err="1">
                <a:solidFill>
                  <a:srgbClr val="569CD6"/>
                </a:solidFill>
                <a:effectLst/>
                <a:latin typeface="Consolas" panose="020B0609020204030204" pitchFamily="49" charset="0"/>
              </a:rPr>
              <a:t>eta</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this</a:t>
            </a:r>
            <a:r>
              <a:rPr lang="it-IT" b="0" dirty="0" err="1">
                <a:solidFill>
                  <a:srgbClr val="D4D4D4"/>
                </a:solidFill>
                <a:effectLst/>
                <a:latin typeface="Consolas" panose="020B0609020204030204" pitchFamily="49" charset="0"/>
              </a:rPr>
              <a:t>.eta</a:t>
            </a:r>
            <a:r>
              <a:rPr lang="it-IT" b="0" dirty="0">
                <a:solidFill>
                  <a:srgbClr val="D4D4D4"/>
                </a:solidFill>
                <a:effectLst/>
                <a:latin typeface="Consolas" panose="020B0609020204030204" pitchFamily="49" charset="0"/>
              </a:rPr>
              <a:t> = </a:t>
            </a:r>
            <a:r>
              <a:rPr lang="it-IT" b="0" dirty="0" err="1">
                <a:solidFill>
                  <a:srgbClr val="D4D4D4"/>
                </a:solidFill>
                <a:effectLst/>
                <a:latin typeface="Consolas" panose="020B0609020204030204" pitchFamily="49" charset="0"/>
              </a:rPr>
              <a:t>eta</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8123745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3" name="CasellaDiTesto 2">
            <a:extLst>
              <a:ext uri="{FF2B5EF4-FFF2-40B4-BE49-F238E27FC236}">
                <a16:creationId xmlns:a16="http://schemas.microsoft.com/office/drawing/2014/main" id="{47520E20-2558-A200-E2C1-90D89ACACC25}"/>
              </a:ext>
            </a:extLst>
          </p:cNvPr>
          <p:cNvSpPr txBox="1"/>
          <p:nvPr/>
        </p:nvSpPr>
        <p:spPr>
          <a:xfrm>
            <a:off x="282039" y="1417713"/>
            <a:ext cx="5204003" cy="4708981"/>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getNome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569CD6"/>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9" name="CasellaDiTesto 8">
            <a:extLst>
              <a:ext uri="{FF2B5EF4-FFF2-40B4-BE49-F238E27FC236}">
                <a16:creationId xmlns:a16="http://schemas.microsoft.com/office/drawing/2014/main" id="{E7020FC2-9DB3-8E0E-2B56-3F8C3B8F08A4}"/>
              </a:ext>
            </a:extLst>
          </p:cNvPr>
          <p:cNvSpPr txBox="1"/>
          <p:nvPr/>
        </p:nvSpPr>
        <p:spPr>
          <a:xfrm>
            <a:off x="5811983" y="1312767"/>
            <a:ext cx="6097978" cy="923330"/>
          </a:xfrm>
          <a:prstGeom prst="rect">
            <a:avLst/>
          </a:prstGeom>
          <a:noFill/>
        </p:spPr>
        <p:txBody>
          <a:bodyPr wrap="square">
            <a:spAutoFit/>
          </a:bodyPr>
          <a:lstStyle/>
          <a:p>
            <a:r>
              <a:rPr lang="it-IT" dirty="0"/>
              <a:t>In questo caso, la classe Persona fornisce quattro metodi pubblici </a:t>
            </a:r>
            <a:r>
              <a:rPr lang="it-IT" dirty="0" err="1"/>
              <a:t>getNome</a:t>
            </a:r>
            <a:r>
              <a:rPr lang="it-IT" dirty="0"/>
              <a:t>(), </a:t>
            </a:r>
            <a:r>
              <a:rPr lang="it-IT" dirty="0" err="1"/>
              <a:t>setNome</a:t>
            </a:r>
            <a:r>
              <a:rPr lang="it-IT" dirty="0"/>
              <a:t>(), </a:t>
            </a:r>
            <a:r>
              <a:rPr lang="it-IT" dirty="0" err="1"/>
              <a:t>getEta</a:t>
            </a:r>
            <a:r>
              <a:rPr lang="it-IT" dirty="0"/>
              <a:t>() e </a:t>
            </a:r>
            <a:r>
              <a:rPr lang="it-IT" dirty="0" err="1"/>
              <a:t>setEta</a:t>
            </a:r>
            <a:r>
              <a:rPr lang="it-IT" dirty="0"/>
              <a:t>() per accedere ai campi privati nome </a:t>
            </a:r>
            <a:r>
              <a:rPr lang="it-IT"/>
              <a:t>e età.</a:t>
            </a:r>
            <a:endParaRPr lang="it-IT" dirty="0"/>
          </a:p>
        </p:txBody>
      </p:sp>
    </p:spTree>
    <p:extLst>
      <p:ext uri="{BB962C8B-B14F-4D97-AF65-F5344CB8AC3E}">
        <p14:creationId xmlns:p14="http://schemas.microsoft.com/office/powerpoint/2010/main" val="5078733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3" name="CasellaDiTesto 2">
            <a:extLst>
              <a:ext uri="{FF2B5EF4-FFF2-40B4-BE49-F238E27FC236}">
                <a16:creationId xmlns:a16="http://schemas.microsoft.com/office/drawing/2014/main" id="{47520E20-2558-A200-E2C1-90D89ACACC25}"/>
              </a:ext>
            </a:extLst>
          </p:cNvPr>
          <p:cNvSpPr txBox="1"/>
          <p:nvPr/>
        </p:nvSpPr>
        <p:spPr>
          <a:xfrm>
            <a:off x="282039" y="1417713"/>
            <a:ext cx="5204003" cy="4708981"/>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getNome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569CD6"/>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9" name="CasellaDiTesto 8">
            <a:extLst>
              <a:ext uri="{FF2B5EF4-FFF2-40B4-BE49-F238E27FC236}">
                <a16:creationId xmlns:a16="http://schemas.microsoft.com/office/drawing/2014/main" id="{E7020FC2-9DB3-8E0E-2B56-3F8C3B8F08A4}"/>
              </a:ext>
            </a:extLst>
          </p:cNvPr>
          <p:cNvSpPr txBox="1"/>
          <p:nvPr/>
        </p:nvSpPr>
        <p:spPr>
          <a:xfrm>
            <a:off x="5811983" y="1312767"/>
            <a:ext cx="6097978" cy="1754326"/>
          </a:xfrm>
          <a:prstGeom prst="rect">
            <a:avLst/>
          </a:prstGeom>
          <a:noFill/>
        </p:spPr>
        <p:txBody>
          <a:bodyPr wrap="square">
            <a:spAutoFit/>
          </a:bodyPr>
          <a:lstStyle/>
          <a:p>
            <a:r>
              <a:rPr lang="it-IT" dirty="0"/>
              <a:t>In questo caso, la classe Persona fornisce quattro metodi pubblici </a:t>
            </a:r>
            <a:r>
              <a:rPr lang="it-IT" dirty="0" err="1"/>
              <a:t>getNome</a:t>
            </a:r>
            <a:r>
              <a:rPr lang="it-IT" dirty="0"/>
              <a:t>(), </a:t>
            </a:r>
            <a:r>
              <a:rPr lang="it-IT" dirty="0" err="1"/>
              <a:t>setNome</a:t>
            </a:r>
            <a:r>
              <a:rPr lang="it-IT" dirty="0"/>
              <a:t>(), </a:t>
            </a:r>
            <a:r>
              <a:rPr lang="it-IT" dirty="0" err="1"/>
              <a:t>getEta</a:t>
            </a:r>
            <a:r>
              <a:rPr lang="it-IT" dirty="0"/>
              <a:t>() e </a:t>
            </a:r>
            <a:r>
              <a:rPr lang="it-IT" dirty="0" err="1"/>
              <a:t>setEta</a:t>
            </a:r>
            <a:r>
              <a:rPr lang="it-IT" dirty="0"/>
              <a:t>() per accedere ai campi privati nome </a:t>
            </a:r>
            <a:r>
              <a:rPr lang="it-IT"/>
              <a:t>e età. </a:t>
            </a:r>
            <a:r>
              <a:rPr lang="it-IT" dirty="0"/>
              <a:t>I metodi </a:t>
            </a:r>
            <a:r>
              <a:rPr lang="it-IT" dirty="0" err="1"/>
              <a:t>getNome</a:t>
            </a:r>
            <a:r>
              <a:rPr lang="it-IT" dirty="0"/>
              <a:t>() e </a:t>
            </a:r>
            <a:r>
              <a:rPr lang="it-IT" dirty="0" err="1"/>
              <a:t>getEta</a:t>
            </a:r>
            <a:r>
              <a:rPr lang="it-IT" dirty="0"/>
              <a:t>() restituiscono rispettivamente il valore dei campi nome </a:t>
            </a:r>
            <a:r>
              <a:rPr lang="it-IT"/>
              <a:t>e età, </a:t>
            </a:r>
            <a:r>
              <a:rPr lang="it-IT" dirty="0"/>
              <a:t>mentre i metodi </a:t>
            </a:r>
            <a:r>
              <a:rPr lang="it-IT" dirty="0" err="1"/>
              <a:t>setNome</a:t>
            </a:r>
            <a:r>
              <a:rPr lang="it-IT" dirty="0"/>
              <a:t>() e </a:t>
            </a:r>
            <a:r>
              <a:rPr lang="it-IT" dirty="0" err="1"/>
              <a:t>setEta</a:t>
            </a:r>
            <a:r>
              <a:rPr lang="it-IT" dirty="0"/>
              <a:t>() impostano rispettivamente il valore dei campi nome </a:t>
            </a:r>
            <a:r>
              <a:rPr lang="it-IT"/>
              <a:t>e età.</a:t>
            </a:r>
            <a:endParaRPr lang="it-IT" dirty="0"/>
          </a:p>
        </p:txBody>
      </p:sp>
    </p:spTree>
    <p:extLst>
      <p:ext uri="{BB962C8B-B14F-4D97-AF65-F5344CB8AC3E}">
        <p14:creationId xmlns:p14="http://schemas.microsoft.com/office/powerpoint/2010/main" val="10707764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3" name="CasellaDiTesto 2">
            <a:extLst>
              <a:ext uri="{FF2B5EF4-FFF2-40B4-BE49-F238E27FC236}">
                <a16:creationId xmlns:a16="http://schemas.microsoft.com/office/drawing/2014/main" id="{47520E20-2558-A200-E2C1-90D89ACACC25}"/>
              </a:ext>
            </a:extLst>
          </p:cNvPr>
          <p:cNvSpPr txBox="1"/>
          <p:nvPr/>
        </p:nvSpPr>
        <p:spPr>
          <a:xfrm>
            <a:off x="282039" y="1417713"/>
            <a:ext cx="5204003" cy="4708981"/>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getNome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569CD6"/>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9" name="CasellaDiTesto 8">
            <a:extLst>
              <a:ext uri="{FF2B5EF4-FFF2-40B4-BE49-F238E27FC236}">
                <a16:creationId xmlns:a16="http://schemas.microsoft.com/office/drawing/2014/main" id="{E7020FC2-9DB3-8E0E-2B56-3F8C3B8F08A4}"/>
              </a:ext>
            </a:extLst>
          </p:cNvPr>
          <p:cNvSpPr txBox="1"/>
          <p:nvPr/>
        </p:nvSpPr>
        <p:spPr>
          <a:xfrm>
            <a:off x="5811983" y="1312767"/>
            <a:ext cx="6097978" cy="2862322"/>
          </a:xfrm>
          <a:prstGeom prst="rect">
            <a:avLst/>
          </a:prstGeom>
          <a:noFill/>
        </p:spPr>
        <p:txBody>
          <a:bodyPr wrap="square">
            <a:spAutoFit/>
          </a:bodyPr>
          <a:lstStyle/>
          <a:p>
            <a:r>
              <a:rPr lang="it-IT" dirty="0"/>
              <a:t>In questo caso, la classe Persona fornisce quattro metodi pubblici </a:t>
            </a:r>
            <a:r>
              <a:rPr lang="it-IT" dirty="0" err="1"/>
              <a:t>getNome</a:t>
            </a:r>
            <a:r>
              <a:rPr lang="it-IT" dirty="0"/>
              <a:t>(), </a:t>
            </a:r>
            <a:r>
              <a:rPr lang="it-IT" dirty="0" err="1"/>
              <a:t>setNome</a:t>
            </a:r>
            <a:r>
              <a:rPr lang="it-IT" dirty="0"/>
              <a:t>(), </a:t>
            </a:r>
            <a:r>
              <a:rPr lang="it-IT" dirty="0" err="1"/>
              <a:t>getEta</a:t>
            </a:r>
            <a:r>
              <a:rPr lang="it-IT" dirty="0"/>
              <a:t>() e </a:t>
            </a:r>
            <a:r>
              <a:rPr lang="it-IT" dirty="0" err="1"/>
              <a:t>setEta</a:t>
            </a:r>
            <a:r>
              <a:rPr lang="it-IT" dirty="0"/>
              <a:t>() per accedere ai campi privati nome </a:t>
            </a:r>
            <a:r>
              <a:rPr lang="it-IT"/>
              <a:t>e età. </a:t>
            </a:r>
            <a:r>
              <a:rPr lang="it-IT" dirty="0"/>
              <a:t>I metodi </a:t>
            </a:r>
            <a:r>
              <a:rPr lang="it-IT" dirty="0" err="1"/>
              <a:t>getNome</a:t>
            </a:r>
            <a:r>
              <a:rPr lang="it-IT" dirty="0"/>
              <a:t>() e </a:t>
            </a:r>
            <a:r>
              <a:rPr lang="it-IT" dirty="0" err="1"/>
              <a:t>getEta</a:t>
            </a:r>
            <a:r>
              <a:rPr lang="it-IT" dirty="0"/>
              <a:t>() restituiscono rispettivamente il valore dei campi nome </a:t>
            </a:r>
            <a:r>
              <a:rPr lang="it-IT"/>
              <a:t>e età, </a:t>
            </a:r>
            <a:r>
              <a:rPr lang="it-IT" dirty="0"/>
              <a:t>mentre i metodi </a:t>
            </a:r>
            <a:r>
              <a:rPr lang="it-IT" dirty="0" err="1"/>
              <a:t>setNome</a:t>
            </a:r>
            <a:r>
              <a:rPr lang="it-IT" dirty="0"/>
              <a:t>() e </a:t>
            </a:r>
            <a:r>
              <a:rPr lang="it-IT" dirty="0" err="1"/>
              <a:t>setEta</a:t>
            </a:r>
            <a:r>
              <a:rPr lang="it-IT" dirty="0"/>
              <a:t>() impostano rispettivamente il valore dei campi nome </a:t>
            </a:r>
            <a:r>
              <a:rPr lang="it-IT"/>
              <a:t>e età.</a:t>
            </a:r>
            <a:endParaRPr lang="it-IT" dirty="0"/>
          </a:p>
          <a:p>
            <a:endParaRPr lang="it-IT" dirty="0"/>
          </a:p>
          <a:p>
            <a:r>
              <a:rPr lang="it-IT" dirty="0"/>
              <a:t>Questo approccio consente di mantenere l'incapsulamento dei dati, in quanto i campi privati non sono accessibili direttamente da altre classi ma solo attraverso i metodi pubblici </a:t>
            </a:r>
            <a:r>
              <a:rPr lang="it-IT" dirty="0" err="1"/>
              <a:t>get</a:t>
            </a:r>
            <a:r>
              <a:rPr lang="it-IT" dirty="0"/>
              <a:t> e set. </a:t>
            </a:r>
          </a:p>
        </p:txBody>
      </p:sp>
    </p:spTree>
    <p:extLst>
      <p:ext uri="{BB962C8B-B14F-4D97-AF65-F5344CB8AC3E}">
        <p14:creationId xmlns:p14="http://schemas.microsoft.com/office/powerpoint/2010/main" val="22246989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3" name="CasellaDiTesto 2">
            <a:extLst>
              <a:ext uri="{FF2B5EF4-FFF2-40B4-BE49-F238E27FC236}">
                <a16:creationId xmlns:a16="http://schemas.microsoft.com/office/drawing/2014/main" id="{47520E20-2558-A200-E2C1-90D89ACACC25}"/>
              </a:ext>
            </a:extLst>
          </p:cNvPr>
          <p:cNvSpPr txBox="1"/>
          <p:nvPr/>
        </p:nvSpPr>
        <p:spPr>
          <a:xfrm>
            <a:off x="282039" y="1417713"/>
            <a:ext cx="5204003" cy="4708981"/>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getNome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569CD6"/>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9" name="CasellaDiTesto 8">
            <a:extLst>
              <a:ext uri="{FF2B5EF4-FFF2-40B4-BE49-F238E27FC236}">
                <a16:creationId xmlns:a16="http://schemas.microsoft.com/office/drawing/2014/main" id="{E7020FC2-9DB3-8E0E-2B56-3F8C3B8F08A4}"/>
              </a:ext>
            </a:extLst>
          </p:cNvPr>
          <p:cNvSpPr txBox="1"/>
          <p:nvPr/>
        </p:nvSpPr>
        <p:spPr>
          <a:xfrm>
            <a:off x="5811983" y="1312767"/>
            <a:ext cx="6097978" cy="3693319"/>
          </a:xfrm>
          <a:prstGeom prst="rect">
            <a:avLst/>
          </a:prstGeom>
          <a:noFill/>
        </p:spPr>
        <p:txBody>
          <a:bodyPr wrap="square">
            <a:spAutoFit/>
          </a:bodyPr>
          <a:lstStyle/>
          <a:p>
            <a:r>
              <a:rPr lang="it-IT" dirty="0"/>
              <a:t>In questo caso, la classe Persona fornisce quattro metodi pubblici </a:t>
            </a:r>
            <a:r>
              <a:rPr lang="it-IT" dirty="0" err="1"/>
              <a:t>getNome</a:t>
            </a:r>
            <a:r>
              <a:rPr lang="it-IT" dirty="0"/>
              <a:t>(), </a:t>
            </a:r>
            <a:r>
              <a:rPr lang="it-IT" dirty="0" err="1"/>
              <a:t>setNome</a:t>
            </a:r>
            <a:r>
              <a:rPr lang="it-IT" dirty="0"/>
              <a:t>(), </a:t>
            </a:r>
            <a:r>
              <a:rPr lang="it-IT" dirty="0" err="1"/>
              <a:t>getEta</a:t>
            </a:r>
            <a:r>
              <a:rPr lang="it-IT" dirty="0"/>
              <a:t>() e </a:t>
            </a:r>
            <a:r>
              <a:rPr lang="it-IT" dirty="0" err="1"/>
              <a:t>setEta</a:t>
            </a:r>
            <a:r>
              <a:rPr lang="it-IT" dirty="0"/>
              <a:t>() per accedere ai campi privati nome </a:t>
            </a:r>
            <a:r>
              <a:rPr lang="it-IT"/>
              <a:t>e età. </a:t>
            </a:r>
            <a:r>
              <a:rPr lang="it-IT" dirty="0"/>
              <a:t>I metodi </a:t>
            </a:r>
            <a:r>
              <a:rPr lang="it-IT" dirty="0" err="1"/>
              <a:t>getNome</a:t>
            </a:r>
            <a:r>
              <a:rPr lang="it-IT" dirty="0"/>
              <a:t>() e </a:t>
            </a:r>
            <a:r>
              <a:rPr lang="it-IT" dirty="0" err="1"/>
              <a:t>getEta</a:t>
            </a:r>
            <a:r>
              <a:rPr lang="it-IT" dirty="0"/>
              <a:t>() restituiscono rispettivamente il valore dei campi nome </a:t>
            </a:r>
            <a:r>
              <a:rPr lang="it-IT"/>
              <a:t>e età, </a:t>
            </a:r>
            <a:r>
              <a:rPr lang="it-IT" dirty="0"/>
              <a:t>mentre i metodi </a:t>
            </a:r>
            <a:r>
              <a:rPr lang="it-IT" dirty="0" err="1"/>
              <a:t>setNome</a:t>
            </a:r>
            <a:r>
              <a:rPr lang="it-IT" dirty="0"/>
              <a:t>() e </a:t>
            </a:r>
            <a:r>
              <a:rPr lang="it-IT" dirty="0" err="1"/>
              <a:t>setEta</a:t>
            </a:r>
            <a:r>
              <a:rPr lang="it-IT" dirty="0"/>
              <a:t>() impostano rispettivamente il valore dei campi nome </a:t>
            </a:r>
            <a:r>
              <a:rPr lang="it-IT"/>
              <a:t>e età.</a:t>
            </a:r>
            <a:endParaRPr lang="it-IT" dirty="0"/>
          </a:p>
          <a:p>
            <a:endParaRPr lang="it-IT" dirty="0"/>
          </a:p>
          <a:p>
            <a:r>
              <a:rPr lang="it-IT" dirty="0"/>
              <a:t>Questo approccio consente di mantenere l'incapsulamento dei dati, in quanto i campi privati non sono accessibili direttamente da altre classi ma solo attraverso i metodi pubblici </a:t>
            </a:r>
            <a:r>
              <a:rPr lang="it-IT" dirty="0" err="1"/>
              <a:t>get</a:t>
            </a:r>
            <a:r>
              <a:rPr lang="it-IT" dirty="0"/>
              <a:t> e set. Inoltre, i metodi set consentono di controllare i valori assegnati ai campi, ad esempio verificando che una </a:t>
            </a:r>
            <a:r>
              <a:rPr lang="it-IT"/>
              <a:t>data età </a:t>
            </a:r>
            <a:r>
              <a:rPr lang="it-IT" dirty="0"/>
              <a:t>sia valida prima di impostarla come valore del </a:t>
            </a:r>
            <a:r>
              <a:rPr lang="it-IT"/>
              <a:t>campo età.</a:t>
            </a:r>
            <a:endParaRPr lang="it-IT" dirty="0"/>
          </a:p>
        </p:txBody>
      </p:sp>
    </p:spTree>
    <p:extLst>
      <p:ext uri="{BB962C8B-B14F-4D97-AF65-F5344CB8AC3E}">
        <p14:creationId xmlns:p14="http://schemas.microsoft.com/office/powerpoint/2010/main" val="23619048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3" name="CasellaDiTesto 2">
            <a:extLst>
              <a:ext uri="{FF2B5EF4-FFF2-40B4-BE49-F238E27FC236}">
                <a16:creationId xmlns:a16="http://schemas.microsoft.com/office/drawing/2014/main" id="{47520E20-2558-A200-E2C1-90D89ACACC25}"/>
              </a:ext>
            </a:extLst>
          </p:cNvPr>
          <p:cNvSpPr txBox="1"/>
          <p:nvPr/>
        </p:nvSpPr>
        <p:spPr>
          <a:xfrm>
            <a:off x="282039" y="1417713"/>
            <a:ext cx="5204003" cy="4708981"/>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getNome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pPr algn="just"/>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569CD6"/>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9" name="CasellaDiTesto 8">
            <a:extLst>
              <a:ext uri="{FF2B5EF4-FFF2-40B4-BE49-F238E27FC236}">
                <a16:creationId xmlns:a16="http://schemas.microsoft.com/office/drawing/2014/main" id="{E7020FC2-9DB3-8E0E-2B56-3F8C3B8F08A4}"/>
              </a:ext>
            </a:extLst>
          </p:cNvPr>
          <p:cNvSpPr txBox="1"/>
          <p:nvPr/>
        </p:nvSpPr>
        <p:spPr>
          <a:xfrm>
            <a:off x="5811983" y="1312767"/>
            <a:ext cx="6097978" cy="4801314"/>
          </a:xfrm>
          <a:prstGeom prst="rect">
            <a:avLst/>
          </a:prstGeom>
          <a:noFill/>
        </p:spPr>
        <p:txBody>
          <a:bodyPr wrap="square">
            <a:spAutoFit/>
          </a:bodyPr>
          <a:lstStyle/>
          <a:p>
            <a:r>
              <a:rPr lang="it-IT" dirty="0"/>
              <a:t>In questo caso, la classe Persona fornisce quattro metodi pubblici </a:t>
            </a:r>
            <a:r>
              <a:rPr lang="it-IT" dirty="0" err="1"/>
              <a:t>getNome</a:t>
            </a:r>
            <a:r>
              <a:rPr lang="it-IT" dirty="0"/>
              <a:t>(), </a:t>
            </a:r>
            <a:r>
              <a:rPr lang="it-IT" dirty="0" err="1"/>
              <a:t>setNome</a:t>
            </a:r>
            <a:r>
              <a:rPr lang="it-IT" dirty="0"/>
              <a:t>(), </a:t>
            </a:r>
            <a:r>
              <a:rPr lang="it-IT" dirty="0" err="1"/>
              <a:t>getEta</a:t>
            </a:r>
            <a:r>
              <a:rPr lang="it-IT" dirty="0"/>
              <a:t>() e </a:t>
            </a:r>
            <a:r>
              <a:rPr lang="it-IT" dirty="0" err="1"/>
              <a:t>setEta</a:t>
            </a:r>
            <a:r>
              <a:rPr lang="it-IT" dirty="0"/>
              <a:t>() per accedere ai campi privati nome </a:t>
            </a:r>
            <a:r>
              <a:rPr lang="it-IT"/>
              <a:t>e età. </a:t>
            </a:r>
            <a:r>
              <a:rPr lang="it-IT" dirty="0"/>
              <a:t>I metodi </a:t>
            </a:r>
            <a:r>
              <a:rPr lang="it-IT" dirty="0" err="1"/>
              <a:t>getNome</a:t>
            </a:r>
            <a:r>
              <a:rPr lang="it-IT" dirty="0"/>
              <a:t>() e </a:t>
            </a:r>
            <a:r>
              <a:rPr lang="it-IT" dirty="0" err="1"/>
              <a:t>getEta</a:t>
            </a:r>
            <a:r>
              <a:rPr lang="it-IT" dirty="0"/>
              <a:t>() restituiscono rispettivamente il valore dei campi nome </a:t>
            </a:r>
            <a:r>
              <a:rPr lang="it-IT"/>
              <a:t>e età, </a:t>
            </a:r>
            <a:r>
              <a:rPr lang="it-IT" dirty="0"/>
              <a:t>mentre i metodi </a:t>
            </a:r>
            <a:r>
              <a:rPr lang="it-IT" dirty="0" err="1"/>
              <a:t>setNome</a:t>
            </a:r>
            <a:r>
              <a:rPr lang="it-IT" dirty="0"/>
              <a:t>() e </a:t>
            </a:r>
            <a:r>
              <a:rPr lang="it-IT" dirty="0" err="1"/>
              <a:t>setEta</a:t>
            </a:r>
            <a:r>
              <a:rPr lang="it-IT" dirty="0"/>
              <a:t>() impostano rispettivamente il valore dei campi nome </a:t>
            </a:r>
            <a:r>
              <a:rPr lang="it-IT"/>
              <a:t>e età.</a:t>
            </a:r>
            <a:endParaRPr lang="it-IT" dirty="0"/>
          </a:p>
          <a:p>
            <a:endParaRPr lang="it-IT" dirty="0"/>
          </a:p>
          <a:p>
            <a:r>
              <a:rPr lang="it-IT" dirty="0"/>
              <a:t>Questo approccio consente di mantenere l'incapsulamento dei dati, in quanto i campi privati non sono accessibili direttamente da altre classi ma solo attraverso i metodi pubblici </a:t>
            </a:r>
            <a:r>
              <a:rPr lang="it-IT" dirty="0" err="1"/>
              <a:t>get</a:t>
            </a:r>
            <a:r>
              <a:rPr lang="it-IT" dirty="0"/>
              <a:t> e set. Inoltre, i metodi set consentono di controllare i valori assegnati ai campi, ad esempio verificando che una </a:t>
            </a:r>
            <a:r>
              <a:rPr lang="it-IT"/>
              <a:t>data età </a:t>
            </a:r>
            <a:r>
              <a:rPr lang="it-IT" dirty="0"/>
              <a:t>sia valida prima di impostarla come valore del </a:t>
            </a:r>
            <a:r>
              <a:rPr lang="it-IT"/>
              <a:t>campo età.</a:t>
            </a:r>
            <a:endParaRPr lang="it-IT" dirty="0"/>
          </a:p>
          <a:p>
            <a:endParaRPr lang="it-IT" dirty="0"/>
          </a:p>
          <a:p>
            <a:r>
              <a:rPr lang="it-IT" dirty="0"/>
              <a:t>In sintesi, i metodi </a:t>
            </a:r>
            <a:r>
              <a:rPr lang="it-IT" dirty="0" err="1"/>
              <a:t>get</a:t>
            </a:r>
            <a:r>
              <a:rPr lang="it-IT" dirty="0"/>
              <a:t> e set sono utilizzati per accedere ai campi privati di una classe in modo controllato e mantenendo l'incapsulamento dei dati.</a:t>
            </a:r>
          </a:p>
        </p:txBody>
      </p:sp>
    </p:spTree>
    <p:extLst>
      <p:ext uri="{BB962C8B-B14F-4D97-AF65-F5344CB8AC3E}">
        <p14:creationId xmlns:p14="http://schemas.microsoft.com/office/powerpoint/2010/main" val="39776588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3" name="CasellaDiTesto 2">
            <a:extLst>
              <a:ext uri="{FF2B5EF4-FFF2-40B4-BE49-F238E27FC236}">
                <a16:creationId xmlns:a16="http://schemas.microsoft.com/office/drawing/2014/main" id="{47520E20-2558-A200-E2C1-90D89ACACC25}"/>
              </a:ext>
            </a:extLst>
          </p:cNvPr>
          <p:cNvSpPr txBox="1"/>
          <p:nvPr/>
        </p:nvSpPr>
        <p:spPr>
          <a:xfrm>
            <a:off x="282039" y="1417713"/>
            <a:ext cx="5204003" cy="4708981"/>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getNome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569CD6"/>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9" name="CasellaDiTesto 8">
            <a:extLst>
              <a:ext uri="{FF2B5EF4-FFF2-40B4-BE49-F238E27FC236}">
                <a16:creationId xmlns:a16="http://schemas.microsoft.com/office/drawing/2014/main" id="{E7020FC2-9DB3-8E0E-2B56-3F8C3B8F08A4}"/>
              </a:ext>
            </a:extLst>
          </p:cNvPr>
          <p:cNvSpPr txBox="1"/>
          <p:nvPr/>
        </p:nvSpPr>
        <p:spPr>
          <a:xfrm>
            <a:off x="5811983" y="1312767"/>
            <a:ext cx="6097978" cy="1200329"/>
          </a:xfrm>
          <a:prstGeom prst="rect">
            <a:avLst/>
          </a:prstGeom>
          <a:noFill/>
        </p:spPr>
        <p:txBody>
          <a:bodyPr wrap="square">
            <a:spAutoFit/>
          </a:bodyPr>
          <a:lstStyle/>
          <a:p>
            <a:r>
              <a:rPr lang="it-IT" dirty="0"/>
              <a:t>E’ anche possibile che si vogliano filtrare i dati inseriti nei campi, con lo scopo di avere un minimo di controllo su ciò che si scrive. In certi casi questa può essere solo una mera preferenza ed in altri può essere una necessità:</a:t>
            </a:r>
          </a:p>
        </p:txBody>
      </p:sp>
    </p:spTree>
    <p:extLst>
      <p:ext uri="{BB962C8B-B14F-4D97-AF65-F5344CB8AC3E}">
        <p14:creationId xmlns:p14="http://schemas.microsoft.com/office/powerpoint/2010/main" val="27713707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3" name="CasellaDiTesto 2">
            <a:extLst>
              <a:ext uri="{FF2B5EF4-FFF2-40B4-BE49-F238E27FC236}">
                <a16:creationId xmlns:a16="http://schemas.microsoft.com/office/drawing/2014/main" id="{47520E20-2558-A200-E2C1-90D89ACACC25}"/>
              </a:ext>
            </a:extLst>
          </p:cNvPr>
          <p:cNvSpPr txBox="1"/>
          <p:nvPr/>
        </p:nvSpPr>
        <p:spPr>
          <a:xfrm>
            <a:off x="282039" y="1417713"/>
            <a:ext cx="5204003" cy="4708981"/>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getNome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569CD6"/>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9" name="CasellaDiTesto 8">
            <a:extLst>
              <a:ext uri="{FF2B5EF4-FFF2-40B4-BE49-F238E27FC236}">
                <a16:creationId xmlns:a16="http://schemas.microsoft.com/office/drawing/2014/main" id="{E7020FC2-9DB3-8E0E-2B56-3F8C3B8F08A4}"/>
              </a:ext>
            </a:extLst>
          </p:cNvPr>
          <p:cNvSpPr txBox="1"/>
          <p:nvPr/>
        </p:nvSpPr>
        <p:spPr>
          <a:xfrm>
            <a:off x="5811983" y="1312767"/>
            <a:ext cx="6097978" cy="2585323"/>
          </a:xfrm>
          <a:prstGeom prst="rect">
            <a:avLst/>
          </a:prstGeom>
          <a:noFill/>
        </p:spPr>
        <p:txBody>
          <a:bodyPr wrap="square">
            <a:spAutoFit/>
          </a:bodyPr>
          <a:lstStyle/>
          <a:p>
            <a:r>
              <a:rPr lang="it-IT" dirty="0"/>
              <a:t>E’ anche possibile che si vogliano filtrare i dati inseriti nei campi, con lo scopo di avere un minimo di controllo su ciò che si scrive. In certi casi questa può essere solo una mera preferenza ed in altri può essere una necessità: potrebbe essere che il programma abbia bisogno di essere sicuro che i dati inseriti siano in un certo range, che per esempio nomi e cognomi non superino certe lunghezze o che i valori di un parametro di </a:t>
            </a:r>
            <a:r>
              <a:rPr lang="it-IT" dirty="0" err="1"/>
              <a:t>eta</a:t>
            </a:r>
            <a:r>
              <a:rPr lang="it-IT" dirty="0"/>
              <a:t> od altezza siano plausibili (quindi </a:t>
            </a:r>
            <a:r>
              <a:rPr lang="it-IT"/>
              <a:t>una età </a:t>
            </a:r>
            <a:r>
              <a:rPr lang="it-IT" dirty="0"/>
              <a:t>di -3 o di 2000 anni non sarebbe accettabile)</a:t>
            </a:r>
          </a:p>
        </p:txBody>
      </p:sp>
    </p:spTree>
    <p:extLst>
      <p:ext uri="{BB962C8B-B14F-4D97-AF65-F5344CB8AC3E}">
        <p14:creationId xmlns:p14="http://schemas.microsoft.com/office/powerpoint/2010/main" val="6059617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9" name="CasellaDiTesto 8">
            <a:extLst>
              <a:ext uri="{FF2B5EF4-FFF2-40B4-BE49-F238E27FC236}">
                <a16:creationId xmlns:a16="http://schemas.microsoft.com/office/drawing/2014/main" id="{E7020FC2-9DB3-8E0E-2B56-3F8C3B8F08A4}"/>
              </a:ext>
            </a:extLst>
          </p:cNvPr>
          <p:cNvSpPr txBox="1"/>
          <p:nvPr/>
        </p:nvSpPr>
        <p:spPr>
          <a:xfrm>
            <a:off x="282039" y="1405838"/>
            <a:ext cx="4990605" cy="1200329"/>
          </a:xfrm>
          <a:prstGeom prst="rect">
            <a:avLst/>
          </a:prstGeom>
          <a:noFill/>
        </p:spPr>
        <p:txBody>
          <a:bodyPr wrap="square">
            <a:spAutoFit/>
          </a:bodyPr>
          <a:lstStyle/>
          <a:p>
            <a:r>
              <a:rPr lang="it-IT" dirty="0"/>
              <a:t>Supponiamo di voler consentire la modifica del nome e </a:t>
            </a:r>
            <a:r>
              <a:rPr lang="it-IT"/>
              <a:t>della età, </a:t>
            </a:r>
            <a:r>
              <a:rPr lang="it-IT" dirty="0"/>
              <a:t>con </a:t>
            </a:r>
            <a:r>
              <a:rPr lang="it-IT" dirty="0" err="1"/>
              <a:t>setNome</a:t>
            </a:r>
            <a:r>
              <a:rPr lang="it-IT" dirty="0"/>
              <a:t> e </a:t>
            </a:r>
            <a:r>
              <a:rPr lang="it-IT" dirty="0" err="1"/>
              <a:t>setEta</a:t>
            </a:r>
            <a:r>
              <a:rPr lang="it-IT" dirty="0"/>
              <a:t>, ma accettando nomi non più lunghi di 20 caratteri (tra 1 carattere e max 20) e delle </a:t>
            </a:r>
            <a:r>
              <a:rPr lang="it-IT" dirty="0" err="1"/>
              <a:t>eta</a:t>
            </a:r>
            <a:r>
              <a:rPr lang="it-IT" dirty="0"/>
              <a:t> tra i 0 ed i 99 anni</a:t>
            </a:r>
          </a:p>
        </p:txBody>
      </p:sp>
    </p:spTree>
    <p:extLst>
      <p:ext uri="{BB962C8B-B14F-4D97-AF65-F5344CB8AC3E}">
        <p14:creationId xmlns:p14="http://schemas.microsoft.com/office/powerpoint/2010/main" val="32325001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3" name="CasellaDiTesto 2">
            <a:extLst>
              <a:ext uri="{FF2B5EF4-FFF2-40B4-BE49-F238E27FC236}">
                <a16:creationId xmlns:a16="http://schemas.microsoft.com/office/drawing/2014/main" id="{47520E20-2558-A200-E2C1-90D89ACACC25}"/>
              </a:ext>
            </a:extLst>
          </p:cNvPr>
          <p:cNvSpPr txBox="1"/>
          <p:nvPr/>
        </p:nvSpPr>
        <p:spPr>
          <a:xfrm>
            <a:off x="5697187" y="939075"/>
            <a:ext cx="5204003" cy="4708981"/>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getNome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569CD6"/>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9" name="CasellaDiTesto 8">
            <a:extLst>
              <a:ext uri="{FF2B5EF4-FFF2-40B4-BE49-F238E27FC236}">
                <a16:creationId xmlns:a16="http://schemas.microsoft.com/office/drawing/2014/main" id="{E7020FC2-9DB3-8E0E-2B56-3F8C3B8F08A4}"/>
              </a:ext>
            </a:extLst>
          </p:cNvPr>
          <p:cNvSpPr txBox="1"/>
          <p:nvPr/>
        </p:nvSpPr>
        <p:spPr>
          <a:xfrm>
            <a:off x="282039" y="1405838"/>
            <a:ext cx="4990605" cy="1200329"/>
          </a:xfrm>
          <a:prstGeom prst="rect">
            <a:avLst/>
          </a:prstGeom>
          <a:noFill/>
        </p:spPr>
        <p:txBody>
          <a:bodyPr wrap="square">
            <a:spAutoFit/>
          </a:bodyPr>
          <a:lstStyle/>
          <a:p>
            <a:r>
              <a:rPr lang="it-IT" dirty="0"/>
              <a:t>Supponiamo di voler consentire la modifica del nome e </a:t>
            </a:r>
            <a:r>
              <a:rPr lang="it-IT"/>
              <a:t>della età, </a:t>
            </a:r>
            <a:r>
              <a:rPr lang="it-IT" dirty="0"/>
              <a:t>con </a:t>
            </a:r>
            <a:r>
              <a:rPr lang="it-IT" dirty="0" err="1"/>
              <a:t>setNome</a:t>
            </a:r>
            <a:r>
              <a:rPr lang="it-IT" dirty="0"/>
              <a:t> e </a:t>
            </a:r>
            <a:r>
              <a:rPr lang="it-IT" dirty="0" err="1"/>
              <a:t>setEta</a:t>
            </a:r>
            <a:r>
              <a:rPr lang="it-IT" dirty="0"/>
              <a:t>, ma accettando nomi non più lunghi di 20 caratteri (tra 1 carattere e max 20) e delle </a:t>
            </a:r>
            <a:r>
              <a:rPr lang="it-IT" dirty="0" err="1"/>
              <a:t>eta</a:t>
            </a:r>
            <a:r>
              <a:rPr lang="it-IT" dirty="0"/>
              <a:t> tra i 0 ed i 99 anni</a:t>
            </a:r>
          </a:p>
        </p:txBody>
      </p:sp>
    </p:spTree>
    <p:extLst>
      <p:ext uri="{BB962C8B-B14F-4D97-AF65-F5344CB8AC3E}">
        <p14:creationId xmlns:p14="http://schemas.microsoft.com/office/powerpoint/2010/main" val="10391482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3" name="CasellaDiTesto 2">
            <a:extLst>
              <a:ext uri="{FF2B5EF4-FFF2-40B4-BE49-F238E27FC236}">
                <a16:creationId xmlns:a16="http://schemas.microsoft.com/office/drawing/2014/main" id="{47520E20-2558-A200-E2C1-90D89ACACC25}"/>
              </a:ext>
            </a:extLst>
          </p:cNvPr>
          <p:cNvSpPr txBox="1"/>
          <p:nvPr/>
        </p:nvSpPr>
        <p:spPr>
          <a:xfrm>
            <a:off x="5697187" y="939075"/>
            <a:ext cx="5204003" cy="4708981"/>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getNome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569CD6"/>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9" name="CasellaDiTesto 8">
            <a:extLst>
              <a:ext uri="{FF2B5EF4-FFF2-40B4-BE49-F238E27FC236}">
                <a16:creationId xmlns:a16="http://schemas.microsoft.com/office/drawing/2014/main" id="{E7020FC2-9DB3-8E0E-2B56-3F8C3B8F08A4}"/>
              </a:ext>
            </a:extLst>
          </p:cNvPr>
          <p:cNvSpPr txBox="1"/>
          <p:nvPr/>
        </p:nvSpPr>
        <p:spPr>
          <a:xfrm>
            <a:off x="282039" y="1405838"/>
            <a:ext cx="4990605" cy="1200329"/>
          </a:xfrm>
          <a:prstGeom prst="rect">
            <a:avLst/>
          </a:prstGeom>
          <a:noFill/>
        </p:spPr>
        <p:txBody>
          <a:bodyPr wrap="square">
            <a:spAutoFit/>
          </a:bodyPr>
          <a:lstStyle/>
          <a:p>
            <a:r>
              <a:rPr lang="it-IT" dirty="0"/>
              <a:t>Supponiamo di voler consentire la modifica del nome e </a:t>
            </a:r>
            <a:r>
              <a:rPr lang="it-IT"/>
              <a:t>della età, </a:t>
            </a:r>
            <a:r>
              <a:rPr lang="it-IT" dirty="0"/>
              <a:t>con </a:t>
            </a:r>
            <a:r>
              <a:rPr lang="it-IT" dirty="0" err="1"/>
              <a:t>setNome</a:t>
            </a:r>
            <a:r>
              <a:rPr lang="it-IT" dirty="0"/>
              <a:t> e </a:t>
            </a:r>
            <a:r>
              <a:rPr lang="it-IT" dirty="0" err="1"/>
              <a:t>setEta</a:t>
            </a:r>
            <a:r>
              <a:rPr lang="it-IT" dirty="0"/>
              <a:t>, ma accettando nomi non più lunghi di 20 caratteri (tra 1 carattere e max 20) e delle </a:t>
            </a:r>
            <a:r>
              <a:rPr lang="it-IT" dirty="0" err="1"/>
              <a:t>eta</a:t>
            </a:r>
            <a:r>
              <a:rPr lang="it-IT" dirty="0"/>
              <a:t> tra i 0 ed i 99 anni</a:t>
            </a:r>
          </a:p>
        </p:txBody>
      </p:sp>
      <p:sp>
        <p:nvSpPr>
          <p:cNvPr id="2" name="CasellaDiTesto 1">
            <a:extLst>
              <a:ext uri="{FF2B5EF4-FFF2-40B4-BE49-F238E27FC236}">
                <a16:creationId xmlns:a16="http://schemas.microsoft.com/office/drawing/2014/main" id="{868ADCF0-4B82-37E1-14B9-D0A601C55361}"/>
              </a:ext>
            </a:extLst>
          </p:cNvPr>
          <p:cNvSpPr txBox="1"/>
          <p:nvPr/>
        </p:nvSpPr>
        <p:spPr>
          <a:xfrm>
            <a:off x="282039" y="5001725"/>
            <a:ext cx="4990605" cy="646331"/>
          </a:xfrm>
          <a:prstGeom prst="rect">
            <a:avLst/>
          </a:prstGeom>
          <a:solidFill>
            <a:schemeClr val="bg2">
              <a:lumMod val="90000"/>
            </a:schemeClr>
          </a:solidFill>
        </p:spPr>
        <p:txBody>
          <a:bodyPr wrap="square">
            <a:spAutoFit/>
          </a:bodyPr>
          <a:lstStyle/>
          <a:p>
            <a:r>
              <a:rPr lang="it-IT" dirty="0"/>
              <a:t>Questo è il programma di poc’anzi.</a:t>
            </a:r>
            <a:br>
              <a:rPr lang="it-IT" dirty="0"/>
            </a:br>
            <a:r>
              <a:rPr lang="it-IT" dirty="0"/>
              <a:t>Vediamo come va modificato</a:t>
            </a:r>
          </a:p>
        </p:txBody>
      </p:sp>
    </p:spTree>
    <p:extLst>
      <p:ext uri="{BB962C8B-B14F-4D97-AF65-F5344CB8AC3E}">
        <p14:creationId xmlns:p14="http://schemas.microsoft.com/office/powerpoint/2010/main" val="20807178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3" name="CasellaDiTesto 2">
            <a:extLst>
              <a:ext uri="{FF2B5EF4-FFF2-40B4-BE49-F238E27FC236}">
                <a16:creationId xmlns:a16="http://schemas.microsoft.com/office/drawing/2014/main" id="{47520E20-2558-A200-E2C1-90D89ACACC25}"/>
              </a:ext>
            </a:extLst>
          </p:cNvPr>
          <p:cNvSpPr txBox="1"/>
          <p:nvPr/>
        </p:nvSpPr>
        <p:spPr>
          <a:xfrm>
            <a:off x="5697187" y="939075"/>
            <a:ext cx="5204003" cy="4708981"/>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getNome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569CD6"/>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9" name="CasellaDiTesto 8">
            <a:extLst>
              <a:ext uri="{FF2B5EF4-FFF2-40B4-BE49-F238E27FC236}">
                <a16:creationId xmlns:a16="http://schemas.microsoft.com/office/drawing/2014/main" id="{E7020FC2-9DB3-8E0E-2B56-3F8C3B8F08A4}"/>
              </a:ext>
            </a:extLst>
          </p:cNvPr>
          <p:cNvSpPr txBox="1"/>
          <p:nvPr/>
        </p:nvSpPr>
        <p:spPr>
          <a:xfrm>
            <a:off x="282039" y="1405838"/>
            <a:ext cx="4990605" cy="1200329"/>
          </a:xfrm>
          <a:prstGeom prst="rect">
            <a:avLst/>
          </a:prstGeom>
          <a:noFill/>
        </p:spPr>
        <p:txBody>
          <a:bodyPr wrap="square">
            <a:spAutoFit/>
          </a:bodyPr>
          <a:lstStyle/>
          <a:p>
            <a:r>
              <a:rPr lang="it-IT" dirty="0"/>
              <a:t>Supponiamo di voler consentire la modifica del nome e </a:t>
            </a:r>
            <a:r>
              <a:rPr lang="it-IT"/>
              <a:t>della età, </a:t>
            </a:r>
            <a:r>
              <a:rPr lang="it-IT" dirty="0"/>
              <a:t>con </a:t>
            </a:r>
            <a:r>
              <a:rPr lang="it-IT" dirty="0" err="1"/>
              <a:t>setNome</a:t>
            </a:r>
            <a:r>
              <a:rPr lang="it-IT" dirty="0"/>
              <a:t> e </a:t>
            </a:r>
            <a:r>
              <a:rPr lang="it-IT" dirty="0" err="1"/>
              <a:t>setEta</a:t>
            </a:r>
            <a:r>
              <a:rPr lang="it-IT" dirty="0"/>
              <a:t>, ma accettando nomi non più lunghi di 20 caratteri (tra 1 carattere e max 20) e delle </a:t>
            </a:r>
            <a:r>
              <a:rPr lang="it-IT" dirty="0" err="1"/>
              <a:t>eta</a:t>
            </a:r>
            <a:r>
              <a:rPr lang="it-IT" dirty="0"/>
              <a:t> tra i 0 ed i 99 anni</a:t>
            </a:r>
          </a:p>
        </p:txBody>
      </p:sp>
      <p:sp>
        <p:nvSpPr>
          <p:cNvPr id="2" name="Rettangolo 1">
            <a:extLst>
              <a:ext uri="{FF2B5EF4-FFF2-40B4-BE49-F238E27FC236}">
                <a16:creationId xmlns:a16="http://schemas.microsoft.com/office/drawing/2014/main" id="{03549878-C486-B797-A1B6-7E7AB3EAD851}"/>
              </a:ext>
            </a:extLst>
          </p:cNvPr>
          <p:cNvSpPr/>
          <p:nvPr/>
        </p:nvSpPr>
        <p:spPr>
          <a:xfrm>
            <a:off x="5842660" y="2719448"/>
            <a:ext cx="4892634" cy="1781299"/>
          </a:xfrm>
          <a:prstGeom prst="rect">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CasellaDiTesto 5">
            <a:extLst>
              <a:ext uri="{FF2B5EF4-FFF2-40B4-BE49-F238E27FC236}">
                <a16:creationId xmlns:a16="http://schemas.microsoft.com/office/drawing/2014/main" id="{201CCABB-9180-16A8-5B78-79BE14A786A2}"/>
              </a:ext>
            </a:extLst>
          </p:cNvPr>
          <p:cNvSpPr txBox="1"/>
          <p:nvPr/>
        </p:nvSpPr>
        <p:spPr>
          <a:xfrm>
            <a:off x="282039" y="5001725"/>
            <a:ext cx="4990605" cy="646331"/>
          </a:xfrm>
          <a:prstGeom prst="rect">
            <a:avLst/>
          </a:prstGeom>
          <a:solidFill>
            <a:schemeClr val="bg2">
              <a:lumMod val="90000"/>
            </a:schemeClr>
          </a:solidFill>
        </p:spPr>
        <p:txBody>
          <a:bodyPr wrap="square">
            <a:spAutoFit/>
          </a:bodyPr>
          <a:lstStyle/>
          <a:p>
            <a:r>
              <a:rPr lang="it-IT" dirty="0"/>
              <a:t>Questo è il programma di poc’anzi.</a:t>
            </a:r>
            <a:br>
              <a:rPr lang="it-IT" dirty="0"/>
            </a:br>
            <a:r>
              <a:rPr lang="it-IT" dirty="0"/>
              <a:t>Vediamo come va modificato</a:t>
            </a:r>
          </a:p>
        </p:txBody>
      </p:sp>
    </p:spTree>
    <p:extLst>
      <p:ext uri="{BB962C8B-B14F-4D97-AF65-F5344CB8AC3E}">
        <p14:creationId xmlns:p14="http://schemas.microsoft.com/office/powerpoint/2010/main" val="8581445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3" name="CasellaDiTesto 2">
            <a:extLst>
              <a:ext uri="{FF2B5EF4-FFF2-40B4-BE49-F238E27FC236}">
                <a16:creationId xmlns:a16="http://schemas.microsoft.com/office/drawing/2014/main" id="{47520E20-2558-A200-E2C1-90D89ACACC25}"/>
              </a:ext>
            </a:extLst>
          </p:cNvPr>
          <p:cNvSpPr txBox="1"/>
          <p:nvPr/>
        </p:nvSpPr>
        <p:spPr>
          <a:xfrm>
            <a:off x="5697187" y="939075"/>
            <a:ext cx="6356267" cy="5632311"/>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getNome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if</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nome.length</a:t>
            </a:r>
            <a:r>
              <a:rPr lang="it-IT" sz="1500" b="0" dirty="0">
                <a:solidFill>
                  <a:srgbClr val="D4D4D4"/>
                </a:solidFill>
                <a:effectLst/>
                <a:latin typeface="Consolas" panose="020B0609020204030204" pitchFamily="49" charset="0"/>
              </a:rPr>
              <a:t>() &gt; </a:t>
            </a:r>
            <a:r>
              <a:rPr lang="it-IT" sz="1500" b="0" dirty="0">
                <a:solidFill>
                  <a:srgbClr val="B5CEA8"/>
                </a:solidFill>
                <a:effectLst/>
                <a:latin typeface="Consolas" panose="020B0609020204030204" pitchFamily="49" charset="0"/>
              </a:rPr>
              <a:t>0</a:t>
            </a:r>
            <a:r>
              <a:rPr lang="it-IT" sz="1500" b="0" dirty="0">
                <a:solidFill>
                  <a:srgbClr val="D4D4D4"/>
                </a:solidFill>
                <a:effectLst/>
                <a:latin typeface="Consolas" panose="020B0609020204030204" pitchFamily="49" charset="0"/>
              </a:rPr>
              <a:t> &amp;&amp; </a:t>
            </a:r>
            <a:r>
              <a:rPr lang="it-IT" sz="1500" b="0" dirty="0" err="1">
                <a:solidFill>
                  <a:srgbClr val="D4D4D4"/>
                </a:solidFill>
                <a:effectLst/>
                <a:latin typeface="Consolas" panose="020B0609020204030204" pitchFamily="49" charset="0"/>
              </a:rPr>
              <a:t>nome.length</a:t>
            </a:r>
            <a:r>
              <a:rPr lang="it-IT" sz="1500" b="0" dirty="0">
                <a:solidFill>
                  <a:srgbClr val="D4D4D4"/>
                </a:solidFill>
                <a:effectLst/>
                <a:latin typeface="Consolas" panose="020B0609020204030204" pitchFamily="49" charset="0"/>
              </a:rPr>
              <a:t>() &lt;= </a:t>
            </a:r>
            <a:r>
              <a:rPr lang="it-IT" sz="1500" b="0" dirty="0">
                <a:solidFill>
                  <a:srgbClr val="B5CEA8"/>
                </a:solidFill>
                <a:effectLst/>
                <a:latin typeface="Consolas" panose="020B0609020204030204" pitchFamily="49" charset="0"/>
              </a:rPr>
              <a:t>20</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if</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&gt;= </a:t>
            </a:r>
            <a:r>
              <a:rPr lang="it-IT" sz="1500" b="0" dirty="0">
                <a:solidFill>
                  <a:srgbClr val="B5CEA8"/>
                </a:solidFill>
                <a:effectLst/>
                <a:latin typeface="Consolas" panose="020B0609020204030204" pitchFamily="49" charset="0"/>
              </a:rPr>
              <a:t>0</a:t>
            </a:r>
            <a:r>
              <a:rPr lang="it-IT" sz="1500" b="0" dirty="0">
                <a:solidFill>
                  <a:srgbClr val="D4D4D4"/>
                </a:solidFill>
                <a:effectLst/>
                <a:latin typeface="Consolas" panose="020B0609020204030204" pitchFamily="49" charset="0"/>
              </a:rPr>
              <a:t> &amp;&amp;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&lt;= </a:t>
            </a:r>
            <a:r>
              <a:rPr lang="it-IT" sz="1500" b="0" dirty="0">
                <a:solidFill>
                  <a:srgbClr val="B5CEA8"/>
                </a:solidFill>
                <a:effectLst/>
                <a:latin typeface="Consolas" panose="020B0609020204030204" pitchFamily="49" charset="0"/>
              </a:rPr>
              <a:t>99</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6" name="Rettangolo 5">
            <a:extLst>
              <a:ext uri="{FF2B5EF4-FFF2-40B4-BE49-F238E27FC236}">
                <a16:creationId xmlns:a16="http://schemas.microsoft.com/office/drawing/2014/main" id="{C7CD8309-9B40-1F6E-6549-7E74FC842051}"/>
              </a:ext>
            </a:extLst>
          </p:cNvPr>
          <p:cNvSpPr/>
          <p:nvPr/>
        </p:nvSpPr>
        <p:spPr>
          <a:xfrm>
            <a:off x="5842659" y="2719448"/>
            <a:ext cx="6056415" cy="2268188"/>
          </a:xfrm>
          <a:prstGeom prst="rect">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6165079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3" name="CasellaDiTesto 2">
            <a:extLst>
              <a:ext uri="{FF2B5EF4-FFF2-40B4-BE49-F238E27FC236}">
                <a16:creationId xmlns:a16="http://schemas.microsoft.com/office/drawing/2014/main" id="{47520E20-2558-A200-E2C1-90D89ACACC25}"/>
              </a:ext>
            </a:extLst>
          </p:cNvPr>
          <p:cNvSpPr txBox="1"/>
          <p:nvPr/>
        </p:nvSpPr>
        <p:spPr>
          <a:xfrm>
            <a:off x="5697187" y="939075"/>
            <a:ext cx="6356267" cy="5632311"/>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getNome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if</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nome.length</a:t>
            </a:r>
            <a:r>
              <a:rPr lang="it-IT" sz="1500" b="0" dirty="0">
                <a:solidFill>
                  <a:srgbClr val="D4D4D4"/>
                </a:solidFill>
                <a:effectLst/>
                <a:latin typeface="Consolas" panose="020B0609020204030204" pitchFamily="49" charset="0"/>
              </a:rPr>
              <a:t>() &gt; </a:t>
            </a:r>
            <a:r>
              <a:rPr lang="it-IT" sz="1500" b="0" dirty="0">
                <a:solidFill>
                  <a:srgbClr val="B5CEA8"/>
                </a:solidFill>
                <a:effectLst/>
                <a:latin typeface="Consolas" panose="020B0609020204030204" pitchFamily="49" charset="0"/>
              </a:rPr>
              <a:t>0</a:t>
            </a:r>
            <a:r>
              <a:rPr lang="it-IT" sz="1500" b="0" dirty="0">
                <a:solidFill>
                  <a:srgbClr val="D4D4D4"/>
                </a:solidFill>
                <a:effectLst/>
                <a:latin typeface="Consolas" panose="020B0609020204030204" pitchFamily="49" charset="0"/>
              </a:rPr>
              <a:t> &amp;&amp; </a:t>
            </a:r>
            <a:r>
              <a:rPr lang="it-IT" sz="1500" b="0" dirty="0" err="1">
                <a:solidFill>
                  <a:srgbClr val="D4D4D4"/>
                </a:solidFill>
                <a:effectLst/>
                <a:latin typeface="Consolas" panose="020B0609020204030204" pitchFamily="49" charset="0"/>
              </a:rPr>
              <a:t>nome.length</a:t>
            </a:r>
            <a:r>
              <a:rPr lang="it-IT" sz="1500" b="0" dirty="0">
                <a:solidFill>
                  <a:srgbClr val="D4D4D4"/>
                </a:solidFill>
                <a:effectLst/>
                <a:latin typeface="Consolas" panose="020B0609020204030204" pitchFamily="49" charset="0"/>
              </a:rPr>
              <a:t>() &lt;= </a:t>
            </a:r>
            <a:r>
              <a:rPr lang="it-IT" sz="1500" b="0" dirty="0">
                <a:solidFill>
                  <a:srgbClr val="B5CEA8"/>
                </a:solidFill>
                <a:effectLst/>
                <a:latin typeface="Consolas" panose="020B0609020204030204" pitchFamily="49" charset="0"/>
              </a:rPr>
              <a:t>20</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if</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&gt;= </a:t>
            </a:r>
            <a:r>
              <a:rPr lang="it-IT" sz="1500" b="0" dirty="0">
                <a:solidFill>
                  <a:srgbClr val="B5CEA8"/>
                </a:solidFill>
                <a:effectLst/>
                <a:latin typeface="Consolas" panose="020B0609020204030204" pitchFamily="49" charset="0"/>
              </a:rPr>
              <a:t>0</a:t>
            </a:r>
            <a:r>
              <a:rPr lang="it-IT" sz="1500" b="0" dirty="0">
                <a:solidFill>
                  <a:srgbClr val="D4D4D4"/>
                </a:solidFill>
                <a:effectLst/>
                <a:latin typeface="Consolas" panose="020B0609020204030204" pitchFamily="49" charset="0"/>
              </a:rPr>
              <a:t> &amp;&amp;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&lt;= </a:t>
            </a:r>
            <a:r>
              <a:rPr lang="it-IT" sz="1500" b="0" dirty="0">
                <a:solidFill>
                  <a:srgbClr val="B5CEA8"/>
                </a:solidFill>
                <a:effectLst/>
                <a:latin typeface="Consolas" panose="020B0609020204030204" pitchFamily="49" charset="0"/>
              </a:rPr>
              <a:t>99</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9" name="CasellaDiTesto 8">
            <a:extLst>
              <a:ext uri="{FF2B5EF4-FFF2-40B4-BE49-F238E27FC236}">
                <a16:creationId xmlns:a16="http://schemas.microsoft.com/office/drawing/2014/main" id="{E7020FC2-9DB3-8E0E-2B56-3F8C3B8F08A4}"/>
              </a:ext>
            </a:extLst>
          </p:cNvPr>
          <p:cNvSpPr txBox="1"/>
          <p:nvPr/>
        </p:nvSpPr>
        <p:spPr>
          <a:xfrm>
            <a:off x="282039" y="1405838"/>
            <a:ext cx="4990605" cy="646331"/>
          </a:xfrm>
          <a:prstGeom prst="rect">
            <a:avLst/>
          </a:prstGeom>
          <a:solidFill>
            <a:schemeClr val="accent4">
              <a:lumMod val="60000"/>
              <a:lumOff val="40000"/>
            </a:schemeClr>
          </a:solidFill>
        </p:spPr>
        <p:txBody>
          <a:bodyPr wrap="square">
            <a:spAutoFit/>
          </a:bodyPr>
          <a:lstStyle/>
          <a:p>
            <a:r>
              <a:rPr lang="it-IT" dirty="0"/>
              <a:t>La parte evidenziata è (chiaramente) la parte modificata!</a:t>
            </a:r>
          </a:p>
        </p:txBody>
      </p:sp>
      <p:sp>
        <p:nvSpPr>
          <p:cNvPr id="6" name="Rettangolo 5">
            <a:extLst>
              <a:ext uri="{FF2B5EF4-FFF2-40B4-BE49-F238E27FC236}">
                <a16:creationId xmlns:a16="http://schemas.microsoft.com/office/drawing/2014/main" id="{C7CD8309-9B40-1F6E-6549-7E74FC842051}"/>
              </a:ext>
            </a:extLst>
          </p:cNvPr>
          <p:cNvSpPr/>
          <p:nvPr/>
        </p:nvSpPr>
        <p:spPr>
          <a:xfrm>
            <a:off x="5842659" y="2719448"/>
            <a:ext cx="6056415" cy="2268188"/>
          </a:xfrm>
          <a:prstGeom prst="rect">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0737058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3" name="CasellaDiTesto 2">
            <a:extLst>
              <a:ext uri="{FF2B5EF4-FFF2-40B4-BE49-F238E27FC236}">
                <a16:creationId xmlns:a16="http://schemas.microsoft.com/office/drawing/2014/main" id="{47520E20-2558-A200-E2C1-90D89ACACC25}"/>
              </a:ext>
            </a:extLst>
          </p:cNvPr>
          <p:cNvSpPr txBox="1"/>
          <p:nvPr/>
        </p:nvSpPr>
        <p:spPr>
          <a:xfrm>
            <a:off x="5697187" y="939075"/>
            <a:ext cx="6356267" cy="5632311"/>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getNome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if</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nome.length</a:t>
            </a:r>
            <a:r>
              <a:rPr lang="it-IT" sz="1500" b="0" dirty="0">
                <a:solidFill>
                  <a:srgbClr val="D4D4D4"/>
                </a:solidFill>
                <a:effectLst/>
                <a:latin typeface="Consolas" panose="020B0609020204030204" pitchFamily="49" charset="0"/>
              </a:rPr>
              <a:t>() &gt; </a:t>
            </a:r>
            <a:r>
              <a:rPr lang="it-IT" sz="1500" b="0" dirty="0">
                <a:solidFill>
                  <a:srgbClr val="B5CEA8"/>
                </a:solidFill>
                <a:effectLst/>
                <a:latin typeface="Consolas" panose="020B0609020204030204" pitchFamily="49" charset="0"/>
              </a:rPr>
              <a:t>0</a:t>
            </a:r>
            <a:r>
              <a:rPr lang="it-IT" sz="1500" b="0" dirty="0">
                <a:solidFill>
                  <a:srgbClr val="D4D4D4"/>
                </a:solidFill>
                <a:effectLst/>
                <a:latin typeface="Consolas" panose="020B0609020204030204" pitchFamily="49" charset="0"/>
              </a:rPr>
              <a:t> &amp;&amp; </a:t>
            </a:r>
            <a:r>
              <a:rPr lang="it-IT" sz="1500" b="0" dirty="0" err="1">
                <a:solidFill>
                  <a:srgbClr val="D4D4D4"/>
                </a:solidFill>
                <a:effectLst/>
                <a:latin typeface="Consolas" panose="020B0609020204030204" pitchFamily="49" charset="0"/>
              </a:rPr>
              <a:t>nome.length</a:t>
            </a:r>
            <a:r>
              <a:rPr lang="it-IT" sz="1500" b="0" dirty="0">
                <a:solidFill>
                  <a:srgbClr val="D4D4D4"/>
                </a:solidFill>
                <a:effectLst/>
                <a:latin typeface="Consolas" panose="020B0609020204030204" pitchFamily="49" charset="0"/>
              </a:rPr>
              <a:t>() &lt;= </a:t>
            </a:r>
            <a:r>
              <a:rPr lang="it-IT" sz="1500" b="0" dirty="0">
                <a:solidFill>
                  <a:srgbClr val="B5CEA8"/>
                </a:solidFill>
                <a:effectLst/>
                <a:latin typeface="Consolas" panose="020B0609020204030204" pitchFamily="49" charset="0"/>
              </a:rPr>
              <a:t>20</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if</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&gt;= </a:t>
            </a:r>
            <a:r>
              <a:rPr lang="it-IT" sz="1500" b="0" dirty="0">
                <a:solidFill>
                  <a:srgbClr val="B5CEA8"/>
                </a:solidFill>
                <a:effectLst/>
                <a:latin typeface="Consolas" panose="020B0609020204030204" pitchFamily="49" charset="0"/>
              </a:rPr>
              <a:t>0</a:t>
            </a:r>
            <a:r>
              <a:rPr lang="it-IT" sz="1500" b="0" dirty="0">
                <a:solidFill>
                  <a:srgbClr val="D4D4D4"/>
                </a:solidFill>
                <a:effectLst/>
                <a:latin typeface="Consolas" panose="020B0609020204030204" pitchFamily="49" charset="0"/>
              </a:rPr>
              <a:t> &amp;&amp;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&lt;= </a:t>
            </a:r>
            <a:r>
              <a:rPr lang="it-IT" sz="1500" b="0" dirty="0">
                <a:solidFill>
                  <a:srgbClr val="B5CEA8"/>
                </a:solidFill>
                <a:effectLst/>
                <a:latin typeface="Consolas" panose="020B0609020204030204" pitchFamily="49" charset="0"/>
              </a:rPr>
              <a:t>99</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9" name="CasellaDiTesto 8">
            <a:extLst>
              <a:ext uri="{FF2B5EF4-FFF2-40B4-BE49-F238E27FC236}">
                <a16:creationId xmlns:a16="http://schemas.microsoft.com/office/drawing/2014/main" id="{E7020FC2-9DB3-8E0E-2B56-3F8C3B8F08A4}"/>
              </a:ext>
            </a:extLst>
          </p:cNvPr>
          <p:cNvSpPr txBox="1"/>
          <p:nvPr/>
        </p:nvSpPr>
        <p:spPr>
          <a:xfrm>
            <a:off x="282039" y="1405838"/>
            <a:ext cx="4990605" cy="646331"/>
          </a:xfrm>
          <a:prstGeom prst="rect">
            <a:avLst/>
          </a:prstGeom>
          <a:solidFill>
            <a:schemeClr val="accent4">
              <a:lumMod val="60000"/>
              <a:lumOff val="40000"/>
            </a:schemeClr>
          </a:solidFill>
        </p:spPr>
        <p:txBody>
          <a:bodyPr wrap="square">
            <a:spAutoFit/>
          </a:bodyPr>
          <a:lstStyle/>
          <a:p>
            <a:r>
              <a:rPr lang="it-IT" dirty="0"/>
              <a:t>La parte evidenziata è (chiaramente) la parte modificata!</a:t>
            </a:r>
          </a:p>
        </p:txBody>
      </p:sp>
      <p:sp>
        <p:nvSpPr>
          <p:cNvPr id="6" name="Rettangolo 5">
            <a:extLst>
              <a:ext uri="{FF2B5EF4-FFF2-40B4-BE49-F238E27FC236}">
                <a16:creationId xmlns:a16="http://schemas.microsoft.com/office/drawing/2014/main" id="{C7CD8309-9B40-1F6E-6549-7E74FC842051}"/>
              </a:ext>
            </a:extLst>
          </p:cNvPr>
          <p:cNvSpPr/>
          <p:nvPr/>
        </p:nvSpPr>
        <p:spPr>
          <a:xfrm>
            <a:off x="5842659" y="2719448"/>
            <a:ext cx="6056415" cy="2268188"/>
          </a:xfrm>
          <a:prstGeom prst="rect">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8536839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3" name="CasellaDiTesto 2">
            <a:extLst>
              <a:ext uri="{FF2B5EF4-FFF2-40B4-BE49-F238E27FC236}">
                <a16:creationId xmlns:a16="http://schemas.microsoft.com/office/drawing/2014/main" id="{47520E20-2558-A200-E2C1-90D89ACACC25}"/>
              </a:ext>
            </a:extLst>
          </p:cNvPr>
          <p:cNvSpPr txBox="1"/>
          <p:nvPr/>
        </p:nvSpPr>
        <p:spPr>
          <a:xfrm>
            <a:off x="5697187" y="939075"/>
            <a:ext cx="6356267" cy="5632311"/>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getNome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if</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nome.length</a:t>
            </a:r>
            <a:r>
              <a:rPr lang="it-IT" sz="1500" b="0" dirty="0">
                <a:solidFill>
                  <a:srgbClr val="D4D4D4"/>
                </a:solidFill>
                <a:effectLst/>
                <a:latin typeface="Consolas" panose="020B0609020204030204" pitchFamily="49" charset="0"/>
              </a:rPr>
              <a:t>() &gt; </a:t>
            </a:r>
            <a:r>
              <a:rPr lang="it-IT" sz="1500" b="0" dirty="0">
                <a:solidFill>
                  <a:srgbClr val="B5CEA8"/>
                </a:solidFill>
                <a:effectLst/>
                <a:latin typeface="Consolas" panose="020B0609020204030204" pitchFamily="49" charset="0"/>
              </a:rPr>
              <a:t>0</a:t>
            </a:r>
            <a:r>
              <a:rPr lang="it-IT" sz="1500" b="0" dirty="0">
                <a:solidFill>
                  <a:srgbClr val="D4D4D4"/>
                </a:solidFill>
                <a:effectLst/>
                <a:latin typeface="Consolas" panose="020B0609020204030204" pitchFamily="49" charset="0"/>
              </a:rPr>
              <a:t> &amp;&amp; </a:t>
            </a:r>
            <a:r>
              <a:rPr lang="it-IT" sz="1500" b="0" dirty="0" err="1">
                <a:solidFill>
                  <a:srgbClr val="D4D4D4"/>
                </a:solidFill>
                <a:effectLst/>
                <a:latin typeface="Consolas" panose="020B0609020204030204" pitchFamily="49" charset="0"/>
              </a:rPr>
              <a:t>nome.length</a:t>
            </a:r>
            <a:r>
              <a:rPr lang="it-IT" sz="1500" b="0" dirty="0">
                <a:solidFill>
                  <a:srgbClr val="D4D4D4"/>
                </a:solidFill>
                <a:effectLst/>
                <a:latin typeface="Consolas" panose="020B0609020204030204" pitchFamily="49" charset="0"/>
              </a:rPr>
              <a:t>() &lt;= </a:t>
            </a:r>
            <a:r>
              <a:rPr lang="it-IT" sz="1500" b="0" dirty="0">
                <a:solidFill>
                  <a:srgbClr val="B5CEA8"/>
                </a:solidFill>
                <a:effectLst/>
                <a:latin typeface="Consolas" panose="020B0609020204030204" pitchFamily="49" charset="0"/>
              </a:rPr>
              <a:t>20</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if</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&gt;= </a:t>
            </a:r>
            <a:r>
              <a:rPr lang="it-IT" sz="1500" b="0" dirty="0">
                <a:solidFill>
                  <a:srgbClr val="B5CEA8"/>
                </a:solidFill>
                <a:effectLst/>
                <a:latin typeface="Consolas" panose="020B0609020204030204" pitchFamily="49" charset="0"/>
              </a:rPr>
              <a:t>0</a:t>
            </a:r>
            <a:r>
              <a:rPr lang="it-IT" sz="1500" b="0" dirty="0">
                <a:solidFill>
                  <a:srgbClr val="D4D4D4"/>
                </a:solidFill>
                <a:effectLst/>
                <a:latin typeface="Consolas" panose="020B0609020204030204" pitchFamily="49" charset="0"/>
              </a:rPr>
              <a:t> &amp;&amp;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&lt;= </a:t>
            </a:r>
            <a:r>
              <a:rPr lang="it-IT" sz="1500" b="0" dirty="0">
                <a:solidFill>
                  <a:srgbClr val="B5CEA8"/>
                </a:solidFill>
                <a:effectLst/>
                <a:latin typeface="Consolas" panose="020B0609020204030204" pitchFamily="49" charset="0"/>
              </a:rPr>
              <a:t>99</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9" name="CasellaDiTesto 8">
            <a:extLst>
              <a:ext uri="{FF2B5EF4-FFF2-40B4-BE49-F238E27FC236}">
                <a16:creationId xmlns:a16="http://schemas.microsoft.com/office/drawing/2014/main" id="{E7020FC2-9DB3-8E0E-2B56-3F8C3B8F08A4}"/>
              </a:ext>
            </a:extLst>
          </p:cNvPr>
          <p:cNvSpPr txBox="1"/>
          <p:nvPr/>
        </p:nvSpPr>
        <p:spPr>
          <a:xfrm>
            <a:off x="282039" y="1405838"/>
            <a:ext cx="4990605" cy="646331"/>
          </a:xfrm>
          <a:prstGeom prst="rect">
            <a:avLst/>
          </a:prstGeom>
          <a:solidFill>
            <a:schemeClr val="accent4">
              <a:lumMod val="60000"/>
              <a:lumOff val="40000"/>
            </a:schemeClr>
          </a:solidFill>
        </p:spPr>
        <p:txBody>
          <a:bodyPr wrap="square">
            <a:spAutoFit/>
          </a:bodyPr>
          <a:lstStyle/>
          <a:p>
            <a:r>
              <a:rPr lang="it-IT" dirty="0"/>
              <a:t>La parte evidenziata è (chiaramente) la parte modificata!</a:t>
            </a:r>
          </a:p>
        </p:txBody>
      </p:sp>
      <p:sp>
        <p:nvSpPr>
          <p:cNvPr id="6" name="Rettangolo 5">
            <a:extLst>
              <a:ext uri="{FF2B5EF4-FFF2-40B4-BE49-F238E27FC236}">
                <a16:creationId xmlns:a16="http://schemas.microsoft.com/office/drawing/2014/main" id="{C7CD8309-9B40-1F6E-6549-7E74FC842051}"/>
              </a:ext>
            </a:extLst>
          </p:cNvPr>
          <p:cNvSpPr/>
          <p:nvPr/>
        </p:nvSpPr>
        <p:spPr>
          <a:xfrm>
            <a:off x="5842659" y="2719448"/>
            <a:ext cx="6056415" cy="2268188"/>
          </a:xfrm>
          <a:prstGeom prst="rect">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a:extLst>
              <a:ext uri="{FF2B5EF4-FFF2-40B4-BE49-F238E27FC236}">
                <a16:creationId xmlns:a16="http://schemas.microsoft.com/office/drawing/2014/main" id="{5707FE7E-7A1F-50EE-5C27-1EB5531E706B}"/>
              </a:ext>
            </a:extLst>
          </p:cNvPr>
          <p:cNvSpPr txBox="1"/>
          <p:nvPr/>
        </p:nvSpPr>
        <p:spPr>
          <a:xfrm>
            <a:off x="282039" y="2314350"/>
            <a:ext cx="4990605" cy="1200329"/>
          </a:xfrm>
          <a:prstGeom prst="rect">
            <a:avLst/>
          </a:prstGeom>
          <a:noFill/>
        </p:spPr>
        <p:txBody>
          <a:bodyPr wrap="square">
            <a:spAutoFit/>
          </a:bodyPr>
          <a:lstStyle/>
          <a:p>
            <a:r>
              <a:rPr lang="it-IT" dirty="0"/>
              <a:t>In questa versione del programma, il metodo </a:t>
            </a:r>
            <a:r>
              <a:rPr lang="it-IT" dirty="0" err="1"/>
              <a:t>setNome</a:t>
            </a:r>
            <a:r>
              <a:rPr lang="it-IT" dirty="0"/>
              <a:t>() è stato modificato per controllare che la lunghezza del nome sia compresa tra 1 e 20 caratteri prima di impostare il campo nome.</a:t>
            </a:r>
          </a:p>
        </p:txBody>
      </p:sp>
    </p:spTree>
    <p:extLst>
      <p:ext uri="{BB962C8B-B14F-4D97-AF65-F5344CB8AC3E}">
        <p14:creationId xmlns:p14="http://schemas.microsoft.com/office/powerpoint/2010/main" val="26012822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3" name="CasellaDiTesto 2">
            <a:extLst>
              <a:ext uri="{FF2B5EF4-FFF2-40B4-BE49-F238E27FC236}">
                <a16:creationId xmlns:a16="http://schemas.microsoft.com/office/drawing/2014/main" id="{47520E20-2558-A200-E2C1-90D89ACACC25}"/>
              </a:ext>
            </a:extLst>
          </p:cNvPr>
          <p:cNvSpPr txBox="1"/>
          <p:nvPr/>
        </p:nvSpPr>
        <p:spPr>
          <a:xfrm>
            <a:off x="5697187" y="939075"/>
            <a:ext cx="6356267" cy="5632311"/>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getNome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if</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nome.length</a:t>
            </a:r>
            <a:r>
              <a:rPr lang="it-IT" sz="1500" b="0" dirty="0">
                <a:solidFill>
                  <a:srgbClr val="D4D4D4"/>
                </a:solidFill>
                <a:effectLst/>
                <a:latin typeface="Consolas" panose="020B0609020204030204" pitchFamily="49" charset="0"/>
              </a:rPr>
              <a:t>() &gt; </a:t>
            </a:r>
            <a:r>
              <a:rPr lang="it-IT" sz="1500" b="0" dirty="0">
                <a:solidFill>
                  <a:srgbClr val="B5CEA8"/>
                </a:solidFill>
                <a:effectLst/>
                <a:latin typeface="Consolas" panose="020B0609020204030204" pitchFamily="49" charset="0"/>
              </a:rPr>
              <a:t>0</a:t>
            </a:r>
            <a:r>
              <a:rPr lang="it-IT" sz="1500" b="0" dirty="0">
                <a:solidFill>
                  <a:srgbClr val="D4D4D4"/>
                </a:solidFill>
                <a:effectLst/>
                <a:latin typeface="Consolas" panose="020B0609020204030204" pitchFamily="49" charset="0"/>
              </a:rPr>
              <a:t> &amp;&amp; </a:t>
            </a:r>
            <a:r>
              <a:rPr lang="it-IT" sz="1500" b="0" dirty="0" err="1">
                <a:solidFill>
                  <a:srgbClr val="D4D4D4"/>
                </a:solidFill>
                <a:effectLst/>
                <a:latin typeface="Consolas" panose="020B0609020204030204" pitchFamily="49" charset="0"/>
              </a:rPr>
              <a:t>nome.length</a:t>
            </a:r>
            <a:r>
              <a:rPr lang="it-IT" sz="1500" b="0" dirty="0">
                <a:solidFill>
                  <a:srgbClr val="D4D4D4"/>
                </a:solidFill>
                <a:effectLst/>
                <a:latin typeface="Consolas" panose="020B0609020204030204" pitchFamily="49" charset="0"/>
              </a:rPr>
              <a:t>() &lt;= </a:t>
            </a:r>
            <a:r>
              <a:rPr lang="it-IT" sz="1500" b="0" dirty="0">
                <a:solidFill>
                  <a:srgbClr val="B5CEA8"/>
                </a:solidFill>
                <a:effectLst/>
                <a:latin typeface="Consolas" panose="020B0609020204030204" pitchFamily="49" charset="0"/>
              </a:rPr>
              <a:t>20</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if</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&gt;= </a:t>
            </a:r>
            <a:r>
              <a:rPr lang="it-IT" sz="1500" b="0" dirty="0">
                <a:solidFill>
                  <a:srgbClr val="B5CEA8"/>
                </a:solidFill>
                <a:effectLst/>
                <a:latin typeface="Consolas" panose="020B0609020204030204" pitchFamily="49" charset="0"/>
              </a:rPr>
              <a:t>0</a:t>
            </a:r>
            <a:r>
              <a:rPr lang="it-IT" sz="1500" b="0" dirty="0">
                <a:solidFill>
                  <a:srgbClr val="D4D4D4"/>
                </a:solidFill>
                <a:effectLst/>
                <a:latin typeface="Consolas" panose="020B0609020204030204" pitchFamily="49" charset="0"/>
              </a:rPr>
              <a:t> &amp;&amp;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&lt;= </a:t>
            </a:r>
            <a:r>
              <a:rPr lang="it-IT" sz="1500" b="0" dirty="0">
                <a:solidFill>
                  <a:srgbClr val="B5CEA8"/>
                </a:solidFill>
                <a:effectLst/>
                <a:latin typeface="Consolas" panose="020B0609020204030204" pitchFamily="49" charset="0"/>
              </a:rPr>
              <a:t>99</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9" name="CasellaDiTesto 8">
            <a:extLst>
              <a:ext uri="{FF2B5EF4-FFF2-40B4-BE49-F238E27FC236}">
                <a16:creationId xmlns:a16="http://schemas.microsoft.com/office/drawing/2014/main" id="{E7020FC2-9DB3-8E0E-2B56-3F8C3B8F08A4}"/>
              </a:ext>
            </a:extLst>
          </p:cNvPr>
          <p:cNvSpPr txBox="1"/>
          <p:nvPr/>
        </p:nvSpPr>
        <p:spPr>
          <a:xfrm>
            <a:off x="282039" y="1405838"/>
            <a:ext cx="4990605" cy="646331"/>
          </a:xfrm>
          <a:prstGeom prst="rect">
            <a:avLst/>
          </a:prstGeom>
          <a:solidFill>
            <a:schemeClr val="accent4">
              <a:lumMod val="60000"/>
              <a:lumOff val="40000"/>
            </a:schemeClr>
          </a:solidFill>
        </p:spPr>
        <p:txBody>
          <a:bodyPr wrap="square">
            <a:spAutoFit/>
          </a:bodyPr>
          <a:lstStyle/>
          <a:p>
            <a:r>
              <a:rPr lang="it-IT" dirty="0"/>
              <a:t>La parte evidenziata è (chiaramente) la parte modificata!</a:t>
            </a:r>
          </a:p>
        </p:txBody>
      </p:sp>
      <p:sp>
        <p:nvSpPr>
          <p:cNvPr id="6" name="Rettangolo 5">
            <a:extLst>
              <a:ext uri="{FF2B5EF4-FFF2-40B4-BE49-F238E27FC236}">
                <a16:creationId xmlns:a16="http://schemas.microsoft.com/office/drawing/2014/main" id="{C7CD8309-9B40-1F6E-6549-7E74FC842051}"/>
              </a:ext>
            </a:extLst>
          </p:cNvPr>
          <p:cNvSpPr/>
          <p:nvPr/>
        </p:nvSpPr>
        <p:spPr>
          <a:xfrm>
            <a:off x="5842659" y="2719448"/>
            <a:ext cx="6056415" cy="2268188"/>
          </a:xfrm>
          <a:prstGeom prst="rect">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a:extLst>
              <a:ext uri="{FF2B5EF4-FFF2-40B4-BE49-F238E27FC236}">
                <a16:creationId xmlns:a16="http://schemas.microsoft.com/office/drawing/2014/main" id="{5707FE7E-7A1F-50EE-5C27-1EB5531E706B}"/>
              </a:ext>
            </a:extLst>
          </p:cNvPr>
          <p:cNvSpPr txBox="1"/>
          <p:nvPr/>
        </p:nvSpPr>
        <p:spPr>
          <a:xfrm>
            <a:off x="282039" y="2314350"/>
            <a:ext cx="4990605" cy="2308324"/>
          </a:xfrm>
          <a:prstGeom prst="rect">
            <a:avLst/>
          </a:prstGeom>
          <a:noFill/>
        </p:spPr>
        <p:txBody>
          <a:bodyPr wrap="square">
            <a:spAutoFit/>
          </a:bodyPr>
          <a:lstStyle/>
          <a:p>
            <a:r>
              <a:rPr lang="it-IT" dirty="0"/>
              <a:t>In questa versione del programma, il metodo </a:t>
            </a:r>
            <a:r>
              <a:rPr lang="it-IT" dirty="0" err="1"/>
              <a:t>setNome</a:t>
            </a:r>
            <a:r>
              <a:rPr lang="it-IT" dirty="0"/>
              <a:t>() è stato modificato per controllare che la lunghezza del nome sia compresa tra 1 e 20 caratteri prima di impostare il campo nome.</a:t>
            </a:r>
          </a:p>
          <a:p>
            <a:endParaRPr lang="it-IT" dirty="0"/>
          </a:p>
          <a:p>
            <a:r>
              <a:rPr lang="it-IT" dirty="0"/>
              <a:t>Il metodo </a:t>
            </a:r>
            <a:r>
              <a:rPr lang="it-IT" dirty="0" err="1"/>
              <a:t>setEta</a:t>
            </a:r>
            <a:r>
              <a:rPr lang="it-IT" dirty="0"/>
              <a:t>() è stato modificato per controllare </a:t>
            </a:r>
            <a:r>
              <a:rPr lang="it-IT"/>
              <a:t>che l'età </a:t>
            </a:r>
            <a:r>
              <a:rPr lang="it-IT" dirty="0"/>
              <a:t>sia compresa tra 0 e 99 prima di impostare il campo </a:t>
            </a:r>
            <a:r>
              <a:rPr lang="it-IT" dirty="0" err="1"/>
              <a:t>eta</a:t>
            </a:r>
            <a:r>
              <a:rPr lang="it-IT" dirty="0"/>
              <a:t>.</a:t>
            </a:r>
          </a:p>
        </p:txBody>
      </p:sp>
    </p:spTree>
    <p:extLst>
      <p:ext uri="{BB962C8B-B14F-4D97-AF65-F5344CB8AC3E}">
        <p14:creationId xmlns:p14="http://schemas.microsoft.com/office/powerpoint/2010/main" val="32711234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Accesso controllato</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metodi </a:t>
            </a:r>
            <a:r>
              <a:rPr lang="it-IT" b="1" i="0" dirty="0" err="1">
                <a:solidFill>
                  <a:srgbClr val="050E17"/>
                </a:solidFill>
                <a:effectLst/>
                <a:latin typeface="-apple-system"/>
              </a:rPr>
              <a:t>get</a:t>
            </a:r>
            <a:r>
              <a:rPr lang="it-IT" b="1" i="0" dirty="0">
                <a:solidFill>
                  <a:srgbClr val="050E17"/>
                </a:solidFill>
                <a:effectLst/>
                <a:latin typeface="-apple-system"/>
              </a:rPr>
              <a:t> e set</a:t>
            </a:r>
            <a:endParaRPr lang="it-IT" b="1" dirty="0"/>
          </a:p>
        </p:txBody>
      </p:sp>
      <p:sp>
        <p:nvSpPr>
          <p:cNvPr id="3" name="CasellaDiTesto 2">
            <a:extLst>
              <a:ext uri="{FF2B5EF4-FFF2-40B4-BE49-F238E27FC236}">
                <a16:creationId xmlns:a16="http://schemas.microsoft.com/office/drawing/2014/main" id="{47520E20-2558-A200-E2C1-90D89ACACC25}"/>
              </a:ext>
            </a:extLst>
          </p:cNvPr>
          <p:cNvSpPr txBox="1"/>
          <p:nvPr/>
        </p:nvSpPr>
        <p:spPr>
          <a:xfrm>
            <a:off x="5697187" y="939075"/>
            <a:ext cx="6356267" cy="5632311"/>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getNome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if</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nome.length</a:t>
            </a:r>
            <a:r>
              <a:rPr lang="it-IT" sz="1500" b="0" dirty="0">
                <a:solidFill>
                  <a:srgbClr val="D4D4D4"/>
                </a:solidFill>
                <a:effectLst/>
                <a:latin typeface="Consolas" panose="020B0609020204030204" pitchFamily="49" charset="0"/>
              </a:rPr>
              <a:t>() &gt; </a:t>
            </a:r>
            <a:r>
              <a:rPr lang="it-IT" sz="1500" b="0" dirty="0">
                <a:solidFill>
                  <a:srgbClr val="B5CEA8"/>
                </a:solidFill>
                <a:effectLst/>
                <a:latin typeface="Consolas" panose="020B0609020204030204" pitchFamily="49" charset="0"/>
              </a:rPr>
              <a:t>0</a:t>
            </a:r>
            <a:r>
              <a:rPr lang="it-IT" sz="1500" b="0" dirty="0">
                <a:solidFill>
                  <a:srgbClr val="D4D4D4"/>
                </a:solidFill>
                <a:effectLst/>
                <a:latin typeface="Consolas" panose="020B0609020204030204" pitchFamily="49" charset="0"/>
              </a:rPr>
              <a:t> &amp;&amp; </a:t>
            </a:r>
            <a:r>
              <a:rPr lang="it-IT" sz="1500" b="0" dirty="0" err="1">
                <a:solidFill>
                  <a:srgbClr val="D4D4D4"/>
                </a:solidFill>
                <a:effectLst/>
                <a:latin typeface="Consolas" panose="020B0609020204030204" pitchFamily="49" charset="0"/>
              </a:rPr>
              <a:t>nome.length</a:t>
            </a:r>
            <a:r>
              <a:rPr lang="it-IT" sz="1500" b="0" dirty="0">
                <a:solidFill>
                  <a:srgbClr val="D4D4D4"/>
                </a:solidFill>
                <a:effectLst/>
                <a:latin typeface="Consolas" panose="020B0609020204030204" pitchFamily="49" charset="0"/>
              </a:rPr>
              <a:t>() &lt;= </a:t>
            </a:r>
            <a:r>
              <a:rPr lang="it-IT" sz="1500" b="0" dirty="0">
                <a:solidFill>
                  <a:srgbClr val="B5CEA8"/>
                </a:solidFill>
                <a:effectLst/>
                <a:latin typeface="Consolas" panose="020B0609020204030204" pitchFamily="49" charset="0"/>
              </a:rPr>
              <a:t>20</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if</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&gt;= </a:t>
            </a:r>
            <a:r>
              <a:rPr lang="it-IT" sz="1500" b="0" dirty="0">
                <a:solidFill>
                  <a:srgbClr val="B5CEA8"/>
                </a:solidFill>
                <a:effectLst/>
                <a:latin typeface="Consolas" panose="020B0609020204030204" pitchFamily="49" charset="0"/>
              </a:rPr>
              <a:t>0</a:t>
            </a:r>
            <a:r>
              <a:rPr lang="it-IT" sz="1500" b="0" dirty="0">
                <a:solidFill>
                  <a:srgbClr val="D4D4D4"/>
                </a:solidFill>
                <a:effectLst/>
                <a:latin typeface="Consolas" panose="020B0609020204030204" pitchFamily="49" charset="0"/>
              </a:rPr>
              <a:t> &amp;&amp;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&lt;= </a:t>
            </a:r>
            <a:r>
              <a:rPr lang="it-IT" sz="1500" b="0" dirty="0">
                <a:solidFill>
                  <a:srgbClr val="B5CEA8"/>
                </a:solidFill>
                <a:effectLst/>
                <a:latin typeface="Consolas" panose="020B0609020204030204" pitchFamily="49" charset="0"/>
              </a:rPr>
              <a:t>99</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9" name="CasellaDiTesto 8">
            <a:extLst>
              <a:ext uri="{FF2B5EF4-FFF2-40B4-BE49-F238E27FC236}">
                <a16:creationId xmlns:a16="http://schemas.microsoft.com/office/drawing/2014/main" id="{E7020FC2-9DB3-8E0E-2B56-3F8C3B8F08A4}"/>
              </a:ext>
            </a:extLst>
          </p:cNvPr>
          <p:cNvSpPr txBox="1"/>
          <p:nvPr/>
        </p:nvSpPr>
        <p:spPr>
          <a:xfrm>
            <a:off x="282039" y="1405838"/>
            <a:ext cx="4990605" cy="646331"/>
          </a:xfrm>
          <a:prstGeom prst="rect">
            <a:avLst/>
          </a:prstGeom>
          <a:solidFill>
            <a:schemeClr val="accent4">
              <a:lumMod val="60000"/>
              <a:lumOff val="40000"/>
            </a:schemeClr>
          </a:solidFill>
        </p:spPr>
        <p:txBody>
          <a:bodyPr wrap="square">
            <a:spAutoFit/>
          </a:bodyPr>
          <a:lstStyle/>
          <a:p>
            <a:r>
              <a:rPr lang="it-IT" dirty="0"/>
              <a:t>La parte evidenziata è (chiaramente) la parte modificata!</a:t>
            </a:r>
          </a:p>
        </p:txBody>
      </p:sp>
      <p:sp>
        <p:nvSpPr>
          <p:cNvPr id="6" name="Rettangolo 5">
            <a:extLst>
              <a:ext uri="{FF2B5EF4-FFF2-40B4-BE49-F238E27FC236}">
                <a16:creationId xmlns:a16="http://schemas.microsoft.com/office/drawing/2014/main" id="{C7CD8309-9B40-1F6E-6549-7E74FC842051}"/>
              </a:ext>
            </a:extLst>
          </p:cNvPr>
          <p:cNvSpPr/>
          <p:nvPr/>
        </p:nvSpPr>
        <p:spPr>
          <a:xfrm>
            <a:off x="5842659" y="2719448"/>
            <a:ext cx="6056415" cy="2268188"/>
          </a:xfrm>
          <a:prstGeom prst="rect">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a:extLst>
              <a:ext uri="{FF2B5EF4-FFF2-40B4-BE49-F238E27FC236}">
                <a16:creationId xmlns:a16="http://schemas.microsoft.com/office/drawing/2014/main" id="{5707FE7E-7A1F-50EE-5C27-1EB5531E706B}"/>
              </a:ext>
            </a:extLst>
          </p:cNvPr>
          <p:cNvSpPr txBox="1"/>
          <p:nvPr/>
        </p:nvSpPr>
        <p:spPr>
          <a:xfrm>
            <a:off x="282039" y="2314350"/>
            <a:ext cx="4990605" cy="3416320"/>
          </a:xfrm>
          <a:prstGeom prst="rect">
            <a:avLst/>
          </a:prstGeom>
          <a:noFill/>
        </p:spPr>
        <p:txBody>
          <a:bodyPr wrap="square">
            <a:spAutoFit/>
          </a:bodyPr>
          <a:lstStyle/>
          <a:p>
            <a:r>
              <a:rPr lang="it-IT" dirty="0"/>
              <a:t>In questa versione del programma, il metodo </a:t>
            </a:r>
            <a:r>
              <a:rPr lang="it-IT" dirty="0" err="1"/>
              <a:t>setNome</a:t>
            </a:r>
            <a:r>
              <a:rPr lang="it-IT" dirty="0"/>
              <a:t>() è stato modificato per controllare che la lunghezza del nome sia compresa tra 1 e 20 caratteri prima di impostare il campo nome.</a:t>
            </a:r>
          </a:p>
          <a:p>
            <a:endParaRPr lang="it-IT" dirty="0"/>
          </a:p>
          <a:p>
            <a:r>
              <a:rPr lang="it-IT" dirty="0"/>
              <a:t>Il metodo </a:t>
            </a:r>
            <a:r>
              <a:rPr lang="it-IT" dirty="0" err="1"/>
              <a:t>setEta</a:t>
            </a:r>
            <a:r>
              <a:rPr lang="it-IT" dirty="0"/>
              <a:t>() è stato modificato per controllare </a:t>
            </a:r>
            <a:r>
              <a:rPr lang="it-IT"/>
              <a:t>che l'età </a:t>
            </a:r>
            <a:r>
              <a:rPr lang="it-IT" dirty="0"/>
              <a:t>sia compresa tra 0 e 99 prima di impostare il campo </a:t>
            </a:r>
            <a:r>
              <a:rPr lang="it-IT" dirty="0" err="1"/>
              <a:t>eta</a:t>
            </a:r>
            <a:r>
              <a:rPr lang="it-IT" dirty="0"/>
              <a:t>.</a:t>
            </a:r>
          </a:p>
          <a:p>
            <a:endParaRPr lang="it-IT" dirty="0"/>
          </a:p>
          <a:p>
            <a:r>
              <a:rPr lang="it-IT" dirty="0"/>
              <a:t>In questo modo, il programma rispetta le specifiche richieste e mantiene l'interfaccia pubblica originale del programma.</a:t>
            </a:r>
          </a:p>
        </p:txBody>
      </p:sp>
    </p:spTree>
    <p:extLst>
      <p:ext uri="{BB962C8B-B14F-4D97-AF65-F5344CB8AC3E}">
        <p14:creationId xmlns:p14="http://schemas.microsoft.com/office/powerpoint/2010/main" val="27334215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765851"/>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Inzializzazione</a:t>
            </a: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degli oggetti</a:t>
            </a:r>
          </a:p>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Ed altro sui package</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902735" y="373682"/>
            <a:ext cx="7164956" cy="553998"/>
          </a:xfrm>
          <a:prstGeom prst="rect">
            <a:avLst/>
          </a:prstGeom>
          <a:noFill/>
        </p:spPr>
        <p:txBody>
          <a:bodyPr wrap="square">
            <a:spAutoFit/>
          </a:bodyPr>
          <a:lstStyle/>
          <a:p>
            <a:r>
              <a:rPr lang="it-IT" sz="3000" dirty="0"/>
              <a:t>Costruttori ed approfondimento sui package</a:t>
            </a:r>
          </a:p>
        </p:txBody>
      </p:sp>
      <p:pic>
        <p:nvPicPr>
          <p:cNvPr id="3" name="Picture 2" descr="Java Logo, symbol, meaning, history, PNG, brand">
            <a:extLst>
              <a:ext uri="{FF2B5EF4-FFF2-40B4-BE49-F238E27FC236}">
                <a16:creationId xmlns:a16="http://schemas.microsoft.com/office/drawing/2014/main" id="{D46019AA-70FE-F8F5-93CF-35CACE4F4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597" y="1464293"/>
            <a:ext cx="4693388" cy="2628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12052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costruttori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1131914"/>
            <a:ext cx="7385239" cy="707886"/>
          </a:xfrm>
          <a:prstGeom prst="rect">
            <a:avLst/>
          </a:prstGeom>
          <a:noFill/>
        </p:spPr>
        <p:txBody>
          <a:bodyPr wrap="square">
            <a:spAutoFit/>
          </a:bodyPr>
          <a:lstStyle/>
          <a:p>
            <a:pPr algn="l"/>
            <a:r>
              <a:rPr lang="it-IT" sz="2000" b="0" i="0" dirty="0">
                <a:solidFill>
                  <a:srgbClr val="374151"/>
                </a:solidFill>
                <a:effectLst/>
                <a:latin typeface="Söhne"/>
              </a:rPr>
              <a:t>In Java, i costruttori sono metodi speciali che vengono utilizzati per creare e inizializzare un oggetto appena viene istanziata una classe. </a:t>
            </a:r>
          </a:p>
        </p:txBody>
      </p:sp>
      <p:sp>
        <p:nvSpPr>
          <p:cNvPr id="2" name="CasellaDiTesto 1">
            <a:extLst>
              <a:ext uri="{FF2B5EF4-FFF2-40B4-BE49-F238E27FC236}">
                <a16:creationId xmlns:a16="http://schemas.microsoft.com/office/drawing/2014/main" id="{73464EFE-83B3-4F20-14F9-FB362FEEFFBC}"/>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Il metodo di inizializzazione</a:t>
            </a:r>
            <a:endParaRPr lang="it-IT" dirty="0"/>
          </a:p>
        </p:txBody>
      </p:sp>
    </p:spTree>
    <p:extLst>
      <p:ext uri="{BB962C8B-B14F-4D97-AF65-F5344CB8AC3E}">
        <p14:creationId xmlns:p14="http://schemas.microsoft.com/office/powerpoint/2010/main" val="24857580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costruttori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1131914"/>
            <a:ext cx="7385239" cy="1323439"/>
          </a:xfrm>
          <a:prstGeom prst="rect">
            <a:avLst/>
          </a:prstGeom>
          <a:noFill/>
        </p:spPr>
        <p:txBody>
          <a:bodyPr wrap="square">
            <a:spAutoFit/>
          </a:bodyPr>
          <a:lstStyle/>
          <a:p>
            <a:pPr algn="l"/>
            <a:r>
              <a:rPr lang="it-IT" sz="2000" b="0" i="0" dirty="0">
                <a:solidFill>
                  <a:srgbClr val="374151"/>
                </a:solidFill>
                <a:effectLst/>
                <a:latin typeface="Söhne"/>
              </a:rPr>
              <a:t>In Java, i costruttori sono metodi speciali che vengono utilizzati per creare e inizializzare un oggetto appena viene istanziata una classe. Ogni volta che viene creato un nuovo oggetto della classe, viene chiamato il costruttore per inizializzarlo.</a:t>
            </a:r>
          </a:p>
        </p:txBody>
      </p:sp>
      <p:sp>
        <p:nvSpPr>
          <p:cNvPr id="2" name="CasellaDiTesto 1">
            <a:extLst>
              <a:ext uri="{FF2B5EF4-FFF2-40B4-BE49-F238E27FC236}">
                <a16:creationId xmlns:a16="http://schemas.microsoft.com/office/drawing/2014/main" id="{73464EFE-83B3-4F20-14F9-FB362FEEFFBC}"/>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Il metodo di inizializzazione</a:t>
            </a:r>
            <a:endParaRPr lang="it-IT" dirty="0"/>
          </a:p>
        </p:txBody>
      </p:sp>
    </p:spTree>
    <p:extLst>
      <p:ext uri="{BB962C8B-B14F-4D97-AF65-F5344CB8AC3E}">
        <p14:creationId xmlns:p14="http://schemas.microsoft.com/office/powerpoint/2010/main" val="20941223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costruttori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1131914"/>
            <a:ext cx="7385239" cy="2246769"/>
          </a:xfrm>
          <a:prstGeom prst="rect">
            <a:avLst/>
          </a:prstGeom>
          <a:noFill/>
        </p:spPr>
        <p:txBody>
          <a:bodyPr wrap="square">
            <a:spAutoFit/>
          </a:bodyPr>
          <a:lstStyle/>
          <a:p>
            <a:pPr algn="l"/>
            <a:r>
              <a:rPr lang="it-IT" sz="2000" b="0" i="0" dirty="0">
                <a:solidFill>
                  <a:srgbClr val="374151"/>
                </a:solidFill>
                <a:effectLst/>
                <a:latin typeface="Söhne"/>
              </a:rPr>
              <a:t>In Java, i costruttori sono metodi speciali che vengono utilizzati per creare e inizializzare un oggetto appena viene istanziata una classe. Ogni volta che viene creato un nuovo oggetto della classe, viene chiamato il costruttore per inizializzarlo.</a:t>
            </a:r>
          </a:p>
          <a:p>
            <a:pPr algn="l"/>
            <a:r>
              <a:rPr lang="it-IT" sz="2000" b="0" i="0" dirty="0">
                <a:solidFill>
                  <a:srgbClr val="374151"/>
                </a:solidFill>
                <a:effectLst/>
                <a:latin typeface="Söhne"/>
              </a:rPr>
              <a:t>Il nome del costruttore deve coincidere con il nome della classe, e può accettare parametri che possono essere utilizzati per inizializzare i campi dell'oggetto.</a:t>
            </a:r>
          </a:p>
        </p:txBody>
      </p:sp>
      <p:sp>
        <p:nvSpPr>
          <p:cNvPr id="2" name="CasellaDiTesto 1">
            <a:extLst>
              <a:ext uri="{FF2B5EF4-FFF2-40B4-BE49-F238E27FC236}">
                <a16:creationId xmlns:a16="http://schemas.microsoft.com/office/drawing/2014/main" id="{73464EFE-83B3-4F20-14F9-FB362FEEFFBC}"/>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Il metodo di inizializzazione</a:t>
            </a:r>
            <a:endParaRPr lang="it-IT" dirty="0"/>
          </a:p>
        </p:txBody>
      </p:sp>
    </p:spTree>
    <p:extLst>
      <p:ext uri="{BB962C8B-B14F-4D97-AF65-F5344CB8AC3E}">
        <p14:creationId xmlns:p14="http://schemas.microsoft.com/office/powerpoint/2010/main" val="13145374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costruttori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1131914"/>
            <a:ext cx="7385239" cy="3170099"/>
          </a:xfrm>
          <a:prstGeom prst="rect">
            <a:avLst/>
          </a:prstGeom>
          <a:noFill/>
        </p:spPr>
        <p:txBody>
          <a:bodyPr wrap="square">
            <a:spAutoFit/>
          </a:bodyPr>
          <a:lstStyle/>
          <a:p>
            <a:pPr algn="l"/>
            <a:r>
              <a:rPr lang="it-IT" sz="2000" b="0" i="0" dirty="0">
                <a:solidFill>
                  <a:srgbClr val="374151"/>
                </a:solidFill>
                <a:effectLst/>
                <a:latin typeface="Söhne"/>
              </a:rPr>
              <a:t>In Java, i costruttori sono metodi speciali che vengono utilizzati per creare e inizializzare un oggetto appena viene istanziata una classe. Ogni volta che viene creato un nuovo oggetto della classe, viene chiamato il costruttore per inizializzarlo.</a:t>
            </a:r>
          </a:p>
          <a:p>
            <a:pPr algn="l"/>
            <a:r>
              <a:rPr lang="it-IT" sz="2000" b="0" i="0" dirty="0">
                <a:solidFill>
                  <a:srgbClr val="374151"/>
                </a:solidFill>
                <a:effectLst/>
                <a:latin typeface="Söhne"/>
              </a:rPr>
              <a:t>Il nome del costruttore deve coincidere con il nome della classe, e può accettare parametri che possono essere utilizzati per inizializzare i campi dell'oggetto.</a:t>
            </a:r>
          </a:p>
          <a:p>
            <a:pPr algn="l"/>
            <a:r>
              <a:rPr lang="it-IT" sz="2000" b="0" i="0" dirty="0">
                <a:solidFill>
                  <a:srgbClr val="374151"/>
                </a:solidFill>
                <a:effectLst/>
                <a:latin typeface="Söhne"/>
              </a:rPr>
              <a:t>Inoltre, se non viene definito alcun costruttore nella classe, viene creato un costruttore predefinito senza parametri, che inizializza tutti i campi dell'oggetto con i valori di default.</a:t>
            </a:r>
          </a:p>
        </p:txBody>
      </p:sp>
      <p:sp>
        <p:nvSpPr>
          <p:cNvPr id="2" name="CasellaDiTesto 1">
            <a:extLst>
              <a:ext uri="{FF2B5EF4-FFF2-40B4-BE49-F238E27FC236}">
                <a16:creationId xmlns:a16="http://schemas.microsoft.com/office/drawing/2014/main" id="{73464EFE-83B3-4F20-14F9-FB362FEEFFBC}"/>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Il metodo di inizializzazione</a:t>
            </a:r>
            <a:endParaRPr lang="it-IT" dirty="0"/>
          </a:p>
        </p:txBody>
      </p:sp>
    </p:spTree>
    <p:extLst>
      <p:ext uri="{BB962C8B-B14F-4D97-AF65-F5344CB8AC3E}">
        <p14:creationId xmlns:p14="http://schemas.microsoft.com/office/powerpoint/2010/main" val="17366020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costruttori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1131914"/>
            <a:ext cx="7385239" cy="4093428"/>
          </a:xfrm>
          <a:prstGeom prst="rect">
            <a:avLst/>
          </a:prstGeom>
          <a:noFill/>
        </p:spPr>
        <p:txBody>
          <a:bodyPr wrap="square">
            <a:spAutoFit/>
          </a:bodyPr>
          <a:lstStyle/>
          <a:p>
            <a:pPr algn="l"/>
            <a:r>
              <a:rPr lang="it-IT" sz="2000" b="0" i="0" dirty="0">
                <a:solidFill>
                  <a:srgbClr val="374151"/>
                </a:solidFill>
                <a:effectLst/>
                <a:latin typeface="Söhne"/>
              </a:rPr>
              <a:t>In Java, i costruttori sono metodi speciali che vengono utilizzati per creare e inizializzare un oggetto appena viene istanziata una classe. Ogni volta che viene creato un nuovo oggetto della classe, viene chiamato il costruttore per inizializzarlo.</a:t>
            </a:r>
          </a:p>
          <a:p>
            <a:pPr algn="l"/>
            <a:r>
              <a:rPr lang="it-IT" sz="2000" b="0" i="0" dirty="0">
                <a:solidFill>
                  <a:srgbClr val="374151"/>
                </a:solidFill>
                <a:effectLst/>
                <a:latin typeface="Söhne"/>
              </a:rPr>
              <a:t>Il nome del costruttore deve coincidere con il nome della classe, e può accettare parametri che possono essere utilizzati per inizializzare i campi dell'oggetto.</a:t>
            </a:r>
          </a:p>
          <a:p>
            <a:pPr algn="l"/>
            <a:r>
              <a:rPr lang="it-IT" sz="2000" b="0" i="0" dirty="0">
                <a:solidFill>
                  <a:srgbClr val="374151"/>
                </a:solidFill>
                <a:effectLst/>
                <a:latin typeface="Söhne"/>
              </a:rPr>
              <a:t>Inoltre, se non viene definito alcun costruttore nella classe, viene creato un costruttore predefinito senza parametri, che inizializza tutti i campi dell'oggetto con i valori di default.</a:t>
            </a:r>
          </a:p>
          <a:p>
            <a:pPr algn="l"/>
            <a:r>
              <a:rPr lang="it-IT" sz="2000" b="0" i="0" dirty="0">
                <a:solidFill>
                  <a:srgbClr val="374151"/>
                </a:solidFill>
                <a:effectLst/>
                <a:latin typeface="Söhne"/>
              </a:rPr>
              <a:t>I costruttori sono molto utili perché ci permettono di creare oggetti con uno stato iniziale personalizzato, passando i parametri necessari per l'inizializzazione al momento della creazione dell'oggetto.</a:t>
            </a:r>
          </a:p>
        </p:txBody>
      </p:sp>
      <p:sp>
        <p:nvSpPr>
          <p:cNvPr id="2" name="CasellaDiTesto 1">
            <a:extLst>
              <a:ext uri="{FF2B5EF4-FFF2-40B4-BE49-F238E27FC236}">
                <a16:creationId xmlns:a16="http://schemas.microsoft.com/office/drawing/2014/main" id="{73464EFE-83B3-4F20-14F9-FB362FEEFFBC}"/>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Il metodo di inizializzazione</a:t>
            </a:r>
            <a:endParaRPr lang="it-IT" dirty="0"/>
          </a:p>
        </p:txBody>
      </p:sp>
    </p:spTree>
    <p:extLst>
      <p:ext uri="{BB962C8B-B14F-4D97-AF65-F5344CB8AC3E}">
        <p14:creationId xmlns:p14="http://schemas.microsoft.com/office/powerpoint/2010/main" val="142424385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costruttori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701320"/>
            <a:ext cx="7385239" cy="707886"/>
          </a:xfrm>
          <a:prstGeom prst="rect">
            <a:avLst/>
          </a:prstGeom>
          <a:noFill/>
        </p:spPr>
        <p:txBody>
          <a:bodyPr wrap="square">
            <a:spAutoFit/>
          </a:bodyPr>
          <a:lstStyle/>
          <a:p>
            <a:pPr algn="l"/>
            <a:r>
              <a:rPr lang="it-IT" sz="2000" b="0" i="0" dirty="0">
                <a:solidFill>
                  <a:srgbClr val="374151"/>
                </a:solidFill>
                <a:effectLst/>
                <a:latin typeface="Söhne"/>
              </a:rPr>
              <a:t>La definizione del costruttore va inserita all'interno della classe, come segue:</a:t>
            </a:r>
          </a:p>
        </p:txBody>
      </p:sp>
      <p:sp>
        <p:nvSpPr>
          <p:cNvPr id="2" name="CasellaDiTesto 1">
            <a:extLst>
              <a:ext uri="{FF2B5EF4-FFF2-40B4-BE49-F238E27FC236}">
                <a16:creationId xmlns:a16="http://schemas.microsoft.com/office/drawing/2014/main" id="{73464EFE-83B3-4F20-14F9-FB362FEEFFBC}"/>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Il metodo di inizializzazione</a:t>
            </a:r>
            <a:endParaRPr lang="it-IT" dirty="0"/>
          </a:p>
        </p:txBody>
      </p:sp>
      <p:sp>
        <p:nvSpPr>
          <p:cNvPr id="6" name="CasellaDiTesto 5">
            <a:extLst>
              <a:ext uri="{FF2B5EF4-FFF2-40B4-BE49-F238E27FC236}">
                <a16:creationId xmlns:a16="http://schemas.microsoft.com/office/drawing/2014/main" id="{417F3609-3992-8E27-D678-598224B7DC56}"/>
              </a:ext>
            </a:extLst>
          </p:cNvPr>
          <p:cNvSpPr txBox="1"/>
          <p:nvPr/>
        </p:nvSpPr>
        <p:spPr>
          <a:xfrm>
            <a:off x="282039" y="2022765"/>
            <a:ext cx="10828784" cy="1200329"/>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MyClass</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br>
              <a:rPr lang="it-IT" b="0" dirty="0">
                <a:solidFill>
                  <a:srgbClr val="D4D4D4"/>
                </a:solidFill>
                <a:effectLst/>
                <a:latin typeface="Consolas" panose="020B0609020204030204" pitchFamily="49" charset="0"/>
              </a:rPr>
            </a:b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p:txBody>
      </p:sp>
    </p:spTree>
    <p:extLst>
      <p:ext uri="{BB962C8B-B14F-4D97-AF65-F5344CB8AC3E}">
        <p14:creationId xmlns:p14="http://schemas.microsoft.com/office/powerpoint/2010/main" val="30908423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costruttori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701320"/>
            <a:ext cx="7385239" cy="707886"/>
          </a:xfrm>
          <a:prstGeom prst="rect">
            <a:avLst/>
          </a:prstGeom>
          <a:noFill/>
        </p:spPr>
        <p:txBody>
          <a:bodyPr wrap="square">
            <a:spAutoFit/>
          </a:bodyPr>
          <a:lstStyle/>
          <a:p>
            <a:pPr algn="l"/>
            <a:r>
              <a:rPr lang="it-IT" sz="2000" b="0" i="0" dirty="0">
                <a:solidFill>
                  <a:srgbClr val="374151"/>
                </a:solidFill>
                <a:effectLst/>
                <a:latin typeface="Söhne"/>
              </a:rPr>
              <a:t>La definizione del costruttore va inserita all'interno della classe, come segue:</a:t>
            </a:r>
          </a:p>
        </p:txBody>
      </p:sp>
      <p:sp>
        <p:nvSpPr>
          <p:cNvPr id="2" name="CasellaDiTesto 1">
            <a:extLst>
              <a:ext uri="{FF2B5EF4-FFF2-40B4-BE49-F238E27FC236}">
                <a16:creationId xmlns:a16="http://schemas.microsoft.com/office/drawing/2014/main" id="{73464EFE-83B3-4F20-14F9-FB362FEEFFBC}"/>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Il metodo di inizializzazione</a:t>
            </a:r>
            <a:endParaRPr lang="it-IT" dirty="0"/>
          </a:p>
        </p:txBody>
      </p:sp>
      <p:sp>
        <p:nvSpPr>
          <p:cNvPr id="6" name="CasellaDiTesto 5">
            <a:extLst>
              <a:ext uri="{FF2B5EF4-FFF2-40B4-BE49-F238E27FC236}">
                <a16:creationId xmlns:a16="http://schemas.microsoft.com/office/drawing/2014/main" id="{417F3609-3992-8E27-D678-598224B7DC56}"/>
              </a:ext>
            </a:extLst>
          </p:cNvPr>
          <p:cNvSpPr txBox="1"/>
          <p:nvPr/>
        </p:nvSpPr>
        <p:spPr>
          <a:xfrm>
            <a:off x="282039" y="2022765"/>
            <a:ext cx="10828784" cy="2031325"/>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MyClass</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6A9955"/>
                </a:solidFill>
                <a:effectLst/>
                <a:latin typeface="Consolas" panose="020B0609020204030204" pitchFamily="49" charset="0"/>
              </a:rPr>
              <a:t>// Proprietà della classe</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myNumber</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myString</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p:txBody>
      </p:sp>
    </p:spTree>
    <p:extLst>
      <p:ext uri="{BB962C8B-B14F-4D97-AF65-F5344CB8AC3E}">
        <p14:creationId xmlns:p14="http://schemas.microsoft.com/office/powerpoint/2010/main" val="376308736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costruttori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701320"/>
            <a:ext cx="7385239" cy="707886"/>
          </a:xfrm>
          <a:prstGeom prst="rect">
            <a:avLst/>
          </a:prstGeom>
          <a:noFill/>
        </p:spPr>
        <p:txBody>
          <a:bodyPr wrap="square">
            <a:spAutoFit/>
          </a:bodyPr>
          <a:lstStyle/>
          <a:p>
            <a:pPr algn="l"/>
            <a:r>
              <a:rPr lang="it-IT" sz="2000" b="0" i="0" dirty="0">
                <a:solidFill>
                  <a:srgbClr val="374151"/>
                </a:solidFill>
                <a:effectLst/>
                <a:latin typeface="Söhne"/>
              </a:rPr>
              <a:t>La definizione del costruttore va inserita all'interno della classe, come segue:</a:t>
            </a:r>
          </a:p>
        </p:txBody>
      </p:sp>
      <p:sp>
        <p:nvSpPr>
          <p:cNvPr id="2" name="CasellaDiTesto 1">
            <a:extLst>
              <a:ext uri="{FF2B5EF4-FFF2-40B4-BE49-F238E27FC236}">
                <a16:creationId xmlns:a16="http://schemas.microsoft.com/office/drawing/2014/main" id="{73464EFE-83B3-4F20-14F9-FB362FEEFFBC}"/>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Il metodo di inizializzazione</a:t>
            </a:r>
            <a:endParaRPr lang="it-IT" dirty="0"/>
          </a:p>
        </p:txBody>
      </p:sp>
      <p:sp>
        <p:nvSpPr>
          <p:cNvPr id="6" name="CasellaDiTesto 5">
            <a:extLst>
              <a:ext uri="{FF2B5EF4-FFF2-40B4-BE49-F238E27FC236}">
                <a16:creationId xmlns:a16="http://schemas.microsoft.com/office/drawing/2014/main" id="{417F3609-3992-8E27-D678-598224B7DC56}"/>
              </a:ext>
            </a:extLst>
          </p:cNvPr>
          <p:cNvSpPr txBox="1"/>
          <p:nvPr/>
        </p:nvSpPr>
        <p:spPr>
          <a:xfrm>
            <a:off x="282039" y="2022765"/>
            <a:ext cx="10828784" cy="2585323"/>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MyClass</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6A9955"/>
                </a:solidFill>
                <a:effectLst/>
                <a:latin typeface="Consolas" panose="020B0609020204030204" pitchFamily="49" charset="0"/>
              </a:rPr>
              <a:t>// Proprietà della classe</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myNumber</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myString</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r>
              <a:rPr lang="it-IT" b="0" dirty="0">
                <a:solidFill>
                  <a:srgbClr val="D4D4D4"/>
                </a:solidFill>
                <a:effectLst/>
                <a:latin typeface="Consolas" panose="020B0609020204030204" pitchFamily="49" charset="0"/>
              </a:rPr>
              <a:t>    </a:t>
            </a:r>
            <a:r>
              <a:rPr lang="it-IT" b="0" dirty="0">
                <a:solidFill>
                  <a:srgbClr val="6A9955"/>
                </a:solidFill>
                <a:effectLst/>
                <a:latin typeface="Consolas" panose="020B0609020204030204" pitchFamily="49" charset="0"/>
              </a:rPr>
              <a:t>// Costruttore</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MyClass</a:t>
            </a:r>
            <a:r>
              <a:rPr lang="it-IT" b="0" dirty="0">
                <a:solidFill>
                  <a:srgbClr val="D4D4D4"/>
                </a:solidFill>
                <a:effectLst/>
                <a:latin typeface="Consolas" panose="020B0609020204030204" pitchFamily="49" charset="0"/>
              </a:rPr>
              <a:t>(</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myNumber</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myString</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05270812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costruttori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701320"/>
            <a:ext cx="7385239" cy="707886"/>
          </a:xfrm>
          <a:prstGeom prst="rect">
            <a:avLst/>
          </a:prstGeom>
          <a:noFill/>
        </p:spPr>
        <p:txBody>
          <a:bodyPr wrap="square">
            <a:spAutoFit/>
          </a:bodyPr>
          <a:lstStyle/>
          <a:p>
            <a:pPr algn="l"/>
            <a:r>
              <a:rPr lang="it-IT" sz="2000" b="0" i="0" dirty="0">
                <a:solidFill>
                  <a:srgbClr val="374151"/>
                </a:solidFill>
                <a:effectLst/>
                <a:latin typeface="Söhne"/>
              </a:rPr>
              <a:t>La definizione del costruttore va inserita all'interno della classe, come segue:</a:t>
            </a:r>
          </a:p>
        </p:txBody>
      </p:sp>
      <p:sp>
        <p:nvSpPr>
          <p:cNvPr id="2" name="CasellaDiTesto 1">
            <a:extLst>
              <a:ext uri="{FF2B5EF4-FFF2-40B4-BE49-F238E27FC236}">
                <a16:creationId xmlns:a16="http://schemas.microsoft.com/office/drawing/2014/main" id="{73464EFE-83B3-4F20-14F9-FB362FEEFFBC}"/>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Il metodo di inizializzazione</a:t>
            </a:r>
            <a:endParaRPr lang="it-IT" dirty="0"/>
          </a:p>
        </p:txBody>
      </p:sp>
      <p:sp>
        <p:nvSpPr>
          <p:cNvPr id="6" name="CasellaDiTesto 5">
            <a:extLst>
              <a:ext uri="{FF2B5EF4-FFF2-40B4-BE49-F238E27FC236}">
                <a16:creationId xmlns:a16="http://schemas.microsoft.com/office/drawing/2014/main" id="{417F3609-3992-8E27-D678-598224B7DC56}"/>
              </a:ext>
            </a:extLst>
          </p:cNvPr>
          <p:cNvSpPr txBox="1"/>
          <p:nvPr/>
        </p:nvSpPr>
        <p:spPr>
          <a:xfrm>
            <a:off x="282039" y="2022765"/>
            <a:ext cx="10828784" cy="2862322"/>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MyClass</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6A9955"/>
                </a:solidFill>
                <a:effectLst/>
                <a:latin typeface="Consolas" panose="020B0609020204030204" pitchFamily="49" charset="0"/>
              </a:rPr>
              <a:t>// Proprietà della classe</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myNumber</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myString</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r>
              <a:rPr lang="it-IT" b="0" dirty="0">
                <a:solidFill>
                  <a:srgbClr val="D4D4D4"/>
                </a:solidFill>
                <a:effectLst/>
                <a:latin typeface="Consolas" panose="020B0609020204030204" pitchFamily="49" charset="0"/>
              </a:rPr>
              <a:t>    </a:t>
            </a:r>
            <a:r>
              <a:rPr lang="it-IT" b="0" dirty="0">
                <a:solidFill>
                  <a:srgbClr val="6A9955"/>
                </a:solidFill>
                <a:effectLst/>
                <a:latin typeface="Consolas" panose="020B0609020204030204" pitchFamily="49" charset="0"/>
              </a:rPr>
              <a:t>// Costruttore</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MyClass</a:t>
            </a:r>
            <a:r>
              <a:rPr lang="it-IT" b="0" dirty="0">
                <a:solidFill>
                  <a:srgbClr val="D4D4D4"/>
                </a:solidFill>
                <a:effectLst/>
                <a:latin typeface="Consolas" panose="020B0609020204030204" pitchFamily="49" charset="0"/>
              </a:rPr>
              <a:t>(</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myNumber</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myString</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this</a:t>
            </a:r>
            <a:r>
              <a:rPr lang="it-IT" b="0" dirty="0" err="1">
                <a:solidFill>
                  <a:srgbClr val="D4D4D4"/>
                </a:solidFill>
                <a:effectLst/>
                <a:latin typeface="Consolas" panose="020B0609020204030204" pitchFamily="49" charset="0"/>
              </a:rPr>
              <a:t>.myNumber</a:t>
            </a:r>
            <a:r>
              <a:rPr lang="it-IT" b="0" dirty="0">
                <a:solidFill>
                  <a:srgbClr val="D4D4D4"/>
                </a:solidFill>
                <a:effectLst/>
                <a:latin typeface="Consolas" panose="020B0609020204030204" pitchFamily="49" charset="0"/>
              </a:rPr>
              <a:t> = </a:t>
            </a:r>
            <a:r>
              <a:rPr lang="it-IT" b="0" dirty="0" err="1">
                <a:solidFill>
                  <a:srgbClr val="D4D4D4"/>
                </a:solidFill>
                <a:effectLst/>
                <a:latin typeface="Consolas" panose="020B0609020204030204" pitchFamily="49" charset="0"/>
              </a:rPr>
              <a:t>myNumber</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077197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I costruttori</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701320"/>
            <a:ext cx="7385239" cy="707886"/>
          </a:xfrm>
          <a:prstGeom prst="rect">
            <a:avLst/>
          </a:prstGeom>
          <a:noFill/>
        </p:spPr>
        <p:txBody>
          <a:bodyPr wrap="square">
            <a:spAutoFit/>
          </a:bodyPr>
          <a:lstStyle/>
          <a:p>
            <a:pPr algn="l"/>
            <a:r>
              <a:rPr lang="it-IT" sz="2000" b="0" i="0" dirty="0">
                <a:solidFill>
                  <a:srgbClr val="374151"/>
                </a:solidFill>
                <a:effectLst/>
                <a:latin typeface="Söhne"/>
              </a:rPr>
              <a:t>La definizione del costruttore va inserita all'interno della classe, come segue:</a:t>
            </a:r>
          </a:p>
        </p:txBody>
      </p:sp>
      <p:sp>
        <p:nvSpPr>
          <p:cNvPr id="2" name="CasellaDiTesto 1">
            <a:extLst>
              <a:ext uri="{FF2B5EF4-FFF2-40B4-BE49-F238E27FC236}">
                <a16:creationId xmlns:a16="http://schemas.microsoft.com/office/drawing/2014/main" id="{73464EFE-83B3-4F20-14F9-FB362FEEFFBC}"/>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Il metodo di inizializzazione</a:t>
            </a:r>
            <a:endParaRPr lang="it-IT" dirty="0"/>
          </a:p>
        </p:txBody>
      </p:sp>
      <p:sp>
        <p:nvSpPr>
          <p:cNvPr id="6" name="CasellaDiTesto 5">
            <a:extLst>
              <a:ext uri="{FF2B5EF4-FFF2-40B4-BE49-F238E27FC236}">
                <a16:creationId xmlns:a16="http://schemas.microsoft.com/office/drawing/2014/main" id="{417F3609-3992-8E27-D678-598224B7DC56}"/>
              </a:ext>
            </a:extLst>
          </p:cNvPr>
          <p:cNvSpPr txBox="1"/>
          <p:nvPr/>
        </p:nvSpPr>
        <p:spPr>
          <a:xfrm>
            <a:off x="282039" y="2022765"/>
            <a:ext cx="10828784" cy="3139321"/>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MyClass</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6A9955"/>
                </a:solidFill>
                <a:effectLst/>
                <a:latin typeface="Consolas" panose="020B0609020204030204" pitchFamily="49" charset="0"/>
              </a:rPr>
              <a:t>// Proprietà della classe</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myNumber</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myString</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r>
              <a:rPr lang="it-IT" b="0" dirty="0">
                <a:solidFill>
                  <a:srgbClr val="D4D4D4"/>
                </a:solidFill>
                <a:effectLst/>
                <a:latin typeface="Consolas" panose="020B0609020204030204" pitchFamily="49" charset="0"/>
              </a:rPr>
              <a:t>    </a:t>
            </a:r>
            <a:r>
              <a:rPr lang="it-IT" b="0" dirty="0">
                <a:solidFill>
                  <a:srgbClr val="6A9955"/>
                </a:solidFill>
                <a:effectLst/>
                <a:latin typeface="Consolas" panose="020B0609020204030204" pitchFamily="49" charset="0"/>
              </a:rPr>
              <a:t>// Costruttore</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MyClass</a:t>
            </a:r>
            <a:r>
              <a:rPr lang="it-IT" b="0" dirty="0">
                <a:solidFill>
                  <a:srgbClr val="D4D4D4"/>
                </a:solidFill>
                <a:effectLst/>
                <a:latin typeface="Consolas" panose="020B0609020204030204" pitchFamily="49" charset="0"/>
              </a:rPr>
              <a:t>(</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myNumber</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myString</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this</a:t>
            </a:r>
            <a:r>
              <a:rPr lang="it-IT" b="0" dirty="0" err="1">
                <a:solidFill>
                  <a:srgbClr val="D4D4D4"/>
                </a:solidFill>
                <a:effectLst/>
                <a:latin typeface="Consolas" panose="020B0609020204030204" pitchFamily="49" charset="0"/>
              </a:rPr>
              <a:t>.myNumber</a:t>
            </a:r>
            <a:r>
              <a:rPr lang="it-IT" b="0" dirty="0">
                <a:solidFill>
                  <a:srgbClr val="D4D4D4"/>
                </a:solidFill>
                <a:effectLst/>
                <a:latin typeface="Consolas" panose="020B0609020204030204" pitchFamily="49" charset="0"/>
              </a:rPr>
              <a:t> = </a:t>
            </a:r>
            <a:r>
              <a:rPr lang="it-IT" b="0" dirty="0" err="1">
                <a:solidFill>
                  <a:srgbClr val="D4D4D4"/>
                </a:solidFill>
                <a:effectLst/>
                <a:latin typeface="Consolas" panose="020B0609020204030204" pitchFamily="49" charset="0"/>
              </a:rPr>
              <a:t>myNumber</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this</a:t>
            </a:r>
            <a:r>
              <a:rPr lang="it-IT" b="0" dirty="0" err="1">
                <a:solidFill>
                  <a:srgbClr val="D4D4D4"/>
                </a:solidFill>
                <a:effectLst/>
                <a:latin typeface="Consolas" panose="020B0609020204030204" pitchFamily="49" charset="0"/>
              </a:rPr>
              <a:t>.myString</a:t>
            </a:r>
            <a:r>
              <a:rPr lang="it-IT" b="0" dirty="0">
                <a:solidFill>
                  <a:srgbClr val="D4D4D4"/>
                </a:solidFill>
                <a:effectLst/>
                <a:latin typeface="Consolas" panose="020B0609020204030204" pitchFamily="49" charset="0"/>
              </a:rPr>
              <a:t> = </a:t>
            </a:r>
            <a:r>
              <a:rPr lang="it-IT" b="0" dirty="0" err="1">
                <a:solidFill>
                  <a:srgbClr val="D4D4D4"/>
                </a:solidFill>
                <a:effectLst/>
                <a:latin typeface="Consolas" panose="020B0609020204030204" pitchFamily="49" charset="0"/>
              </a:rPr>
              <a:t>myString</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418581771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1015663"/>
          </a:xfrm>
          <a:prstGeom prst="rect">
            <a:avLst/>
          </a:prstGeom>
          <a:noFill/>
        </p:spPr>
        <p:txBody>
          <a:bodyPr wrap="square">
            <a:spAutoFit/>
          </a:bodyPr>
          <a:lstStyle/>
          <a:p>
            <a:r>
              <a:rPr lang="it-IT" sz="2000" dirty="0"/>
              <a:t>Approfondiamo, ora la questione dei package.</a:t>
            </a:r>
          </a:p>
          <a:p>
            <a:pPr algn="l"/>
            <a:r>
              <a:rPr lang="it-IT" sz="2000" b="0" i="0" dirty="0">
                <a:solidFill>
                  <a:srgbClr val="374151"/>
                </a:solidFill>
                <a:effectLst/>
                <a:latin typeface="Söhne"/>
              </a:rPr>
              <a:t>In Java, raggruppare classi in dei package ha senso quando si desidera organizzare il codice sorgente in modo gerarchico e modulare.</a:t>
            </a:r>
          </a:p>
        </p:txBody>
      </p:sp>
      <p:sp>
        <p:nvSpPr>
          <p:cNvPr id="2" name="CasellaDiTesto 1">
            <a:extLst>
              <a:ext uri="{FF2B5EF4-FFF2-40B4-BE49-F238E27FC236}">
                <a16:creationId xmlns:a16="http://schemas.microsoft.com/office/drawing/2014/main" id="{73464EFE-83B3-4F20-14F9-FB362FEEFFBC}"/>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1796108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1631216"/>
          </a:xfrm>
          <a:prstGeom prst="rect">
            <a:avLst/>
          </a:prstGeom>
          <a:noFill/>
        </p:spPr>
        <p:txBody>
          <a:bodyPr wrap="square">
            <a:spAutoFit/>
          </a:bodyPr>
          <a:lstStyle/>
          <a:p>
            <a:r>
              <a:rPr lang="it-IT" sz="2000" dirty="0"/>
              <a:t>Approfondiamo, ora la questione dei package.</a:t>
            </a:r>
          </a:p>
          <a:p>
            <a:pPr algn="l"/>
            <a:r>
              <a:rPr lang="it-IT" sz="2000" b="0" i="0" dirty="0">
                <a:solidFill>
                  <a:srgbClr val="374151"/>
                </a:solidFill>
                <a:effectLst/>
                <a:latin typeface="Söhne"/>
              </a:rPr>
              <a:t>In Java, raggruppare classi in dei package ha senso quando si desidera organizzare il codice sorgente in modo gerarchico e modulare.</a:t>
            </a:r>
          </a:p>
          <a:p>
            <a:pPr algn="l"/>
            <a:r>
              <a:rPr lang="it-IT" sz="2000" b="0" i="0" dirty="0">
                <a:solidFill>
                  <a:srgbClr val="374151"/>
                </a:solidFill>
                <a:effectLst/>
                <a:latin typeface="Söhne"/>
              </a:rPr>
              <a:t>Immagina di avere un progetto Java che include diverse classi per svolgere diverse funzioni. </a:t>
            </a:r>
          </a:p>
        </p:txBody>
      </p:sp>
      <p:sp>
        <p:nvSpPr>
          <p:cNvPr id="2" name="CasellaDiTesto 1">
            <a:extLst>
              <a:ext uri="{FF2B5EF4-FFF2-40B4-BE49-F238E27FC236}">
                <a16:creationId xmlns:a16="http://schemas.microsoft.com/office/drawing/2014/main" id="{46A83343-1324-45AC-7709-80031C96C7F2}"/>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268918923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2246769"/>
          </a:xfrm>
          <a:prstGeom prst="rect">
            <a:avLst/>
          </a:prstGeom>
          <a:noFill/>
        </p:spPr>
        <p:txBody>
          <a:bodyPr wrap="square">
            <a:spAutoFit/>
          </a:bodyPr>
          <a:lstStyle/>
          <a:p>
            <a:r>
              <a:rPr lang="it-IT" sz="2000" dirty="0"/>
              <a:t>Approfondiamo, ora la questione dei package.</a:t>
            </a:r>
          </a:p>
          <a:p>
            <a:pPr algn="l"/>
            <a:r>
              <a:rPr lang="it-IT" sz="2000" b="0" i="0" dirty="0">
                <a:solidFill>
                  <a:srgbClr val="374151"/>
                </a:solidFill>
                <a:effectLst/>
                <a:latin typeface="Söhne"/>
              </a:rPr>
              <a:t>In Java, raggruppare classi in dei package ha senso quando si desidera organizzare il codice sorgente in modo gerarchico e modulare.</a:t>
            </a:r>
          </a:p>
          <a:p>
            <a:pPr algn="l"/>
            <a:r>
              <a:rPr lang="it-IT" sz="2000" b="0" i="0" dirty="0">
                <a:solidFill>
                  <a:srgbClr val="374151"/>
                </a:solidFill>
                <a:effectLst/>
                <a:latin typeface="Söhne"/>
              </a:rPr>
              <a:t>Immagina di avere un progetto Java che include diverse classi per svolgere diverse funzioni. Raggruppando queste classi in package basati sulla loro funzione o scopo, è possibile organizzare il codice sorgente in modo più chiaro e gestibile. </a:t>
            </a:r>
          </a:p>
        </p:txBody>
      </p:sp>
      <p:sp>
        <p:nvSpPr>
          <p:cNvPr id="2" name="CasellaDiTesto 1">
            <a:extLst>
              <a:ext uri="{FF2B5EF4-FFF2-40B4-BE49-F238E27FC236}">
                <a16:creationId xmlns:a16="http://schemas.microsoft.com/office/drawing/2014/main" id="{76BC41C4-8F53-DFFB-C24E-4B8BB3269626}"/>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922525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3170099"/>
          </a:xfrm>
          <a:prstGeom prst="rect">
            <a:avLst/>
          </a:prstGeom>
          <a:noFill/>
        </p:spPr>
        <p:txBody>
          <a:bodyPr wrap="square">
            <a:spAutoFit/>
          </a:bodyPr>
          <a:lstStyle/>
          <a:p>
            <a:r>
              <a:rPr lang="it-IT" sz="2000" dirty="0"/>
              <a:t>Approfondiamo, ora la questione dei package.</a:t>
            </a:r>
          </a:p>
          <a:p>
            <a:pPr algn="l"/>
            <a:r>
              <a:rPr lang="it-IT" sz="2000" b="0" i="0" dirty="0">
                <a:solidFill>
                  <a:srgbClr val="374151"/>
                </a:solidFill>
                <a:effectLst/>
                <a:latin typeface="Söhne"/>
              </a:rPr>
              <a:t>In Java, raggruppare classi in dei package ha senso quando si desidera organizzare il codice sorgente in modo gerarchico e modulare.</a:t>
            </a:r>
          </a:p>
          <a:p>
            <a:pPr algn="l"/>
            <a:r>
              <a:rPr lang="it-IT" sz="2000" b="0" i="0" dirty="0">
                <a:solidFill>
                  <a:srgbClr val="374151"/>
                </a:solidFill>
                <a:effectLst/>
                <a:latin typeface="Söhne"/>
              </a:rPr>
              <a:t>Immagina di avere un progetto Java che include diverse classi per svolgere diverse funzioni. Raggruppando queste classi in package basati sulla loro funzione o scopo, è possibile organizzare il codice sorgente in modo più chiaro e gestibile. Ad esempio, tutte le classi relative alla gestione del database possono essere raggruppate in un package "database", mentre tutte le classi relative all'interfaccia utente possono essere raggruppate in un package "</a:t>
            </a:r>
            <a:r>
              <a:rPr lang="it-IT" sz="2000" b="0" i="0" dirty="0" err="1">
                <a:solidFill>
                  <a:srgbClr val="374151"/>
                </a:solidFill>
                <a:effectLst/>
                <a:latin typeface="Söhne"/>
              </a:rPr>
              <a:t>gui</a:t>
            </a:r>
            <a:r>
              <a:rPr lang="it-IT" sz="2000" b="0" i="0" dirty="0">
                <a:solidFill>
                  <a:srgbClr val="374151"/>
                </a:solidFill>
                <a:effectLst/>
                <a:latin typeface="Söhne"/>
              </a:rPr>
              <a:t>".</a:t>
            </a:r>
          </a:p>
        </p:txBody>
      </p:sp>
      <p:sp>
        <p:nvSpPr>
          <p:cNvPr id="2" name="CasellaDiTesto 1">
            <a:extLst>
              <a:ext uri="{FF2B5EF4-FFF2-40B4-BE49-F238E27FC236}">
                <a16:creationId xmlns:a16="http://schemas.microsoft.com/office/drawing/2014/main" id="{E7B7B044-8F5B-C985-C8F7-4302420E3EC1}"/>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272241531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3785652"/>
          </a:xfrm>
          <a:prstGeom prst="rect">
            <a:avLst/>
          </a:prstGeom>
          <a:noFill/>
        </p:spPr>
        <p:txBody>
          <a:bodyPr wrap="square">
            <a:spAutoFit/>
          </a:bodyPr>
          <a:lstStyle/>
          <a:p>
            <a:r>
              <a:rPr lang="it-IT" sz="2000" dirty="0"/>
              <a:t>Approfondiamo, ora la questione dei package.</a:t>
            </a:r>
          </a:p>
          <a:p>
            <a:pPr algn="l"/>
            <a:r>
              <a:rPr lang="it-IT" sz="2000" b="0" i="0" dirty="0">
                <a:solidFill>
                  <a:srgbClr val="374151"/>
                </a:solidFill>
                <a:effectLst/>
                <a:latin typeface="Söhne"/>
              </a:rPr>
              <a:t>In Java, raggruppare classi in dei package ha senso quando si desidera organizzare il codice sorgente in modo gerarchico e modulare.</a:t>
            </a:r>
          </a:p>
          <a:p>
            <a:pPr algn="l"/>
            <a:r>
              <a:rPr lang="it-IT" sz="2000" b="0" i="0" dirty="0">
                <a:solidFill>
                  <a:srgbClr val="374151"/>
                </a:solidFill>
                <a:effectLst/>
                <a:latin typeface="Söhne"/>
              </a:rPr>
              <a:t>Immagina di avere un progetto Java che include diverse classi per svolgere diverse funzioni. Raggruppando queste classi in package basati sulla loro funzione o scopo, è possibile organizzare il codice sorgente in modo più chiaro e gestibile. Ad esempio, tutte le classi relative alla gestione del database possono essere raggruppate in un package "database", mentre tutte le classi relative all'interfaccia utente possono essere raggruppate in un package "</a:t>
            </a:r>
            <a:r>
              <a:rPr lang="it-IT" sz="2000" b="0" i="0" dirty="0" err="1">
                <a:solidFill>
                  <a:srgbClr val="374151"/>
                </a:solidFill>
                <a:effectLst/>
                <a:latin typeface="Söhne"/>
              </a:rPr>
              <a:t>gui</a:t>
            </a:r>
            <a:r>
              <a:rPr lang="it-IT" sz="2000" b="0" i="0" dirty="0">
                <a:solidFill>
                  <a:srgbClr val="374151"/>
                </a:solidFill>
                <a:effectLst/>
                <a:latin typeface="Söhne"/>
              </a:rPr>
              <a:t>".</a:t>
            </a:r>
          </a:p>
          <a:p>
            <a:pPr algn="l"/>
            <a:r>
              <a:rPr lang="it-IT" sz="2000" b="0" i="0" dirty="0">
                <a:solidFill>
                  <a:srgbClr val="374151"/>
                </a:solidFill>
                <a:effectLst/>
                <a:latin typeface="Söhne"/>
              </a:rPr>
              <a:t>Inoltre, l'utilizzo dei package permette di evitare conflitti di nomi tra le classi.</a:t>
            </a:r>
          </a:p>
        </p:txBody>
      </p:sp>
      <p:sp>
        <p:nvSpPr>
          <p:cNvPr id="2" name="CasellaDiTesto 1">
            <a:extLst>
              <a:ext uri="{FF2B5EF4-FFF2-40B4-BE49-F238E27FC236}">
                <a16:creationId xmlns:a16="http://schemas.microsoft.com/office/drawing/2014/main" id="{DB4F7382-A7A1-0C26-3A26-2393E460297F}"/>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44566757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4401205"/>
          </a:xfrm>
          <a:prstGeom prst="rect">
            <a:avLst/>
          </a:prstGeom>
          <a:noFill/>
        </p:spPr>
        <p:txBody>
          <a:bodyPr wrap="square">
            <a:spAutoFit/>
          </a:bodyPr>
          <a:lstStyle/>
          <a:p>
            <a:r>
              <a:rPr lang="it-IT" sz="2000" dirty="0"/>
              <a:t>Approfondiamo, ora la questione dei package.</a:t>
            </a:r>
          </a:p>
          <a:p>
            <a:pPr algn="l"/>
            <a:r>
              <a:rPr lang="it-IT" sz="2000" b="0" i="0" dirty="0">
                <a:solidFill>
                  <a:srgbClr val="374151"/>
                </a:solidFill>
                <a:effectLst/>
                <a:latin typeface="Söhne"/>
              </a:rPr>
              <a:t>In Java, raggruppare classi in dei package ha senso quando si desidera organizzare il codice sorgente in modo gerarchico e modulare.</a:t>
            </a:r>
          </a:p>
          <a:p>
            <a:pPr algn="l"/>
            <a:r>
              <a:rPr lang="it-IT" sz="2000" b="0" i="0" dirty="0">
                <a:solidFill>
                  <a:srgbClr val="374151"/>
                </a:solidFill>
                <a:effectLst/>
                <a:latin typeface="Söhne"/>
              </a:rPr>
              <a:t>Immagina di avere un progetto Java che include diverse classi per svolgere diverse funzioni. Raggruppando queste classi in package basati sulla loro funzione o scopo, è possibile organizzare il codice sorgente in modo più chiaro e gestibile. Ad esempio, tutte le classi relative alla gestione del database possono essere raggruppate in un package "database", mentre tutte le classi relative all'interfaccia utente possono essere raggruppate in un package "</a:t>
            </a:r>
            <a:r>
              <a:rPr lang="it-IT" sz="2000" b="0" i="0" dirty="0" err="1">
                <a:solidFill>
                  <a:srgbClr val="374151"/>
                </a:solidFill>
                <a:effectLst/>
                <a:latin typeface="Söhne"/>
              </a:rPr>
              <a:t>gui</a:t>
            </a:r>
            <a:r>
              <a:rPr lang="it-IT" sz="2000" b="0" i="0" dirty="0">
                <a:solidFill>
                  <a:srgbClr val="374151"/>
                </a:solidFill>
                <a:effectLst/>
                <a:latin typeface="Söhne"/>
              </a:rPr>
              <a:t>".</a:t>
            </a:r>
          </a:p>
          <a:p>
            <a:pPr algn="l"/>
            <a:r>
              <a:rPr lang="it-IT" sz="2000" b="0" i="0" dirty="0">
                <a:solidFill>
                  <a:srgbClr val="374151"/>
                </a:solidFill>
                <a:effectLst/>
                <a:latin typeface="Söhne"/>
              </a:rPr>
              <a:t>Inoltre, l'utilizzo dei package permette di evitare conflitti di nomi tra le classi. Infatti, due classi con lo stesso nome possono essere incluse in package diversi senza creare conflitti, in quanto il nome completo della classe (che include il nome del package) è univoco.</a:t>
            </a:r>
          </a:p>
        </p:txBody>
      </p:sp>
      <p:sp>
        <p:nvSpPr>
          <p:cNvPr id="2" name="CasellaDiTesto 1">
            <a:extLst>
              <a:ext uri="{FF2B5EF4-FFF2-40B4-BE49-F238E27FC236}">
                <a16:creationId xmlns:a16="http://schemas.microsoft.com/office/drawing/2014/main" id="{0385C886-1A65-B275-89CE-54CB924F9C19}"/>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405687088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4708981"/>
          </a:xfrm>
          <a:prstGeom prst="rect">
            <a:avLst/>
          </a:prstGeom>
          <a:noFill/>
        </p:spPr>
        <p:txBody>
          <a:bodyPr wrap="square">
            <a:spAutoFit/>
          </a:bodyPr>
          <a:lstStyle/>
          <a:p>
            <a:r>
              <a:rPr lang="it-IT" sz="2000" dirty="0"/>
              <a:t>Approfondiamo, ora la questione dei package.</a:t>
            </a:r>
          </a:p>
          <a:p>
            <a:pPr algn="l"/>
            <a:r>
              <a:rPr lang="it-IT" sz="2000" b="0" i="0" dirty="0">
                <a:solidFill>
                  <a:srgbClr val="374151"/>
                </a:solidFill>
                <a:effectLst/>
                <a:latin typeface="Söhne"/>
              </a:rPr>
              <a:t>In Java, raggruppare classi in dei package ha senso quando si desidera organizzare il codice sorgente in modo gerarchico e modulare.</a:t>
            </a:r>
          </a:p>
          <a:p>
            <a:pPr algn="l"/>
            <a:r>
              <a:rPr lang="it-IT" sz="2000" b="0" i="0" dirty="0">
                <a:solidFill>
                  <a:srgbClr val="374151"/>
                </a:solidFill>
                <a:effectLst/>
                <a:latin typeface="Söhne"/>
              </a:rPr>
              <a:t>Immagina di avere un progetto Java che include diverse classi per svolgere diverse funzioni. Raggruppando queste classi in package basati sulla loro funzione o scopo, è possibile organizzare il codice sorgente in modo più chiaro e gestibile. Ad esempio, tutte le classi relative alla gestione del database possono essere raggruppate in un package "database", mentre tutte le classi relative all'interfaccia utente possono essere raggruppate in un package "</a:t>
            </a:r>
            <a:r>
              <a:rPr lang="it-IT" sz="2000" b="0" i="0" dirty="0" err="1">
                <a:solidFill>
                  <a:srgbClr val="374151"/>
                </a:solidFill>
                <a:effectLst/>
                <a:latin typeface="Söhne"/>
              </a:rPr>
              <a:t>gui</a:t>
            </a:r>
            <a:r>
              <a:rPr lang="it-IT" sz="2000" b="0" i="0" dirty="0">
                <a:solidFill>
                  <a:srgbClr val="374151"/>
                </a:solidFill>
                <a:effectLst/>
                <a:latin typeface="Söhne"/>
              </a:rPr>
              <a:t>".</a:t>
            </a:r>
          </a:p>
          <a:p>
            <a:pPr algn="l"/>
            <a:r>
              <a:rPr lang="it-IT" sz="2000" b="0" i="0" dirty="0">
                <a:solidFill>
                  <a:srgbClr val="374151"/>
                </a:solidFill>
                <a:effectLst/>
                <a:latin typeface="Söhne"/>
              </a:rPr>
              <a:t>Inoltre, l'utilizzo dei package permette di evitare conflitti di nomi tra le classi. Infatti, due classi con lo stesso nome possono essere incluse in package diversi senza creare conflitti, in quanto il nome completo della classe (che include il nome del package) è univoco.</a:t>
            </a:r>
          </a:p>
          <a:p>
            <a:pPr algn="l"/>
            <a:r>
              <a:rPr lang="it-IT" sz="2000" b="0" i="0" dirty="0">
                <a:solidFill>
                  <a:srgbClr val="374151"/>
                </a:solidFill>
                <a:effectLst/>
                <a:latin typeface="Söhne"/>
              </a:rPr>
              <a:t>In sintesi, raggruppare le classi in package aiuta a:</a:t>
            </a:r>
          </a:p>
        </p:txBody>
      </p:sp>
      <p:sp>
        <p:nvSpPr>
          <p:cNvPr id="2" name="CasellaDiTesto 1">
            <a:extLst>
              <a:ext uri="{FF2B5EF4-FFF2-40B4-BE49-F238E27FC236}">
                <a16:creationId xmlns:a16="http://schemas.microsoft.com/office/drawing/2014/main" id="{65AA967D-77E2-DD76-9C45-BDAC5CA3F27A}"/>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411375880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5016758"/>
          </a:xfrm>
          <a:prstGeom prst="rect">
            <a:avLst/>
          </a:prstGeom>
          <a:noFill/>
        </p:spPr>
        <p:txBody>
          <a:bodyPr wrap="square">
            <a:spAutoFit/>
          </a:bodyPr>
          <a:lstStyle/>
          <a:p>
            <a:r>
              <a:rPr lang="it-IT" sz="2000" dirty="0"/>
              <a:t>Approfondiamo, ora la questione dei package.</a:t>
            </a:r>
          </a:p>
          <a:p>
            <a:pPr algn="l"/>
            <a:r>
              <a:rPr lang="it-IT" sz="2000" b="0" i="0" dirty="0">
                <a:solidFill>
                  <a:srgbClr val="374151"/>
                </a:solidFill>
                <a:effectLst/>
                <a:latin typeface="Söhne"/>
              </a:rPr>
              <a:t>In Java, raggruppare classi in dei package ha senso quando si desidera organizzare il codice sorgente in modo gerarchico e modulare.</a:t>
            </a:r>
          </a:p>
          <a:p>
            <a:pPr algn="l"/>
            <a:r>
              <a:rPr lang="it-IT" sz="2000" b="0" i="0" dirty="0">
                <a:solidFill>
                  <a:srgbClr val="374151"/>
                </a:solidFill>
                <a:effectLst/>
                <a:latin typeface="Söhne"/>
              </a:rPr>
              <a:t>Immagina di avere un progetto Java che include diverse classi per svolgere diverse funzioni. Raggruppando queste classi in package basati sulla loro funzione o scopo, è possibile organizzare il codice sorgente in modo più chiaro e gestibile. Ad esempio, tutte le classi relative alla gestione del database possono essere raggruppate in un package "database", mentre tutte le classi relative all'interfaccia utente possono essere raggruppate in un package "</a:t>
            </a:r>
            <a:r>
              <a:rPr lang="it-IT" sz="2000" b="0" i="0" dirty="0" err="1">
                <a:solidFill>
                  <a:srgbClr val="374151"/>
                </a:solidFill>
                <a:effectLst/>
                <a:latin typeface="Söhne"/>
              </a:rPr>
              <a:t>gui</a:t>
            </a:r>
            <a:r>
              <a:rPr lang="it-IT" sz="2000" b="0" i="0" dirty="0">
                <a:solidFill>
                  <a:srgbClr val="374151"/>
                </a:solidFill>
                <a:effectLst/>
                <a:latin typeface="Söhne"/>
              </a:rPr>
              <a:t>".</a:t>
            </a:r>
          </a:p>
          <a:p>
            <a:pPr algn="l"/>
            <a:r>
              <a:rPr lang="it-IT" sz="2000" b="0" i="0" dirty="0">
                <a:solidFill>
                  <a:srgbClr val="374151"/>
                </a:solidFill>
                <a:effectLst/>
                <a:latin typeface="Söhne"/>
              </a:rPr>
              <a:t>Inoltre, l'utilizzo dei package permette di evitare conflitti di nomi tra le classi. Infatti, due classi con lo stesso nome possono essere incluse in package diversi senza creare conflitti, in quanto il nome completo della classe (che include il nome del package) è univoco.</a:t>
            </a:r>
          </a:p>
          <a:p>
            <a:pPr algn="l"/>
            <a:r>
              <a:rPr lang="it-IT" sz="2000" b="0" i="0" dirty="0">
                <a:solidFill>
                  <a:srgbClr val="374151"/>
                </a:solidFill>
                <a:effectLst/>
                <a:latin typeface="Söhne"/>
              </a:rPr>
              <a:t>In sintesi, raggruppare le classi in package aiuta a:</a:t>
            </a:r>
          </a:p>
          <a:p>
            <a:pPr algn="l">
              <a:buFont typeface="Arial" panose="020B0604020202020204" pitchFamily="34" charset="0"/>
              <a:buChar char="•"/>
            </a:pPr>
            <a:r>
              <a:rPr lang="it-IT" sz="2000" b="0" i="0" dirty="0">
                <a:solidFill>
                  <a:srgbClr val="374151"/>
                </a:solidFill>
                <a:effectLst/>
                <a:latin typeface="Söhne"/>
              </a:rPr>
              <a:t>organizzare il codice sorgente in modo gerarchico e modulare</a:t>
            </a:r>
          </a:p>
        </p:txBody>
      </p:sp>
      <p:sp>
        <p:nvSpPr>
          <p:cNvPr id="2" name="CasellaDiTesto 1">
            <a:extLst>
              <a:ext uri="{FF2B5EF4-FFF2-40B4-BE49-F238E27FC236}">
                <a16:creationId xmlns:a16="http://schemas.microsoft.com/office/drawing/2014/main" id="{C1E31F42-70E2-303E-0415-49F77E2BA3B0}"/>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23708355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5632311"/>
          </a:xfrm>
          <a:prstGeom prst="rect">
            <a:avLst/>
          </a:prstGeom>
          <a:noFill/>
        </p:spPr>
        <p:txBody>
          <a:bodyPr wrap="square">
            <a:spAutoFit/>
          </a:bodyPr>
          <a:lstStyle/>
          <a:p>
            <a:r>
              <a:rPr lang="it-IT" sz="2000" dirty="0"/>
              <a:t>Approfondiamo, ora la questione dei package.</a:t>
            </a:r>
          </a:p>
          <a:p>
            <a:pPr algn="l"/>
            <a:r>
              <a:rPr lang="it-IT" sz="2000" b="0" i="0" dirty="0">
                <a:solidFill>
                  <a:srgbClr val="374151"/>
                </a:solidFill>
                <a:effectLst/>
                <a:latin typeface="Söhne"/>
              </a:rPr>
              <a:t>In Java, raggruppare classi in dei package ha senso quando si desidera organizzare il codice sorgente in modo gerarchico e modulare.</a:t>
            </a:r>
          </a:p>
          <a:p>
            <a:pPr algn="l"/>
            <a:r>
              <a:rPr lang="it-IT" sz="2000" b="0" i="0" dirty="0">
                <a:solidFill>
                  <a:srgbClr val="374151"/>
                </a:solidFill>
                <a:effectLst/>
                <a:latin typeface="Söhne"/>
              </a:rPr>
              <a:t>Immagina di avere un progetto Java che include diverse classi per svolgere diverse funzioni. Raggruppando queste classi in package basati sulla loro funzione o scopo, è possibile organizzare il codice sorgente in modo più chiaro e gestibile. Ad esempio, tutte le classi relative alla gestione del database possono essere raggruppate in un package "database", mentre tutte le classi relative all'interfaccia utente possono essere raggruppate in un package "</a:t>
            </a:r>
            <a:r>
              <a:rPr lang="it-IT" sz="2000" b="0" i="0" dirty="0" err="1">
                <a:solidFill>
                  <a:srgbClr val="374151"/>
                </a:solidFill>
                <a:effectLst/>
                <a:latin typeface="Söhne"/>
              </a:rPr>
              <a:t>gui</a:t>
            </a:r>
            <a:r>
              <a:rPr lang="it-IT" sz="2000" b="0" i="0" dirty="0">
                <a:solidFill>
                  <a:srgbClr val="374151"/>
                </a:solidFill>
                <a:effectLst/>
                <a:latin typeface="Söhne"/>
              </a:rPr>
              <a:t>".</a:t>
            </a:r>
          </a:p>
          <a:p>
            <a:pPr algn="l"/>
            <a:r>
              <a:rPr lang="it-IT" sz="2000" b="0" i="0" dirty="0">
                <a:solidFill>
                  <a:srgbClr val="374151"/>
                </a:solidFill>
                <a:effectLst/>
                <a:latin typeface="Söhne"/>
              </a:rPr>
              <a:t>Inoltre, l'utilizzo dei package permette di evitare conflitti di nomi tra le classi. Infatti, due classi con lo stesso nome possono essere incluse in package diversi senza creare conflitti, in quanto il nome completo della classe (che include il nome del package) è univoco.</a:t>
            </a:r>
          </a:p>
          <a:p>
            <a:pPr algn="l"/>
            <a:r>
              <a:rPr lang="it-IT" sz="2000" b="0" i="0" dirty="0">
                <a:solidFill>
                  <a:srgbClr val="374151"/>
                </a:solidFill>
                <a:effectLst/>
                <a:latin typeface="Söhne"/>
              </a:rPr>
              <a:t>In sintesi, raggruppare le classi in package aiuta a:</a:t>
            </a:r>
          </a:p>
          <a:p>
            <a:pPr algn="l">
              <a:buFont typeface="Arial" panose="020B0604020202020204" pitchFamily="34" charset="0"/>
              <a:buChar char="•"/>
            </a:pPr>
            <a:r>
              <a:rPr lang="it-IT" sz="2000" b="0" i="0" dirty="0">
                <a:solidFill>
                  <a:srgbClr val="374151"/>
                </a:solidFill>
                <a:effectLst/>
                <a:latin typeface="Söhne"/>
              </a:rPr>
              <a:t>organizzare il codice sorgente in modo gerarchico e modulare</a:t>
            </a:r>
          </a:p>
          <a:p>
            <a:pPr algn="l">
              <a:buFont typeface="Arial" panose="020B0604020202020204" pitchFamily="34" charset="0"/>
              <a:buChar char="•"/>
            </a:pPr>
            <a:r>
              <a:rPr lang="it-IT" sz="2000" b="0" i="0" dirty="0">
                <a:solidFill>
                  <a:srgbClr val="374151"/>
                </a:solidFill>
                <a:effectLst/>
                <a:latin typeface="Söhne"/>
              </a:rPr>
              <a:t>evitare conflitti di nomi tra le classi</a:t>
            </a:r>
          </a:p>
          <a:p>
            <a:endParaRPr lang="it-IT" sz="2000" dirty="0"/>
          </a:p>
        </p:txBody>
      </p:sp>
      <p:sp>
        <p:nvSpPr>
          <p:cNvPr id="2" name="CasellaDiTesto 1">
            <a:extLst>
              <a:ext uri="{FF2B5EF4-FFF2-40B4-BE49-F238E27FC236}">
                <a16:creationId xmlns:a16="http://schemas.microsoft.com/office/drawing/2014/main" id="{FB178919-8A89-6A62-3573-40790B6C8501}"/>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36759619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01753"/>
          </a:xfrm>
          <a:prstGeom prst="rect">
            <a:avLst/>
          </a:prstGeom>
          <a:noFill/>
        </p:spPr>
        <p:txBody>
          <a:bodyPr wrap="square">
            <a:spAutoFit/>
          </a:bodyPr>
          <a:lstStyle/>
          <a:p>
            <a:r>
              <a:rPr lang="it-IT" sz="2000" dirty="0"/>
              <a:t>Approfondiamo, ora la questione dei package.</a:t>
            </a:r>
          </a:p>
          <a:p>
            <a:pPr algn="l"/>
            <a:r>
              <a:rPr lang="it-IT" sz="2000" b="0" i="0" dirty="0">
                <a:solidFill>
                  <a:srgbClr val="374151"/>
                </a:solidFill>
                <a:effectLst/>
                <a:latin typeface="Söhne"/>
              </a:rPr>
              <a:t>In Java, raggruppare classi in dei package ha senso quando si desidera organizzare il codice sorgente in modo gerarchico e modulare.</a:t>
            </a:r>
          </a:p>
          <a:p>
            <a:pPr algn="l"/>
            <a:r>
              <a:rPr lang="it-IT" sz="2000" b="0" i="0" dirty="0">
                <a:solidFill>
                  <a:srgbClr val="374151"/>
                </a:solidFill>
                <a:effectLst/>
                <a:latin typeface="Söhne"/>
              </a:rPr>
              <a:t>Immagina di avere un progetto Java che include diverse classi per svolgere diverse funzioni. Raggruppando queste classi in package basati sulla loro funzione o scopo, è possibile organizzare il codice sorgente in modo più chiaro e gestibile. Ad esempio, tutte le classi relative alla gestione del database possono essere raggruppate in un package "database", mentre tutte le classi relative all'interfaccia utente possono essere raggruppate in un package "</a:t>
            </a:r>
            <a:r>
              <a:rPr lang="it-IT" sz="2000" b="0" i="0" dirty="0" err="1">
                <a:solidFill>
                  <a:srgbClr val="374151"/>
                </a:solidFill>
                <a:effectLst/>
                <a:latin typeface="Söhne"/>
              </a:rPr>
              <a:t>gui</a:t>
            </a:r>
            <a:r>
              <a:rPr lang="it-IT" sz="2000" b="0" i="0" dirty="0">
                <a:solidFill>
                  <a:srgbClr val="374151"/>
                </a:solidFill>
                <a:effectLst/>
                <a:latin typeface="Söhne"/>
              </a:rPr>
              <a:t>".</a:t>
            </a:r>
          </a:p>
          <a:p>
            <a:pPr algn="l"/>
            <a:r>
              <a:rPr lang="it-IT" sz="2000" b="0" i="0" dirty="0">
                <a:solidFill>
                  <a:srgbClr val="374151"/>
                </a:solidFill>
                <a:effectLst/>
                <a:latin typeface="Söhne"/>
              </a:rPr>
              <a:t>Inoltre, l'utilizzo dei package permette di evitare conflitti di nomi tra le classi. Infatti, due classi con lo stesso nome possono essere incluse in package diversi senza creare conflitti, in quanto il nome completo della classe (che include il nome del package) è univoco.</a:t>
            </a:r>
          </a:p>
          <a:p>
            <a:pPr algn="l"/>
            <a:r>
              <a:rPr lang="it-IT" sz="2000" b="0" i="0" dirty="0">
                <a:solidFill>
                  <a:srgbClr val="374151"/>
                </a:solidFill>
                <a:effectLst/>
                <a:latin typeface="Söhne"/>
              </a:rPr>
              <a:t>In sintesi, raggruppare le classi in package aiuta a:</a:t>
            </a:r>
          </a:p>
          <a:p>
            <a:pPr algn="l">
              <a:buFont typeface="Arial" panose="020B0604020202020204" pitchFamily="34" charset="0"/>
              <a:buChar char="•"/>
            </a:pPr>
            <a:r>
              <a:rPr lang="it-IT" sz="2000" b="0" i="0" dirty="0">
                <a:solidFill>
                  <a:srgbClr val="374151"/>
                </a:solidFill>
                <a:effectLst/>
                <a:latin typeface="Söhne"/>
              </a:rPr>
              <a:t>organizzare il codice sorgente in modo gerarchico e modulare</a:t>
            </a:r>
          </a:p>
          <a:p>
            <a:pPr algn="l">
              <a:buFont typeface="Arial" panose="020B0604020202020204" pitchFamily="34" charset="0"/>
              <a:buChar char="•"/>
            </a:pPr>
            <a:r>
              <a:rPr lang="it-IT" sz="2000" b="0" i="0" dirty="0">
                <a:solidFill>
                  <a:srgbClr val="374151"/>
                </a:solidFill>
                <a:effectLst/>
                <a:latin typeface="Söhne"/>
              </a:rPr>
              <a:t>evitare conflitti di nomi tra le classi</a:t>
            </a:r>
          </a:p>
          <a:p>
            <a:pPr algn="l">
              <a:buFont typeface="Arial" panose="020B0604020202020204" pitchFamily="34" charset="0"/>
              <a:buChar char="•"/>
            </a:pPr>
            <a:r>
              <a:rPr lang="it-IT" sz="2000" b="0" i="0" dirty="0">
                <a:solidFill>
                  <a:srgbClr val="374151"/>
                </a:solidFill>
                <a:effectLst/>
                <a:latin typeface="Söhne"/>
              </a:rPr>
              <a:t>migliorare la comprensione del codice sorgente e facilitare la manutenzione.</a:t>
            </a:r>
          </a:p>
          <a:p>
            <a:endParaRPr lang="it-IT" sz="2000" dirty="0"/>
          </a:p>
        </p:txBody>
      </p:sp>
      <p:sp>
        <p:nvSpPr>
          <p:cNvPr id="3" name="CasellaDiTesto 2">
            <a:extLst>
              <a:ext uri="{FF2B5EF4-FFF2-40B4-BE49-F238E27FC236}">
                <a16:creationId xmlns:a16="http://schemas.microsoft.com/office/drawing/2014/main" id="{F078D9AE-AAD9-D234-EACC-6516D68539D8}"/>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115715275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dirty="0"/>
              <a:t>Realizziamo ora </a:t>
            </a:r>
            <a:r>
              <a:rPr lang="it-IT" b="0" i="0" dirty="0">
                <a:solidFill>
                  <a:srgbClr val="374151"/>
                </a:solidFill>
                <a:effectLst/>
                <a:latin typeface="Söhne"/>
              </a:rPr>
              <a:t>un esempio molto semplice in cui ha senso raggruppare le classi in un package:</a:t>
            </a:r>
          </a:p>
        </p:txBody>
      </p:sp>
      <p:sp>
        <p:nvSpPr>
          <p:cNvPr id="2" name="CasellaDiTesto 1">
            <a:extLst>
              <a:ext uri="{FF2B5EF4-FFF2-40B4-BE49-F238E27FC236}">
                <a16:creationId xmlns:a16="http://schemas.microsoft.com/office/drawing/2014/main" id="{3BA019C2-1BE9-40CF-58D8-2B3DBA8B0CC8}"/>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25960837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1200329"/>
          </a:xfrm>
          <a:prstGeom prst="rect">
            <a:avLst/>
          </a:prstGeom>
          <a:noFill/>
        </p:spPr>
        <p:txBody>
          <a:bodyPr wrap="square">
            <a:spAutoFit/>
          </a:bodyPr>
          <a:lstStyle/>
          <a:p>
            <a:pPr algn="l"/>
            <a:r>
              <a:rPr lang="it-IT" dirty="0"/>
              <a:t>Realizziamo ora </a:t>
            </a:r>
            <a:r>
              <a:rPr lang="it-IT" b="0" i="0" dirty="0">
                <a:solidFill>
                  <a:srgbClr val="374151"/>
                </a:solidFill>
                <a:effectLst/>
                <a:latin typeface="Söhne"/>
              </a:rPr>
              <a:t>un esempio molto semplice in cui ha senso raggruppare le classi in un package:</a:t>
            </a:r>
          </a:p>
          <a:p>
            <a:pPr algn="l"/>
            <a:r>
              <a:rPr lang="it-IT" b="0" i="0" dirty="0">
                <a:solidFill>
                  <a:srgbClr val="374151"/>
                </a:solidFill>
                <a:effectLst/>
                <a:latin typeface="Söhne"/>
              </a:rPr>
              <a:t>Immagina di dover sviluppare un semplice gioco in cui un giocatore deve indovinare un numero casuale generato dal computer.</a:t>
            </a:r>
          </a:p>
        </p:txBody>
      </p:sp>
      <p:sp>
        <p:nvSpPr>
          <p:cNvPr id="2" name="CasellaDiTesto 1">
            <a:extLst>
              <a:ext uri="{FF2B5EF4-FFF2-40B4-BE49-F238E27FC236}">
                <a16:creationId xmlns:a16="http://schemas.microsoft.com/office/drawing/2014/main" id="{DFDFF06D-25AB-FEBA-41A4-AC5CB8B4022B}"/>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19798898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1477328"/>
          </a:xfrm>
          <a:prstGeom prst="rect">
            <a:avLst/>
          </a:prstGeom>
          <a:noFill/>
        </p:spPr>
        <p:txBody>
          <a:bodyPr wrap="square">
            <a:spAutoFit/>
          </a:bodyPr>
          <a:lstStyle/>
          <a:p>
            <a:pPr algn="l"/>
            <a:r>
              <a:rPr lang="it-IT" dirty="0"/>
              <a:t>Realizziamo ora </a:t>
            </a:r>
            <a:r>
              <a:rPr lang="it-IT" b="0" i="0" dirty="0">
                <a:solidFill>
                  <a:srgbClr val="374151"/>
                </a:solidFill>
                <a:effectLst/>
                <a:latin typeface="Söhne"/>
              </a:rPr>
              <a:t>un esempio molto semplice in cui ha senso raggruppare le classi in un package:</a:t>
            </a:r>
          </a:p>
          <a:p>
            <a:pPr algn="l"/>
            <a:r>
              <a:rPr lang="it-IT" b="0" i="0" dirty="0">
                <a:solidFill>
                  <a:srgbClr val="374151"/>
                </a:solidFill>
                <a:effectLst/>
                <a:latin typeface="Söhne"/>
              </a:rPr>
              <a:t>Immagina di dover sviluppare un semplice gioco in cui un giocatore deve indovinare un numero casuale generato dal computer.</a:t>
            </a:r>
          </a:p>
          <a:p>
            <a:pPr algn="l"/>
            <a:r>
              <a:rPr lang="it-IT" b="0" i="0" dirty="0">
                <a:solidFill>
                  <a:srgbClr val="374151"/>
                </a:solidFill>
                <a:effectLst/>
                <a:latin typeface="Söhne"/>
              </a:rPr>
              <a:t>In questo caso, si potrebbero creare tre classi:</a:t>
            </a:r>
          </a:p>
        </p:txBody>
      </p:sp>
      <p:sp>
        <p:nvSpPr>
          <p:cNvPr id="2" name="CasellaDiTesto 1">
            <a:extLst>
              <a:ext uri="{FF2B5EF4-FFF2-40B4-BE49-F238E27FC236}">
                <a16:creationId xmlns:a16="http://schemas.microsoft.com/office/drawing/2014/main" id="{24B621B5-4FEA-BDFE-841F-690403D15C90}"/>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370091883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1754326"/>
          </a:xfrm>
          <a:prstGeom prst="rect">
            <a:avLst/>
          </a:prstGeom>
          <a:noFill/>
        </p:spPr>
        <p:txBody>
          <a:bodyPr wrap="square">
            <a:spAutoFit/>
          </a:bodyPr>
          <a:lstStyle/>
          <a:p>
            <a:pPr algn="l"/>
            <a:r>
              <a:rPr lang="it-IT" dirty="0"/>
              <a:t>Realizziamo ora </a:t>
            </a:r>
            <a:r>
              <a:rPr lang="it-IT" b="0" i="0" dirty="0">
                <a:solidFill>
                  <a:srgbClr val="374151"/>
                </a:solidFill>
                <a:effectLst/>
                <a:latin typeface="Söhne"/>
              </a:rPr>
              <a:t>un esempio molto semplice in cui ha senso raggruppare le classi in un package:</a:t>
            </a:r>
          </a:p>
          <a:p>
            <a:pPr algn="l"/>
            <a:r>
              <a:rPr lang="it-IT" b="0" i="0" dirty="0">
                <a:solidFill>
                  <a:srgbClr val="374151"/>
                </a:solidFill>
                <a:effectLst/>
                <a:latin typeface="Söhne"/>
              </a:rPr>
              <a:t>Immagina di dover sviluppare un semplice gioco in cui un giocatore deve indovinare un numero casuale generato dal computer.</a:t>
            </a:r>
          </a:p>
          <a:p>
            <a:pPr algn="l"/>
            <a:r>
              <a:rPr lang="it-IT" b="0" i="0" dirty="0">
                <a:solidFill>
                  <a:srgbClr val="374151"/>
                </a:solidFill>
                <a:effectLst/>
                <a:latin typeface="Söhne"/>
              </a:rPr>
              <a:t>In questo caso, si potrebbero creare tre classi:</a:t>
            </a:r>
          </a:p>
          <a:p>
            <a:pPr algn="l">
              <a:buFont typeface="Arial" panose="020B0604020202020204" pitchFamily="34" charset="0"/>
              <a:buChar char="•"/>
            </a:pPr>
            <a:r>
              <a:rPr lang="it-IT" b="0" i="0" dirty="0">
                <a:solidFill>
                  <a:srgbClr val="374151"/>
                </a:solidFill>
                <a:effectLst/>
                <a:latin typeface="Söhne"/>
              </a:rPr>
              <a:t>Una classe "Game" che rappresenta il gioco e che contiene la logica di base.</a:t>
            </a:r>
          </a:p>
        </p:txBody>
      </p:sp>
      <p:sp>
        <p:nvSpPr>
          <p:cNvPr id="2" name="CasellaDiTesto 1">
            <a:extLst>
              <a:ext uri="{FF2B5EF4-FFF2-40B4-BE49-F238E27FC236}">
                <a16:creationId xmlns:a16="http://schemas.microsoft.com/office/drawing/2014/main" id="{A8CF9FC1-B963-94B8-D018-F0C3D97453AF}"/>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247157179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2308324"/>
          </a:xfrm>
          <a:prstGeom prst="rect">
            <a:avLst/>
          </a:prstGeom>
          <a:noFill/>
        </p:spPr>
        <p:txBody>
          <a:bodyPr wrap="square">
            <a:spAutoFit/>
          </a:bodyPr>
          <a:lstStyle/>
          <a:p>
            <a:pPr algn="l"/>
            <a:r>
              <a:rPr lang="it-IT" dirty="0"/>
              <a:t>Realizziamo ora </a:t>
            </a:r>
            <a:r>
              <a:rPr lang="it-IT" b="0" i="0" dirty="0">
                <a:solidFill>
                  <a:srgbClr val="374151"/>
                </a:solidFill>
                <a:effectLst/>
                <a:latin typeface="Söhne"/>
              </a:rPr>
              <a:t>un esempio molto semplice in cui ha senso raggruppare le classi in un package:</a:t>
            </a:r>
          </a:p>
          <a:p>
            <a:pPr algn="l"/>
            <a:r>
              <a:rPr lang="it-IT" b="0" i="0" dirty="0">
                <a:solidFill>
                  <a:srgbClr val="374151"/>
                </a:solidFill>
                <a:effectLst/>
                <a:latin typeface="Söhne"/>
              </a:rPr>
              <a:t>Immagina di dover sviluppare un semplice gioco in cui un giocatore deve indovinare un numero casuale generato dal computer.</a:t>
            </a:r>
          </a:p>
          <a:p>
            <a:pPr algn="l"/>
            <a:r>
              <a:rPr lang="it-IT" b="0" i="0" dirty="0">
                <a:solidFill>
                  <a:srgbClr val="374151"/>
                </a:solidFill>
                <a:effectLst/>
                <a:latin typeface="Söhne"/>
              </a:rPr>
              <a:t>In questo caso, si potrebbero creare tre classi:</a:t>
            </a:r>
          </a:p>
          <a:p>
            <a:pPr algn="l">
              <a:buFont typeface="Arial" panose="020B0604020202020204" pitchFamily="34" charset="0"/>
              <a:buChar char="•"/>
            </a:pPr>
            <a:r>
              <a:rPr lang="it-IT" b="0" i="0" dirty="0">
                <a:solidFill>
                  <a:srgbClr val="374151"/>
                </a:solidFill>
                <a:effectLst/>
                <a:latin typeface="Söhne"/>
              </a:rPr>
              <a:t>Una classe "Game" che rappresenta il gioco e che contiene la logica di base.</a:t>
            </a:r>
          </a:p>
          <a:p>
            <a:pPr algn="l">
              <a:buFont typeface="Arial" panose="020B0604020202020204" pitchFamily="34" charset="0"/>
              <a:buChar char="•"/>
            </a:pPr>
            <a:r>
              <a:rPr lang="it-IT" b="0" i="0" dirty="0">
                <a:solidFill>
                  <a:srgbClr val="374151"/>
                </a:solidFill>
                <a:effectLst/>
                <a:latin typeface="Söhne"/>
              </a:rPr>
              <a:t>Una classe "Player" che rappresenta il giocatore e che tiene traccia del punteggio e del nome.</a:t>
            </a:r>
          </a:p>
        </p:txBody>
      </p:sp>
      <p:sp>
        <p:nvSpPr>
          <p:cNvPr id="2" name="CasellaDiTesto 1">
            <a:extLst>
              <a:ext uri="{FF2B5EF4-FFF2-40B4-BE49-F238E27FC236}">
                <a16:creationId xmlns:a16="http://schemas.microsoft.com/office/drawing/2014/main" id="{427C2B6A-49E7-F000-6733-702EFE567F51}"/>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289823166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2862322"/>
          </a:xfrm>
          <a:prstGeom prst="rect">
            <a:avLst/>
          </a:prstGeom>
          <a:noFill/>
        </p:spPr>
        <p:txBody>
          <a:bodyPr wrap="square">
            <a:spAutoFit/>
          </a:bodyPr>
          <a:lstStyle/>
          <a:p>
            <a:pPr algn="l"/>
            <a:r>
              <a:rPr lang="it-IT" dirty="0"/>
              <a:t>Realizziamo ora </a:t>
            </a:r>
            <a:r>
              <a:rPr lang="it-IT" b="0" i="0" dirty="0">
                <a:solidFill>
                  <a:srgbClr val="374151"/>
                </a:solidFill>
                <a:effectLst/>
                <a:latin typeface="Söhne"/>
              </a:rPr>
              <a:t>un esempio molto semplice in cui ha senso raggruppare le classi in un package:</a:t>
            </a:r>
          </a:p>
          <a:p>
            <a:pPr algn="l"/>
            <a:r>
              <a:rPr lang="it-IT" b="0" i="0" dirty="0">
                <a:solidFill>
                  <a:srgbClr val="374151"/>
                </a:solidFill>
                <a:effectLst/>
                <a:latin typeface="Söhne"/>
              </a:rPr>
              <a:t>Immagina di dover sviluppare un semplice gioco in cui un giocatore deve indovinare un numero casuale generato dal computer.</a:t>
            </a:r>
          </a:p>
          <a:p>
            <a:pPr algn="l"/>
            <a:r>
              <a:rPr lang="it-IT" b="0" i="0" dirty="0">
                <a:solidFill>
                  <a:srgbClr val="374151"/>
                </a:solidFill>
                <a:effectLst/>
                <a:latin typeface="Söhne"/>
              </a:rPr>
              <a:t>In questo caso, si potrebbero creare tre classi:</a:t>
            </a:r>
          </a:p>
          <a:p>
            <a:pPr algn="l">
              <a:buFont typeface="Arial" panose="020B0604020202020204" pitchFamily="34" charset="0"/>
              <a:buChar char="•"/>
            </a:pPr>
            <a:r>
              <a:rPr lang="it-IT" b="0" i="0" dirty="0">
                <a:solidFill>
                  <a:srgbClr val="374151"/>
                </a:solidFill>
                <a:effectLst/>
                <a:latin typeface="Söhne"/>
              </a:rPr>
              <a:t>Una classe "Game" che rappresenta il gioco e che contiene la logica di base.</a:t>
            </a:r>
          </a:p>
          <a:p>
            <a:pPr algn="l">
              <a:buFont typeface="Arial" panose="020B0604020202020204" pitchFamily="34" charset="0"/>
              <a:buChar char="•"/>
            </a:pPr>
            <a:r>
              <a:rPr lang="it-IT" b="0" i="0" dirty="0">
                <a:solidFill>
                  <a:srgbClr val="374151"/>
                </a:solidFill>
                <a:effectLst/>
                <a:latin typeface="Söhne"/>
              </a:rPr>
              <a:t>Una classe "Player" che rappresenta il giocatore e che tiene traccia del punteggio e del nome.</a:t>
            </a:r>
          </a:p>
          <a:p>
            <a:pPr algn="l">
              <a:buFont typeface="Arial" panose="020B0604020202020204" pitchFamily="34" charset="0"/>
              <a:buChar char="•"/>
            </a:pPr>
            <a:r>
              <a:rPr lang="it-IT" b="0" i="0" dirty="0">
                <a:solidFill>
                  <a:srgbClr val="374151"/>
                </a:solidFill>
                <a:effectLst/>
                <a:latin typeface="Söhne"/>
              </a:rPr>
              <a:t>Una classe "Input" che contiene il metodo per la lettura dell'input del giocatore.</a:t>
            </a:r>
          </a:p>
        </p:txBody>
      </p:sp>
      <p:sp>
        <p:nvSpPr>
          <p:cNvPr id="2" name="CasellaDiTesto 1">
            <a:extLst>
              <a:ext uri="{FF2B5EF4-FFF2-40B4-BE49-F238E27FC236}">
                <a16:creationId xmlns:a16="http://schemas.microsoft.com/office/drawing/2014/main" id="{9B9A27CE-BF57-49B2-53FF-D1491D009112}"/>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258911100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3693319"/>
          </a:xfrm>
          <a:prstGeom prst="rect">
            <a:avLst/>
          </a:prstGeom>
          <a:noFill/>
        </p:spPr>
        <p:txBody>
          <a:bodyPr wrap="square">
            <a:spAutoFit/>
          </a:bodyPr>
          <a:lstStyle/>
          <a:p>
            <a:pPr algn="l"/>
            <a:r>
              <a:rPr lang="it-IT" dirty="0"/>
              <a:t>Realizziamo ora </a:t>
            </a:r>
            <a:r>
              <a:rPr lang="it-IT" b="0" i="0" dirty="0">
                <a:solidFill>
                  <a:srgbClr val="374151"/>
                </a:solidFill>
                <a:effectLst/>
                <a:latin typeface="Söhne"/>
              </a:rPr>
              <a:t>un esempio molto semplice in cui ha senso raggruppare le classi in un package:</a:t>
            </a:r>
          </a:p>
          <a:p>
            <a:pPr algn="l"/>
            <a:r>
              <a:rPr lang="it-IT" b="0" i="0" dirty="0">
                <a:solidFill>
                  <a:srgbClr val="374151"/>
                </a:solidFill>
                <a:effectLst/>
                <a:latin typeface="Söhne"/>
              </a:rPr>
              <a:t>Immagina di dover sviluppare un semplice gioco in cui un giocatore deve indovinare un numero casuale generato dal computer.</a:t>
            </a:r>
          </a:p>
          <a:p>
            <a:pPr algn="l"/>
            <a:r>
              <a:rPr lang="it-IT" b="0" i="0" dirty="0">
                <a:solidFill>
                  <a:srgbClr val="374151"/>
                </a:solidFill>
                <a:effectLst/>
                <a:latin typeface="Söhne"/>
              </a:rPr>
              <a:t>In questo caso, si potrebbero creare tre classi:</a:t>
            </a:r>
          </a:p>
          <a:p>
            <a:pPr algn="l">
              <a:buFont typeface="Arial" panose="020B0604020202020204" pitchFamily="34" charset="0"/>
              <a:buChar char="•"/>
            </a:pPr>
            <a:r>
              <a:rPr lang="it-IT" b="0" i="0" dirty="0">
                <a:solidFill>
                  <a:srgbClr val="374151"/>
                </a:solidFill>
                <a:effectLst/>
                <a:latin typeface="Söhne"/>
              </a:rPr>
              <a:t>Una classe "Game" che rappresenta il gioco e che contiene la logica di base.</a:t>
            </a:r>
          </a:p>
          <a:p>
            <a:pPr algn="l">
              <a:buFont typeface="Arial" panose="020B0604020202020204" pitchFamily="34" charset="0"/>
              <a:buChar char="•"/>
            </a:pPr>
            <a:r>
              <a:rPr lang="it-IT" b="0" i="0" dirty="0">
                <a:solidFill>
                  <a:srgbClr val="374151"/>
                </a:solidFill>
                <a:effectLst/>
                <a:latin typeface="Söhne"/>
              </a:rPr>
              <a:t>Una classe "Player" che rappresenta il giocatore e che tiene traccia del punteggio e del nome.</a:t>
            </a:r>
          </a:p>
          <a:p>
            <a:pPr algn="l">
              <a:buFont typeface="Arial" panose="020B0604020202020204" pitchFamily="34" charset="0"/>
              <a:buChar char="•"/>
            </a:pPr>
            <a:r>
              <a:rPr lang="it-IT" b="0" i="0" dirty="0">
                <a:solidFill>
                  <a:srgbClr val="374151"/>
                </a:solidFill>
                <a:effectLst/>
                <a:latin typeface="Söhne"/>
              </a:rPr>
              <a:t>Una classe "Input" che contiene il metodo per la lettura dell'input del giocatore.</a:t>
            </a:r>
          </a:p>
          <a:p>
            <a:pPr algn="l"/>
            <a:r>
              <a:rPr lang="it-IT" b="0" i="0" dirty="0">
                <a:solidFill>
                  <a:srgbClr val="374151"/>
                </a:solidFill>
                <a:effectLst/>
                <a:latin typeface="Söhne"/>
              </a:rPr>
              <a:t>Per organizzare il codice sorgente in modo gerarchico e modulare, queste classi potrebbero essere raggruppate in un package chiamato ad esempio "</a:t>
            </a:r>
            <a:r>
              <a:rPr lang="it-IT" b="0" i="0" dirty="0" err="1">
                <a:solidFill>
                  <a:srgbClr val="374151"/>
                </a:solidFill>
                <a:effectLst/>
                <a:latin typeface="Söhne"/>
              </a:rPr>
              <a:t>GuessingGame</a:t>
            </a:r>
            <a:r>
              <a:rPr lang="it-IT" b="0" i="0" dirty="0">
                <a:solidFill>
                  <a:srgbClr val="374151"/>
                </a:solidFill>
                <a:effectLst/>
                <a:latin typeface="Söhne"/>
              </a:rPr>
              <a:t>". </a:t>
            </a:r>
          </a:p>
        </p:txBody>
      </p:sp>
      <p:sp>
        <p:nvSpPr>
          <p:cNvPr id="2" name="CasellaDiTesto 1">
            <a:extLst>
              <a:ext uri="{FF2B5EF4-FFF2-40B4-BE49-F238E27FC236}">
                <a16:creationId xmlns:a16="http://schemas.microsoft.com/office/drawing/2014/main" id="{75777838-4139-B8F8-E5AC-956177FC7F8B}"/>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75195495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3970318"/>
          </a:xfrm>
          <a:prstGeom prst="rect">
            <a:avLst/>
          </a:prstGeom>
          <a:noFill/>
        </p:spPr>
        <p:txBody>
          <a:bodyPr wrap="square">
            <a:spAutoFit/>
          </a:bodyPr>
          <a:lstStyle/>
          <a:p>
            <a:pPr algn="l"/>
            <a:r>
              <a:rPr lang="it-IT" dirty="0"/>
              <a:t>Realizziamo ora </a:t>
            </a:r>
            <a:r>
              <a:rPr lang="it-IT" b="0" i="0" dirty="0">
                <a:solidFill>
                  <a:srgbClr val="374151"/>
                </a:solidFill>
                <a:effectLst/>
                <a:latin typeface="Söhne"/>
              </a:rPr>
              <a:t>un esempio molto semplice in cui ha senso raggruppare le classi in un package:</a:t>
            </a:r>
          </a:p>
          <a:p>
            <a:pPr algn="l"/>
            <a:r>
              <a:rPr lang="it-IT" b="0" i="0" dirty="0">
                <a:solidFill>
                  <a:srgbClr val="374151"/>
                </a:solidFill>
                <a:effectLst/>
                <a:latin typeface="Söhne"/>
              </a:rPr>
              <a:t>Immagina di dover sviluppare un semplice gioco in cui un giocatore deve indovinare un numero casuale generato dal computer.</a:t>
            </a:r>
          </a:p>
          <a:p>
            <a:pPr algn="l"/>
            <a:r>
              <a:rPr lang="it-IT" b="0" i="0" dirty="0">
                <a:solidFill>
                  <a:srgbClr val="374151"/>
                </a:solidFill>
                <a:effectLst/>
                <a:latin typeface="Söhne"/>
              </a:rPr>
              <a:t>In questo caso, si potrebbero creare tre classi:</a:t>
            </a:r>
          </a:p>
          <a:p>
            <a:pPr algn="l">
              <a:buFont typeface="Arial" panose="020B0604020202020204" pitchFamily="34" charset="0"/>
              <a:buChar char="•"/>
            </a:pPr>
            <a:r>
              <a:rPr lang="it-IT" b="0" i="0" dirty="0">
                <a:solidFill>
                  <a:srgbClr val="374151"/>
                </a:solidFill>
                <a:effectLst/>
                <a:latin typeface="Söhne"/>
              </a:rPr>
              <a:t>Una classe "Game" che rappresenta il gioco e che contiene la logica di base.</a:t>
            </a:r>
          </a:p>
          <a:p>
            <a:pPr algn="l">
              <a:buFont typeface="Arial" panose="020B0604020202020204" pitchFamily="34" charset="0"/>
              <a:buChar char="•"/>
            </a:pPr>
            <a:r>
              <a:rPr lang="it-IT" b="0" i="0" dirty="0">
                <a:solidFill>
                  <a:srgbClr val="374151"/>
                </a:solidFill>
                <a:effectLst/>
                <a:latin typeface="Söhne"/>
              </a:rPr>
              <a:t>Una classe "Player" che rappresenta il giocatore e che tiene traccia del punteggio e del nome.</a:t>
            </a:r>
          </a:p>
          <a:p>
            <a:pPr algn="l">
              <a:buFont typeface="Arial" panose="020B0604020202020204" pitchFamily="34" charset="0"/>
              <a:buChar char="•"/>
            </a:pPr>
            <a:r>
              <a:rPr lang="it-IT" b="0" i="0" dirty="0">
                <a:solidFill>
                  <a:srgbClr val="374151"/>
                </a:solidFill>
                <a:effectLst/>
                <a:latin typeface="Söhne"/>
              </a:rPr>
              <a:t>Una classe "Input" che contiene il metodo per la lettura dell'input del giocatore.</a:t>
            </a:r>
          </a:p>
          <a:p>
            <a:pPr algn="l"/>
            <a:r>
              <a:rPr lang="it-IT" b="0" i="0" dirty="0">
                <a:solidFill>
                  <a:srgbClr val="374151"/>
                </a:solidFill>
                <a:effectLst/>
                <a:latin typeface="Söhne"/>
              </a:rPr>
              <a:t>Per organizzare il codice sorgente in modo gerarchico e modulare, queste classi potrebbero essere raggruppate in un package chiamato ad esempio "</a:t>
            </a:r>
            <a:r>
              <a:rPr lang="it-IT" b="0" i="0" dirty="0" err="1">
                <a:solidFill>
                  <a:srgbClr val="374151"/>
                </a:solidFill>
                <a:effectLst/>
                <a:latin typeface="Söhne"/>
              </a:rPr>
              <a:t>GuessingGame</a:t>
            </a:r>
            <a:r>
              <a:rPr lang="it-IT" b="0" i="0" dirty="0">
                <a:solidFill>
                  <a:srgbClr val="374151"/>
                </a:solidFill>
                <a:effectLst/>
                <a:latin typeface="Söhne"/>
              </a:rPr>
              <a:t>". In questo modo, il codice sorgente sarebbe organizzato come segue:</a:t>
            </a:r>
          </a:p>
        </p:txBody>
      </p:sp>
      <p:sp>
        <p:nvSpPr>
          <p:cNvPr id="2" name="CasellaDiTesto 1">
            <a:extLst>
              <a:ext uri="{FF2B5EF4-FFF2-40B4-BE49-F238E27FC236}">
                <a16:creationId xmlns:a16="http://schemas.microsoft.com/office/drawing/2014/main" id="{15DC1E3B-3A4A-9FDD-BCE0-0A62AAFD3D59}"/>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16459463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4247317"/>
          </a:xfrm>
          <a:prstGeom prst="rect">
            <a:avLst/>
          </a:prstGeom>
          <a:noFill/>
        </p:spPr>
        <p:txBody>
          <a:bodyPr wrap="square">
            <a:spAutoFit/>
          </a:bodyPr>
          <a:lstStyle/>
          <a:p>
            <a:pPr algn="l"/>
            <a:r>
              <a:rPr lang="it-IT" dirty="0"/>
              <a:t>Realizziamo ora </a:t>
            </a:r>
            <a:r>
              <a:rPr lang="it-IT" b="0" i="0" dirty="0">
                <a:solidFill>
                  <a:srgbClr val="374151"/>
                </a:solidFill>
                <a:effectLst/>
                <a:latin typeface="Söhne"/>
              </a:rPr>
              <a:t>un esempio molto semplice in cui ha senso raggruppare le classi in un package:</a:t>
            </a:r>
          </a:p>
          <a:p>
            <a:pPr algn="l"/>
            <a:r>
              <a:rPr lang="it-IT" b="0" i="0" dirty="0">
                <a:solidFill>
                  <a:srgbClr val="374151"/>
                </a:solidFill>
                <a:effectLst/>
                <a:latin typeface="Söhne"/>
              </a:rPr>
              <a:t>Immagina di dover sviluppare un semplice gioco in cui un giocatore deve indovinare un numero casuale generato dal computer.</a:t>
            </a:r>
          </a:p>
          <a:p>
            <a:pPr algn="l"/>
            <a:r>
              <a:rPr lang="it-IT" b="0" i="0" dirty="0">
                <a:solidFill>
                  <a:srgbClr val="374151"/>
                </a:solidFill>
                <a:effectLst/>
                <a:latin typeface="Söhne"/>
              </a:rPr>
              <a:t>In questo caso, si potrebbero creare tre classi:</a:t>
            </a:r>
          </a:p>
          <a:p>
            <a:pPr algn="l">
              <a:buFont typeface="Arial" panose="020B0604020202020204" pitchFamily="34" charset="0"/>
              <a:buChar char="•"/>
            </a:pPr>
            <a:r>
              <a:rPr lang="it-IT" b="0" i="0" dirty="0">
                <a:solidFill>
                  <a:srgbClr val="374151"/>
                </a:solidFill>
                <a:effectLst/>
                <a:latin typeface="Söhne"/>
              </a:rPr>
              <a:t>Una classe "Game" che rappresenta il gioco e che contiene la logica di base.</a:t>
            </a:r>
          </a:p>
          <a:p>
            <a:pPr algn="l">
              <a:buFont typeface="Arial" panose="020B0604020202020204" pitchFamily="34" charset="0"/>
              <a:buChar char="•"/>
            </a:pPr>
            <a:r>
              <a:rPr lang="it-IT" b="0" i="0" dirty="0">
                <a:solidFill>
                  <a:srgbClr val="374151"/>
                </a:solidFill>
                <a:effectLst/>
                <a:latin typeface="Söhne"/>
              </a:rPr>
              <a:t>Una classe "Player" che rappresenta il giocatore e che tiene traccia del punteggio e del nome.</a:t>
            </a:r>
          </a:p>
          <a:p>
            <a:pPr algn="l">
              <a:buFont typeface="Arial" panose="020B0604020202020204" pitchFamily="34" charset="0"/>
              <a:buChar char="•"/>
            </a:pPr>
            <a:r>
              <a:rPr lang="it-IT" b="0" i="0" dirty="0">
                <a:solidFill>
                  <a:srgbClr val="374151"/>
                </a:solidFill>
                <a:effectLst/>
                <a:latin typeface="Söhne"/>
              </a:rPr>
              <a:t>Una classe "Input" che contiene il metodo per la lettura dell'input del giocatore.</a:t>
            </a:r>
          </a:p>
          <a:p>
            <a:pPr algn="l"/>
            <a:r>
              <a:rPr lang="it-IT" b="0" i="0" dirty="0">
                <a:solidFill>
                  <a:srgbClr val="374151"/>
                </a:solidFill>
                <a:effectLst/>
                <a:latin typeface="Söhne"/>
              </a:rPr>
              <a:t>Per organizzare il codice sorgente in modo gerarchico e modulare, queste classi potrebbero essere raggruppate in un package chiamato ad esempio "</a:t>
            </a:r>
            <a:r>
              <a:rPr lang="it-IT" b="0" i="0" dirty="0" err="1">
                <a:solidFill>
                  <a:srgbClr val="374151"/>
                </a:solidFill>
                <a:effectLst/>
                <a:latin typeface="Söhne"/>
              </a:rPr>
              <a:t>GuessingGame</a:t>
            </a:r>
            <a:r>
              <a:rPr lang="it-IT" b="0" i="0" dirty="0">
                <a:solidFill>
                  <a:srgbClr val="374151"/>
                </a:solidFill>
                <a:effectLst/>
                <a:latin typeface="Söhne"/>
              </a:rPr>
              <a:t>". In questo modo, il codice sorgente sarebbe organizzato come segue:</a:t>
            </a:r>
          </a:p>
          <a:p>
            <a:pPr algn="l">
              <a:buFont typeface="Arial" panose="020B0604020202020204" pitchFamily="34" charset="0"/>
              <a:buChar char="•"/>
            </a:pPr>
            <a:r>
              <a:rPr lang="it-IT" b="0" i="0" dirty="0" err="1">
                <a:solidFill>
                  <a:srgbClr val="374151"/>
                </a:solidFill>
                <a:effectLst/>
                <a:latin typeface="Söhne"/>
              </a:rPr>
              <a:t>GuessingGame.Game</a:t>
            </a:r>
            <a:endParaRPr lang="it-IT" b="0" i="0" dirty="0">
              <a:solidFill>
                <a:srgbClr val="374151"/>
              </a:solidFill>
              <a:effectLst/>
              <a:latin typeface="Söhne"/>
            </a:endParaRPr>
          </a:p>
        </p:txBody>
      </p:sp>
      <p:sp>
        <p:nvSpPr>
          <p:cNvPr id="2" name="CasellaDiTesto 1">
            <a:extLst>
              <a:ext uri="{FF2B5EF4-FFF2-40B4-BE49-F238E27FC236}">
                <a16:creationId xmlns:a16="http://schemas.microsoft.com/office/drawing/2014/main" id="{C445C2B7-8A49-26A6-6781-55AB9BB38FB5}"/>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152806984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4524315"/>
          </a:xfrm>
          <a:prstGeom prst="rect">
            <a:avLst/>
          </a:prstGeom>
          <a:noFill/>
        </p:spPr>
        <p:txBody>
          <a:bodyPr wrap="square">
            <a:spAutoFit/>
          </a:bodyPr>
          <a:lstStyle/>
          <a:p>
            <a:pPr algn="l"/>
            <a:r>
              <a:rPr lang="it-IT" dirty="0"/>
              <a:t>Realizziamo ora </a:t>
            </a:r>
            <a:r>
              <a:rPr lang="it-IT" b="0" i="0" dirty="0">
                <a:solidFill>
                  <a:srgbClr val="374151"/>
                </a:solidFill>
                <a:effectLst/>
                <a:latin typeface="Söhne"/>
              </a:rPr>
              <a:t>un esempio molto semplice in cui ha senso raggruppare le classi in un package:</a:t>
            </a:r>
          </a:p>
          <a:p>
            <a:pPr algn="l"/>
            <a:r>
              <a:rPr lang="it-IT" b="0" i="0" dirty="0">
                <a:solidFill>
                  <a:srgbClr val="374151"/>
                </a:solidFill>
                <a:effectLst/>
                <a:latin typeface="Söhne"/>
              </a:rPr>
              <a:t>Immagina di dover sviluppare un semplice gioco in cui un giocatore deve indovinare un numero casuale generato dal computer.</a:t>
            </a:r>
          </a:p>
          <a:p>
            <a:pPr algn="l"/>
            <a:r>
              <a:rPr lang="it-IT" b="0" i="0" dirty="0">
                <a:solidFill>
                  <a:srgbClr val="374151"/>
                </a:solidFill>
                <a:effectLst/>
                <a:latin typeface="Söhne"/>
              </a:rPr>
              <a:t>In questo caso, si potrebbero creare tre classi:</a:t>
            </a:r>
          </a:p>
          <a:p>
            <a:pPr algn="l">
              <a:buFont typeface="Arial" panose="020B0604020202020204" pitchFamily="34" charset="0"/>
              <a:buChar char="•"/>
            </a:pPr>
            <a:r>
              <a:rPr lang="it-IT" b="0" i="0" dirty="0">
                <a:solidFill>
                  <a:srgbClr val="374151"/>
                </a:solidFill>
                <a:effectLst/>
                <a:latin typeface="Söhne"/>
              </a:rPr>
              <a:t>Una classe "Game" che rappresenta il gioco e che contiene la logica di base.</a:t>
            </a:r>
          </a:p>
          <a:p>
            <a:pPr algn="l">
              <a:buFont typeface="Arial" panose="020B0604020202020204" pitchFamily="34" charset="0"/>
              <a:buChar char="•"/>
            </a:pPr>
            <a:r>
              <a:rPr lang="it-IT" b="0" i="0" dirty="0">
                <a:solidFill>
                  <a:srgbClr val="374151"/>
                </a:solidFill>
                <a:effectLst/>
                <a:latin typeface="Söhne"/>
              </a:rPr>
              <a:t>Una classe "Player" che rappresenta il giocatore e che tiene traccia del punteggio e del nome.</a:t>
            </a:r>
          </a:p>
          <a:p>
            <a:pPr algn="l">
              <a:buFont typeface="Arial" panose="020B0604020202020204" pitchFamily="34" charset="0"/>
              <a:buChar char="•"/>
            </a:pPr>
            <a:r>
              <a:rPr lang="it-IT" b="0" i="0" dirty="0">
                <a:solidFill>
                  <a:srgbClr val="374151"/>
                </a:solidFill>
                <a:effectLst/>
                <a:latin typeface="Söhne"/>
              </a:rPr>
              <a:t>Una classe "Input" che contiene il metodo per la lettura dell'input del giocatore.</a:t>
            </a:r>
          </a:p>
          <a:p>
            <a:pPr algn="l"/>
            <a:r>
              <a:rPr lang="it-IT" b="0" i="0" dirty="0">
                <a:solidFill>
                  <a:srgbClr val="374151"/>
                </a:solidFill>
                <a:effectLst/>
                <a:latin typeface="Söhne"/>
              </a:rPr>
              <a:t>Per organizzare il codice sorgente in modo gerarchico e modulare, queste classi potrebbero essere raggruppate in un package chiamato ad esempio "</a:t>
            </a:r>
            <a:r>
              <a:rPr lang="it-IT" b="0" i="0" dirty="0" err="1">
                <a:solidFill>
                  <a:srgbClr val="374151"/>
                </a:solidFill>
                <a:effectLst/>
                <a:latin typeface="Söhne"/>
              </a:rPr>
              <a:t>GuessingGame</a:t>
            </a:r>
            <a:r>
              <a:rPr lang="it-IT" b="0" i="0" dirty="0">
                <a:solidFill>
                  <a:srgbClr val="374151"/>
                </a:solidFill>
                <a:effectLst/>
                <a:latin typeface="Söhne"/>
              </a:rPr>
              <a:t>". In questo modo, il codice sorgente sarebbe organizzato come segue:</a:t>
            </a:r>
          </a:p>
          <a:p>
            <a:pPr algn="l">
              <a:buFont typeface="Arial" panose="020B0604020202020204" pitchFamily="34" charset="0"/>
              <a:buChar char="•"/>
            </a:pPr>
            <a:r>
              <a:rPr lang="it-IT" b="0" i="0" dirty="0" err="1">
                <a:solidFill>
                  <a:srgbClr val="374151"/>
                </a:solidFill>
                <a:effectLst/>
                <a:latin typeface="Söhne"/>
              </a:rPr>
              <a:t>GuessingGame.Game</a:t>
            </a:r>
            <a:endParaRPr lang="it-IT" b="0" i="0" dirty="0">
              <a:solidFill>
                <a:srgbClr val="374151"/>
              </a:solidFill>
              <a:effectLst/>
              <a:latin typeface="Söhne"/>
            </a:endParaRPr>
          </a:p>
          <a:p>
            <a:pPr algn="l">
              <a:buFont typeface="Arial" panose="020B0604020202020204" pitchFamily="34" charset="0"/>
              <a:buChar char="•"/>
            </a:pPr>
            <a:r>
              <a:rPr lang="it-IT" b="0" i="0" dirty="0" err="1">
                <a:solidFill>
                  <a:srgbClr val="374151"/>
                </a:solidFill>
                <a:effectLst/>
                <a:latin typeface="Söhne"/>
              </a:rPr>
              <a:t>GuessingGame.Player</a:t>
            </a:r>
            <a:endParaRPr lang="it-IT" b="0" i="0" dirty="0">
              <a:solidFill>
                <a:srgbClr val="374151"/>
              </a:solidFill>
              <a:effectLst/>
              <a:latin typeface="Söhne"/>
            </a:endParaRPr>
          </a:p>
        </p:txBody>
      </p:sp>
      <p:sp>
        <p:nvSpPr>
          <p:cNvPr id="2" name="CasellaDiTesto 1">
            <a:extLst>
              <a:ext uri="{FF2B5EF4-FFF2-40B4-BE49-F238E27FC236}">
                <a16:creationId xmlns:a16="http://schemas.microsoft.com/office/drawing/2014/main" id="{6696B7EE-C176-DCBA-5A4C-FFA0657A163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227940067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4801314"/>
          </a:xfrm>
          <a:prstGeom prst="rect">
            <a:avLst/>
          </a:prstGeom>
          <a:noFill/>
        </p:spPr>
        <p:txBody>
          <a:bodyPr wrap="square">
            <a:spAutoFit/>
          </a:bodyPr>
          <a:lstStyle/>
          <a:p>
            <a:pPr algn="l"/>
            <a:r>
              <a:rPr lang="it-IT" dirty="0"/>
              <a:t>Realizziamo ora </a:t>
            </a:r>
            <a:r>
              <a:rPr lang="it-IT" b="0" i="0" dirty="0">
                <a:solidFill>
                  <a:srgbClr val="374151"/>
                </a:solidFill>
                <a:effectLst/>
                <a:latin typeface="Söhne"/>
              </a:rPr>
              <a:t>un esempio molto semplice in cui ha senso raggruppare le classi in un package:</a:t>
            </a:r>
          </a:p>
          <a:p>
            <a:pPr algn="l"/>
            <a:r>
              <a:rPr lang="it-IT" b="0" i="0" dirty="0">
                <a:solidFill>
                  <a:srgbClr val="374151"/>
                </a:solidFill>
                <a:effectLst/>
                <a:latin typeface="Söhne"/>
              </a:rPr>
              <a:t>Immagina di dover sviluppare un semplice gioco in cui un giocatore deve indovinare un numero casuale generato dal computer.</a:t>
            </a:r>
          </a:p>
          <a:p>
            <a:pPr algn="l"/>
            <a:r>
              <a:rPr lang="it-IT" b="0" i="0" dirty="0">
                <a:solidFill>
                  <a:srgbClr val="374151"/>
                </a:solidFill>
                <a:effectLst/>
                <a:latin typeface="Söhne"/>
              </a:rPr>
              <a:t>In questo caso, si potrebbero creare tre classi:</a:t>
            </a:r>
          </a:p>
          <a:p>
            <a:pPr algn="l">
              <a:buFont typeface="Arial" panose="020B0604020202020204" pitchFamily="34" charset="0"/>
              <a:buChar char="•"/>
            </a:pPr>
            <a:r>
              <a:rPr lang="it-IT" b="0" i="0" dirty="0">
                <a:solidFill>
                  <a:srgbClr val="374151"/>
                </a:solidFill>
                <a:effectLst/>
                <a:latin typeface="Söhne"/>
              </a:rPr>
              <a:t>Una classe "Game" che rappresenta il gioco e che contiene la logica di base.</a:t>
            </a:r>
          </a:p>
          <a:p>
            <a:pPr algn="l">
              <a:buFont typeface="Arial" panose="020B0604020202020204" pitchFamily="34" charset="0"/>
              <a:buChar char="•"/>
            </a:pPr>
            <a:r>
              <a:rPr lang="it-IT" b="0" i="0" dirty="0">
                <a:solidFill>
                  <a:srgbClr val="374151"/>
                </a:solidFill>
                <a:effectLst/>
                <a:latin typeface="Söhne"/>
              </a:rPr>
              <a:t>Una classe "Player" che rappresenta il giocatore e che tiene traccia del punteggio e del nome.</a:t>
            </a:r>
          </a:p>
          <a:p>
            <a:pPr algn="l">
              <a:buFont typeface="Arial" panose="020B0604020202020204" pitchFamily="34" charset="0"/>
              <a:buChar char="•"/>
            </a:pPr>
            <a:r>
              <a:rPr lang="it-IT" b="0" i="0" dirty="0">
                <a:solidFill>
                  <a:srgbClr val="374151"/>
                </a:solidFill>
                <a:effectLst/>
                <a:latin typeface="Söhne"/>
              </a:rPr>
              <a:t>Una classe "Input" che contiene il metodo per la lettura dell'input del giocatore.</a:t>
            </a:r>
          </a:p>
          <a:p>
            <a:pPr algn="l"/>
            <a:r>
              <a:rPr lang="it-IT" b="0" i="0" dirty="0">
                <a:solidFill>
                  <a:srgbClr val="374151"/>
                </a:solidFill>
                <a:effectLst/>
                <a:latin typeface="Söhne"/>
              </a:rPr>
              <a:t>Per organizzare il codice sorgente in modo gerarchico e modulare, queste classi potrebbero essere raggruppate in un package chiamato ad esempio "</a:t>
            </a:r>
            <a:r>
              <a:rPr lang="it-IT" b="0" i="0" dirty="0" err="1">
                <a:solidFill>
                  <a:srgbClr val="374151"/>
                </a:solidFill>
                <a:effectLst/>
                <a:latin typeface="Söhne"/>
              </a:rPr>
              <a:t>GuessingGame</a:t>
            </a:r>
            <a:r>
              <a:rPr lang="it-IT" b="0" i="0" dirty="0">
                <a:solidFill>
                  <a:srgbClr val="374151"/>
                </a:solidFill>
                <a:effectLst/>
                <a:latin typeface="Söhne"/>
              </a:rPr>
              <a:t>". In questo modo, il codice sorgente sarebbe organizzato come segue:</a:t>
            </a:r>
          </a:p>
          <a:p>
            <a:pPr algn="l">
              <a:buFont typeface="Arial" panose="020B0604020202020204" pitchFamily="34" charset="0"/>
              <a:buChar char="•"/>
            </a:pPr>
            <a:r>
              <a:rPr lang="it-IT" b="0" i="0" dirty="0" err="1">
                <a:solidFill>
                  <a:srgbClr val="374151"/>
                </a:solidFill>
                <a:effectLst/>
                <a:latin typeface="Söhne"/>
              </a:rPr>
              <a:t>GuessingGame.Game</a:t>
            </a:r>
            <a:endParaRPr lang="it-IT" b="0" i="0" dirty="0">
              <a:solidFill>
                <a:srgbClr val="374151"/>
              </a:solidFill>
              <a:effectLst/>
              <a:latin typeface="Söhne"/>
            </a:endParaRPr>
          </a:p>
          <a:p>
            <a:pPr algn="l">
              <a:buFont typeface="Arial" panose="020B0604020202020204" pitchFamily="34" charset="0"/>
              <a:buChar char="•"/>
            </a:pPr>
            <a:r>
              <a:rPr lang="it-IT" b="0" i="0" dirty="0" err="1">
                <a:solidFill>
                  <a:srgbClr val="374151"/>
                </a:solidFill>
                <a:effectLst/>
                <a:latin typeface="Söhne"/>
              </a:rPr>
              <a:t>GuessingGame.Player</a:t>
            </a:r>
            <a:endParaRPr lang="it-IT" b="0" i="0" dirty="0">
              <a:solidFill>
                <a:srgbClr val="374151"/>
              </a:solidFill>
              <a:effectLst/>
              <a:latin typeface="Söhne"/>
            </a:endParaRPr>
          </a:p>
          <a:p>
            <a:pPr algn="l">
              <a:buFont typeface="Arial" panose="020B0604020202020204" pitchFamily="34" charset="0"/>
              <a:buChar char="•"/>
            </a:pPr>
            <a:r>
              <a:rPr lang="it-IT" b="0" i="0" dirty="0" err="1">
                <a:solidFill>
                  <a:srgbClr val="374151"/>
                </a:solidFill>
                <a:effectLst/>
                <a:latin typeface="Söhne"/>
              </a:rPr>
              <a:t>GuessingGame.Input</a:t>
            </a:r>
            <a:endParaRPr lang="it-IT" b="0" i="0" dirty="0">
              <a:solidFill>
                <a:srgbClr val="374151"/>
              </a:solidFill>
              <a:effectLst/>
              <a:latin typeface="Söhne"/>
            </a:endParaRPr>
          </a:p>
        </p:txBody>
      </p:sp>
      <p:sp>
        <p:nvSpPr>
          <p:cNvPr id="2" name="CasellaDiTesto 1">
            <a:extLst>
              <a:ext uri="{FF2B5EF4-FFF2-40B4-BE49-F238E27FC236}">
                <a16:creationId xmlns:a16="http://schemas.microsoft.com/office/drawing/2014/main" id="{5D1A8AF8-0AA2-AB6E-B4C4-8F4A1E9CF52E}"/>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342523727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5632311"/>
          </a:xfrm>
          <a:prstGeom prst="rect">
            <a:avLst/>
          </a:prstGeom>
          <a:noFill/>
        </p:spPr>
        <p:txBody>
          <a:bodyPr wrap="square">
            <a:spAutoFit/>
          </a:bodyPr>
          <a:lstStyle/>
          <a:p>
            <a:pPr algn="l"/>
            <a:r>
              <a:rPr lang="it-IT" dirty="0"/>
              <a:t>Realizziamo ora </a:t>
            </a:r>
            <a:r>
              <a:rPr lang="it-IT" b="0" i="0" dirty="0">
                <a:solidFill>
                  <a:srgbClr val="374151"/>
                </a:solidFill>
                <a:effectLst/>
                <a:latin typeface="Söhne"/>
              </a:rPr>
              <a:t>un esempio molto semplice in cui ha senso raggruppare le classi in un package:</a:t>
            </a:r>
          </a:p>
          <a:p>
            <a:pPr algn="l"/>
            <a:r>
              <a:rPr lang="it-IT" b="0" i="0" dirty="0">
                <a:solidFill>
                  <a:srgbClr val="374151"/>
                </a:solidFill>
                <a:effectLst/>
                <a:latin typeface="Söhne"/>
              </a:rPr>
              <a:t>Immagina di dover sviluppare un semplice gioco in cui un giocatore deve indovinare un numero casuale generato dal computer.</a:t>
            </a:r>
          </a:p>
          <a:p>
            <a:pPr algn="l"/>
            <a:r>
              <a:rPr lang="it-IT" b="0" i="0" dirty="0">
                <a:solidFill>
                  <a:srgbClr val="374151"/>
                </a:solidFill>
                <a:effectLst/>
                <a:latin typeface="Söhne"/>
              </a:rPr>
              <a:t>In questo caso, si potrebbero creare tre classi:</a:t>
            </a:r>
          </a:p>
          <a:p>
            <a:pPr algn="l">
              <a:buFont typeface="Arial" panose="020B0604020202020204" pitchFamily="34" charset="0"/>
              <a:buChar char="•"/>
            </a:pPr>
            <a:r>
              <a:rPr lang="it-IT" b="0" i="0" dirty="0">
                <a:solidFill>
                  <a:srgbClr val="374151"/>
                </a:solidFill>
                <a:effectLst/>
                <a:latin typeface="Söhne"/>
              </a:rPr>
              <a:t>Una classe "Game" che rappresenta il gioco e che contiene la logica di base.</a:t>
            </a:r>
          </a:p>
          <a:p>
            <a:pPr algn="l">
              <a:buFont typeface="Arial" panose="020B0604020202020204" pitchFamily="34" charset="0"/>
              <a:buChar char="•"/>
            </a:pPr>
            <a:r>
              <a:rPr lang="it-IT" b="0" i="0" dirty="0">
                <a:solidFill>
                  <a:srgbClr val="374151"/>
                </a:solidFill>
                <a:effectLst/>
                <a:latin typeface="Söhne"/>
              </a:rPr>
              <a:t>Una classe "Player" che rappresenta il giocatore e che tiene traccia del punteggio e del nome.</a:t>
            </a:r>
          </a:p>
          <a:p>
            <a:pPr algn="l">
              <a:buFont typeface="Arial" panose="020B0604020202020204" pitchFamily="34" charset="0"/>
              <a:buChar char="•"/>
            </a:pPr>
            <a:r>
              <a:rPr lang="it-IT" b="0" i="0" dirty="0">
                <a:solidFill>
                  <a:srgbClr val="374151"/>
                </a:solidFill>
                <a:effectLst/>
                <a:latin typeface="Söhne"/>
              </a:rPr>
              <a:t>Una classe "Input" che contiene il metodo per la lettura dell'input del giocatore.</a:t>
            </a:r>
          </a:p>
          <a:p>
            <a:pPr algn="l"/>
            <a:r>
              <a:rPr lang="it-IT" b="0" i="0" dirty="0">
                <a:solidFill>
                  <a:srgbClr val="374151"/>
                </a:solidFill>
                <a:effectLst/>
                <a:latin typeface="Söhne"/>
              </a:rPr>
              <a:t>Per organizzare il codice sorgente in modo gerarchico e modulare, queste classi potrebbero essere raggruppate in un package chiamato ad esempio "</a:t>
            </a:r>
            <a:r>
              <a:rPr lang="it-IT" b="0" i="0" dirty="0" err="1">
                <a:solidFill>
                  <a:srgbClr val="374151"/>
                </a:solidFill>
                <a:effectLst/>
                <a:latin typeface="Söhne"/>
              </a:rPr>
              <a:t>GuessingGame</a:t>
            </a:r>
            <a:r>
              <a:rPr lang="it-IT" b="0" i="0" dirty="0">
                <a:solidFill>
                  <a:srgbClr val="374151"/>
                </a:solidFill>
                <a:effectLst/>
                <a:latin typeface="Söhne"/>
              </a:rPr>
              <a:t>". In questo modo, il codice sorgente sarebbe organizzato come segue:</a:t>
            </a:r>
          </a:p>
          <a:p>
            <a:pPr algn="l">
              <a:buFont typeface="Arial" panose="020B0604020202020204" pitchFamily="34" charset="0"/>
              <a:buChar char="•"/>
            </a:pPr>
            <a:r>
              <a:rPr lang="it-IT" b="0" i="0" dirty="0" err="1">
                <a:solidFill>
                  <a:srgbClr val="374151"/>
                </a:solidFill>
                <a:effectLst/>
                <a:latin typeface="Söhne"/>
              </a:rPr>
              <a:t>GuessingGame.Game</a:t>
            </a:r>
            <a:endParaRPr lang="it-IT" b="0" i="0" dirty="0">
              <a:solidFill>
                <a:srgbClr val="374151"/>
              </a:solidFill>
              <a:effectLst/>
              <a:latin typeface="Söhne"/>
            </a:endParaRPr>
          </a:p>
          <a:p>
            <a:pPr algn="l">
              <a:buFont typeface="Arial" panose="020B0604020202020204" pitchFamily="34" charset="0"/>
              <a:buChar char="•"/>
            </a:pPr>
            <a:r>
              <a:rPr lang="it-IT" b="0" i="0" dirty="0" err="1">
                <a:solidFill>
                  <a:srgbClr val="374151"/>
                </a:solidFill>
                <a:effectLst/>
                <a:latin typeface="Söhne"/>
              </a:rPr>
              <a:t>GuessingGame.Player</a:t>
            </a:r>
            <a:endParaRPr lang="it-IT" b="0" i="0" dirty="0">
              <a:solidFill>
                <a:srgbClr val="374151"/>
              </a:solidFill>
              <a:effectLst/>
              <a:latin typeface="Söhne"/>
            </a:endParaRPr>
          </a:p>
          <a:p>
            <a:pPr algn="l">
              <a:buFont typeface="Arial" panose="020B0604020202020204" pitchFamily="34" charset="0"/>
              <a:buChar char="•"/>
            </a:pPr>
            <a:r>
              <a:rPr lang="it-IT" b="0" i="0" dirty="0" err="1">
                <a:solidFill>
                  <a:srgbClr val="374151"/>
                </a:solidFill>
                <a:effectLst/>
                <a:latin typeface="Söhne"/>
              </a:rPr>
              <a:t>GuessingGame.Input</a:t>
            </a:r>
            <a:endParaRPr lang="it-IT" b="0" i="0" dirty="0">
              <a:solidFill>
                <a:srgbClr val="374151"/>
              </a:solidFill>
              <a:effectLst/>
              <a:latin typeface="Söhne"/>
            </a:endParaRPr>
          </a:p>
          <a:p>
            <a:pPr algn="l"/>
            <a:r>
              <a:rPr lang="it-IT" b="0" i="0" dirty="0">
                <a:solidFill>
                  <a:srgbClr val="374151"/>
                </a:solidFill>
                <a:effectLst/>
                <a:latin typeface="Söhne"/>
              </a:rPr>
              <a:t>In questo modo, tutte le classi relative al gioco sarebbero raggruppate in un unico package, facilitando la comprensione e la manutenzione del codice sorgente.</a:t>
            </a:r>
          </a:p>
        </p:txBody>
      </p:sp>
      <p:sp>
        <p:nvSpPr>
          <p:cNvPr id="2" name="CasellaDiTesto 1">
            <a:extLst>
              <a:ext uri="{FF2B5EF4-FFF2-40B4-BE49-F238E27FC236}">
                <a16:creationId xmlns:a16="http://schemas.microsoft.com/office/drawing/2014/main" id="{AEDC7784-4316-BF5F-868D-B80E7463CBE8}"/>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176087745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Input.java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246221"/>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p:txBody>
      </p:sp>
      <p:sp>
        <p:nvSpPr>
          <p:cNvPr id="2" name="CasellaDiTesto 1">
            <a:extLst>
              <a:ext uri="{FF2B5EF4-FFF2-40B4-BE49-F238E27FC236}">
                <a16:creationId xmlns:a16="http://schemas.microsoft.com/office/drawing/2014/main" id="{A9DB327F-6746-08B4-2AA9-FA19BA15C954}"/>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6" name="CasellaDiTesto 5">
            <a:extLst>
              <a:ext uri="{FF2B5EF4-FFF2-40B4-BE49-F238E27FC236}">
                <a16:creationId xmlns:a16="http://schemas.microsoft.com/office/drawing/2014/main" id="{42458C9D-6288-50E3-E227-24508D8981BE}"/>
              </a:ext>
            </a:extLst>
          </p:cNvPr>
          <p:cNvSpPr txBox="1"/>
          <p:nvPr/>
        </p:nvSpPr>
        <p:spPr>
          <a:xfrm>
            <a:off x="282040" y="5226703"/>
            <a:ext cx="3280558" cy="375552"/>
          </a:xfrm>
          <a:prstGeom prst="rect">
            <a:avLst/>
          </a:prstGeom>
          <a:solidFill>
            <a:schemeClr val="accent6">
              <a:lumMod val="40000"/>
              <a:lumOff val="60000"/>
            </a:schemeClr>
          </a:solidFill>
        </p:spPr>
        <p:txBody>
          <a:bodyPr wrap="square">
            <a:spAutoFit/>
          </a:bodyPr>
          <a:lstStyle/>
          <a:p>
            <a:pPr>
              <a:lnSpc>
                <a:spcPct val="107000"/>
              </a:lnSpc>
              <a:spcAft>
                <a:spcPts val="800"/>
              </a:spcAft>
              <a:buSzPts val="1000"/>
              <a:tabLst>
                <a:tab pos="449580" algn="l"/>
              </a:tabLst>
            </a:pPr>
            <a:r>
              <a:rPr lang="it-IT" dirty="0"/>
              <a:t>Nella classe definiamo il package</a:t>
            </a:r>
          </a:p>
        </p:txBody>
      </p:sp>
      <p:sp>
        <p:nvSpPr>
          <p:cNvPr id="9" name="CasellaDiTesto 8">
            <a:extLst>
              <a:ext uri="{FF2B5EF4-FFF2-40B4-BE49-F238E27FC236}">
                <a16:creationId xmlns:a16="http://schemas.microsoft.com/office/drawing/2014/main" id="{175C2151-3766-2E3A-34D3-0A18DDE1A70A}"/>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259441420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Input.java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553998"/>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p:txBody>
      </p:sp>
      <p:sp>
        <p:nvSpPr>
          <p:cNvPr id="2" name="CasellaDiTesto 1">
            <a:extLst>
              <a:ext uri="{FF2B5EF4-FFF2-40B4-BE49-F238E27FC236}">
                <a16:creationId xmlns:a16="http://schemas.microsoft.com/office/drawing/2014/main" id="{A9DB327F-6746-08B4-2AA9-FA19BA15C954}"/>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6" name="CasellaDiTesto 5">
            <a:extLst>
              <a:ext uri="{FF2B5EF4-FFF2-40B4-BE49-F238E27FC236}">
                <a16:creationId xmlns:a16="http://schemas.microsoft.com/office/drawing/2014/main" id="{42458C9D-6288-50E3-E227-24508D8981BE}"/>
              </a:ext>
            </a:extLst>
          </p:cNvPr>
          <p:cNvSpPr txBox="1"/>
          <p:nvPr/>
        </p:nvSpPr>
        <p:spPr>
          <a:xfrm>
            <a:off x="282040" y="5226703"/>
            <a:ext cx="3280558" cy="671915"/>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dirty="0"/>
              <a:t>Importiamo la classe Scanner, che  servirà per acquisire input</a:t>
            </a:r>
          </a:p>
        </p:txBody>
      </p:sp>
      <p:sp>
        <p:nvSpPr>
          <p:cNvPr id="9" name="CasellaDiTesto 8">
            <a:extLst>
              <a:ext uri="{FF2B5EF4-FFF2-40B4-BE49-F238E27FC236}">
                <a16:creationId xmlns:a16="http://schemas.microsoft.com/office/drawing/2014/main" id="{3A647546-F66E-B25E-718A-022654E3BFFE}"/>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135166733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Input.java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1169551"/>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Input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2" name="CasellaDiTesto 1">
            <a:extLst>
              <a:ext uri="{FF2B5EF4-FFF2-40B4-BE49-F238E27FC236}">
                <a16:creationId xmlns:a16="http://schemas.microsoft.com/office/drawing/2014/main" id="{A9DB327F-6746-08B4-2AA9-FA19BA15C954}"/>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6" name="CasellaDiTesto 5">
            <a:extLst>
              <a:ext uri="{FF2B5EF4-FFF2-40B4-BE49-F238E27FC236}">
                <a16:creationId xmlns:a16="http://schemas.microsoft.com/office/drawing/2014/main" id="{42458C9D-6288-50E3-E227-24508D8981BE}"/>
              </a:ext>
            </a:extLst>
          </p:cNvPr>
          <p:cNvSpPr txBox="1"/>
          <p:nvPr/>
        </p:nvSpPr>
        <p:spPr>
          <a:xfrm>
            <a:off x="282040" y="5226703"/>
            <a:ext cx="3280558" cy="375552"/>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dirty="0"/>
              <a:t>Definiamo la classe</a:t>
            </a:r>
          </a:p>
        </p:txBody>
      </p:sp>
      <p:sp>
        <p:nvSpPr>
          <p:cNvPr id="9" name="CasellaDiTesto 8">
            <a:extLst>
              <a:ext uri="{FF2B5EF4-FFF2-40B4-BE49-F238E27FC236}">
                <a16:creationId xmlns:a16="http://schemas.microsoft.com/office/drawing/2014/main" id="{A8A86898-DF47-D9AF-7D7A-B5CC52CE81A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14304860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Input.java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1169551"/>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Input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Scanner </a:t>
            </a:r>
            <a:r>
              <a:rPr lang="it-IT" sz="1000" b="0" dirty="0" err="1">
                <a:solidFill>
                  <a:srgbClr val="D4D4D4"/>
                </a:solidFill>
                <a:effectLst/>
                <a:latin typeface="Consolas" panose="020B0609020204030204" pitchFamily="49" charset="0"/>
              </a:rPr>
              <a:t>scanner</a:t>
            </a:r>
            <a:r>
              <a:rPr lang="it-IT" sz="1000" b="0" dirty="0">
                <a:solidFill>
                  <a:srgbClr val="569CD6"/>
                </a:solidFill>
                <a:effectLst/>
                <a:latin typeface="Consolas" panose="020B0609020204030204" pitchFamily="49" charset="0"/>
              </a:rPr>
              <a:t>;</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2" name="CasellaDiTesto 1">
            <a:extLst>
              <a:ext uri="{FF2B5EF4-FFF2-40B4-BE49-F238E27FC236}">
                <a16:creationId xmlns:a16="http://schemas.microsoft.com/office/drawing/2014/main" id="{A9DB327F-6746-08B4-2AA9-FA19BA15C954}"/>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6" name="CasellaDiTesto 5">
            <a:extLst>
              <a:ext uri="{FF2B5EF4-FFF2-40B4-BE49-F238E27FC236}">
                <a16:creationId xmlns:a16="http://schemas.microsoft.com/office/drawing/2014/main" id="{42458C9D-6288-50E3-E227-24508D8981BE}"/>
              </a:ext>
            </a:extLst>
          </p:cNvPr>
          <p:cNvSpPr txBox="1"/>
          <p:nvPr/>
        </p:nvSpPr>
        <p:spPr>
          <a:xfrm>
            <a:off x="282040" y="5226703"/>
            <a:ext cx="3280558" cy="968278"/>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dirty="0"/>
              <a:t>Definiamo una proprietà privata di tipo Scanner, chiamata proprio scanner (con la minuscola)</a:t>
            </a:r>
          </a:p>
        </p:txBody>
      </p:sp>
      <p:sp>
        <p:nvSpPr>
          <p:cNvPr id="9" name="CasellaDiTesto 8">
            <a:extLst>
              <a:ext uri="{FF2B5EF4-FFF2-40B4-BE49-F238E27FC236}">
                <a16:creationId xmlns:a16="http://schemas.microsoft.com/office/drawing/2014/main" id="{D3E057E5-ABC7-09FE-4DC7-8F4933B1264A}"/>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34743614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Input.java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1631216"/>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Input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Scanner </a:t>
            </a:r>
            <a:r>
              <a:rPr lang="it-IT" sz="1000" b="0" dirty="0" err="1">
                <a:solidFill>
                  <a:srgbClr val="D4D4D4"/>
                </a:solidFill>
                <a:effectLst/>
                <a:latin typeface="Consolas" panose="020B0609020204030204" pitchFamily="49" charset="0"/>
              </a:rPr>
              <a:t>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Input() {</a:t>
            </a:r>
          </a:p>
          <a:p>
            <a:r>
              <a:rPr lang="it-IT" sz="1000" b="0" dirty="0">
                <a:solidFill>
                  <a:srgbClr val="D4D4D4"/>
                </a:solidFill>
                <a:effectLst/>
                <a:latin typeface="Consolas" panose="020B0609020204030204" pitchFamily="49" charset="0"/>
              </a:rPr>
              <a:t>    }       </a:t>
            </a:r>
          </a:p>
          <a:p>
            <a:r>
              <a:rPr lang="it-IT" sz="1000" b="0" dirty="0">
                <a:solidFill>
                  <a:srgbClr val="D4D4D4"/>
                </a:solidFill>
                <a:effectLst/>
                <a:latin typeface="Consolas" panose="020B0609020204030204" pitchFamily="49" charset="0"/>
              </a:rPr>
              <a:t>}</a:t>
            </a:r>
          </a:p>
        </p:txBody>
      </p:sp>
      <p:sp>
        <p:nvSpPr>
          <p:cNvPr id="2" name="CasellaDiTesto 1">
            <a:extLst>
              <a:ext uri="{FF2B5EF4-FFF2-40B4-BE49-F238E27FC236}">
                <a16:creationId xmlns:a16="http://schemas.microsoft.com/office/drawing/2014/main" id="{A9DB327F-6746-08B4-2AA9-FA19BA15C954}"/>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6" name="CasellaDiTesto 5">
            <a:extLst>
              <a:ext uri="{FF2B5EF4-FFF2-40B4-BE49-F238E27FC236}">
                <a16:creationId xmlns:a16="http://schemas.microsoft.com/office/drawing/2014/main" id="{42458C9D-6288-50E3-E227-24508D8981BE}"/>
              </a:ext>
            </a:extLst>
          </p:cNvPr>
          <p:cNvSpPr txBox="1"/>
          <p:nvPr/>
        </p:nvSpPr>
        <p:spPr>
          <a:xfrm>
            <a:off x="282040" y="5226703"/>
            <a:ext cx="3280558" cy="375552"/>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dirty="0"/>
              <a:t>Definiamo il costruttore</a:t>
            </a:r>
          </a:p>
        </p:txBody>
      </p:sp>
      <p:sp>
        <p:nvSpPr>
          <p:cNvPr id="9" name="CasellaDiTesto 8">
            <a:extLst>
              <a:ext uri="{FF2B5EF4-FFF2-40B4-BE49-F238E27FC236}">
                <a16:creationId xmlns:a16="http://schemas.microsoft.com/office/drawing/2014/main" id="{07449982-EB27-A8BC-2B98-CC5EE15337AF}"/>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279635735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Input.java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1785104"/>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Input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Scanner </a:t>
            </a:r>
            <a:r>
              <a:rPr lang="it-IT" sz="1000" b="0" dirty="0" err="1">
                <a:solidFill>
                  <a:srgbClr val="D4D4D4"/>
                </a:solidFill>
                <a:effectLst/>
                <a:latin typeface="Consolas" panose="020B0609020204030204" pitchFamily="49" charset="0"/>
              </a:rPr>
              <a:t>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Input() {</a:t>
            </a:r>
          </a:p>
          <a:p>
            <a:r>
              <a:rPr lang="it-IT" sz="1000" b="0" dirty="0">
                <a:solidFill>
                  <a:srgbClr val="D4D4D4"/>
                </a:solidFill>
                <a:effectLst/>
                <a:latin typeface="Consolas" panose="020B0609020204030204" pitchFamily="49" charset="0"/>
              </a:rPr>
              <a:t>        scanner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Scanner(</a:t>
            </a:r>
            <a:r>
              <a:rPr lang="it-IT" sz="1000" b="0" dirty="0" err="1">
                <a:solidFill>
                  <a:srgbClr val="D4D4D4"/>
                </a:solidFill>
                <a:effectLst/>
                <a:latin typeface="Consolas" panose="020B0609020204030204" pitchFamily="49" charset="0"/>
              </a:rPr>
              <a:t>System.in</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       </a:t>
            </a:r>
          </a:p>
          <a:p>
            <a:r>
              <a:rPr lang="it-IT" sz="1000" b="0" dirty="0">
                <a:solidFill>
                  <a:srgbClr val="D4D4D4"/>
                </a:solidFill>
                <a:effectLst/>
                <a:latin typeface="Consolas" panose="020B0609020204030204" pitchFamily="49" charset="0"/>
              </a:rPr>
              <a:t>}</a:t>
            </a:r>
          </a:p>
        </p:txBody>
      </p:sp>
      <p:sp>
        <p:nvSpPr>
          <p:cNvPr id="2" name="CasellaDiTesto 1">
            <a:extLst>
              <a:ext uri="{FF2B5EF4-FFF2-40B4-BE49-F238E27FC236}">
                <a16:creationId xmlns:a16="http://schemas.microsoft.com/office/drawing/2014/main" id="{A9DB327F-6746-08B4-2AA9-FA19BA15C954}"/>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6" name="CasellaDiTesto 5">
            <a:extLst>
              <a:ext uri="{FF2B5EF4-FFF2-40B4-BE49-F238E27FC236}">
                <a16:creationId xmlns:a16="http://schemas.microsoft.com/office/drawing/2014/main" id="{42458C9D-6288-50E3-E227-24508D8981BE}"/>
              </a:ext>
            </a:extLst>
          </p:cNvPr>
          <p:cNvSpPr txBox="1"/>
          <p:nvPr/>
        </p:nvSpPr>
        <p:spPr>
          <a:xfrm>
            <a:off x="282040" y="5226703"/>
            <a:ext cx="3280558" cy="671915"/>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dirty="0" err="1"/>
              <a:t>Inizializiamo</a:t>
            </a:r>
            <a:r>
              <a:rPr lang="it-IT" dirty="0"/>
              <a:t> lo scanner per l’acquisizione di input da tastiera</a:t>
            </a:r>
          </a:p>
        </p:txBody>
      </p:sp>
      <p:sp>
        <p:nvSpPr>
          <p:cNvPr id="9" name="CasellaDiTesto 8">
            <a:extLst>
              <a:ext uri="{FF2B5EF4-FFF2-40B4-BE49-F238E27FC236}">
                <a16:creationId xmlns:a16="http://schemas.microsoft.com/office/drawing/2014/main" id="{6CE043D4-2FD8-218F-A77B-7EBC45D50ECC}"/>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319549324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Input.java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2400657"/>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Input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Scanner </a:t>
            </a:r>
            <a:r>
              <a:rPr lang="it-IT" sz="1000" b="0" dirty="0" err="1">
                <a:solidFill>
                  <a:srgbClr val="D4D4D4"/>
                </a:solidFill>
                <a:effectLst/>
                <a:latin typeface="Consolas" panose="020B0609020204030204" pitchFamily="49" charset="0"/>
              </a:rPr>
              <a:t>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Input() {</a:t>
            </a:r>
          </a:p>
          <a:p>
            <a:r>
              <a:rPr lang="it-IT" sz="1000" b="0" dirty="0">
                <a:solidFill>
                  <a:srgbClr val="D4D4D4"/>
                </a:solidFill>
                <a:effectLst/>
                <a:latin typeface="Consolas" panose="020B0609020204030204" pitchFamily="49" charset="0"/>
              </a:rPr>
              <a:t>        scanner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Scanner(</a:t>
            </a:r>
            <a:r>
              <a:rPr lang="it-IT" sz="1000" b="0" dirty="0" err="1">
                <a:solidFill>
                  <a:srgbClr val="D4D4D4"/>
                </a:solidFill>
                <a:effectLst/>
                <a:latin typeface="Consolas" panose="020B0609020204030204" pitchFamily="49" charset="0"/>
              </a:rPr>
              <a:t>System.in</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readNumber</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2" name="CasellaDiTesto 1">
            <a:extLst>
              <a:ext uri="{FF2B5EF4-FFF2-40B4-BE49-F238E27FC236}">
                <a16:creationId xmlns:a16="http://schemas.microsoft.com/office/drawing/2014/main" id="{A9DB327F-6746-08B4-2AA9-FA19BA15C954}"/>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6" name="CasellaDiTesto 5">
            <a:extLst>
              <a:ext uri="{FF2B5EF4-FFF2-40B4-BE49-F238E27FC236}">
                <a16:creationId xmlns:a16="http://schemas.microsoft.com/office/drawing/2014/main" id="{42458C9D-6288-50E3-E227-24508D8981BE}"/>
              </a:ext>
            </a:extLst>
          </p:cNvPr>
          <p:cNvSpPr txBox="1"/>
          <p:nvPr/>
        </p:nvSpPr>
        <p:spPr>
          <a:xfrm>
            <a:off x="282040" y="5226703"/>
            <a:ext cx="3280558" cy="968278"/>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dirty="0"/>
              <a:t>Definiamo il metodo </a:t>
            </a:r>
            <a:r>
              <a:rPr lang="it-IT" dirty="0" err="1"/>
              <a:t>publico</a:t>
            </a:r>
            <a:r>
              <a:rPr lang="it-IT" dirty="0"/>
              <a:t> </a:t>
            </a:r>
            <a:r>
              <a:rPr lang="it-IT" dirty="0" err="1"/>
              <a:t>readNumber</a:t>
            </a:r>
            <a:r>
              <a:rPr lang="it-IT" dirty="0"/>
              <a:t>, che restituirà l’intero acquisito da tastiera</a:t>
            </a:r>
          </a:p>
        </p:txBody>
      </p:sp>
      <p:sp>
        <p:nvSpPr>
          <p:cNvPr id="9" name="CasellaDiTesto 8">
            <a:extLst>
              <a:ext uri="{FF2B5EF4-FFF2-40B4-BE49-F238E27FC236}">
                <a16:creationId xmlns:a16="http://schemas.microsoft.com/office/drawing/2014/main" id="{0D786F02-C012-0927-3303-4E3BFD841A91}"/>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92788387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Input.java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2400657"/>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Input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Scanner </a:t>
            </a:r>
            <a:r>
              <a:rPr lang="it-IT" sz="1000" b="0" dirty="0" err="1">
                <a:solidFill>
                  <a:srgbClr val="D4D4D4"/>
                </a:solidFill>
                <a:effectLst/>
                <a:latin typeface="Consolas" panose="020B0609020204030204" pitchFamily="49" charset="0"/>
              </a:rPr>
              <a:t>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Input() {</a:t>
            </a:r>
          </a:p>
          <a:p>
            <a:r>
              <a:rPr lang="it-IT" sz="1000" b="0" dirty="0">
                <a:solidFill>
                  <a:srgbClr val="D4D4D4"/>
                </a:solidFill>
                <a:effectLst/>
                <a:latin typeface="Consolas" panose="020B0609020204030204" pitchFamily="49" charset="0"/>
              </a:rPr>
              <a:t>        scanner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Scanner(</a:t>
            </a:r>
            <a:r>
              <a:rPr lang="it-IT" sz="1000" b="0" dirty="0" err="1">
                <a:solidFill>
                  <a:srgbClr val="D4D4D4"/>
                </a:solidFill>
                <a:effectLst/>
                <a:latin typeface="Consolas" panose="020B0609020204030204" pitchFamily="49" charset="0"/>
              </a:rPr>
              <a:t>System.in</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readNumber</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a:t>
            </a:r>
            <a:r>
              <a:rPr lang="it-IT" sz="1000" b="0" dirty="0" err="1">
                <a:solidFill>
                  <a:srgbClr val="CE9178"/>
                </a:solidFill>
                <a:effectLst/>
                <a:latin typeface="Consolas" panose="020B0609020204030204" pitchFamily="49" charset="0"/>
              </a:rPr>
              <a:t>Enter</a:t>
            </a:r>
            <a:r>
              <a:rPr lang="it-IT" sz="1000" b="0" dirty="0">
                <a:solidFill>
                  <a:srgbClr val="CE9178"/>
                </a:solidFill>
                <a:effectLst/>
                <a:latin typeface="Consolas" panose="020B0609020204030204" pitchFamily="49" charset="0"/>
              </a:rPr>
              <a:t> a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2" name="CasellaDiTesto 1">
            <a:extLst>
              <a:ext uri="{FF2B5EF4-FFF2-40B4-BE49-F238E27FC236}">
                <a16:creationId xmlns:a16="http://schemas.microsoft.com/office/drawing/2014/main" id="{A9DB327F-6746-08B4-2AA9-FA19BA15C954}"/>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6" name="CasellaDiTesto 5">
            <a:extLst>
              <a:ext uri="{FF2B5EF4-FFF2-40B4-BE49-F238E27FC236}">
                <a16:creationId xmlns:a16="http://schemas.microsoft.com/office/drawing/2014/main" id="{42458C9D-6288-50E3-E227-24508D8981BE}"/>
              </a:ext>
            </a:extLst>
          </p:cNvPr>
          <p:cNvSpPr txBox="1"/>
          <p:nvPr/>
        </p:nvSpPr>
        <p:spPr>
          <a:xfrm>
            <a:off x="282040" y="5226703"/>
            <a:ext cx="3280558" cy="375552"/>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dirty="0"/>
              <a:t>Scrive a video "</a:t>
            </a:r>
            <a:r>
              <a:rPr lang="it-IT" dirty="0" err="1"/>
              <a:t>Enter</a:t>
            </a:r>
            <a:r>
              <a:rPr lang="it-IT" dirty="0"/>
              <a:t> a </a:t>
            </a:r>
            <a:r>
              <a:rPr lang="it-IT" dirty="0" err="1"/>
              <a:t>number</a:t>
            </a:r>
            <a:r>
              <a:rPr lang="it-IT" dirty="0"/>
              <a:t>: "</a:t>
            </a:r>
          </a:p>
        </p:txBody>
      </p:sp>
      <p:sp>
        <p:nvSpPr>
          <p:cNvPr id="9" name="CasellaDiTesto 8">
            <a:extLst>
              <a:ext uri="{FF2B5EF4-FFF2-40B4-BE49-F238E27FC236}">
                <a16:creationId xmlns:a16="http://schemas.microsoft.com/office/drawing/2014/main" id="{E0BC666F-7CFE-DDA9-DFD3-91962B0382E1}"/>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110502277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Input.java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2554545"/>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Input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Scanner </a:t>
            </a:r>
            <a:r>
              <a:rPr lang="it-IT" sz="1000" b="0" dirty="0" err="1">
                <a:solidFill>
                  <a:srgbClr val="D4D4D4"/>
                </a:solidFill>
                <a:effectLst/>
                <a:latin typeface="Consolas" panose="020B0609020204030204" pitchFamily="49" charset="0"/>
              </a:rPr>
              <a:t>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Input() {</a:t>
            </a:r>
          </a:p>
          <a:p>
            <a:r>
              <a:rPr lang="it-IT" sz="1000" b="0" dirty="0">
                <a:solidFill>
                  <a:srgbClr val="D4D4D4"/>
                </a:solidFill>
                <a:effectLst/>
                <a:latin typeface="Consolas" panose="020B0609020204030204" pitchFamily="49" charset="0"/>
              </a:rPr>
              <a:t>        scanner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Scanner(</a:t>
            </a:r>
            <a:r>
              <a:rPr lang="it-IT" sz="1000" b="0" dirty="0" err="1">
                <a:solidFill>
                  <a:srgbClr val="D4D4D4"/>
                </a:solidFill>
                <a:effectLst/>
                <a:latin typeface="Consolas" panose="020B0609020204030204" pitchFamily="49" charset="0"/>
              </a:rPr>
              <a:t>System.in</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readNumber</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a:t>
            </a:r>
            <a:r>
              <a:rPr lang="it-IT" sz="1000" b="0" dirty="0" err="1">
                <a:solidFill>
                  <a:srgbClr val="CE9178"/>
                </a:solidFill>
                <a:effectLst/>
                <a:latin typeface="Consolas" panose="020B0609020204030204" pitchFamily="49" charset="0"/>
              </a:rPr>
              <a:t>Enter</a:t>
            </a:r>
            <a:r>
              <a:rPr lang="it-IT" sz="1000" b="0" dirty="0">
                <a:solidFill>
                  <a:srgbClr val="CE9178"/>
                </a:solidFill>
                <a:effectLst/>
                <a:latin typeface="Consolas" panose="020B0609020204030204" pitchFamily="49" charset="0"/>
              </a:rPr>
              <a:t> a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scanner.nextInt</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2" name="CasellaDiTesto 1">
            <a:extLst>
              <a:ext uri="{FF2B5EF4-FFF2-40B4-BE49-F238E27FC236}">
                <a16:creationId xmlns:a16="http://schemas.microsoft.com/office/drawing/2014/main" id="{A9DB327F-6746-08B4-2AA9-FA19BA15C954}"/>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6" name="CasellaDiTesto 5">
            <a:extLst>
              <a:ext uri="{FF2B5EF4-FFF2-40B4-BE49-F238E27FC236}">
                <a16:creationId xmlns:a16="http://schemas.microsoft.com/office/drawing/2014/main" id="{42458C9D-6288-50E3-E227-24508D8981BE}"/>
              </a:ext>
            </a:extLst>
          </p:cNvPr>
          <p:cNvSpPr txBox="1"/>
          <p:nvPr/>
        </p:nvSpPr>
        <p:spPr>
          <a:xfrm>
            <a:off x="282040" y="5226703"/>
            <a:ext cx="3280558" cy="1264642"/>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dirty="0"/>
              <a:t>Definiamo una variabile intera (</a:t>
            </a:r>
            <a:r>
              <a:rPr lang="it-IT" dirty="0" err="1"/>
              <a:t>number</a:t>
            </a:r>
            <a:r>
              <a:rPr lang="it-IT" dirty="0"/>
              <a:t>) ed </a:t>
            </a:r>
            <a:r>
              <a:rPr lang="it-IT" dirty="0" err="1"/>
              <a:t>assegnamola</a:t>
            </a:r>
            <a:r>
              <a:rPr lang="it-IT" dirty="0"/>
              <a:t> ad al metodo </a:t>
            </a:r>
            <a:r>
              <a:rPr lang="it-IT" dirty="0" err="1"/>
              <a:t>nextInt</a:t>
            </a:r>
            <a:r>
              <a:rPr lang="it-IT" dirty="0"/>
              <a:t>() dello Scanner </a:t>
            </a:r>
            <a:r>
              <a:rPr lang="it-IT" dirty="0" err="1"/>
              <a:t>scanner</a:t>
            </a:r>
            <a:endParaRPr lang="it-IT" dirty="0"/>
          </a:p>
        </p:txBody>
      </p:sp>
      <p:sp>
        <p:nvSpPr>
          <p:cNvPr id="9" name="CasellaDiTesto 8">
            <a:extLst>
              <a:ext uri="{FF2B5EF4-FFF2-40B4-BE49-F238E27FC236}">
                <a16:creationId xmlns:a16="http://schemas.microsoft.com/office/drawing/2014/main" id="{77794935-124A-491F-4642-81AC7F38CC50}"/>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34884274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Input.java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2708434"/>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Input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Scanner </a:t>
            </a:r>
            <a:r>
              <a:rPr lang="it-IT" sz="1000" b="0" dirty="0" err="1">
                <a:solidFill>
                  <a:srgbClr val="D4D4D4"/>
                </a:solidFill>
                <a:effectLst/>
                <a:latin typeface="Consolas" panose="020B0609020204030204" pitchFamily="49" charset="0"/>
              </a:rPr>
              <a:t>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Input() {</a:t>
            </a:r>
          </a:p>
          <a:p>
            <a:r>
              <a:rPr lang="it-IT" sz="1000" b="0" dirty="0">
                <a:solidFill>
                  <a:srgbClr val="D4D4D4"/>
                </a:solidFill>
                <a:effectLst/>
                <a:latin typeface="Consolas" panose="020B0609020204030204" pitchFamily="49" charset="0"/>
              </a:rPr>
              <a:t>        scanner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Scanner(</a:t>
            </a:r>
            <a:r>
              <a:rPr lang="it-IT" sz="1000" b="0" dirty="0" err="1">
                <a:solidFill>
                  <a:srgbClr val="D4D4D4"/>
                </a:solidFill>
                <a:effectLst/>
                <a:latin typeface="Consolas" panose="020B0609020204030204" pitchFamily="49" charset="0"/>
              </a:rPr>
              <a:t>System.in</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readNumber</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a:t>
            </a:r>
            <a:r>
              <a:rPr lang="it-IT" sz="1000" b="0" dirty="0" err="1">
                <a:solidFill>
                  <a:srgbClr val="CE9178"/>
                </a:solidFill>
                <a:effectLst/>
                <a:latin typeface="Consolas" panose="020B0609020204030204" pitchFamily="49" charset="0"/>
              </a:rPr>
              <a:t>Enter</a:t>
            </a:r>
            <a:r>
              <a:rPr lang="it-IT" sz="1000" b="0" dirty="0">
                <a:solidFill>
                  <a:srgbClr val="CE9178"/>
                </a:solidFill>
                <a:effectLst/>
                <a:latin typeface="Consolas" panose="020B0609020204030204" pitchFamily="49" charset="0"/>
              </a:rPr>
              <a:t> a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scanner.nextInt</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return</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2" name="CasellaDiTesto 1">
            <a:extLst>
              <a:ext uri="{FF2B5EF4-FFF2-40B4-BE49-F238E27FC236}">
                <a16:creationId xmlns:a16="http://schemas.microsoft.com/office/drawing/2014/main" id="{A9DB327F-6746-08B4-2AA9-FA19BA15C954}"/>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6" name="CasellaDiTesto 5">
            <a:extLst>
              <a:ext uri="{FF2B5EF4-FFF2-40B4-BE49-F238E27FC236}">
                <a16:creationId xmlns:a16="http://schemas.microsoft.com/office/drawing/2014/main" id="{42458C9D-6288-50E3-E227-24508D8981BE}"/>
              </a:ext>
            </a:extLst>
          </p:cNvPr>
          <p:cNvSpPr txBox="1"/>
          <p:nvPr/>
        </p:nvSpPr>
        <p:spPr>
          <a:xfrm>
            <a:off x="282040" y="5226703"/>
            <a:ext cx="3280558" cy="375552"/>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dirty="0"/>
              <a:t>Restituisci il valore numerico</a:t>
            </a:r>
          </a:p>
        </p:txBody>
      </p:sp>
      <p:sp>
        <p:nvSpPr>
          <p:cNvPr id="9" name="CasellaDiTesto 8">
            <a:extLst>
              <a:ext uri="{FF2B5EF4-FFF2-40B4-BE49-F238E27FC236}">
                <a16:creationId xmlns:a16="http://schemas.microsoft.com/office/drawing/2014/main" id="{9844BD63-12E6-5159-C5B2-07DF9B4CE4F7}"/>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366860824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Game.java</a:t>
            </a:r>
            <a:endParaRPr lang="it-IT" sz="1800" b="1" i="0" dirty="0">
              <a:solidFill>
                <a:srgbClr val="374151"/>
              </a:solidFill>
              <a:effectLst/>
              <a:latin typeface="Söhne"/>
            </a:endParaRPr>
          </a:p>
        </p:txBody>
      </p:sp>
      <p:sp>
        <p:nvSpPr>
          <p:cNvPr id="6" name="CasellaDiTesto 5">
            <a:extLst>
              <a:ext uri="{FF2B5EF4-FFF2-40B4-BE49-F238E27FC236}">
                <a16:creationId xmlns:a16="http://schemas.microsoft.com/office/drawing/2014/main" id="{C971EB27-CADA-AD19-1DC6-7C4909E88CFE}"/>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9" name="CasellaDiTesto 8">
            <a:extLst>
              <a:ext uri="{FF2B5EF4-FFF2-40B4-BE49-F238E27FC236}">
                <a16:creationId xmlns:a16="http://schemas.microsoft.com/office/drawing/2014/main" id="{B67061DC-C0EC-78C8-D7CE-DC4EC09D12E2}"/>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375400995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Game.java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246221"/>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p:txBody>
      </p:sp>
      <p:sp>
        <p:nvSpPr>
          <p:cNvPr id="6" name="CasellaDiTesto 5">
            <a:extLst>
              <a:ext uri="{FF2B5EF4-FFF2-40B4-BE49-F238E27FC236}">
                <a16:creationId xmlns:a16="http://schemas.microsoft.com/office/drawing/2014/main" id="{C971EB27-CADA-AD19-1DC6-7C4909E88CFE}"/>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2" name="CasellaDiTesto 1">
            <a:extLst>
              <a:ext uri="{FF2B5EF4-FFF2-40B4-BE49-F238E27FC236}">
                <a16:creationId xmlns:a16="http://schemas.microsoft.com/office/drawing/2014/main" id="{EDFAD471-A041-F280-F5E2-7E4076342872}"/>
              </a:ext>
            </a:extLst>
          </p:cNvPr>
          <p:cNvSpPr txBox="1"/>
          <p:nvPr/>
        </p:nvSpPr>
        <p:spPr>
          <a:xfrm>
            <a:off x="282040" y="5226703"/>
            <a:ext cx="3280558" cy="375552"/>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dirty="0"/>
              <a:t>Nella classe definiamo il package</a:t>
            </a:r>
          </a:p>
        </p:txBody>
      </p:sp>
      <p:sp>
        <p:nvSpPr>
          <p:cNvPr id="9" name="CasellaDiTesto 8">
            <a:extLst>
              <a:ext uri="{FF2B5EF4-FFF2-40B4-BE49-F238E27FC236}">
                <a16:creationId xmlns:a16="http://schemas.microsoft.com/office/drawing/2014/main" id="{2AB3E99A-B25A-C94F-B757-43BA3901F6F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254612989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Game.java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400110"/>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p:txBody>
      </p:sp>
      <p:sp>
        <p:nvSpPr>
          <p:cNvPr id="6" name="CasellaDiTesto 5">
            <a:extLst>
              <a:ext uri="{FF2B5EF4-FFF2-40B4-BE49-F238E27FC236}">
                <a16:creationId xmlns:a16="http://schemas.microsoft.com/office/drawing/2014/main" id="{C971EB27-CADA-AD19-1DC6-7C4909E88CFE}"/>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2" name="CasellaDiTesto 1">
            <a:extLst>
              <a:ext uri="{FF2B5EF4-FFF2-40B4-BE49-F238E27FC236}">
                <a16:creationId xmlns:a16="http://schemas.microsoft.com/office/drawing/2014/main" id="{3039F6D3-F564-21BB-712B-735277399825}"/>
              </a:ext>
            </a:extLst>
          </p:cNvPr>
          <p:cNvSpPr txBox="1"/>
          <p:nvPr/>
        </p:nvSpPr>
        <p:spPr>
          <a:xfrm>
            <a:off x="282040" y="5226703"/>
            <a:ext cx="3280558" cy="1264642"/>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dirty="0"/>
              <a:t>Importiamo una classe da package standard di JAVA: la Random per generare numeri causali</a:t>
            </a:r>
          </a:p>
        </p:txBody>
      </p:sp>
    </p:spTree>
    <p:extLst>
      <p:ext uri="{BB962C8B-B14F-4D97-AF65-F5344CB8AC3E}">
        <p14:creationId xmlns:p14="http://schemas.microsoft.com/office/powerpoint/2010/main" val="229020327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Game.java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1169551"/>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Game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0</a:t>
            </a:r>
            <a:r>
              <a:rPr lang="it-IT" sz="1000" b="0" dirty="0">
                <a:solidFill>
                  <a:srgbClr val="D4D4D4"/>
                </a:solidFill>
                <a:effectLst/>
                <a:latin typeface="Consolas" panose="020B0609020204030204" pitchFamily="49" charset="0"/>
              </a:rPr>
              <a:t>;</a:t>
            </a:r>
          </a:p>
          <a:p>
            <a:r>
              <a:rPr lang="it-IT" sz="10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C971EB27-CADA-AD19-1DC6-7C4909E88CFE}"/>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2" name="CasellaDiTesto 1">
            <a:extLst>
              <a:ext uri="{FF2B5EF4-FFF2-40B4-BE49-F238E27FC236}">
                <a16:creationId xmlns:a16="http://schemas.microsoft.com/office/drawing/2014/main" id="{2CE85F75-156F-5863-F0AC-5265440D7E47}"/>
              </a:ext>
            </a:extLst>
          </p:cNvPr>
          <p:cNvSpPr txBox="1"/>
          <p:nvPr/>
        </p:nvSpPr>
        <p:spPr>
          <a:xfrm>
            <a:off x="282040" y="5226703"/>
            <a:ext cx="3280558" cy="1397947"/>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Definiamo una </a:t>
            </a:r>
            <a:r>
              <a:rPr lang="it-IT" sz="1600" dirty="0" err="1"/>
              <a:t>vartiabile</a:t>
            </a:r>
            <a:r>
              <a:rPr lang="it-IT" sz="1600" dirty="0"/>
              <a:t> per contenere il numero causale generato ed una che conterrà il numero di tentativi per indovinarlo; quest’ultima </a:t>
            </a:r>
            <a:r>
              <a:rPr lang="it-IT" sz="1600" dirty="0" err="1"/>
              <a:t>inzializziamola</a:t>
            </a:r>
            <a:r>
              <a:rPr lang="it-IT" sz="1600" dirty="0"/>
              <a:t> a 0</a:t>
            </a:r>
          </a:p>
        </p:txBody>
      </p:sp>
      <p:sp>
        <p:nvSpPr>
          <p:cNvPr id="9" name="CasellaDiTesto 8">
            <a:extLst>
              <a:ext uri="{FF2B5EF4-FFF2-40B4-BE49-F238E27FC236}">
                <a16:creationId xmlns:a16="http://schemas.microsoft.com/office/drawing/2014/main" id="{52D2D7C6-BE33-F9AB-B6DD-6B1033357D69}"/>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237059968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Game.java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2554545"/>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Game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0</a:t>
            </a:r>
            <a:r>
              <a:rPr lang="it-IT" sz="1000" b="0" dirty="0">
                <a:solidFill>
                  <a:srgbClr val="D4D4D4"/>
                </a:solidFill>
                <a:effectLst/>
                <a:latin typeface="Consolas" panose="020B0609020204030204" pitchFamily="49" charset="0"/>
              </a:rPr>
              <a:t>;</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start()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C971EB27-CADA-AD19-1DC6-7C4909E88CFE}"/>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2" name="CasellaDiTesto 1">
            <a:extLst>
              <a:ext uri="{FF2B5EF4-FFF2-40B4-BE49-F238E27FC236}">
                <a16:creationId xmlns:a16="http://schemas.microsoft.com/office/drawing/2014/main" id="{B46FEEDC-4F6B-9924-3C75-DDC7A1CA8D68}"/>
              </a:ext>
            </a:extLst>
          </p:cNvPr>
          <p:cNvSpPr txBox="1"/>
          <p:nvPr/>
        </p:nvSpPr>
        <p:spPr>
          <a:xfrm>
            <a:off x="282039" y="5226703"/>
            <a:ext cx="3280558" cy="1397947"/>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Definiamo il metodo start(), un metodo che non restituisce nulla (</a:t>
            </a:r>
            <a:r>
              <a:rPr lang="it-IT" sz="1600" dirty="0" err="1"/>
              <a:t>void</a:t>
            </a:r>
            <a:r>
              <a:rPr lang="it-IT" sz="1600" dirty="0"/>
              <a:t>) e che dovrà poi essere chiamato, se e quando qualche altra classe dovesse volerne fare uso</a:t>
            </a:r>
          </a:p>
        </p:txBody>
      </p:sp>
      <p:sp>
        <p:nvSpPr>
          <p:cNvPr id="9" name="CasellaDiTesto 8">
            <a:extLst>
              <a:ext uri="{FF2B5EF4-FFF2-40B4-BE49-F238E27FC236}">
                <a16:creationId xmlns:a16="http://schemas.microsoft.com/office/drawing/2014/main" id="{4B55A1BB-D194-BF09-78FA-3EDD3A895F4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391837557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Game.java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2554545"/>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Game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0</a:t>
            </a:r>
            <a:r>
              <a:rPr lang="it-IT" sz="1000" b="0" dirty="0">
                <a:solidFill>
                  <a:srgbClr val="D4D4D4"/>
                </a:solidFill>
                <a:effectLst/>
                <a:latin typeface="Consolas" panose="020B0609020204030204" pitchFamily="49" charset="0"/>
              </a:rPr>
              <a:t>;</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start()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"Guess 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between</a:t>
            </a:r>
            <a:r>
              <a:rPr lang="it-IT" sz="1000" b="0" dirty="0">
                <a:solidFill>
                  <a:srgbClr val="CE9178"/>
                </a:solidFill>
                <a:effectLst/>
                <a:latin typeface="Consolas" panose="020B0609020204030204" pitchFamily="49" charset="0"/>
              </a:rPr>
              <a:t> 1 and 100!"</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C971EB27-CADA-AD19-1DC6-7C4909E88CFE}"/>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2" name="CasellaDiTesto 1">
            <a:extLst>
              <a:ext uri="{FF2B5EF4-FFF2-40B4-BE49-F238E27FC236}">
                <a16:creationId xmlns:a16="http://schemas.microsoft.com/office/drawing/2014/main" id="{22DAB6D0-2F73-47E8-2E7D-51C1E9C381BF}"/>
              </a:ext>
            </a:extLst>
          </p:cNvPr>
          <p:cNvSpPr txBox="1"/>
          <p:nvPr/>
        </p:nvSpPr>
        <p:spPr>
          <a:xfrm>
            <a:off x="282039" y="5226703"/>
            <a:ext cx="3280558" cy="1237070"/>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Stampiamo a video il testo </a:t>
            </a:r>
          </a:p>
          <a:p>
            <a:pPr lvl="0">
              <a:lnSpc>
                <a:spcPct val="107000"/>
              </a:lnSpc>
              <a:spcAft>
                <a:spcPts val="800"/>
              </a:spcAft>
              <a:buSzPts val="1000"/>
              <a:tabLst>
                <a:tab pos="449580" algn="l"/>
              </a:tabLst>
            </a:pPr>
            <a:r>
              <a:rPr lang="en-US" sz="1600" dirty="0"/>
              <a:t>"Guess the number between 1 and 100!“ (ossia </a:t>
            </a:r>
            <a:r>
              <a:rPr lang="it-IT" sz="1600" dirty="0"/>
              <a:t>"Indovina il numero compreso tra 1 e 100!")</a:t>
            </a:r>
          </a:p>
        </p:txBody>
      </p:sp>
      <p:sp>
        <p:nvSpPr>
          <p:cNvPr id="9" name="CasellaDiTesto 8">
            <a:extLst>
              <a:ext uri="{FF2B5EF4-FFF2-40B4-BE49-F238E27FC236}">
                <a16:creationId xmlns:a16="http://schemas.microsoft.com/office/drawing/2014/main" id="{9F09B4ED-51C7-742E-AB14-98A46ACA8DD5}"/>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137183140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Game.java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2554545"/>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Game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0</a:t>
            </a:r>
            <a:r>
              <a:rPr lang="it-IT" sz="1000" b="0" dirty="0">
                <a:solidFill>
                  <a:srgbClr val="D4D4D4"/>
                </a:solidFill>
                <a:effectLst/>
                <a:latin typeface="Consolas" panose="020B0609020204030204" pitchFamily="49" charset="0"/>
              </a:rPr>
              <a:t>;</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start()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"Guess 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between</a:t>
            </a:r>
            <a:r>
              <a:rPr lang="it-IT" sz="1000" b="0" dirty="0">
                <a:solidFill>
                  <a:srgbClr val="CE9178"/>
                </a:solidFill>
                <a:effectLst/>
                <a:latin typeface="Consolas" panose="020B0609020204030204" pitchFamily="49" charset="0"/>
              </a:rPr>
              <a:t> 1 and 100!"</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Random </a:t>
            </a:r>
            <a:r>
              <a:rPr lang="it-IT" sz="1000" b="0" dirty="0" err="1">
                <a:solidFill>
                  <a:srgbClr val="D4D4D4"/>
                </a:solidFill>
                <a:effectLst/>
                <a:latin typeface="Consolas" panose="020B0609020204030204" pitchFamily="49" charset="0"/>
              </a:rPr>
              <a:t>random</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C971EB27-CADA-AD19-1DC6-7C4909E88CFE}"/>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2" name="CasellaDiTesto 1">
            <a:extLst>
              <a:ext uri="{FF2B5EF4-FFF2-40B4-BE49-F238E27FC236}">
                <a16:creationId xmlns:a16="http://schemas.microsoft.com/office/drawing/2014/main" id="{EABF9D7E-B32F-F4A9-BDCA-3F242935864A}"/>
              </a:ext>
            </a:extLst>
          </p:cNvPr>
          <p:cNvSpPr txBox="1"/>
          <p:nvPr/>
        </p:nvSpPr>
        <p:spPr>
          <a:xfrm>
            <a:off x="282039" y="5226703"/>
            <a:ext cx="3280558" cy="871008"/>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Definiamo un oggetto chiamato random di tipo Random() (per generare numeri casuali)</a:t>
            </a:r>
          </a:p>
        </p:txBody>
      </p:sp>
      <p:sp>
        <p:nvSpPr>
          <p:cNvPr id="10" name="CasellaDiTesto 9">
            <a:extLst>
              <a:ext uri="{FF2B5EF4-FFF2-40B4-BE49-F238E27FC236}">
                <a16:creationId xmlns:a16="http://schemas.microsoft.com/office/drawing/2014/main" id="{5DECC1FA-23C2-290F-70AA-2D6F071D015C}"/>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51483864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Game.java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2554545"/>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Game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0</a:t>
            </a:r>
            <a:r>
              <a:rPr lang="it-IT" sz="1000" b="0" dirty="0">
                <a:solidFill>
                  <a:srgbClr val="D4D4D4"/>
                </a:solidFill>
                <a:effectLst/>
                <a:latin typeface="Consolas" panose="020B0609020204030204" pitchFamily="49" charset="0"/>
              </a:rPr>
              <a:t>;</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start()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"Guess 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between</a:t>
            </a:r>
            <a:r>
              <a:rPr lang="it-IT" sz="1000" b="0" dirty="0">
                <a:solidFill>
                  <a:srgbClr val="CE9178"/>
                </a:solidFill>
                <a:effectLst/>
                <a:latin typeface="Consolas" panose="020B0609020204030204" pitchFamily="49" charset="0"/>
              </a:rPr>
              <a:t> 1 and 100!"</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Random </a:t>
            </a:r>
            <a:r>
              <a:rPr lang="it-IT" sz="1000" b="0" dirty="0" err="1">
                <a:solidFill>
                  <a:srgbClr val="D4D4D4"/>
                </a:solidFill>
                <a:effectLst/>
                <a:latin typeface="Consolas" panose="020B0609020204030204" pitchFamily="49" charset="0"/>
              </a:rPr>
              <a:t>random</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random.nextInt</a:t>
            </a:r>
            <a:r>
              <a:rPr lang="it-IT" sz="1000" b="0" dirty="0">
                <a:solidFill>
                  <a:srgbClr val="D4D4D4"/>
                </a:solidFill>
                <a:effectLst/>
                <a:latin typeface="Consolas" panose="020B0609020204030204" pitchFamily="49" charset="0"/>
              </a:rPr>
              <a:t>(</a:t>
            </a:r>
            <a:r>
              <a:rPr lang="it-IT" sz="1000" b="0" dirty="0">
                <a:solidFill>
                  <a:srgbClr val="B5CEA8"/>
                </a:solidFill>
                <a:effectLst/>
                <a:latin typeface="Consolas" panose="020B0609020204030204" pitchFamily="49" charset="0"/>
              </a:rPr>
              <a:t>100</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1</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C971EB27-CADA-AD19-1DC6-7C4909E88CFE}"/>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2" name="CasellaDiTesto 1">
            <a:extLst>
              <a:ext uri="{FF2B5EF4-FFF2-40B4-BE49-F238E27FC236}">
                <a16:creationId xmlns:a16="http://schemas.microsoft.com/office/drawing/2014/main" id="{DFB4B3C9-F5F3-3489-65BA-52ACF385E966}"/>
              </a:ext>
            </a:extLst>
          </p:cNvPr>
          <p:cNvSpPr txBox="1"/>
          <p:nvPr/>
        </p:nvSpPr>
        <p:spPr>
          <a:xfrm>
            <a:off x="282039" y="5226703"/>
            <a:ext cx="3280558" cy="1397947"/>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Generiamo un numero </a:t>
            </a:r>
            <a:r>
              <a:rPr lang="it-IT" sz="1600" dirty="0" err="1"/>
              <a:t>cauale</a:t>
            </a:r>
            <a:r>
              <a:rPr lang="it-IT" sz="1600" dirty="0"/>
              <a:t> intero da 1 a 100 (</a:t>
            </a:r>
            <a:r>
              <a:rPr lang="it-IT" sz="1600" i="1" dirty="0" err="1">
                <a:solidFill>
                  <a:schemeClr val="accent5">
                    <a:lumMod val="75000"/>
                  </a:schemeClr>
                </a:solidFill>
              </a:rPr>
              <a:t>random.nextInt</a:t>
            </a:r>
            <a:r>
              <a:rPr lang="it-IT" sz="1600" i="1" dirty="0">
                <a:solidFill>
                  <a:schemeClr val="accent5">
                    <a:lumMod val="75000"/>
                  </a:schemeClr>
                </a:solidFill>
              </a:rPr>
              <a:t>(100) </a:t>
            </a:r>
            <a:r>
              <a:rPr lang="it-IT" sz="1600" dirty="0"/>
              <a:t> genera un </a:t>
            </a:r>
            <a:r>
              <a:rPr lang="it-IT" sz="1600" dirty="0" err="1"/>
              <a:t>numeor</a:t>
            </a:r>
            <a:r>
              <a:rPr lang="it-IT" sz="1600" dirty="0"/>
              <a:t> casuale da 0 a 99, ma sommando uno sarà un numero casuale da 1 a 100)</a:t>
            </a:r>
          </a:p>
        </p:txBody>
      </p:sp>
      <p:sp>
        <p:nvSpPr>
          <p:cNvPr id="9" name="CasellaDiTesto 8">
            <a:extLst>
              <a:ext uri="{FF2B5EF4-FFF2-40B4-BE49-F238E27FC236}">
                <a16:creationId xmlns:a16="http://schemas.microsoft.com/office/drawing/2014/main" id="{775CEE34-BB23-B486-6F38-4DEF12C58DBF}"/>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313707194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369332"/>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2554545"/>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Game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0</a:t>
            </a:r>
            <a:r>
              <a:rPr lang="it-IT" sz="1000" b="0" dirty="0">
                <a:solidFill>
                  <a:srgbClr val="D4D4D4"/>
                </a:solidFill>
                <a:effectLst/>
                <a:latin typeface="Consolas" panose="020B0609020204030204" pitchFamily="49" charset="0"/>
              </a:rPr>
              <a:t>;</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start()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"Guess 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between</a:t>
            </a:r>
            <a:r>
              <a:rPr lang="it-IT" sz="1000" b="0" dirty="0">
                <a:solidFill>
                  <a:srgbClr val="CE9178"/>
                </a:solidFill>
                <a:effectLst/>
                <a:latin typeface="Consolas" panose="020B0609020204030204" pitchFamily="49" charset="0"/>
              </a:rPr>
              <a:t> 1 and 100!"</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Random </a:t>
            </a:r>
            <a:r>
              <a:rPr lang="it-IT" sz="1000" b="0" dirty="0" err="1">
                <a:solidFill>
                  <a:srgbClr val="D4D4D4"/>
                </a:solidFill>
                <a:effectLst/>
                <a:latin typeface="Consolas" panose="020B0609020204030204" pitchFamily="49" charset="0"/>
              </a:rPr>
              <a:t>random</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random.nextInt</a:t>
            </a:r>
            <a:r>
              <a:rPr lang="it-IT" sz="1000" b="0" dirty="0">
                <a:solidFill>
                  <a:srgbClr val="D4D4D4"/>
                </a:solidFill>
                <a:effectLst/>
                <a:latin typeface="Consolas" panose="020B0609020204030204" pitchFamily="49" charset="0"/>
              </a:rPr>
              <a:t>(</a:t>
            </a:r>
            <a:r>
              <a:rPr lang="it-IT" sz="1000" b="0" dirty="0">
                <a:solidFill>
                  <a:srgbClr val="B5CEA8"/>
                </a:solidFill>
                <a:effectLst/>
                <a:latin typeface="Consolas" panose="020B0609020204030204" pitchFamily="49" charset="0"/>
              </a:rPr>
              <a:t>100</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1</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boolean</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false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C971EB27-CADA-AD19-1DC6-7C4909E88CFE}"/>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2" name="CasellaDiTesto 1">
            <a:extLst>
              <a:ext uri="{FF2B5EF4-FFF2-40B4-BE49-F238E27FC236}">
                <a16:creationId xmlns:a16="http://schemas.microsoft.com/office/drawing/2014/main" id="{5BEB20AE-0D59-5502-200D-724422779799}"/>
              </a:ext>
            </a:extLst>
          </p:cNvPr>
          <p:cNvSpPr txBox="1"/>
          <p:nvPr/>
        </p:nvSpPr>
        <p:spPr>
          <a:xfrm>
            <a:off x="282039" y="5226703"/>
            <a:ext cx="3280558" cy="871008"/>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Avviamo la procedura di verifica per indovinare: poniamo una variabile booleana ( </a:t>
            </a:r>
            <a:r>
              <a:rPr lang="it-IT" sz="1600" dirty="0" err="1"/>
              <a:t>guessed</a:t>
            </a:r>
            <a:r>
              <a:rPr lang="it-IT" sz="1600" dirty="0"/>
              <a:t> ) a false</a:t>
            </a:r>
          </a:p>
        </p:txBody>
      </p:sp>
      <p:sp>
        <p:nvSpPr>
          <p:cNvPr id="9" name="CasellaDiTesto 8">
            <a:extLst>
              <a:ext uri="{FF2B5EF4-FFF2-40B4-BE49-F238E27FC236}">
                <a16:creationId xmlns:a16="http://schemas.microsoft.com/office/drawing/2014/main" id="{A48D0474-C6EB-6527-3AC2-8EE16A2324CA}"/>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243140971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Game.java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3170099"/>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Game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0</a:t>
            </a:r>
            <a:r>
              <a:rPr lang="it-IT" sz="1000" b="0" dirty="0">
                <a:solidFill>
                  <a:srgbClr val="D4D4D4"/>
                </a:solidFill>
                <a:effectLst/>
                <a:latin typeface="Consolas" panose="020B0609020204030204" pitchFamily="49" charset="0"/>
              </a:rPr>
              <a:t>;</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start()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"Guess 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between</a:t>
            </a:r>
            <a:r>
              <a:rPr lang="it-IT" sz="1000" b="0" dirty="0">
                <a:solidFill>
                  <a:srgbClr val="CE9178"/>
                </a:solidFill>
                <a:effectLst/>
                <a:latin typeface="Consolas" panose="020B0609020204030204" pitchFamily="49" charset="0"/>
              </a:rPr>
              <a:t> 1 and 100!"</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Random </a:t>
            </a:r>
            <a:r>
              <a:rPr lang="it-IT" sz="1000" b="0" dirty="0" err="1">
                <a:solidFill>
                  <a:srgbClr val="D4D4D4"/>
                </a:solidFill>
                <a:effectLst/>
                <a:latin typeface="Consolas" panose="020B0609020204030204" pitchFamily="49" charset="0"/>
              </a:rPr>
              <a:t>random</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random.nextInt</a:t>
            </a:r>
            <a:r>
              <a:rPr lang="it-IT" sz="1000" b="0" dirty="0">
                <a:solidFill>
                  <a:srgbClr val="D4D4D4"/>
                </a:solidFill>
                <a:effectLst/>
                <a:latin typeface="Consolas" panose="020B0609020204030204" pitchFamily="49" charset="0"/>
              </a:rPr>
              <a:t>(</a:t>
            </a:r>
            <a:r>
              <a:rPr lang="it-IT" sz="1000" b="0" dirty="0">
                <a:solidFill>
                  <a:srgbClr val="B5CEA8"/>
                </a:solidFill>
                <a:effectLst/>
                <a:latin typeface="Consolas" panose="020B0609020204030204" pitchFamily="49" charset="0"/>
              </a:rPr>
              <a:t>100</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1</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boolean</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false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while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C971EB27-CADA-AD19-1DC6-7C4909E88CFE}"/>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2" name="CasellaDiTesto 1">
            <a:extLst>
              <a:ext uri="{FF2B5EF4-FFF2-40B4-BE49-F238E27FC236}">
                <a16:creationId xmlns:a16="http://schemas.microsoft.com/office/drawing/2014/main" id="{F3EE5212-53A6-D5E7-D106-9E5CE956F227}"/>
              </a:ext>
            </a:extLst>
          </p:cNvPr>
          <p:cNvSpPr txBox="1"/>
          <p:nvPr/>
        </p:nvSpPr>
        <p:spPr>
          <a:xfrm>
            <a:off x="282039" y="5226703"/>
            <a:ext cx="3280558" cy="871008"/>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Adesso diciamo al codice di procedere fino a che </a:t>
            </a:r>
            <a:r>
              <a:rPr lang="it-IT" sz="1600" dirty="0" err="1"/>
              <a:t>guessed</a:t>
            </a:r>
            <a:r>
              <a:rPr lang="it-IT" sz="1600" dirty="0"/>
              <a:t> resta false ( </a:t>
            </a:r>
            <a:r>
              <a:rPr lang="it-IT" sz="1600" b="1" dirty="0">
                <a:solidFill>
                  <a:schemeClr val="accent5">
                    <a:lumMod val="75000"/>
                  </a:schemeClr>
                </a:solidFill>
              </a:rPr>
              <a:t>!=</a:t>
            </a:r>
            <a:r>
              <a:rPr lang="it-IT" sz="1600" b="1" dirty="0"/>
              <a:t> </a:t>
            </a:r>
            <a:r>
              <a:rPr lang="it-IT" sz="1600" dirty="0"/>
              <a:t>significa "non è uguale" )</a:t>
            </a:r>
          </a:p>
        </p:txBody>
      </p:sp>
      <p:sp>
        <p:nvSpPr>
          <p:cNvPr id="9" name="CasellaDiTesto 8">
            <a:extLst>
              <a:ext uri="{FF2B5EF4-FFF2-40B4-BE49-F238E27FC236}">
                <a16:creationId xmlns:a16="http://schemas.microsoft.com/office/drawing/2014/main" id="{6471BA52-7065-D377-3499-3F8392491210}"/>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173998721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Game.java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3170099"/>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Game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0</a:t>
            </a:r>
            <a:r>
              <a:rPr lang="it-IT" sz="1000" b="0" dirty="0">
                <a:solidFill>
                  <a:srgbClr val="D4D4D4"/>
                </a:solidFill>
                <a:effectLst/>
                <a:latin typeface="Consolas" panose="020B0609020204030204" pitchFamily="49" charset="0"/>
              </a:rPr>
              <a:t>;</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start()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"Guess 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between</a:t>
            </a:r>
            <a:r>
              <a:rPr lang="it-IT" sz="1000" b="0" dirty="0">
                <a:solidFill>
                  <a:srgbClr val="CE9178"/>
                </a:solidFill>
                <a:effectLst/>
                <a:latin typeface="Consolas" panose="020B0609020204030204" pitchFamily="49" charset="0"/>
              </a:rPr>
              <a:t> 1 and 100!"</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Random </a:t>
            </a:r>
            <a:r>
              <a:rPr lang="it-IT" sz="1000" b="0" dirty="0" err="1">
                <a:solidFill>
                  <a:srgbClr val="D4D4D4"/>
                </a:solidFill>
                <a:effectLst/>
                <a:latin typeface="Consolas" panose="020B0609020204030204" pitchFamily="49" charset="0"/>
              </a:rPr>
              <a:t>random</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random.nextInt</a:t>
            </a:r>
            <a:r>
              <a:rPr lang="it-IT" sz="1000" b="0" dirty="0">
                <a:solidFill>
                  <a:srgbClr val="D4D4D4"/>
                </a:solidFill>
                <a:effectLst/>
                <a:latin typeface="Consolas" panose="020B0609020204030204" pitchFamily="49" charset="0"/>
              </a:rPr>
              <a:t>(</a:t>
            </a:r>
            <a:r>
              <a:rPr lang="it-IT" sz="1000" b="0" dirty="0">
                <a:solidFill>
                  <a:srgbClr val="B5CEA8"/>
                </a:solidFill>
                <a:effectLst/>
                <a:latin typeface="Consolas" panose="020B0609020204030204" pitchFamily="49" charset="0"/>
              </a:rPr>
              <a:t>100</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1</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boolean</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false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while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Input </a:t>
            </a:r>
            <a:r>
              <a:rPr lang="it-IT" sz="1000" b="0" dirty="0" err="1">
                <a:solidFill>
                  <a:srgbClr val="D4D4D4"/>
                </a:solidFill>
                <a:effectLst/>
                <a:latin typeface="Consolas" panose="020B0609020204030204" pitchFamily="49" charset="0"/>
              </a:rPr>
              <a:t>input</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Input()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C971EB27-CADA-AD19-1DC6-7C4909E88CFE}"/>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2" name="CasellaDiTesto 1">
            <a:extLst>
              <a:ext uri="{FF2B5EF4-FFF2-40B4-BE49-F238E27FC236}">
                <a16:creationId xmlns:a16="http://schemas.microsoft.com/office/drawing/2014/main" id="{6D15E4DC-02BA-8589-AAA7-7B845B9941F3}"/>
              </a:ext>
            </a:extLst>
          </p:cNvPr>
          <p:cNvSpPr txBox="1"/>
          <p:nvPr/>
        </p:nvSpPr>
        <p:spPr>
          <a:xfrm>
            <a:off x="282039" y="5226703"/>
            <a:ext cx="3280558" cy="344069"/>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Generiamo un oggetto di tipo Input()</a:t>
            </a:r>
          </a:p>
        </p:txBody>
      </p:sp>
      <p:sp>
        <p:nvSpPr>
          <p:cNvPr id="9" name="CasellaDiTesto 8">
            <a:extLst>
              <a:ext uri="{FF2B5EF4-FFF2-40B4-BE49-F238E27FC236}">
                <a16:creationId xmlns:a16="http://schemas.microsoft.com/office/drawing/2014/main" id="{4853F1FD-2075-8942-EE5D-4B90DB9F7518}"/>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57043807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Game.java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3170099"/>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Game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0</a:t>
            </a:r>
            <a:r>
              <a:rPr lang="it-IT" sz="1000" b="0" dirty="0">
                <a:solidFill>
                  <a:srgbClr val="D4D4D4"/>
                </a:solidFill>
                <a:effectLst/>
                <a:latin typeface="Consolas" panose="020B0609020204030204" pitchFamily="49" charset="0"/>
              </a:rPr>
              <a:t>;</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start()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"Guess 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between</a:t>
            </a:r>
            <a:r>
              <a:rPr lang="it-IT" sz="1000" b="0" dirty="0">
                <a:solidFill>
                  <a:srgbClr val="CE9178"/>
                </a:solidFill>
                <a:effectLst/>
                <a:latin typeface="Consolas" panose="020B0609020204030204" pitchFamily="49" charset="0"/>
              </a:rPr>
              <a:t> 1 and 100!"</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Random </a:t>
            </a:r>
            <a:r>
              <a:rPr lang="it-IT" sz="1000" b="0" dirty="0" err="1">
                <a:solidFill>
                  <a:srgbClr val="D4D4D4"/>
                </a:solidFill>
                <a:effectLst/>
                <a:latin typeface="Consolas" panose="020B0609020204030204" pitchFamily="49" charset="0"/>
              </a:rPr>
              <a:t>random</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random.nextInt</a:t>
            </a:r>
            <a:r>
              <a:rPr lang="it-IT" sz="1000" b="0" dirty="0">
                <a:solidFill>
                  <a:srgbClr val="D4D4D4"/>
                </a:solidFill>
                <a:effectLst/>
                <a:latin typeface="Consolas" panose="020B0609020204030204" pitchFamily="49" charset="0"/>
              </a:rPr>
              <a:t>(</a:t>
            </a:r>
            <a:r>
              <a:rPr lang="it-IT" sz="1000" b="0" dirty="0">
                <a:solidFill>
                  <a:srgbClr val="B5CEA8"/>
                </a:solidFill>
                <a:effectLst/>
                <a:latin typeface="Consolas" panose="020B0609020204030204" pitchFamily="49" charset="0"/>
              </a:rPr>
              <a:t>100</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1</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boolean</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false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while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Input </a:t>
            </a:r>
            <a:r>
              <a:rPr lang="it-IT" sz="1000" b="0" dirty="0" err="1">
                <a:solidFill>
                  <a:srgbClr val="D4D4D4"/>
                </a:solidFill>
                <a:effectLst/>
                <a:latin typeface="Consolas" panose="020B0609020204030204" pitchFamily="49" charset="0"/>
              </a:rPr>
              <a:t>input</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Input()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input.readNumber</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C971EB27-CADA-AD19-1DC6-7C4909E88CFE}"/>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2" name="CasellaDiTesto 1">
            <a:extLst>
              <a:ext uri="{FF2B5EF4-FFF2-40B4-BE49-F238E27FC236}">
                <a16:creationId xmlns:a16="http://schemas.microsoft.com/office/drawing/2014/main" id="{2F469671-C781-DDF2-10D9-C5DBA417D959}"/>
              </a:ext>
            </a:extLst>
          </p:cNvPr>
          <p:cNvSpPr txBox="1"/>
          <p:nvPr/>
        </p:nvSpPr>
        <p:spPr>
          <a:xfrm>
            <a:off x="282039" y="5226703"/>
            <a:ext cx="3280558" cy="607539"/>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Leggiamo in input il numero che inserirà l’utente</a:t>
            </a:r>
          </a:p>
        </p:txBody>
      </p:sp>
      <p:sp>
        <p:nvSpPr>
          <p:cNvPr id="9" name="CasellaDiTesto 8">
            <a:extLst>
              <a:ext uri="{FF2B5EF4-FFF2-40B4-BE49-F238E27FC236}">
                <a16:creationId xmlns:a16="http://schemas.microsoft.com/office/drawing/2014/main" id="{5AC0CBF3-D35A-1A2E-4B57-B1C3EDCE665B}"/>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39055900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Game.java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3785652"/>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Game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0</a:t>
            </a:r>
            <a:r>
              <a:rPr lang="it-IT" sz="1000" b="0" dirty="0">
                <a:solidFill>
                  <a:srgbClr val="D4D4D4"/>
                </a:solidFill>
                <a:effectLst/>
                <a:latin typeface="Consolas" panose="020B0609020204030204" pitchFamily="49" charset="0"/>
              </a:rPr>
              <a:t>;</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start()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"Guess 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between</a:t>
            </a:r>
            <a:r>
              <a:rPr lang="it-IT" sz="1000" b="0" dirty="0">
                <a:solidFill>
                  <a:srgbClr val="CE9178"/>
                </a:solidFill>
                <a:effectLst/>
                <a:latin typeface="Consolas" panose="020B0609020204030204" pitchFamily="49" charset="0"/>
              </a:rPr>
              <a:t> 1 and 100!"</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Random </a:t>
            </a:r>
            <a:r>
              <a:rPr lang="it-IT" sz="1000" b="0" dirty="0" err="1">
                <a:solidFill>
                  <a:srgbClr val="D4D4D4"/>
                </a:solidFill>
                <a:effectLst/>
                <a:latin typeface="Consolas" panose="020B0609020204030204" pitchFamily="49" charset="0"/>
              </a:rPr>
              <a:t>random</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random.nextInt</a:t>
            </a:r>
            <a:r>
              <a:rPr lang="it-IT" sz="1000" b="0" dirty="0">
                <a:solidFill>
                  <a:srgbClr val="D4D4D4"/>
                </a:solidFill>
                <a:effectLst/>
                <a:latin typeface="Consolas" panose="020B0609020204030204" pitchFamily="49" charset="0"/>
              </a:rPr>
              <a:t>(</a:t>
            </a:r>
            <a:r>
              <a:rPr lang="it-IT" sz="1000" b="0" dirty="0">
                <a:solidFill>
                  <a:srgbClr val="B5CEA8"/>
                </a:solidFill>
                <a:effectLst/>
                <a:latin typeface="Consolas" panose="020B0609020204030204" pitchFamily="49" charset="0"/>
              </a:rPr>
              <a:t>100</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1</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boolean</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false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while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Input </a:t>
            </a:r>
            <a:r>
              <a:rPr lang="it-IT" sz="1000" b="0" dirty="0" err="1">
                <a:solidFill>
                  <a:srgbClr val="D4D4D4"/>
                </a:solidFill>
                <a:effectLst/>
                <a:latin typeface="Consolas" panose="020B0609020204030204" pitchFamily="49" charset="0"/>
              </a:rPr>
              <a:t>input</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Input()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input.readNumber</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if</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C971EB27-CADA-AD19-1DC6-7C4909E88CFE}"/>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2" name="CasellaDiTesto 1">
            <a:extLst>
              <a:ext uri="{FF2B5EF4-FFF2-40B4-BE49-F238E27FC236}">
                <a16:creationId xmlns:a16="http://schemas.microsoft.com/office/drawing/2014/main" id="{DC7EBE87-E266-30EE-2AC8-D43EBB329504}"/>
              </a:ext>
            </a:extLst>
          </p:cNvPr>
          <p:cNvSpPr txBox="1"/>
          <p:nvPr/>
        </p:nvSpPr>
        <p:spPr>
          <a:xfrm>
            <a:off x="282039" y="5226703"/>
            <a:ext cx="3280558" cy="1397947"/>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Adesso predisponiamo un </a:t>
            </a:r>
            <a:r>
              <a:rPr lang="it-IT" sz="1600" dirty="0" err="1"/>
              <a:t>if</a:t>
            </a:r>
            <a:r>
              <a:rPr lang="it-IT" sz="1600" dirty="0"/>
              <a:t> (se il numero inserito è quello che è stato generato…) e prepariamo un blocco di codice per ciò che dovremo fare nel caso sia così</a:t>
            </a:r>
          </a:p>
        </p:txBody>
      </p:sp>
      <p:sp>
        <p:nvSpPr>
          <p:cNvPr id="9" name="CasellaDiTesto 8">
            <a:extLst>
              <a:ext uri="{FF2B5EF4-FFF2-40B4-BE49-F238E27FC236}">
                <a16:creationId xmlns:a16="http://schemas.microsoft.com/office/drawing/2014/main" id="{BCF096B7-99D8-E310-00F0-323D156A9E06}"/>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76234766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Game.java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4247317"/>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Game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0</a:t>
            </a:r>
            <a:r>
              <a:rPr lang="it-IT" sz="1000" b="0" dirty="0">
                <a:solidFill>
                  <a:srgbClr val="D4D4D4"/>
                </a:solidFill>
                <a:effectLst/>
                <a:latin typeface="Consolas" panose="020B0609020204030204" pitchFamily="49" charset="0"/>
              </a:rPr>
              <a:t>;</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start()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"Guess 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between</a:t>
            </a:r>
            <a:r>
              <a:rPr lang="it-IT" sz="1000" b="0" dirty="0">
                <a:solidFill>
                  <a:srgbClr val="CE9178"/>
                </a:solidFill>
                <a:effectLst/>
                <a:latin typeface="Consolas" panose="020B0609020204030204" pitchFamily="49" charset="0"/>
              </a:rPr>
              <a:t> 1 and 100!"</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Random </a:t>
            </a:r>
            <a:r>
              <a:rPr lang="it-IT" sz="1000" b="0" dirty="0" err="1">
                <a:solidFill>
                  <a:srgbClr val="D4D4D4"/>
                </a:solidFill>
                <a:effectLst/>
                <a:latin typeface="Consolas" panose="020B0609020204030204" pitchFamily="49" charset="0"/>
              </a:rPr>
              <a:t>random</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random.nextInt</a:t>
            </a:r>
            <a:r>
              <a:rPr lang="it-IT" sz="1000" b="0" dirty="0">
                <a:solidFill>
                  <a:srgbClr val="D4D4D4"/>
                </a:solidFill>
                <a:effectLst/>
                <a:latin typeface="Consolas" panose="020B0609020204030204" pitchFamily="49" charset="0"/>
              </a:rPr>
              <a:t>(</a:t>
            </a:r>
            <a:r>
              <a:rPr lang="it-IT" sz="1000" b="0" dirty="0">
                <a:solidFill>
                  <a:srgbClr val="B5CEA8"/>
                </a:solidFill>
                <a:effectLst/>
                <a:latin typeface="Consolas" panose="020B0609020204030204" pitchFamily="49" charset="0"/>
              </a:rPr>
              <a:t>100</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1</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boolean</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false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while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Input </a:t>
            </a:r>
            <a:r>
              <a:rPr lang="it-IT" sz="1000" b="0" dirty="0" err="1">
                <a:solidFill>
                  <a:srgbClr val="D4D4D4"/>
                </a:solidFill>
                <a:effectLst/>
                <a:latin typeface="Consolas" panose="020B0609020204030204" pitchFamily="49" charset="0"/>
              </a:rPr>
              <a:t>input</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Input()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input.readNumber</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if</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else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if</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&lt;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C971EB27-CADA-AD19-1DC6-7C4909E88CFE}"/>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2" name="CasellaDiTesto 1">
            <a:extLst>
              <a:ext uri="{FF2B5EF4-FFF2-40B4-BE49-F238E27FC236}">
                <a16:creationId xmlns:a16="http://schemas.microsoft.com/office/drawing/2014/main" id="{95DEBFAD-6AFD-ED9A-4069-2AA2BC035DDE}"/>
              </a:ext>
            </a:extLst>
          </p:cNvPr>
          <p:cNvSpPr txBox="1"/>
          <p:nvPr/>
        </p:nvSpPr>
        <p:spPr>
          <a:xfrm>
            <a:off x="282039" y="5226703"/>
            <a:ext cx="3280558" cy="1134478"/>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Poi facciamo un else e definiamo un nuovo </a:t>
            </a:r>
            <a:r>
              <a:rPr lang="it-IT" sz="1600" dirty="0" err="1"/>
              <a:t>if</a:t>
            </a:r>
            <a:r>
              <a:rPr lang="it-IT" sz="1600" dirty="0"/>
              <a:t>, nel caso sia minore… ed ancora predisponiamo un blocco di codice</a:t>
            </a:r>
          </a:p>
        </p:txBody>
      </p:sp>
      <p:sp>
        <p:nvSpPr>
          <p:cNvPr id="9" name="CasellaDiTesto 8">
            <a:extLst>
              <a:ext uri="{FF2B5EF4-FFF2-40B4-BE49-F238E27FC236}">
                <a16:creationId xmlns:a16="http://schemas.microsoft.com/office/drawing/2014/main" id="{020A81AC-3930-B034-C774-10ADAEA9C58F}"/>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294811064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Game.java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4401205"/>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Game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0</a:t>
            </a:r>
            <a:r>
              <a:rPr lang="it-IT" sz="1000" b="0" dirty="0">
                <a:solidFill>
                  <a:srgbClr val="D4D4D4"/>
                </a:solidFill>
                <a:effectLst/>
                <a:latin typeface="Consolas" panose="020B0609020204030204" pitchFamily="49" charset="0"/>
              </a:rPr>
              <a:t>;</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start()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"Guess 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between</a:t>
            </a:r>
            <a:r>
              <a:rPr lang="it-IT" sz="1000" b="0" dirty="0">
                <a:solidFill>
                  <a:srgbClr val="CE9178"/>
                </a:solidFill>
                <a:effectLst/>
                <a:latin typeface="Consolas" panose="020B0609020204030204" pitchFamily="49" charset="0"/>
              </a:rPr>
              <a:t> 1 and 100!"</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Random </a:t>
            </a:r>
            <a:r>
              <a:rPr lang="it-IT" sz="1000" b="0" dirty="0" err="1">
                <a:solidFill>
                  <a:srgbClr val="D4D4D4"/>
                </a:solidFill>
                <a:effectLst/>
                <a:latin typeface="Consolas" panose="020B0609020204030204" pitchFamily="49" charset="0"/>
              </a:rPr>
              <a:t>random</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random.nextInt</a:t>
            </a:r>
            <a:r>
              <a:rPr lang="it-IT" sz="1000" b="0" dirty="0">
                <a:solidFill>
                  <a:srgbClr val="D4D4D4"/>
                </a:solidFill>
                <a:effectLst/>
                <a:latin typeface="Consolas" panose="020B0609020204030204" pitchFamily="49" charset="0"/>
              </a:rPr>
              <a:t>(</a:t>
            </a:r>
            <a:r>
              <a:rPr lang="it-IT" sz="1000" b="0" dirty="0">
                <a:solidFill>
                  <a:srgbClr val="B5CEA8"/>
                </a:solidFill>
                <a:effectLst/>
                <a:latin typeface="Consolas" panose="020B0609020204030204" pitchFamily="49" charset="0"/>
              </a:rPr>
              <a:t>100</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1</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boolean</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false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while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Input </a:t>
            </a:r>
            <a:r>
              <a:rPr lang="it-IT" sz="1000" b="0" dirty="0" err="1">
                <a:solidFill>
                  <a:srgbClr val="D4D4D4"/>
                </a:solidFill>
                <a:effectLst/>
                <a:latin typeface="Consolas" panose="020B0609020204030204" pitchFamily="49" charset="0"/>
              </a:rPr>
              <a:t>input</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Input()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input.readNumber</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if</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a:t>
            </a:r>
            <a:r>
              <a:rPr lang="it-IT" sz="1000" b="0" dirty="0" err="1">
                <a:solidFill>
                  <a:srgbClr val="CE9178"/>
                </a:solidFill>
                <a:effectLst/>
                <a:latin typeface="Consolas" panose="020B0609020204030204" pitchFamily="49" charset="0"/>
              </a:rPr>
              <a:t>You</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guessed</a:t>
            </a:r>
            <a:r>
              <a:rPr lang="it-IT" sz="1000" b="0" dirty="0">
                <a:solidFill>
                  <a:srgbClr val="CE9178"/>
                </a:solidFill>
                <a:effectLst/>
                <a:latin typeface="Consolas" panose="020B0609020204030204" pitchFamily="49" charset="0"/>
              </a:rPr>
              <a:t> 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in "</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attempts</a:t>
            </a:r>
            <a:r>
              <a:rPr lang="it-IT" sz="1000" b="0" dirty="0">
                <a:solidFill>
                  <a:srgbClr val="CE9178"/>
                </a:solidFill>
                <a:effectLst/>
                <a:latin typeface="Consolas" panose="020B0609020204030204" pitchFamily="49" charset="0"/>
              </a:rPr>
              <a:t>!"</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else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if</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&lt;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else</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C971EB27-CADA-AD19-1DC6-7C4909E88CFE}"/>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2" name="CasellaDiTesto 1">
            <a:extLst>
              <a:ext uri="{FF2B5EF4-FFF2-40B4-BE49-F238E27FC236}">
                <a16:creationId xmlns:a16="http://schemas.microsoft.com/office/drawing/2014/main" id="{89ABF5A7-FD4C-FF31-BA91-2DA7A1D09607}"/>
              </a:ext>
            </a:extLst>
          </p:cNvPr>
          <p:cNvSpPr txBox="1"/>
          <p:nvPr/>
        </p:nvSpPr>
        <p:spPr>
          <a:xfrm>
            <a:off x="282039" y="5226703"/>
            <a:ext cx="3280558" cy="871008"/>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Ed ancora un else (per gestire gli altri casi: se non è uguale e nemmeno minore deve essere maggiore…</a:t>
            </a:r>
          </a:p>
        </p:txBody>
      </p:sp>
      <p:sp>
        <p:nvSpPr>
          <p:cNvPr id="9" name="CasellaDiTesto 8">
            <a:extLst>
              <a:ext uri="{FF2B5EF4-FFF2-40B4-BE49-F238E27FC236}">
                <a16:creationId xmlns:a16="http://schemas.microsoft.com/office/drawing/2014/main" id="{50030A6E-F966-5A24-C73A-43781F6DD092}"/>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113825826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Game.java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4401205"/>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Game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0</a:t>
            </a:r>
            <a:r>
              <a:rPr lang="it-IT" sz="1000" b="0" dirty="0">
                <a:solidFill>
                  <a:srgbClr val="D4D4D4"/>
                </a:solidFill>
                <a:effectLst/>
                <a:latin typeface="Consolas" panose="020B0609020204030204" pitchFamily="49" charset="0"/>
              </a:rPr>
              <a:t>;</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start()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"Guess 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between</a:t>
            </a:r>
            <a:r>
              <a:rPr lang="it-IT" sz="1000" b="0" dirty="0">
                <a:solidFill>
                  <a:srgbClr val="CE9178"/>
                </a:solidFill>
                <a:effectLst/>
                <a:latin typeface="Consolas" panose="020B0609020204030204" pitchFamily="49" charset="0"/>
              </a:rPr>
              <a:t> 1 and 100!"</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Random </a:t>
            </a:r>
            <a:r>
              <a:rPr lang="it-IT" sz="1000" b="0" dirty="0" err="1">
                <a:solidFill>
                  <a:srgbClr val="D4D4D4"/>
                </a:solidFill>
                <a:effectLst/>
                <a:latin typeface="Consolas" panose="020B0609020204030204" pitchFamily="49" charset="0"/>
              </a:rPr>
              <a:t>random</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random.nextInt</a:t>
            </a:r>
            <a:r>
              <a:rPr lang="it-IT" sz="1000" b="0" dirty="0">
                <a:solidFill>
                  <a:srgbClr val="D4D4D4"/>
                </a:solidFill>
                <a:effectLst/>
                <a:latin typeface="Consolas" panose="020B0609020204030204" pitchFamily="49" charset="0"/>
              </a:rPr>
              <a:t>(</a:t>
            </a:r>
            <a:r>
              <a:rPr lang="it-IT" sz="1000" b="0" dirty="0">
                <a:solidFill>
                  <a:srgbClr val="B5CEA8"/>
                </a:solidFill>
                <a:effectLst/>
                <a:latin typeface="Consolas" panose="020B0609020204030204" pitchFamily="49" charset="0"/>
              </a:rPr>
              <a:t>100</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1</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boolean</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false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while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Input </a:t>
            </a:r>
            <a:r>
              <a:rPr lang="it-IT" sz="1000" b="0" dirty="0" err="1">
                <a:solidFill>
                  <a:srgbClr val="D4D4D4"/>
                </a:solidFill>
                <a:effectLst/>
                <a:latin typeface="Consolas" panose="020B0609020204030204" pitchFamily="49" charset="0"/>
              </a:rPr>
              <a:t>input</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Input()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input.readNumber</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if</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a:t>
            </a:r>
            <a:r>
              <a:rPr lang="it-IT" sz="1000" b="0" dirty="0" err="1">
                <a:solidFill>
                  <a:srgbClr val="CE9178"/>
                </a:solidFill>
                <a:effectLst/>
                <a:latin typeface="Consolas" panose="020B0609020204030204" pitchFamily="49" charset="0"/>
              </a:rPr>
              <a:t>You</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guessed</a:t>
            </a:r>
            <a:r>
              <a:rPr lang="it-IT" sz="1000" b="0" dirty="0">
                <a:solidFill>
                  <a:srgbClr val="CE9178"/>
                </a:solidFill>
                <a:effectLst/>
                <a:latin typeface="Consolas" panose="020B0609020204030204" pitchFamily="49" charset="0"/>
              </a:rPr>
              <a:t> 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in "</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attempts</a:t>
            </a:r>
            <a:r>
              <a:rPr lang="it-IT" sz="1000" b="0" dirty="0">
                <a:solidFill>
                  <a:srgbClr val="CE9178"/>
                </a:solidFill>
                <a:effectLst/>
                <a:latin typeface="Consolas" panose="020B0609020204030204" pitchFamily="49" charset="0"/>
              </a:rPr>
              <a:t>!"</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 </a:t>
            </a:r>
            <a:r>
              <a:rPr lang="it-IT" sz="1000" b="0" dirty="0" err="1">
                <a:solidFill>
                  <a:srgbClr val="B5CEA8"/>
                </a:solidFill>
                <a:effectLst/>
                <a:latin typeface="Consolas" panose="020B0609020204030204" pitchFamily="49" charset="0"/>
              </a:rPr>
              <a:t>true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else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if</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&lt;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else</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C971EB27-CADA-AD19-1DC6-7C4909E88CFE}"/>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2" name="CasellaDiTesto 1">
            <a:extLst>
              <a:ext uri="{FF2B5EF4-FFF2-40B4-BE49-F238E27FC236}">
                <a16:creationId xmlns:a16="http://schemas.microsoft.com/office/drawing/2014/main" id="{5DFDCFA9-6AB9-64D5-DDD3-4B3EDD835C82}"/>
              </a:ext>
            </a:extLst>
          </p:cNvPr>
          <p:cNvSpPr txBox="1"/>
          <p:nvPr/>
        </p:nvSpPr>
        <p:spPr>
          <a:xfrm>
            <a:off x="282039" y="5226703"/>
            <a:ext cx="3280558" cy="1397947"/>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Se era uguale </a:t>
            </a:r>
            <a:br>
              <a:rPr lang="it-IT" sz="1600" dirty="0"/>
            </a:br>
            <a:r>
              <a:rPr lang="it-IT" sz="1600" dirty="0"/>
              <a:t>scriviamogli che ha indovinato e restituiamogli il numero di tentativi registrati, poi poniamo </a:t>
            </a:r>
            <a:r>
              <a:rPr lang="it-IT" sz="1600" dirty="0" err="1"/>
              <a:t>guessed</a:t>
            </a:r>
            <a:r>
              <a:rPr lang="it-IT" sz="1600" dirty="0"/>
              <a:t>=</a:t>
            </a:r>
            <a:r>
              <a:rPr lang="it-IT" sz="1600" dirty="0" err="1"/>
              <a:t>true</a:t>
            </a:r>
            <a:r>
              <a:rPr lang="it-IT" sz="1600" dirty="0"/>
              <a:t>, questo farà terminare il ciclo </a:t>
            </a:r>
          </a:p>
        </p:txBody>
      </p:sp>
      <p:sp>
        <p:nvSpPr>
          <p:cNvPr id="9" name="CasellaDiTesto 8">
            <a:extLst>
              <a:ext uri="{FF2B5EF4-FFF2-40B4-BE49-F238E27FC236}">
                <a16:creationId xmlns:a16="http://schemas.microsoft.com/office/drawing/2014/main" id="{67D3BA82-2B35-965C-3C2D-C01FA8876DB8}"/>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360738263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Game.java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4401205"/>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Game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0</a:t>
            </a:r>
            <a:r>
              <a:rPr lang="it-IT" sz="1000" b="0" dirty="0">
                <a:solidFill>
                  <a:srgbClr val="D4D4D4"/>
                </a:solidFill>
                <a:effectLst/>
                <a:latin typeface="Consolas" panose="020B0609020204030204" pitchFamily="49" charset="0"/>
              </a:rPr>
              <a:t>;</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start()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"Guess 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between</a:t>
            </a:r>
            <a:r>
              <a:rPr lang="it-IT" sz="1000" b="0" dirty="0">
                <a:solidFill>
                  <a:srgbClr val="CE9178"/>
                </a:solidFill>
                <a:effectLst/>
                <a:latin typeface="Consolas" panose="020B0609020204030204" pitchFamily="49" charset="0"/>
              </a:rPr>
              <a:t> 1 and 100!"</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Random </a:t>
            </a:r>
            <a:r>
              <a:rPr lang="it-IT" sz="1000" b="0" dirty="0" err="1">
                <a:solidFill>
                  <a:srgbClr val="D4D4D4"/>
                </a:solidFill>
                <a:effectLst/>
                <a:latin typeface="Consolas" panose="020B0609020204030204" pitchFamily="49" charset="0"/>
              </a:rPr>
              <a:t>random</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random.nextInt</a:t>
            </a:r>
            <a:r>
              <a:rPr lang="it-IT" sz="1000" b="0" dirty="0">
                <a:solidFill>
                  <a:srgbClr val="D4D4D4"/>
                </a:solidFill>
                <a:effectLst/>
                <a:latin typeface="Consolas" panose="020B0609020204030204" pitchFamily="49" charset="0"/>
              </a:rPr>
              <a:t>(</a:t>
            </a:r>
            <a:r>
              <a:rPr lang="it-IT" sz="1000" b="0" dirty="0">
                <a:solidFill>
                  <a:srgbClr val="B5CEA8"/>
                </a:solidFill>
                <a:effectLst/>
                <a:latin typeface="Consolas" panose="020B0609020204030204" pitchFamily="49" charset="0"/>
              </a:rPr>
              <a:t>100</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1</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boolean</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false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while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Input </a:t>
            </a:r>
            <a:r>
              <a:rPr lang="it-IT" sz="1000" b="0" dirty="0" err="1">
                <a:solidFill>
                  <a:srgbClr val="D4D4D4"/>
                </a:solidFill>
                <a:effectLst/>
                <a:latin typeface="Consolas" panose="020B0609020204030204" pitchFamily="49" charset="0"/>
              </a:rPr>
              <a:t>input</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Input()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input.readNumber</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if</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a:t>
            </a:r>
            <a:r>
              <a:rPr lang="it-IT" sz="1000" b="0" dirty="0" err="1">
                <a:solidFill>
                  <a:srgbClr val="CE9178"/>
                </a:solidFill>
                <a:effectLst/>
                <a:latin typeface="Consolas" panose="020B0609020204030204" pitchFamily="49" charset="0"/>
              </a:rPr>
              <a:t>You</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guessed</a:t>
            </a:r>
            <a:r>
              <a:rPr lang="it-IT" sz="1000" b="0" dirty="0">
                <a:solidFill>
                  <a:srgbClr val="CE9178"/>
                </a:solidFill>
                <a:effectLst/>
                <a:latin typeface="Consolas" panose="020B0609020204030204" pitchFamily="49" charset="0"/>
              </a:rPr>
              <a:t> 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in "</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attempts</a:t>
            </a:r>
            <a:r>
              <a:rPr lang="it-IT" sz="1000" b="0" dirty="0">
                <a:solidFill>
                  <a:srgbClr val="CE9178"/>
                </a:solidFill>
                <a:effectLst/>
                <a:latin typeface="Consolas" panose="020B0609020204030204" pitchFamily="49" charset="0"/>
              </a:rPr>
              <a:t>!"</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 </a:t>
            </a:r>
            <a:r>
              <a:rPr lang="it-IT" sz="1000" b="0" dirty="0" err="1">
                <a:solidFill>
                  <a:srgbClr val="B5CEA8"/>
                </a:solidFill>
                <a:effectLst/>
                <a:latin typeface="Consolas" panose="020B0609020204030204" pitchFamily="49" charset="0"/>
              </a:rPr>
              <a:t>true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else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if</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&lt;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is</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higher</a:t>
            </a:r>
            <a:r>
              <a:rPr lang="it-IT" sz="1000" b="0" dirty="0">
                <a:solidFill>
                  <a:srgbClr val="CE9178"/>
                </a:solidFill>
                <a:effectLst/>
                <a:latin typeface="Consolas" panose="020B0609020204030204" pitchFamily="49" charset="0"/>
              </a:rPr>
              <a:t>!"</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else</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C971EB27-CADA-AD19-1DC6-7C4909E88CFE}"/>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2" name="CasellaDiTesto 1">
            <a:extLst>
              <a:ext uri="{FF2B5EF4-FFF2-40B4-BE49-F238E27FC236}">
                <a16:creationId xmlns:a16="http://schemas.microsoft.com/office/drawing/2014/main" id="{040DFCFE-5D46-2004-DAD1-A82909C5D686}"/>
              </a:ext>
            </a:extLst>
          </p:cNvPr>
          <p:cNvSpPr txBox="1"/>
          <p:nvPr/>
        </p:nvSpPr>
        <p:spPr>
          <a:xfrm>
            <a:off x="282039" y="5226703"/>
            <a:ext cx="3280558" cy="607539"/>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Se è minore suggeriamogli che il numero deve essere più grande</a:t>
            </a:r>
          </a:p>
        </p:txBody>
      </p:sp>
      <p:sp>
        <p:nvSpPr>
          <p:cNvPr id="9" name="CasellaDiTesto 8">
            <a:extLst>
              <a:ext uri="{FF2B5EF4-FFF2-40B4-BE49-F238E27FC236}">
                <a16:creationId xmlns:a16="http://schemas.microsoft.com/office/drawing/2014/main" id="{B331629D-E3CE-C2CF-122B-57728BD0FC5C}"/>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119840533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369332"/>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4401205"/>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Game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0</a:t>
            </a:r>
            <a:r>
              <a:rPr lang="it-IT" sz="1000" b="0" dirty="0">
                <a:solidFill>
                  <a:srgbClr val="D4D4D4"/>
                </a:solidFill>
                <a:effectLst/>
                <a:latin typeface="Consolas" panose="020B0609020204030204" pitchFamily="49" charset="0"/>
              </a:rPr>
              <a:t>;</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start()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"Guess 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between</a:t>
            </a:r>
            <a:r>
              <a:rPr lang="it-IT" sz="1000" b="0" dirty="0">
                <a:solidFill>
                  <a:srgbClr val="CE9178"/>
                </a:solidFill>
                <a:effectLst/>
                <a:latin typeface="Consolas" panose="020B0609020204030204" pitchFamily="49" charset="0"/>
              </a:rPr>
              <a:t> 1 and 100!"</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Random </a:t>
            </a:r>
            <a:r>
              <a:rPr lang="it-IT" sz="1000" b="0" dirty="0" err="1">
                <a:solidFill>
                  <a:srgbClr val="D4D4D4"/>
                </a:solidFill>
                <a:effectLst/>
                <a:latin typeface="Consolas" panose="020B0609020204030204" pitchFamily="49" charset="0"/>
              </a:rPr>
              <a:t>random</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random.nextInt</a:t>
            </a:r>
            <a:r>
              <a:rPr lang="it-IT" sz="1000" b="0" dirty="0">
                <a:solidFill>
                  <a:srgbClr val="D4D4D4"/>
                </a:solidFill>
                <a:effectLst/>
                <a:latin typeface="Consolas" panose="020B0609020204030204" pitchFamily="49" charset="0"/>
              </a:rPr>
              <a:t>(</a:t>
            </a:r>
            <a:r>
              <a:rPr lang="it-IT" sz="1000" b="0" dirty="0">
                <a:solidFill>
                  <a:srgbClr val="B5CEA8"/>
                </a:solidFill>
                <a:effectLst/>
                <a:latin typeface="Consolas" panose="020B0609020204030204" pitchFamily="49" charset="0"/>
              </a:rPr>
              <a:t>100</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1</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boolean</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false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while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Input </a:t>
            </a:r>
            <a:r>
              <a:rPr lang="it-IT" sz="1000" b="0" dirty="0" err="1">
                <a:solidFill>
                  <a:srgbClr val="D4D4D4"/>
                </a:solidFill>
                <a:effectLst/>
                <a:latin typeface="Consolas" panose="020B0609020204030204" pitchFamily="49" charset="0"/>
              </a:rPr>
              <a:t>input</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Input()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input.readNumber</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if</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a:t>
            </a:r>
            <a:r>
              <a:rPr lang="it-IT" sz="1000" b="0" dirty="0" err="1">
                <a:solidFill>
                  <a:srgbClr val="CE9178"/>
                </a:solidFill>
                <a:effectLst/>
                <a:latin typeface="Consolas" panose="020B0609020204030204" pitchFamily="49" charset="0"/>
              </a:rPr>
              <a:t>You</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guessed</a:t>
            </a:r>
            <a:r>
              <a:rPr lang="it-IT" sz="1000" b="0" dirty="0">
                <a:solidFill>
                  <a:srgbClr val="CE9178"/>
                </a:solidFill>
                <a:effectLst/>
                <a:latin typeface="Consolas" panose="020B0609020204030204" pitchFamily="49" charset="0"/>
              </a:rPr>
              <a:t> 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in "</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attempts</a:t>
            </a:r>
            <a:r>
              <a:rPr lang="it-IT" sz="1000" b="0" dirty="0">
                <a:solidFill>
                  <a:srgbClr val="CE9178"/>
                </a:solidFill>
                <a:effectLst/>
                <a:latin typeface="Consolas" panose="020B0609020204030204" pitchFamily="49" charset="0"/>
              </a:rPr>
              <a:t>!"</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 </a:t>
            </a:r>
            <a:r>
              <a:rPr lang="it-IT" sz="1000" b="0" dirty="0" err="1">
                <a:solidFill>
                  <a:srgbClr val="B5CEA8"/>
                </a:solidFill>
                <a:effectLst/>
                <a:latin typeface="Consolas" panose="020B0609020204030204" pitchFamily="49" charset="0"/>
              </a:rPr>
              <a:t>true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else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if</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&lt;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is</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higher</a:t>
            </a:r>
            <a:r>
              <a:rPr lang="it-IT" sz="1000" b="0" dirty="0">
                <a:solidFill>
                  <a:srgbClr val="CE9178"/>
                </a:solidFill>
                <a:effectLst/>
                <a:latin typeface="Consolas" panose="020B0609020204030204" pitchFamily="49" charset="0"/>
              </a:rPr>
              <a:t>!"</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else</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is</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lower</a:t>
            </a:r>
            <a:r>
              <a:rPr lang="it-IT" sz="1000" b="0" dirty="0">
                <a:solidFill>
                  <a:srgbClr val="CE9178"/>
                </a:solidFill>
                <a:effectLst/>
                <a:latin typeface="Consolas" panose="020B0609020204030204" pitchFamily="49" charset="0"/>
              </a:rPr>
              <a:t>!"</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C971EB27-CADA-AD19-1DC6-7C4909E88CFE}"/>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2" name="CasellaDiTesto 1">
            <a:extLst>
              <a:ext uri="{FF2B5EF4-FFF2-40B4-BE49-F238E27FC236}">
                <a16:creationId xmlns:a16="http://schemas.microsoft.com/office/drawing/2014/main" id="{669B7166-F761-FA06-2228-7936E39D1B55}"/>
              </a:ext>
            </a:extLst>
          </p:cNvPr>
          <p:cNvSpPr txBox="1"/>
          <p:nvPr/>
        </p:nvSpPr>
        <p:spPr>
          <a:xfrm>
            <a:off x="282039" y="5226703"/>
            <a:ext cx="3280558" cy="607539"/>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Se è più </a:t>
            </a:r>
            <a:r>
              <a:rPr lang="it-IT" sz="1600" dirty="0" err="1"/>
              <a:t>più</a:t>
            </a:r>
            <a:r>
              <a:rPr lang="it-IT" sz="1600" dirty="0"/>
              <a:t> grande suggeriamogli che deve essere più piccolo</a:t>
            </a:r>
          </a:p>
        </p:txBody>
      </p:sp>
      <p:sp>
        <p:nvSpPr>
          <p:cNvPr id="9" name="CasellaDiTesto 8">
            <a:extLst>
              <a:ext uri="{FF2B5EF4-FFF2-40B4-BE49-F238E27FC236}">
                <a16:creationId xmlns:a16="http://schemas.microsoft.com/office/drawing/2014/main" id="{EF7248B4-D599-0F89-1741-10178E21AFF0}"/>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17695657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Game.java</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4708981"/>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Game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private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0</a:t>
            </a:r>
            <a:r>
              <a:rPr lang="it-IT" sz="1000" b="0" dirty="0">
                <a:solidFill>
                  <a:srgbClr val="D4D4D4"/>
                </a:solidFill>
                <a:effectLst/>
                <a:latin typeface="Consolas" panose="020B0609020204030204" pitchFamily="49" charset="0"/>
              </a:rPr>
              <a:t>;</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start()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"Guess 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between</a:t>
            </a:r>
            <a:r>
              <a:rPr lang="it-IT" sz="1000" b="0" dirty="0">
                <a:solidFill>
                  <a:srgbClr val="CE9178"/>
                </a:solidFill>
                <a:effectLst/>
                <a:latin typeface="Consolas" panose="020B0609020204030204" pitchFamily="49" charset="0"/>
              </a:rPr>
              <a:t> 1 and 100!"</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Random </a:t>
            </a:r>
            <a:r>
              <a:rPr lang="it-IT" sz="1000" b="0" dirty="0" err="1">
                <a:solidFill>
                  <a:srgbClr val="D4D4D4"/>
                </a:solidFill>
                <a:effectLst/>
                <a:latin typeface="Consolas" panose="020B0609020204030204" pitchFamily="49" charset="0"/>
              </a:rPr>
              <a:t>random</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Random()</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random.nextInt</a:t>
            </a:r>
            <a:r>
              <a:rPr lang="it-IT" sz="1000" b="0" dirty="0">
                <a:solidFill>
                  <a:srgbClr val="D4D4D4"/>
                </a:solidFill>
                <a:effectLst/>
                <a:latin typeface="Consolas" panose="020B0609020204030204" pitchFamily="49" charset="0"/>
              </a:rPr>
              <a:t>(</a:t>
            </a:r>
            <a:r>
              <a:rPr lang="it-IT" sz="1000" b="0" dirty="0">
                <a:solidFill>
                  <a:srgbClr val="B5CEA8"/>
                </a:solidFill>
                <a:effectLst/>
                <a:latin typeface="Consolas" panose="020B0609020204030204" pitchFamily="49" charset="0"/>
              </a:rPr>
              <a:t>100</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1</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boolean</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 </a:t>
            </a:r>
            <a:r>
              <a:rPr lang="it-IT" sz="1000" b="0" dirty="0">
                <a:solidFill>
                  <a:srgbClr val="B5CEA8"/>
                </a:solidFill>
                <a:effectLst/>
                <a:latin typeface="Consolas" panose="020B0609020204030204" pitchFamily="49" charset="0"/>
              </a:rPr>
              <a:t>false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while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Input </a:t>
            </a:r>
            <a:r>
              <a:rPr lang="it-IT" sz="1000" b="0" dirty="0" err="1">
                <a:solidFill>
                  <a:srgbClr val="D4D4D4"/>
                </a:solidFill>
                <a:effectLst/>
                <a:latin typeface="Consolas" panose="020B0609020204030204" pitchFamily="49" charset="0"/>
              </a:rPr>
              <a:t>input</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Input()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input.readNumber</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if</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a:t>
            </a:r>
            <a:r>
              <a:rPr lang="it-IT" sz="1000" b="0" dirty="0" err="1">
                <a:solidFill>
                  <a:srgbClr val="CE9178"/>
                </a:solidFill>
                <a:effectLst/>
                <a:latin typeface="Consolas" panose="020B0609020204030204" pitchFamily="49" charset="0"/>
              </a:rPr>
              <a:t>You</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guessed</a:t>
            </a:r>
            <a:r>
              <a:rPr lang="it-IT" sz="1000" b="0" dirty="0">
                <a:solidFill>
                  <a:srgbClr val="CE9178"/>
                </a:solidFill>
                <a:effectLst/>
                <a:latin typeface="Consolas" panose="020B0609020204030204" pitchFamily="49" charset="0"/>
              </a:rPr>
              <a:t> 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in "</a:t>
            </a:r>
            <a:r>
              <a:rPr lang="it-IT" sz="1000" b="0" dirty="0">
                <a:solidFill>
                  <a:srgbClr val="D4D4D4"/>
                </a:solidFill>
                <a:effectLst/>
                <a:latin typeface="Consolas" panose="020B0609020204030204" pitchFamily="49" charset="0"/>
              </a:rPr>
              <a:t> +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 + </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attempts</a:t>
            </a:r>
            <a:r>
              <a:rPr lang="it-IT" sz="1000" b="0" dirty="0">
                <a:solidFill>
                  <a:srgbClr val="CE9178"/>
                </a:solidFill>
                <a:effectLst/>
                <a:latin typeface="Consolas" panose="020B0609020204030204" pitchFamily="49" charset="0"/>
              </a:rPr>
              <a:t>!"</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guessed</a:t>
            </a:r>
            <a:r>
              <a:rPr lang="it-IT" sz="1000" b="0" dirty="0">
                <a:solidFill>
                  <a:srgbClr val="D4D4D4"/>
                </a:solidFill>
                <a:effectLst/>
                <a:latin typeface="Consolas" panose="020B0609020204030204" pitchFamily="49" charset="0"/>
              </a:rPr>
              <a:t> = </a:t>
            </a:r>
            <a:r>
              <a:rPr lang="it-IT" sz="1000" b="0" dirty="0" err="1">
                <a:solidFill>
                  <a:srgbClr val="B5CEA8"/>
                </a:solidFill>
                <a:effectLst/>
                <a:latin typeface="Consolas" panose="020B0609020204030204" pitchFamily="49" charset="0"/>
              </a:rPr>
              <a:t>true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else</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if</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a:t>
            </a:r>
            <a:r>
              <a:rPr lang="it-IT" sz="1000" b="0" dirty="0">
                <a:solidFill>
                  <a:srgbClr val="D4D4D4"/>
                </a:solidFill>
                <a:effectLst/>
                <a:latin typeface="Consolas" panose="020B0609020204030204" pitchFamily="49" charset="0"/>
              </a:rPr>
              <a:t> &lt; </a:t>
            </a:r>
            <a:r>
              <a:rPr lang="it-IT" sz="1000" b="0" dirty="0" err="1">
                <a:solidFill>
                  <a:srgbClr val="D4D4D4"/>
                </a:solidFill>
                <a:effectLst/>
                <a:latin typeface="Consolas" panose="020B0609020204030204" pitchFamily="49" charset="0"/>
              </a:rPr>
              <a:t>numberToGuess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is</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higher</a:t>
            </a:r>
            <a:r>
              <a:rPr lang="it-IT" sz="1000" b="0" dirty="0">
                <a:solidFill>
                  <a:srgbClr val="CE9178"/>
                </a:solidFill>
                <a:effectLst/>
                <a:latin typeface="Consolas" panose="020B0609020204030204" pitchFamily="49" charset="0"/>
              </a:rPr>
              <a:t>!"</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else</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"The </a:t>
            </a:r>
            <a:r>
              <a:rPr lang="it-IT" sz="1000" b="0" dirty="0" err="1">
                <a:solidFill>
                  <a:srgbClr val="CE9178"/>
                </a:solidFill>
                <a:effectLst/>
                <a:latin typeface="Consolas" panose="020B0609020204030204" pitchFamily="49" charset="0"/>
              </a:rPr>
              <a:t>number</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is</a:t>
            </a:r>
            <a:r>
              <a:rPr lang="it-IT" sz="1000" b="0" dirty="0">
                <a:solidFill>
                  <a:srgbClr val="CE9178"/>
                </a:solidFill>
                <a:effectLst/>
                <a:latin typeface="Consolas" panose="020B0609020204030204" pitchFamily="49" charset="0"/>
              </a:rPr>
              <a:t> </a:t>
            </a:r>
            <a:r>
              <a:rPr lang="it-IT" sz="1000" b="0" dirty="0" err="1">
                <a:solidFill>
                  <a:srgbClr val="CE9178"/>
                </a:solidFill>
                <a:effectLst/>
                <a:latin typeface="Consolas" panose="020B0609020204030204" pitchFamily="49" charset="0"/>
              </a:rPr>
              <a:t>lower</a:t>
            </a:r>
            <a:r>
              <a:rPr lang="it-IT" sz="1000" b="0" dirty="0">
                <a:solidFill>
                  <a:srgbClr val="CE9178"/>
                </a:solidFill>
                <a:effectLst/>
                <a:latin typeface="Consolas" panose="020B0609020204030204" pitchFamily="49" charset="0"/>
              </a:rPr>
              <a:t>!"</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pPr algn="just"/>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numberOfAttempts</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C971EB27-CADA-AD19-1DC6-7C4909E88CFE}"/>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9" name="CasellaDiTesto 8">
            <a:extLst>
              <a:ext uri="{FF2B5EF4-FFF2-40B4-BE49-F238E27FC236}">
                <a16:creationId xmlns:a16="http://schemas.microsoft.com/office/drawing/2014/main" id="{97A5B917-752E-5449-2C61-69BCC2CF4580}"/>
              </a:ext>
            </a:extLst>
          </p:cNvPr>
          <p:cNvSpPr txBox="1"/>
          <p:nvPr/>
        </p:nvSpPr>
        <p:spPr>
          <a:xfrm>
            <a:off x="282039" y="5226703"/>
            <a:ext cx="3280558" cy="871008"/>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Infine incrementiamo </a:t>
            </a:r>
            <a:r>
              <a:rPr lang="it-IT" sz="1600" dirty="0" err="1"/>
              <a:t>numberOfAttempts</a:t>
            </a:r>
            <a:r>
              <a:rPr lang="it-IT" sz="1600" dirty="0"/>
              <a:t>, che riporta il numero di tentativi</a:t>
            </a:r>
          </a:p>
        </p:txBody>
      </p:sp>
      <p:sp>
        <p:nvSpPr>
          <p:cNvPr id="10" name="CasellaDiTesto 9">
            <a:extLst>
              <a:ext uri="{FF2B5EF4-FFF2-40B4-BE49-F238E27FC236}">
                <a16:creationId xmlns:a16="http://schemas.microsoft.com/office/drawing/2014/main" id="{76DE1D77-3F57-F86E-8DDE-90355E7852A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9287414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246221"/>
          </a:xfrm>
          <a:prstGeom prst="rect">
            <a:avLst/>
          </a:prstGeom>
          <a:solidFill>
            <a:schemeClr val="tx1">
              <a:lumMod val="75000"/>
              <a:lumOff val="25000"/>
            </a:schemeClr>
          </a:solidFill>
        </p:spPr>
        <p:txBody>
          <a:bodyPr wrap="square">
            <a:spAutoFit/>
          </a:bodyPr>
          <a:lstStyle/>
          <a:p>
            <a:r>
              <a:rPr lang="en-US" sz="1000" b="0" dirty="0">
                <a:solidFill>
                  <a:srgbClr val="569CD6"/>
                </a:solidFill>
                <a:effectLst/>
                <a:latin typeface="Consolas" panose="020B0609020204030204" pitchFamily="49" charset="0"/>
              </a:rPr>
              <a:t>package</a:t>
            </a:r>
            <a:r>
              <a:rPr lang="en-US" sz="1000" b="0" dirty="0">
                <a:solidFill>
                  <a:srgbClr val="D4D4D4"/>
                </a:solidFill>
                <a:effectLst/>
                <a:latin typeface="Consolas" panose="020B0609020204030204" pitchFamily="49" charset="0"/>
              </a:rPr>
              <a:t> </a:t>
            </a:r>
            <a:r>
              <a:rPr lang="en-US" sz="1000" b="0" dirty="0" err="1">
                <a:solidFill>
                  <a:srgbClr val="D4D4D4"/>
                </a:solidFill>
                <a:effectLst/>
                <a:latin typeface="Consolas" panose="020B0609020204030204" pitchFamily="49" charset="0"/>
              </a:rPr>
              <a:t>GuessingGame</a:t>
            </a:r>
            <a:r>
              <a:rPr lang="en-US" sz="1000" b="0" dirty="0">
                <a:solidFill>
                  <a:srgbClr val="569CD6"/>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p:txBody>
      </p:sp>
      <p:sp>
        <p:nvSpPr>
          <p:cNvPr id="2" name="CasellaDiTesto 1">
            <a:extLst>
              <a:ext uri="{FF2B5EF4-FFF2-40B4-BE49-F238E27FC236}">
                <a16:creationId xmlns:a16="http://schemas.microsoft.com/office/drawing/2014/main" id="{031B5919-343E-4C33-CFBA-C11BA80AF50A}"/>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player.java</a:t>
            </a:r>
            <a:endParaRPr lang="it-IT" sz="1800" b="1" i="0" dirty="0">
              <a:solidFill>
                <a:srgbClr val="374151"/>
              </a:solidFill>
              <a:effectLst/>
              <a:latin typeface="Söhne"/>
            </a:endParaRPr>
          </a:p>
        </p:txBody>
      </p:sp>
      <p:sp>
        <p:nvSpPr>
          <p:cNvPr id="6" name="CasellaDiTesto 5">
            <a:extLst>
              <a:ext uri="{FF2B5EF4-FFF2-40B4-BE49-F238E27FC236}">
                <a16:creationId xmlns:a16="http://schemas.microsoft.com/office/drawing/2014/main" id="{8EB51A71-68E2-EF7D-CB24-401B21DBB445}"/>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9" name="CasellaDiTesto 8">
            <a:extLst>
              <a:ext uri="{FF2B5EF4-FFF2-40B4-BE49-F238E27FC236}">
                <a16:creationId xmlns:a16="http://schemas.microsoft.com/office/drawing/2014/main" id="{87D84B0B-8E6F-B986-0B05-35245FDD2FA2}"/>
              </a:ext>
            </a:extLst>
          </p:cNvPr>
          <p:cNvSpPr txBox="1"/>
          <p:nvPr/>
        </p:nvSpPr>
        <p:spPr>
          <a:xfrm>
            <a:off x="282039" y="5226703"/>
            <a:ext cx="3280558" cy="344069"/>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Nella classe definiamo il package</a:t>
            </a:r>
          </a:p>
        </p:txBody>
      </p:sp>
    </p:spTree>
    <p:extLst>
      <p:ext uri="{BB962C8B-B14F-4D97-AF65-F5344CB8AC3E}">
        <p14:creationId xmlns:p14="http://schemas.microsoft.com/office/powerpoint/2010/main" val="307575009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707886"/>
          </a:xfrm>
          <a:prstGeom prst="rect">
            <a:avLst/>
          </a:prstGeom>
          <a:solidFill>
            <a:schemeClr val="tx1">
              <a:lumMod val="75000"/>
              <a:lumOff val="25000"/>
            </a:schemeClr>
          </a:solidFill>
        </p:spPr>
        <p:txBody>
          <a:bodyPr wrap="square">
            <a:spAutoFit/>
          </a:bodyPr>
          <a:lstStyle/>
          <a:p>
            <a:r>
              <a:rPr lang="en-US" sz="1000" b="0" dirty="0">
                <a:solidFill>
                  <a:srgbClr val="569CD6"/>
                </a:solidFill>
                <a:effectLst/>
                <a:latin typeface="Consolas" panose="020B0609020204030204" pitchFamily="49" charset="0"/>
              </a:rPr>
              <a:t>package</a:t>
            </a:r>
            <a:r>
              <a:rPr lang="en-US" sz="1000" b="0" dirty="0">
                <a:solidFill>
                  <a:srgbClr val="D4D4D4"/>
                </a:solidFill>
                <a:effectLst/>
                <a:latin typeface="Consolas" panose="020B0609020204030204" pitchFamily="49" charset="0"/>
              </a:rPr>
              <a:t> </a:t>
            </a:r>
            <a:r>
              <a:rPr lang="en-US" sz="1000" b="0" dirty="0" err="1">
                <a:solidFill>
                  <a:srgbClr val="D4D4D4"/>
                </a:solidFill>
                <a:effectLst/>
                <a:latin typeface="Consolas" panose="020B0609020204030204" pitchFamily="49" charset="0"/>
              </a:rPr>
              <a:t>GuessingGame</a:t>
            </a:r>
            <a:r>
              <a:rPr lang="en-US" sz="1000" b="0" dirty="0">
                <a:solidFill>
                  <a:srgbClr val="569CD6"/>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br>
              <a:rPr lang="en-US" sz="1000" b="0" dirty="0">
                <a:solidFill>
                  <a:srgbClr val="D4D4D4"/>
                </a:solidFill>
                <a:effectLst/>
                <a:latin typeface="Consolas" panose="020B0609020204030204" pitchFamily="49" charset="0"/>
              </a:rPr>
            </a:b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Player {            </a:t>
            </a:r>
          </a:p>
          <a:p>
            <a:r>
              <a:rPr lang="en-US" sz="1000" b="0" dirty="0">
                <a:solidFill>
                  <a:srgbClr val="D4D4D4"/>
                </a:solidFill>
                <a:effectLst/>
                <a:latin typeface="Consolas" panose="020B0609020204030204" pitchFamily="49" charset="0"/>
              </a:rPr>
              <a:t>}</a:t>
            </a:r>
          </a:p>
        </p:txBody>
      </p:sp>
      <p:sp>
        <p:nvSpPr>
          <p:cNvPr id="2" name="CasellaDiTesto 1">
            <a:extLst>
              <a:ext uri="{FF2B5EF4-FFF2-40B4-BE49-F238E27FC236}">
                <a16:creationId xmlns:a16="http://schemas.microsoft.com/office/drawing/2014/main" id="{031B5919-343E-4C33-CFBA-C11BA80AF50A}"/>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player.java</a:t>
            </a:r>
            <a:endParaRPr lang="it-IT" sz="1800" b="1" i="0" dirty="0">
              <a:solidFill>
                <a:srgbClr val="374151"/>
              </a:solidFill>
              <a:effectLst/>
              <a:latin typeface="Söhne"/>
            </a:endParaRPr>
          </a:p>
        </p:txBody>
      </p:sp>
      <p:sp>
        <p:nvSpPr>
          <p:cNvPr id="6" name="CasellaDiTesto 5">
            <a:extLst>
              <a:ext uri="{FF2B5EF4-FFF2-40B4-BE49-F238E27FC236}">
                <a16:creationId xmlns:a16="http://schemas.microsoft.com/office/drawing/2014/main" id="{8EB51A71-68E2-EF7D-CB24-401B21DBB445}"/>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9" name="CasellaDiTesto 8">
            <a:extLst>
              <a:ext uri="{FF2B5EF4-FFF2-40B4-BE49-F238E27FC236}">
                <a16:creationId xmlns:a16="http://schemas.microsoft.com/office/drawing/2014/main" id="{87D84B0B-8E6F-B986-0B05-35245FDD2FA2}"/>
              </a:ext>
            </a:extLst>
          </p:cNvPr>
          <p:cNvSpPr txBox="1"/>
          <p:nvPr/>
        </p:nvSpPr>
        <p:spPr>
          <a:xfrm>
            <a:off x="282039" y="5226703"/>
            <a:ext cx="3280558" cy="344069"/>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Definiamo la classe</a:t>
            </a:r>
          </a:p>
        </p:txBody>
      </p:sp>
    </p:spTree>
    <p:extLst>
      <p:ext uri="{BB962C8B-B14F-4D97-AF65-F5344CB8AC3E}">
        <p14:creationId xmlns:p14="http://schemas.microsoft.com/office/powerpoint/2010/main" val="82574784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861774"/>
          </a:xfrm>
          <a:prstGeom prst="rect">
            <a:avLst/>
          </a:prstGeom>
          <a:solidFill>
            <a:schemeClr val="tx1">
              <a:lumMod val="75000"/>
              <a:lumOff val="25000"/>
            </a:schemeClr>
          </a:solidFill>
        </p:spPr>
        <p:txBody>
          <a:bodyPr wrap="square">
            <a:spAutoFit/>
          </a:bodyPr>
          <a:lstStyle/>
          <a:p>
            <a:r>
              <a:rPr lang="en-US" sz="1000" b="0" dirty="0">
                <a:solidFill>
                  <a:srgbClr val="569CD6"/>
                </a:solidFill>
                <a:effectLst/>
                <a:latin typeface="Consolas" panose="020B0609020204030204" pitchFamily="49" charset="0"/>
              </a:rPr>
              <a:t>package</a:t>
            </a:r>
            <a:r>
              <a:rPr lang="en-US" sz="1000" b="0" dirty="0">
                <a:solidFill>
                  <a:srgbClr val="D4D4D4"/>
                </a:solidFill>
                <a:effectLst/>
                <a:latin typeface="Consolas" panose="020B0609020204030204" pitchFamily="49" charset="0"/>
              </a:rPr>
              <a:t> </a:t>
            </a:r>
            <a:r>
              <a:rPr lang="en-US" sz="1000" b="0" dirty="0" err="1">
                <a:solidFill>
                  <a:srgbClr val="D4D4D4"/>
                </a:solidFill>
                <a:effectLst/>
                <a:latin typeface="Consolas" panose="020B0609020204030204" pitchFamily="49" charset="0"/>
              </a:rPr>
              <a:t>GuessingGame</a:t>
            </a:r>
            <a:r>
              <a:rPr lang="en-US" sz="1000" b="0" dirty="0">
                <a:solidFill>
                  <a:srgbClr val="569CD6"/>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br>
              <a:rPr lang="en-US" sz="1000" b="0" dirty="0">
                <a:solidFill>
                  <a:srgbClr val="D4D4D4"/>
                </a:solidFill>
                <a:effectLst/>
                <a:latin typeface="Consolas" panose="020B0609020204030204" pitchFamily="49" charset="0"/>
              </a:rPr>
            </a:b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Player {</a:t>
            </a:r>
          </a:p>
          <a:p>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String name</a:t>
            </a:r>
            <a:r>
              <a:rPr lang="en-US" sz="1000" b="0" dirty="0">
                <a:solidFill>
                  <a:srgbClr val="569CD6"/>
                </a:solidFill>
                <a:effectLst/>
                <a:latin typeface="Consolas" panose="020B0609020204030204" pitchFamily="49" charset="0"/>
              </a:rPr>
              <a:t>;</a:t>
            </a:r>
            <a:r>
              <a:rPr lang="en-US" sz="1000" b="0" dirty="0">
                <a:solidFill>
                  <a:srgbClr val="D4D4D4"/>
                </a:solidFill>
                <a:effectLst/>
                <a:latin typeface="Consolas" panose="020B0609020204030204" pitchFamily="49" charset="0"/>
              </a:rPr>
              <a:t>        </a:t>
            </a:r>
          </a:p>
          <a:p>
            <a:r>
              <a:rPr lang="en-US" sz="1000" b="0" dirty="0">
                <a:solidFill>
                  <a:srgbClr val="D4D4D4"/>
                </a:solidFill>
                <a:effectLst/>
                <a:latin typeface="Consolas" panose="020B0609020204030204" pitchFamily="49" charset="0"/>
              </a:rPr>
              <a:t>}</a:t>
            </a:r>
          </a:p>
        </p:txBody>
      </p:sp>
      <p:sp>
        <p:nvSpPr>
          <p:cNvPr id="2" name="CasellaDiTesto 1">
            <a:extLst>
              <a:ext uri="{FF2B5EF4-FFF2-40B4-BE49-F238E27FC236}">
                <a16:creationId xmlns:a16="http://schemas.microsoft.com/office/drawing/2014/main" id="{031B5919-343E-4C33-CFBA-C11BA80AF50A}"/>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player.java</a:t>
            </a:r>
            <a:endParaRPr lang="it-IT" sz="1800" b="1" i="0" dirty="0">
              <a:solidFill>
                <a:srgbClr val="374151"/>
              </a:solidFill>
              <a:effectLst/>
              <a:latin typeface="Söhne"/>
            </a:endParaRPr>
          </a:p>
        </p:txBody>
      </p:sp>
      <p:sp>
        <p:nvSpPr>
          <p:cNvPr id="6" name="CasellaDiTesto 5">
            <a:extLst>
              <a:ext uri="{FF2B5EF4-FFF2-40B4-BE49-F238E27FC236}">
                <a16:creationId xmlns:a16="http://schemas.microsoft.com/office/drawing/2014/main" id="{8EB51A71-68E2-EF7D-CB24-401B21DBB445}"/>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9" name="CasellaDiTesto 8">
            <a:extLst>
              <a:ext uri="{FF2B5EF4-FFF2-40B4-BE49-F238E27FC236}">
                <a16:creationId xmlns:a16="http://schemas.microsoft.com/office/drawing/2014/main" id="{87D84B0B-8E6F-B986-0B05-35245FDD2FA2}"/>
              </a:ext>
            </a:extLst>
          </p:cNvPr>
          <p:cNvSpPr txBox="1"/>
          <p:nvPr/>
        </p:nvSpPr>
        <p:spPr>
          <a:xfrm>
            <a:off x="282039" y="5226703"/>
            <a:ext cx="3280558" cy="607539"/>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Definiamo un campo name di tipo </a:t>
            </a:r>
            <a:r>
              <a:rPr lang="it-IT" sz="1600" dirty="0" err="1"/>
              <a:t>String</a:t>
            </a:r>
            <a:r>
              <a:rPr lang="it-IT" sz="1600" dirty="0"/>
              <a:t> pubblico</a:t>
            </a:r>
          </a:p>
        </p:txBody>
      </p:sp>
    </p:spTree>
    <p:extLst>
      <p:ext uri="{BB962C8B-B14F-4D97-AF65-F5344CB8AC3E}">
        <p14:creationId xmlns:p14="http://schemas.microsoft.com/office/powerpoint/2010/main" val="150335325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1015663"/>
          </a:xfrm>
          <a:prstGeom prst="rect">
            <a:avLst/>
          </a:prstGeom>
          <a:solidFill>
            <a:schemeClr val="tx1">
              <a:lumMod val="75000"/>
              <a:lumOff val="25000"/>
            </a:schemeClr>
          </a:solidFill>
        </p:spPr>
        <p:txBody>
          <a:bodyPr wrap="square">
            <a:spAutoFit/>
          </a:bodyPr>
          <a:lstStyle/>
          <a:p>
            <a:r>
              <a:rPr lang="en-US" sz="1000" b="0" dirty="0">
                <a:solidFill>
                  <a:srgbClr val="569CD6"/>
                </a:solidFill>
                <a:effectLst/>
                <a:latin typeface="Consolas" panose="020B0609020204030204" pitchFamily="49" charset="0"/>
              </a:rPr>
              <a:t>package</a:t>
            </a:r>
            <a:r>
              <a:rPr lang="en-US" sz="1000" b="0" dirty="0">
                <a:solidFill>
                  <a:srgbClr val="D4D4D4"/>
                </a:solidFill>
                <a:effectLst/>
                <a:latin typeface="Consolas" panose="020B0609020204030204" pitchFamily="49" charset="0"/>
              </a:rPr>
              <a:t> </a:t>
            </a:r>
            <a:r>
              <a:rPr lang="en-US" sz="1000" b="0" dirty="0" err="1">
                <a:solidFill>
                  <a:srgbClr val="D4D4D4"/>
                </a:solidFill>
                <a:effectLst/>
                <a:latin typeface="Consolas" panose="020B0609020204030204" pitchFamily="49" charset="0"/>
              </a:rPr>
              <a:t>GuessingGame</a:t>
            </a:r>
            <a:r>
              <a:rPr lang="en-US" sz="1000" b="0" dirty="0">
                <a:solidFill>
                  <a:srgbClr val="569CD6"/>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br>
              <a:rPr lang="en-US" sz="1000" b="0" dirty="0">
                <a:solidFill>
                  <a:srgbClr val="D4D4D4"/>
                </a:solidFill>
                <a:effectLst/>
                <a:latin typeface="Consolas" panose="020B0609020204030204" pitchFamily="49" charset="0"/>
              </a:rPr>
            </a:b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Player {</a:t>
            </a:r>
          </a:p>
          <a:p>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String name</a:t>
            </a:r>
            <a:r>
              <a:rPr lang="en-US" sz="1000" b="0" dirty="0">
                <a:solidFill>
                  <a:srgbClr val="569CD6"/>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score</a:t>
            </a:r>
            <a:r>
              <a:rPr lang="en-US" sz="1000" b="0" dirty="0">
                <a:solidFill>
                  <a:srgbClr val="569CD6"/>
                </a:solidFill>
                <a:effectLst/>
                <a:latin typeface="Consolas" panose="020B0609020204030204" pitchFamily="49" charset="0"/>
              </a:rPr>
              <a:t>;</a:t>
            </a:r>
            <a:r>
              <a:rPr lang="en-US" sz="1000" b="0" dirty="0">
                <a:solidFill>
                  <a:srgbClr val="D4D4D4"/>
                </a:solidFill>
                <a:effectLst/>
                <a:latin typeface="Consolas" panose="020B0609020204030204" pitchFamily="49" charset="0"/>
              </a:rPr>
              <a:t>    </a:t>
            </a:r>
          </a:p>
          <a:p>
            <a:r>
              <a:rPr lang="en-US" sz="1000" b="0" dirty="0">
                <a:solidFill>
                  <a:srgbClr val="D4D4D4"/>
                </a:solidFill>
                <a:effectLst/>
                <a:latin typeface="Consolas" panose="020B0609020204030204" pitchFamily="49" charset="0"/>
              </a:rPr>
              <a:t>}</a:t>
            </a:r>
          </a:p>
        </p:txBody>
      </p:sp>
      <p:sp>
        <p:nvSpPr>
          <p:cNvPr id="2" name="CasellaDiTesto 1">
            <a:extLst>
              <a:ext uri="{FF2B5EF4-FFF2-40B4-BE49-F238E27FC236}">
                <a16:creationId xmlns:a16="http://schemas.microsoft.com/office/drawing/2014/main" id="{031B5919-343E-4C33-CFBA-C11BA80AF50A}"/>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player.java</a:t>
            </a:r>
            <a:endParaRPr lang="it-IT" sz="1800" b="1" i="0" dirty="0">
              <a:solidFill>
                <a:srgbClr val="374151"/>
              </a:solidFill>
              <a:effectLst/>
              <a:latin typeface="Söhne"/>
            </a:endParaRPr>
          </a:p>
        </p:txBody>
      </p:sp>
      <p:sp>
        <p:nvSpPr>
          <p:cNvPr id="6" name="CasellaDiTesto 5">
            <a:extLst>
              <a:ext uri="{FF2B5EF4-FFF2-40B4-BE49-F238E27FC236}">
                <a16:creationId xmlns:a16="http://schemas.microsoft.com/office/drawing/2014/main" id="{8EB51A71-68E2-EF7D-CB24-401B21DBB445}"/>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9" name="CasellaDiTesto 8">
            <a:extLst>
              <a:ext uri="{FF2B5EF4-FFF2-40B4-BE49-F238E27FC236}">
                <a16:creationId xmlns:a16="http://schemas.microsoft.com/office/drawing/2014/main" id="{87D84B0B-8E6F-B986-0B05-35245FDD2FA2}"/>
              </a:ext>
            </a:extLst>
          </p:cNvPr>
          <p:cNvSpPr txBox="1"/>
          <p:nvPr/>
        </p:nvSpPr>
        <p:spPr>
          <a:xfrm>
            <a:off x="282039" y="5226703"/>
            <a:ext cx="3280558" cy="607539"/>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Definiamo un intero pubblico chiamato score</a:t>
            </a:r>
          </a:p>
        </p:txBody>
      </p:sp>
    </p:spTree>
    <p:extLst>
      <p:ext uri="{BB962C8B-B14F-4D97-AF65-F5344CB8AC3E}">
        <p14:creationId xmlns:p14="http://schemas.microsoft.com/office/powerpoint/2010/main" val="319202021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1477328"/>
          </a:xfrm>
          <a:prstGeom prst="rect">
            <a:avLst/>
          </a:prstGeom>
          <a:solidFill>
            <a:schemeClr val="tx1">
              <a:lumMod val="75000"/>
              <a:lumOff val="25000"/>
            </a:schemeClr>
          </a:solidFill>
        </p:spPr>
        <p:txBody>
          <a:bodyPr wrap="square">
            <a:spAutoFit/>
          </a:bodyPr>
          <a:lstStyle/>
          <a:p>
            <a:r>
              <a:rPr lang="en-US" sz="1000" b="0" dirty="0">
                <a:solidFill>
                  <a:srgbClr val="569CD6"/>
                </a:solidFill>
                <a:effectLst/>
                <a:latin typeface="Consolas" panose="020B0609020204030204" pitchFamily="49" charset="0"/>
              </a:rPr>
              <a:t>package</a:t>
            </a:r>
            <a:r>
              <a:rPr lang="en-US" sz="1000" b="0" dirty="0">
                <a:solidFill>
                  <a:srgbClr val="D4D4D4"/>
                </a:solidFill>
                <a:effectLst/>
                <a:latin typeface="Consolas" panose="020B0609020204030204" pitchFamily="49" charset="0"/>
              </a:rPr>
              <a:t> </a:t>
            </a:r>
            <a:r>
              <a:rPr lang="en-US" sz="1000" b="0" dirty="0" err="1">
                <a:solidFill>
                  <a:srgbClr val="D4D4D4"/>
                </a:solidFill>
                <a:effectLst/>
                <a:latin typeface="Consolas" panose="020B0609020204030204" pitchFamily="49" charset="0"/>
              </a:rPr>
              <a:t>GuessingGame</a:t>
            </a:r>
            <a:r>
              <a:rPr lang="en-US" sz="1000" b="0" dirty="0">
                <a:solidFill>
                  <a:srgbClr val="569CD6"/>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br>
              <a:rPr lang="en-US" sz="1000" b="0" dirty="0">
                <a:solidFill>
                  <a:srgbClr val="D4D4D4"/>
                </a:solidFill>
                <a:effectLst/>
                <a:latin typeface="Consolas" panose="020B0609020204030204" pitchFamily="49" charset="0"/>
              </a:rPr>
            </a:b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Player {</a:t>
            </a:r>
          </a:p>
          <a:p>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String name</a:t>
            </a:r>
            <a:r>
              <a:rPr lang="en-US" sz="1000" b="0" dirty="0">
                <a:solidFill>
                  <a:srgbClr val="569CD6"/>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score</a:t>
            </a:r>
            <a:r>
              <a:rPr lang="en-US" sz="1000" b="0" dirty="0">
                <a:solidFill>
                  <a:srgbClr val="569CD6"/>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r>
              <a:rPr lang="en-US" sz="1000" b="0" dirty="0">
                <a:solidFill>
                  <a:srgbClr val="D4D4D4"/>
                </a:solidFill>
                <a:effectLst/>
                <a:latin typeface="Consolas" panose="020B0609020204030204" pitchFamily="49" charset="0"/>
              </a:rPr>
              <a:t>    </a:t>
            </a:r>
          </a:p>
          <a:p>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Player(String name) {               </a:t>
            </a:r>
          </a:p>
          <a:p>
            <a:r>
              <a:rPr lang="en-US" sz="1000" b="0" dirty="0">
                <a:solidFill>
                  <a:srgbClr val="D4D4D4"/>
                </a:solidFill>
                <a:effectLst/>
                <a:latin typeface="Consolas" panose="020B0609020204030204" pitchFamily="49" charset="0"/>
              </a:rPr>
              <a:t>    }</a:t>
            </a:r>
          </a:p>
          <a:p>
            <a:r>
              <a:rPr lang="en-US" sz="1000" b="0" dirty="0">
                <a:solidFill>
                  <a:srgbClr val="D4D4D4"/>
                </a:solidFill>
                <a:effectLst/>
                <a:latin typeface="Consolas" panose="020B0609020204030204" pitchFamily="49" charset="0"/>
              </a:rPr>
              <a:t>}</a:t>
            </a:r>
          </a:p>
        </p:txBody>
      </p:sp>
      <p:sp>
        <p:nvSpPr>
          <p:cNvPr id="2" name="CasellaDiTesto 1">
            <a:extLst>
              <a:ext uri="{FF2B5EF4-FFF2-40B4-BE49-F238E27FC236}">
                <a16:creationId xmlns:a16="http://schemas.microsoft.com/office/drawing/2014/main" id="{031B5919-343E-4C33-CFBA-C11BA80AF50A}"/>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player.java</a:t>
            </a:r>
            <a:endParaRPr lang="it-IT" sz="1800" b="1" i="0" dirty="0">
              <a:solidFill>
                <a:srgbClr val="374151"/>
              </a:solidFill>
              <a:effectLst/>
              <a:latin typeface="Söhne"/>
            </a:endParaRPr>
          </a:p>
        </p:txBody>
      </p:sp>
      <p:sp>
        <p:nvSpPr>
          <p:cNvPr id="6" name="CasellaDiTesto 5">
            <a:extLst>
              <a:ext uri="{FF2B5EF4-FFF2-40B4-BE49-F238E27FC236}">
                <a16:creationId xmlns:a16="http://schemas.microsoft.com/office/drawing/2014/main" id="{8EB51A71-68E2-EF7D-CB24-401B21DBB445}"/>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9" name="CasellaDiTesto 8">
            <a:extLst>
              <a:ext uri="{FF2B5EF4-FFF2-40B4-BE49-F238E27FC236}">
                <a16:creationId xmlns:a16="http://schemas.microsoft.com/office/drawing/2014/main" id="{87D84B0B-8E6F-B986-0B05-35245FDD2FA2}"/>
              </a:ext>
            </a:extLst>
          </p:cNvPr>
          <p:cNvSpPr txBox="1"/>
          <p:nvPr/>
        </p:nvSpPr>
        <p:spPr>
          <a:xfrm>
            <a:off x="282039" y="5226703"/>
            <a:ext cx="3280558" cy="871008"/>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Definiamo un metodo pubblico Player che accetta in ingresso una proprietà name di tipo </a:t>
            </a:r>
            <a:r>
              <a:rPr lang="it-IT" sz="1600" dirty="0" err="1"/>
              <a:t>String</a:t>
            </a:r>
            <a:endParaRPr lang="it-IT" sz="1600" dirty="0"/>
          </a:p>
        </p:txBody>
      </p:sp>
    </p:spTree>
    <p:extLst>
      <p:ext uri="{BB962C8B-B14F-4D97-AF65-F5344CB8AC3E}">
        <p14:creationId xmlns:p14="http://schemas.microsoft.com/office/powerpoint/2010/main" val="84706731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1631216"/>
          </a:xfrm>
          <a:prstGeom prst="rect">
            <a:avLst/>
          </a:prstGeom>
          <a:solidFill>
            <a:schemeClr val="tx1">
              <a:lumMod val="75000"/>
              <a:lumOff val="25000"/>
            </a:schemeClr>
          </a:solidFill>
        </p:spPr>
        <p:txBody>
          <a:bodyPr wrap="square">
            <a:spAutoFit/>
          </a:bodyPr>
          <a:lstStyle/>
          <a:p>
            <a:r>
              <a:rPr lang="en-US" sz="1000" b="0" dirty="0">
                <a:solidFill>
                  <a:srgbClr val="569CD6"/>
                </a:solidFill>
                <a:effectLst/>
                <a:latin typeface="Consolas" panose="020B0609020204030204" pitchFamily="49" charset="0"/>
              </a:rPr>
              <a:t>package</a:t>
            </a:r>
            <a:r>
              <a:rPr lang="en-US" sz="1000" b="0" dirty="0">
                <a:solidFill>
                  <a:srgbClr val="D4D4D4"/>
                </a:solidFill>
                <a:effectLst/>
                <a:latin typeface="Consolas" panose="020B0609020204030204" pitchFamily="49" charset="0"/>
              </a:rPr>
              <a:t> </a:t>
            </a:r>
            <a:r>
              <a:rPr lang="en-US" sz="1000" b="0" dirty="0" err="1">
                <a:solidFill>
                  <a:srgbClr val="D4D4D4"/>
                </a:solidFill>
                <a:effectLst/>
                <a:latin typeface="Consolas" panose="020B0609020204030204" pitchFamily="49" charset="0"/>
              </a:rPr>
              <a:t>GuessingGame</a:t>
            </a:r>
            <a:r>
              <a:rPr lang="en-US" sz="1000" b="0" dirty="0">
                <a:solidFill>
                  <a:srgbClr val="569CD6"/>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br>
              <a:rPr lang="en-US" sz="1000" b="0" dirty="0">
                <a:solidFill>
                  <a:srgbClr val="D4D4D4"/>
                </a:solidFill>
                <a:effectLst/>
                <a:latin typeface="Consolas" panose="020B0609020204030204" pitchFamily="49" charset="0"/>
              </a:rPr>
            </a:b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Player {</a:t>
            </a:r>
          </a:p>
          <a:p>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String name</a:t>
            </a:r>
            <a:r>
              <a:rPr lang="en-US" sz="1000" b="0" dirty="0">
                <a:solidFill>
                  <a:srgbClr val="569CD6"/>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score</a:t>
            </a:r>
            <a:r>
              <a:rPr lang="en-US" sz="1000" b="0" dirty="0">
                <a:solidFill>
                  <a:srgbClr val="569CD6"/>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r>
              <a:rPr lang="en-US" sz="1000" b="0" dirty="0">
                <a:solidFill>
                  <a:srgbClr val="D4D4D4"/>
                </a:solidFill>
                <a:effectLst/>
                <a:latin typeface="Consolas" panose="020B0609020204030204" pitchFamily="49" charset="0"/>
              </a:rPr>
              <a:t>    </a:t>
            </a:r>
          </a:p>
          <a:p>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Player(String name) {</a:t>
            </a:r>
          </a:p>
          <a:p>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this</a:t>
            </a:r>
            <a:r>
              <a:rPr lang="en-US" sz="1000" b="0" dirty="0">
                <a:solidFill>
                  <a:srgbClr val="D4D4D4"/>
                </a:solidFill>
                <a:effectLst/>
                <a:latin typeface="Consolas" panose="020B0609020204030204" pitchFamily="49" charset="0"/>
              </a:rPr>
              <a:t>.name = name</a:t>
            </a:r>
            <a:r>
              <a:rPr lang="en-US" sz="1000" b="0" dirty="0">
                <a:solidFill>
                  <a:srgbClr val="569CD6"/>
                </a:solidFill>
                <a:effectLst/>
                <a:latin typeface="Consolas" panose="020B0609020204030204" pitchFamily="49" charset="0"/>
              </a:rPr>
              <a:t>;</a:t>
            </a:r>
            <a:r>
              <a:rPr lang="en-US" sz="1000" b="0" dirty="0">
                <a:solidFill>
                  <a:srgbClr val="D4D4D4"/>
                </a:solidFill>
                <a:effectLst/>
                <a:latin typeface="Consolas" panose="020B0609020204030204" pitchFamily="49" charset="0"/>
              </a:rPr>
              <a:t>       </a:t>
            </a:r>
          </a:p>
          <a:p>
            <a:r>
              <a:rPr lang="en-US" sz="1000" b="0" dirty="0">
                <a:solidFill>
                  <a:srgbClr val="D4D4D4"/>
                </a:solidFill>
                <a:effectLst/>
                <a:latin typeface="Consolas" panose="020B0609020204030204" pitchFamily="49" charset="0"/>
              </a:rPr>
              <a:t>    }</a:t>
            </a:r>
          </a:p>
          <a:p>
            <a:r>
              <a:rPr lang="en-US" sz="1000" b="0" dirty="0">
                <a:solidFill>
                  <a:srgbClr val="D4D4D4"/>
                </a:solidFill>
                <a:effectLst/>
                <a:latin typeface="Consolas" panose="020B0609020204030204" pitchFamily="49" charset="0"/>
              </a:rPr>
              <a:t>}</a:t>
            </a:r>
          </a:p>
        </p:txBody>
      </p:sp>
      <p:sp>
        <p:nvSpPr>
          <p:cNvPr id="2" name="CasellaDiTesto 1">
            <a:extLst>
              <a:ext uri="{FF2B5EF4-FFF2-40B4-BE49-F238E27FC236}">
                <a16:creationId xmlns:a16="http://schemas.microsoft.com/office/drawing/2014/main" id="{031B5919-343E-4C33-CFBA-C11BA80AF50A}"/>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player.java</a:t>
            </a:r>
            <a:endParaRPr lang="it-IT" sz="1800" b="1" i="0" dirty="0">
              <a:solidFill>
                <a:srgbClr val="374151"/>
              </a:solidFill>
              <a:effectLst/>
              <a:latin typeface="Söhne"/>
            </a:endParaRPr>
          </a:p>
        </p:txBody>
      </p:sp>
      <p:sp>
        <p:nvSpPr>
          <p:cNvPr id="6" name="CasellaDiTesto 5">
            <a:extLst>
              <a:ext uri="{FF2B5EF4-FFF2-40B4-BE49-F238E27FC236}">
                <a16:creationId xmlns:a16="http://schemas.microsoft.com/office/drawing/2014/main" id="{8EB51A71-68E2-EF7D-CB24-401B21DBB445}"/>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9" name="CasellaDiTesto 8">
            <a:extLst>
              <a:ext uri="{FF2B5EF4-FFF2-40B4-BE49-F238E27FC236}">
                <a16:creationId xmlns:a16="http://schemas.microsoft.com/office/drawing/2014/main" id="{87D84B0B-8E6F-B986-0B05-35245FDD2FA2}"/>
              </a:ext>
            </a:extLst>
          </p:cNvPr>
          <p:cNvSpPr txBox="1"/>
          <p:nvPr/>
        </p:nvSpPr>
        <p:spPr>
          <a:xfrm>
            <a:off x="282039" y="5226703"/>
            <a:ext cx="3280558" cy="871008"/>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Assegna al campo this.name il valore della variabile locale passata in input name</a:t>
            </a:r>
          </a:p>
        </p:txBody>
      </p:sp>
    </p:spTree>
    <p:extLst>
      <p:ext uri="{BB962C8B-B14F-4D97-AF65-F5344CB8AC3E}">
        <p14:creationId xmlns:p14="http://schemas.microsoft.com/office/powerpoint/2010/main" val="272603950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3" name="CasellaDiTesto 2">
            <a:extLst>
              <a:ext uri="{FF2B5EF4-FFF2-40B4-BE49-F238E27FC236}">
                <a16:creationId xmlns:a16="http://schemas.microsoft.com/office/drawing/2014/main" id="{F58A35AA-8DC9-9B24-1903-9A5692FA2924}"/>
              </a:ext>
            </a:extLst>
          </p:cNvPr>
          <p:cNvSpPr txBox="1"/>
          <p:nvPr/>
        </p:nvSpPr>
        <p:spPr>
          <a:xfrm>
            <a:off x="3939275" y="1541073"/>
            <a:ext cx="7235406" cy="1785104"/>
          </a:xfrm>
          <a:prstGeom prst="rect">
            <a:avLst/>
          </a:prstGeom>
          <a:solidFill>
            <a:schemeClr val="tx1">
              <a:lumMod val="75000"/>
              <a:lumOff val="25000"/>
            </a:schemeClr>
          </a:solidFill>
        </p:spPr>
        <p:txBody>
          <a:bodyPr wrap="square">
            <a:spAutoFit/>
          </a:bodyPr>
          <a:lstStyle/>
          <a:p>
            <a:r>
              <a:rPr lang="en-US" sz="1000" b="0" dirty="0">
                <a:solidFill>
                  <a:srgbClr val="569CD6"/>
                </a:solidFill>
                <a:effectLst/>
                <a:latin typeface="Consolas" panose="020B0609020204030204" pitchFamily="49" charset="0"/>
              </a:rPr>
              <a:t>package</a:t>
            </a:r>
            <a:r>
              <a:rPr lang="en-US" sz="1000" b="0" dirty="0">
                <a:solidFill>
                  <a:srgbClr val="D4D4D4"/>
                </a:solidFill>
                <a:effectLst/>
                <a:latin typeface="Consolas" panose="020B0609020204030204" pitchFamily="49" charset="0"/>
              </a:rPr>
              <a:t> </a:t>
            </a:r>
            <a:r>
              <a:rPr lang="en-US" sz="1000" b="0" dirty="0" err="1">
                <a:solidFill>
                  <a:srgbClr val="D4D4D4"/>
                </a:solidFill>
                <a:effectLst/>
                <a:latin typeface="Consolas" panose="020B0609020204030204" pitchFamily="49" charset="0"/>
              </a:rPr>
              <a:t>GuessingGame</a:t>
            </a:r>
            <a:r>
              <a:rPr lang="en-US" sz="1000" b="0" dirty="0">
                <a:solidFill>
                  <a:srgbClr val="569CD6"/>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br>
              <a:rPr lang="en-US" sz="1000" b="0" dirty="0">
                <a:solidFill>
                  <a:srgbClr val="D4D4D4"/>
                </a:solidFill>
                <a:effectLst/>
                <a:latin typeface="Consolas" panose="020B0609020204030204" pitchFamily="49" charset="0"/>
              </a:rPr>
            </a:b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class</a:t>
            </a:r>
            <a:r>
              <a:rPr lang="en-US" sz="1000" b="0" dirty="0">
                <a:solidFill>
                  <a:srgbClr val="D4D4D4"/>
                </a:solidFill>
                <a:effectLst/>
                <a:latin typeface="Consolas" panose="020B0609020204030204" pitchFamily="49" charset="0"/>
              </a:rPr>
              <a:t> Player {</a:t>
            </a:r>
          </a:p>
          <a:p>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String name</a:t>
            </a:r>
            <a:r>
              <a:rPr lang="en-US" sz="1000" b="0" dirty="0">
                <a:solidFill>
                  <a:srgbClr val="569CD6"/>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 score</a:t>
            </a:r>
            <a:r>
              <a:rPr lang="en-US" sz="1000" b="0" dirty="0">
                <a:solidFill>
                  <a:srgbClr val="569CD6"/>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r>
              <a:rPr lang="en-US" sz="1000" b="0" dirty="0">
                <a:solidFill>
                  <a:srgbClr val="D4D4D4"/>
                </a:solidFill>
                <a:effectLst/>
                <a:latin typeface="Consolas" panose="020B0609020204030204" pitchFamily="49" charset="0"/>
              </a:rPr>
              <a:t>    </a:t>
            </a:r>
          </a:p>
          <a:p>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public</a:t>
            </a:r>
            <a:r>
              <a:rPr lang="en-US" sz="1000" b="0" dirty="0">
                <a:solidFill>
                  <a:srgbClr val="D4D4D4"/>
                </a:solidFill>
                <a:effectLst/>
                <a:latin typeface="Consolas" panose="020B0609020204030204" pitchFamily="49" charset="0"/>
              </a:rPr>
              <a:t> Player(String name) {</a:t>
            </a:r>
          </a:p>
          <a:p>
            <a:r>
              <a:rPr lang="en-US" sz="1000" b="0" dirty="0">
                <a:solidFill>
                  <a:srgbClr val="D4D4D4"/>
                </a:solidFill>
                <a:effectLst/>
                <a:latin typeface="Consolas" panose="020B0609020204030204" pitchFamily="49" charset="0"/>
              </a:rPr>
              <a:t>        </a:t>
            </a:r>
            <a:r>
              <a:rPr lang="en-US" sz="1000" b="0" dirty="0">
                <a:solidFill>
                  <a:srgbClr val="569CD6"/>
                </a:solidFill>
                <a:effectLst/>
                <a:latin typeface="Consolas" panose="020B0609020204030204" pitchFamily="49" charset="0"/>
              </a:rPr>
              <a:t>this</a:t>
            </a:r>
            <a:r>
              <a:rPr lang="en-US" sz="1000" b="0" dirty="0">
                <a:solidFill>
                  <a:srgbClr val="D4D4D4"/>
                </a:solidFill>
                <a:effectLst/>
                <a:latin typeface="Consolas" panose="020B0609020204030204" pitchFamily="49" charset="0"/>
              </a:rPr>
              <a:t>.name = name</a:t>
            </a:r>
            <a:r>
              <a:rPr lang="en-US" sz="1000" b="0" dirty="0">
                <a:solidFill>
                  <a:srgbClr val="569CD6"/>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r>
              <a:rPr lang="en-US" sz="1000" b="0" dirty="0">
                <a:solidFill>
                  <a:srgbClr val="D4D4D4"/>
                </a:solidFill>
                <a:effectLst/>
                <a:latin typeface="Consolas" panose="020B0609020204030204" pitchFamily="49" charset="0"/>
              </a:rPr>
              <a:t>        score = </a:t>
            </a:r>
            <a:r>
              <a:rPr lang="en-US" sz="1000" b="0" dirty="0">
                <a:solidFill>
                  <a:srgbClr val="B5CEA8"/>
                </a:solidFill>
                <a:effectLst/>
                <a:latin typeface="Consolas" panose="020B0609020204030204" pitchFamily="49" charset="0"/>
              </a:rPr>
              <a:t>0</a:t>
            </a:r>
            <a:r>
              <a:rPr lang="en-US" sz="1000" b="0" dirty="0">
                <a:solidFill>
                  <a:srgbClr val="569CD6"/>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r>
              <a:rPr lang="en-US" sz="1000" b="0" dirty="0">
                <a:solidFill>
                  <a:srgbClr val="D4D4D4"/>
                </a:solidFill>
                <a:effectLst/>
                <a:latin typeface="Consolas" panose="020B0609020204030204" pitchFamily="49" charset="0"/>
              </a:rPr>
              <a:t>    }</a:t>
            </a:r>
          </a:p>
          <a:p>
            <a:r>
              <a:rPr lang="en-US" sz="1000" b="0" dirty="0">
                <a:solidFill>
                  <a:srgbClr val="D4D4D4"/>
                </a:solidFill>
                <a:effectLst/>
                <a:latin typeface="Consolas" panose="020B0609020204030204" pitchFamily="49" charset="0"/>
              </a:rPr>
              <a:t>}</a:t>
            </a:r>
          </a:p>
        </p:txBody>
      </p:sp>
      <p:sp>
        <p:nvSpPr>
          <p:cNvPr id="2" name="CasellaDiTesto 1">
            <a:extLst>
              <a:ext uri="{FF2B5EF4-FFF2-40B4-BE49-F238E27FC236}">
                <a16:creationId xmlns:a16="http://schemas.microsoft.com/office/drawing/2014/main" id="{031B5919-343E-4C33-CFBA-C11BA80AF50A}"/>
              </a:ext>
            </a:extLst>
          </p:cNvPr>
          <p:cNvSpPr txBox="1"/>
          <p:nvPr/>
        </p:nvSpPr>
        <p:spPr>
          <a:xfrm>
            <a:off x="3789442" y="834129"/>
            <a:ext cx="7385239" cy="646331"/>
          </a:xfrm>
          <a:prstGeom prst="rect">
            <a:avLst/>
          </a:prstGeom>
          <a:noFill/>
        </p:spPr>
        <p:txBody>
          <a:bodyPr wrap="square">
            <a:spAutoFit/>
          </a:bodyPr>
          <a:lstStyle/>
          <a:p>
            <a:pPr algn="l"/>
            <a:r>
              <a:rPr lang="it-IT" sz="1800" b="0" i="0" dirty="0">
                <a:solidFill>
                  <a:srgbClr val="374151"/>
                </a:solidFill>
                <a:effectLst/>
                <a:latin typeface="Söhne"/>
              </a:rPr>
              <a:t>Un esempio di implementazione delle classi potrebbe essere il seguente:</a:t>
            </a:r>
          </a:p>
          <a:p>
            <a:pPr algn="l"/>
            <a:r>
              <a:rPr lang="it-IT" b="1" dirty="0">
                <a:solidFill>
                  <a:srgbClr val="374151"/>
                </a:solidFill>
                <a:latin typeface="Söhne"/>
              </a:rPr>
              <a:t>File player.java</a:t>
            </a:r>
            <a:endParaRPr lang="it-IT" sz="1800" b="1" i="0" dirty="0">
              <a:solidFill>
                <a:srgbClr val="374151"/>
              </a:solidFill>
              <a:effectLst/>
              <a:latin typeface="Söhne"/>
            </a:endParaRPr>
          </a:p>
        </p:txBody>
      </p:sp>
      <p:sp>
        <p:nvSpPr>
          <p:cNvPr id="6" name="CasellaDiTesto 5">
            <a:extLst>
              <a:ext uri="{FF2B5EF4-FFF2-40B4-BE49-F238E27FC236}">
                <a16:creationId xmlns:a16="http://schemas.microsoft.com/office/drawing/2014/main" id="{8EB51A71-68E2-EF7D-CB24-401B21DBB445}"/>
              </a:ext>
            </a:extLst>
          </p:cNvPr>
          <p:cNvSpPr txBox="1"/>
          <p:nvPr/>
        </p:nvSpPr>
        <p:spPr>
          <a:xfrm>
            <a:off x="282039" y="1541073"/>
            <a:ext cx="3280558" cy="3645100"/>
          </a:xfrm>
          <a:prstGeom prst="rect">
            <a:avLst/>
          </a:prstGeom>
          <a:solidFill>
            <a:srgbClr val="FFC000"/>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Nota bene: non è importante capire questo specifico codice.</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Devi prestare attenzione al solo comando </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Package </a:t>
            </a:r>
            <a:r>
              <a:rPr lang="it-IT" kern="0" dirty="0" err="1">
                <a:solidFill>
                  <a:srgbClr val="374151"/>
                </a:solidFill>
                <a:latin typeface="Segoe UI" panose="020B0502040204020203" pitchFamily="34" charset="0"/>
                <a:cs typeface="Times New Roman" panose="02020603050405020304" pitchFamily="18" charset="0"/>
              </a:rPr>
              <a:t>GuessingGame</a:t>
            </a:r>
            <a:r>
              <a:rPr lang="it-IT" kern="0" dirty="0">
                <a:solidFill>
                  <a:srgbClr val="374151"/>
                </a:solidFill>
                <a:latin typeface="Segoe UI" panose="020B0502040204020203" pitchFamily="34" charset="0"/>
                <a:cs typeface="Times New Roman" panose="02020603050405020304" pitchFamily="18" charset="0"/>
              </a:rPr>
              <a:t> in alto;</a:t>
            </a:r>
          </a:p>
          <a:p>
            <a:pPr lvl="0">
              <a:lnSpc>
                <a:spcPct val="107000"/>
              </a:lnSpc>
              <a:spcAft>
                <a:spcPts val="800"/>
              </a:spcAft>
              <a:buSzPts val="1000"/>
              <a:tabLst>
                <a:tab pos="449580" algn="l"/>
              </a:tabLst>
            </a:pPr>
            <a:r>
              <a:rPr lang="it-IT" kern="0" dirty="0">
                <a:solidFill>
                  <a:srgbClr val="374151"/>
                </a:solidFill>
                <a:latin typeface="Segoe UI" panose="020B0502040204020203" pitchFamily="34" charset="0"/>
                <a:cs typeface="Times New Roman" panose="02020603050405020304" pitchFamily="18" charset="0"/>
              </a:rPr>
              <a:t>Tuttavia, proverò ad inserire a piccoli gruppi le istruzioni, qualora voglia tu fare un passo ulteriore tentando la comprensione del codice</a:t>
            </a:r>
            <a:endParaRPr lang="it-IT" dirty="0"/>
          </a:p>
        </p:txBody>
      </p:sp>
      <p:sp>
        <p:nvSpPr>
          <p:cNvPr id="9" name="CasellaDiTesto 8">
            <a:extLst>
              <a:ext uri="{FF2B5EF4-FFF2-40B4-BE49-F238E27FC236}">
                <a16:creationId xmlns:a16="http://schemas.microsoft.com/office/drawing/2014/main" id="{87D84B0B-8E6F-B986-0B05-35245FDD2FA2}"/>
              </a:ext>
            </a:extLst>
          </p:cNvPr>
          <p:cNvSpPr txBox="1"/>
          <p:nvPr/>
        </p:nvSpPr>
        <p:spPr>
          <a:xfrm>
            <a:off x="282039" y="5226703"/>
            <a:ext cx="3280558" cy="607539"/>
          </a:xfrm>
          <a:prstGeom prst="rect">
            <a:avLst/>
          </a:prstGeom>
          <a:solidFill>
            <a:schemeClr val="accent6">
              <a:lumMod val="40000"/>
              <a:lumOff val="60000"/>
            </a:schemeClr>
          </a:solidFill>
        </p:spPr>
        <p:txBody>
          <a:bodyPr wrap="square">
            <a:spAutoFit/>
          </a:bodyPr>
          <a:lstStyle/>
          <a:p>
            <a:pPr lvl="0">
              <a:lnSpc>
                <a:spcPct val="107000"/>
              </a:lnSpc>
              <a:spcAft>
                <a:spcPts val="800"/>
              </a:spcAft>
              <a:buSzPts val="1000"/>
              <a:tabLst>
                <a:tab pos="449580" algn="l"/>
              </a:tabLst>
            </a:pPr>
            <a:r>
              <a:rPr lang="it-IT" sz="1600" dirty="0"/>
              <a:t>Assegna alla variabile </a:t>
            </a:r>
            <a:r>
              <a:rPr lang="it-IT" sz="1600" dirty="0" err="1"/>
              <a:t>this.score</a:t>
            </a:r>
            <a:r>
              <a:rPr lang="it-IT" sz="1600" dirty="0"/>
              <a:t> il valore 0</a:t>
            </a:r>
          </a:p>
        </p:txBody>
      </p:sp>
    </p:spTree>
    <p:extLst>
      <p:ext uri="{BB962C8B-B14F-4D97-AF65-F5344CB8AC3E}">
        <p14:creationId xmlns:p14="http://schemas.microsoft.com/office/powerpoint/2010/main" val="183655859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2601788" y="4592553"/>
            <a:ext cx="7385239" cy="369332"/>
          </a:xfrm>
          <a:prstGeom prst="rect">
            <a:avLst/>
          </a:prstGeom>
          <a:solidFill>
            <a:srgbClr val="FFC000"/>
          </a:solidFill>
        </p:spPr>
        <p:txBody>
          <a:bodyPr wrap="square">
            <a:spAutoFit/>
          </a:bodyPr>
          <a:lstStyle/>
          <a:p>
            <a:pPr algn="l"/>
            <a:r>
              <a:rPr lang="it-IT" sz="1800" b="0" i="0" dirty="0">
                <a:solidFill>
                  <a:srgbClr val="374151"/>
                </a:solidFill>
                <a:effectLst/>
                <a:latin typeface="Söhne"/>
              </a:rPr>
              <a:t>NOTA BENE: tutti e tre i file sono stati raggruppati nel package </a:t>
            </a:r>
            <a:r>
              <a:rPr lang="it-IT" sz="1800" b="1" i="0" dirty="0" err="1">
                <a:solidFill>
                  <a:srgbClr val="374151"/>
                </a:solidFill>
                <a:effectLst/>
                <a:latin typeface="Söhne"/>
              </a:rPr>
              <a:t>GuessingGame</a:t>
            </a:r>
            <a:endParaRPr lang="it-IT" sz="1800" b="1"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2676705" y="3620038"/>
            <a:ext cx="7235406" cy="400110"/>
          </a:xfrm>
          <a:prstGeom prst="rect">
            <a:avLst/>
          </a:prstGeom>
          <a:solidFill>
            <a:schemeClr val="tx1">
              <a:lumMod val="75000"/>
              <a:lumOff val="25000"/>
            </a:schemeClr>
          </a:solidFill>
        </p:spPr>
        <p:txBody>
          <a:bodyPr wrap="square">
            <a:spAutoFit/>
          </a:bodyPr>
          <a:lstStyle/>
          <a:p>
            <a:r>
              <a:rPr lang="en-US" sz="1000" b="0" dirty="0">
                <a:solidFill>
                  <a:srgbClr val="569CD6"/>
                </a:solidFill>
                <a:effectLst/>
                <a:latin typeface="Consolas" panose="020B0609020204030204" pitchFamily="49" charset="0"/>
              </a:rPr>
              <a:t>package</a:t>
            </a:r>
            <a:r>
              <a:rPr lang="en-US" sz="1000" b="0" dirty="0">
                <a:solidFill>
                  <a:srgbClr val="D4D4D4"/>
                </a:solidFill>
                <a:effectLst/>
                <a:latin typeface="Consolas" panose="020B0609020204030204" pitchFamily="49" charset="0"/>
              </a:rPr>
              <a:t> </a:t>
            </a:r>
            <a:r>
              <a:rPr lang="en-US" sz="1000" b="0" dirty="0" err="1">
                <a:solidFill>
                  <a:srgbClr val="D4D4D4"/>
                </a:solidFill>
                <a:effectLst/>
                <a:latin typeface="Consolas" panose="020B0609020204030204" pitchFamily="49" charset="0"/>
              </a:rPr>
              <a:t>GuessingGame</a:t>
            </a:r>
            <a:r>
              <a:rPr lang="en-US" sz="1000" b="0" dirty="0">
                <a:solidFill>
                  <a:srgbClr val="569CD6"/>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r>
              <a:rPr lang="en-US" sz="1000" b="0" dirty="0">
                <a:solidFill>
                  <a:srgbClr val="D4D4D4"/>
                </a:solidFill>
                <a:effectLst/>
                <a:latin typeface="Consolas" panose="020B0609020204030204" pitchFamily="49" charset="0"/>
              </a:rPr>
              <a:t>...</a:t>
            </a:r>
          </a:p>
        </p:txBody>
      </p:sp>
      <p:sp>
        <p:nvSpPr>
          <p:cNvPr id="2" name="CasellaDiTesto 1">
            <a:extLst>
              <a:ext uri="{FF2B5EF4-FFF2-40B4-BE49-F238E27FC236}">
                <a16:creationId xmlns:a16="http://schemas.microsoft.com/office/drawing/2014/main" id="{65A84C1C-A1EC-8E94-77F6-634002DB4B77}"/>
              </a:ext>
            </a:extLst>
          </p:cNvPr>
          <p:cNvSpPr txBox="1"/>
          <p:nvPr/>
        </p:nvSpPr>
        <p:spPr>
          <a:xfrm>
            <a:off x="2676705" y="3110622"/>
            <a:ext cx="7235406" cy="400110"/>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76C74D43-47C4-4A29-2416-FB5C1E1B99D7}"/>
              </a:ext>
            </a:extLst>
          </p:cNvPr>
          <p:cNvSpPr txBox="1"/>
          <p:nvPr/>
        </p:nvSpPr>
        <p:spPr>
          <a:xfrm>
            <a:off x="2676705" y="2541235"/>
            <a:ext cx="7235406" cy="400110"/>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a:t>
            </a:r>
          </a:p>
        </p:txBody>
      </p:sp>
      <p:sp>
        <p:nvSpPr>
          <p:cNvPr id="9" name="CasellaDiTesto 8">
            <a:extLst>
              <a:ext uri="{FF2B5EF4-FFF2-40B4-BE49-F238E27FC236}">
                <a16:creationId xmlns:a16="http://schemas.microsoft.com/office/drawing/2014/main" id="{35F29F00-EAE3-779B-B010-CA3A9567DF05}"/>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90453660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Approfondimento sui package</a:t>
            </a:r>
            <a:endParaRPr lang="it-IT" b="1" dirty="0"/>
          </a:p>
        </p:txBody>
      </p:sp>
      <p:sp>
        <p:nvSpPr>
          <p:cNvPr id="7" name="CasellaDiTesto 6">
            <a:extLst>
              <a:ext uri="{FF2B5EF4-FFF2-40B4-BE49-F238E27FC236}">
                <a16:creationId xmlns:a16="http://schemas.microsoft.com/office/drawing/2014/main" id="{5707FE7E-7A1F-50EE-5C27-1EB5531E706B}"/>
              </a:ext>
            </a:extLst>
          </p:cNvPr>
          <p:cNvSpPr txBox="1"/>
          <p:nvPr/>
        </p:nvSpPr>
        <p:spPr>
          <a:xfrm>
            <a:off x="2601788" y="4592553"/>
            <a:ext cx="7385239" cy="1200329"/>
          </a:xfrm>
          <a:prstGeom prst="rect">
            <a:avLst/>
          </a:prstGeom>
          <a:solidFill>
            <a:srgbClr val="FFC000"/>
          </a:solidFill>
        </p:spPr>
        <p:txBody>
          <a:bodyPr wrap="square">
            <a:spAutoFit/>
          </a:bodyPr>
          <a:lstStyle/>
          <a:p>
            <a:pPr algn="l"/>
            <a:r>
              <a:rPr lang="it-IT" sz="1800" b="0" i="0" dirty="0">
                <a:solidFill>
                  <a:srgbClr val="374151"/>
                </a:solidFill>
                <a:effectLst/>
                <a:latin typeface="Söhne"/>
              </a:rPr>
              <a:t>NOTA BENE: tutti e tre i file sono stati raggruppati nel package </a:t>
            </a:r>
            <a:r>
              <a:rPr lang="it-IT" sz="1800" b="1" i="0" dirty="0" err="1">
                <a:solidFill>
                  <a:srgbClr val="374151"/>
                </a:solidFill>
                <a:effectLst/>
                <a:latin typeface="Söhne"/>
              </a:rPr>
              <a:t>GuessingGame</a:t>
            </a:r>
            <a:endParaRPr lang="it-IT" sz="1800" b="1" i="0" dirty="0">
              <a:solidFill>
                <a:srgbClr val="374151"/>
              </a:solidFill>
              <a:effectLst/>
              <a:latin typeface="Söhne"/>
            </a:endParaRPr>
          </a:p>
          <a:p>
            <a:pPr algn="l"/>
            <a:r>
              <a:rPr lang="it-IT" dirty="0">
                <a:solidFill>
                  <a:srgbClr val="374151"/>
                </a:solidFill>
                <a:latin typeface="Söhne"/>
              </a:rPr>
              <a:t>Tutti e tre i file vanno posti sotto una cartella chiamata </a:t>
            </a:r>
            <a:r>
              <a:rPr lang="it-IT" sz="1800" b="1" i="0" dirty="0" err="1">
                <a:solidFill>
                  <a:srgbClr val="374151"/>
                </a:solidFill>
                <a:effectLst/>
                <a:latin typeface="Söhne"/>
              </a:rPr>
              <a:t>GuessingGame</a:t>
            </a:r>
            <a:endParaRPr lang="it-IT" sz="1800" b="1" i="0" dirty="0">
              <a:solidFill>
                <a:srgbClr val="374151"/>
              </a:solidFill>
              <a:effectLst/>
              <a:latin typeface="Söhne"/>
            </a:endParaRPr>
          </a:p>
          <a:p>
            <a:pPr algn="l"/>
            <a:r>
              <a:rPr lang="it-IT" dirty="0">
                <a:solidFill>
                  <a:srgbClr val="374151"/>
                </a:solidFill>
                <a:latin typeface="Söhne"/>
              </a:rPr>
              <a:t>ed importati da quelle classi fuori dal package che vogliono usarle con</a:t>
            </a:r>
            <a:br>
              <a:rPr lang="it-IT" dirty="0">
                <a:solidFill>
                  <a:srgbClr val="374151"/>
                </a:solidFill>
                <a:latin typeface="Söhne"/>
              </a:rPr>
            </a:br>
            <a:r>
              <a:rPr lang="it-IT" dirty="0">
                <a:solidFill>
                  <a:srgbClr val="374151"/>
                </a:solidFill>
                <a:latin typeface="Söhne"/>
              </a:rPr>
              <a:t> </a:t>
            </a:r>
            <a:r>
              <a:rPr lang="it-IT" b="1" dirty="0">
                <a:solidFill>
                  <a:srgbClr val="374151"/>
                </a:solidFill>
                <a:latin typeface="Söhne"/>
              </a:rPr>
              <a:t>import</a:t>
            </a:r>
            <a:r>
              <a:rPr lang="it-IT" dirty="0">
                <a:solidFill>
                  <a:srgbClr val="374151"/>
                </a:solidFill>
                <a:latin typeface="Söhne"/>
              </a:rPr>
              <a:t> </a:t>
            </a:r>
            <a:r>
              <a:rPr lang="it-IT" sz="1800" b="1" i="0" dirty="0" err="1">
                <a:solidFill>
                  <a:srgbClr val="374151"/>
                </a:solidFill>
                <a:effectLst/>
                <a:latin typeface="Söhne"/>
              </a:rPr>
              <a:t>GuessingGame.</a:t>
            </a:r>
            <a:r>
              <a:rPr lang="it-IT" sz="1800" b="1" i="0" dirty="0" err="1">
                <a:solidFill>
                  <a:srgbClr val="374151"/>
                </a:solidFill>
                <a:effectLst/>
                <a:highlight>
                  <a:srgbClr val="00FF00"/>
                </a:highlight>
                <a:latin typeface="Söhne"/>
              </a:rPr>
              <a:t>nomefile</a:t>
            </a:r>
            <a:r>
              <a:rPr lang="it-IT" sz="1800" i="0" dirty="0">
                <a:solidFill>
                  <a:srgbClr val="374151"/>
                </a:solidFill>
                <a:effectLst/>
                <a:latin typeface="Söhne"/>
              </a:rPr>
              <a:t>, od in blocco con </a:t>
            </a:r>
            <a:r>
              <a:rPr lang="it-IT" sz="1800" b="1" i="0" dirty="0">
                <a:solidFill>
                  <a:srgbClr val="374151"/>
                </a:solidFill>
                <a:effectLst/>
                <a:latin typeface="Söhne"/>
              </a:rPr>
              <a:t>import GuessingGame.*</a:t>
            </a:r>
            <a:endParaRPr lang="it-IT" sz="1800" i="0" dirty="0">
              <a:solidFill>
                <a:srgbClr val="374151"/>
              </a:solidFill>
              <a:effectLst/>
              <a:latin typeface="Söhne"/>
            </a:endParaRPr>
          </a:p>
        </p:txBody>
      </p:sp>
      <p:sp>
        <p:nvSpPr>
          <p:cNvPr id="3" name="CasellaDiTesto 2">
            <a:extLst>
              <a:ext uri="{FF2B5EF4-FFF2-40B4-BE49-F238E27FC236}">
                <a16:creationId xmlns:a16="http://schemas.microsoft.com/office/drawing/2014/main" id="{F58A35AA-8DC9-9B24-1903-9A5692FA2924}"/>
              </a:ext>
            </a:extLst>
          </p:cNvPr>
          <p:cNvSpPr txBox="1"/>
          <p:nvPr/>
        </p:nvSpPr>
        <p:spPr>
          <a:xfrm>
            <a:off x="2676705" y="3620038"/>
            <a:ext cx="7235406" cy="400110"/>
          </a:xfrm>
          <a:prstGeom prst="rect">
            <a:avLst/>
          </a:prstGeom>
          <a:solidFill>
            <a:schemeClr val="tx1">
              <a:lumMod val="75000"/>
              <a:lumOff val="25000"/>
            </a:schemeClr>
          </a:solidFill>
        </p:spPr>
        <p:txBody>
          <a:bodyPr wrap="square">
            <a:spAutoFit/>
          </a:bodyPr>
          <a:lstStyle/>
          <a:p>
            <a:r>
              <a:rPr lang="en-US" sz="1000" b="0" dirty="0">
                <a:solidFill>
                  <a:srgbClr val="569CD6"/>
                </a:solidFill>
                <a:effectLst/>
                <a:latin typeface="Consolas" panose="020B0609020204030204" pitchFamily="49" charset="0"/>
              </a:rPr>
              <a:t>package</a:t>
            </a:r>
            <a:r>
              <a:rPr lang="en-US" sz="1000" b="0" dirty="0">
                <a:solidFill>
                  <a:srgbClr val="D4D4D4"/>
                </a:solidFill>
                <a:effectLst/>
                <a:latin typeface="Consolas" panose="020B0609020204030204" pitchFamily="49" charset="0"/>
              </a:rPr>
              <a:t> </a:t>
            </a:r>
            <a:r>
              <a:rPr lang="en-US" sz="1000" b="0" dirty="0" err="1">
                <a:solidFill>
                  <a:srgbClr val="D4D4D4"/>
                </a:solidFill>
                <a:effectLst/>
                <a:latin typeface="Consolas" panose="020B0609020204030204" pitchFamily="49" charset="0"/>
              </a:rPr>
              <a:t>GuessingGame</a:t>
            </a:r>
            <a:r>
              <a:rPr lang="en-US" sz="1000" b="0" dirty="0">
                <a:solidFill>
                  <a:srgbClr val="569CD6"/>
                </a:solidFill>
                <a:effectLst/>
                <a:latin typeface="Consolas" panose="020B0609020204030204" pitchFamily="49" charset="0"/>
              </a:rPr>
              <a:t>;</a:t>
            </a:r>
            <a:endParaRPr lang="en-US" sz="1000" b="0" dirty="0">
              <a:solidFill>
                <a:srgbClr val="D4D4D4"/>
              </a:solidFill>
              <a:effectLst/>
              <a:latin typeface="Consolas" panose="020B0609020204030204" pitchFamily="49" charset="0"/>
            </a:endParaRPr>
          </a:p>
          <a:p>
            <a:r>
              <a:rPr lang="en-US" sz="1000" b="0" dirty="0">
                <a:solidFill>
                  <a:srgbClr val="D4D4D4"/>
                </a:solidFill>
                <a:effectLst/>
                <a:latin typeface="Consolas" panose="020B0609020204030204" pitchFamily="49" charset="0"/>
              </a:rPr>
              <a:t>...</a:t>
            </a:r>
          </a:p>
        </p:txBody>
      </p:sp>
      <p:sp>
        <p:nvSpPr>
          <p:cNvPr id="2" name="CasellaDiTesto 1">
            <a:extLst>
              <a:ext uri="{FF2B5EF4-FFF2-40B4-BE49-F238E27FC236}">
                <a16:creationId xmlns:a16="http://schemas.microsoft.com/office/drawing/2014/main" id="{65A84C1C-A1EC-8E94-77F6-634002DB4B77}"/>
              </a:ext>
            </a:extLst>
          </p:cNvPr>
          <p:cNvSpPr txBox="1"/>
          <p:nvPr/>
        </p:nvSpPr>
        <p:spPr>
          <a:xfrm>
            <a:off x="2676705" y="3110622"/>
            <a:ext cx="7235406" cy="400110"/>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76C74D43-47C4-4A29-2416-FB5C1E1B99D7}"/>
              </a:ext>
            </a:extLst>
          </p:cNvPr>
          <p:cNvSpPr txBox="1"/>
          <p:nvPr/>
        </p:nvSpPr>
        <p:spPr>
          <a:xfrm>
            <a:off x="2676705" y="2541235"/>
            <a:ext cx="7235406" cy="400110"/>
          </a:xfrm>
          <a:prstGeom prst="rect">
            <a:avLst/>
          </a:prstGeom>
          <a:solidFill>
            <a:schemeClr val="tx1">
              <a:lumMod val="75000"/>
              <a:lumOff val="25000"/>
            </a:schemeClr>
          </a:solidFill>
        </p:spPr>
        <p:txBody>
          <a:bodyPr wrap="square">
            <a:spAutoFit/>
          </a:bodyPr>
          <a:lstStyle/>
          <a:p>
            <a:r>
              <a:rPr lang="it-IT" sz="1000" b="0" dirty="0">
                <a:solidFill>
                  <a:srgbClr val="569CD6"/>
                </a:solidFill>
                <a:effectLst/>
                <a:latin typeface="Consolas" panose="020B0609020204030204" pitchFamily="49" charset="0"/>
              </a:rPr>
              <a:t>package</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GuessingGame</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a:t>
            </a:r>
          </a:p>
        </p:txBody>
      </p:sp>
      <p:sp>
        <p:nvSpPr>
          <p:cNvPr id="9" name="CasellaDiTesto 8">
            <a:extLst>
              <a:ext uri="{FF2B5EF4-FFF2-40B4-BE49-F238E27FC236}">
                <a16:creationId xmlns:a16="http://schemas.microsoft.com/office/drawing/2014/main" id="{35F29F00-EAE3-779B-B010-CA3A9567DF05}"/>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Package</a:t>
            </a:r>
            <a:endParaRPr lang="it-IT" dirty="0"/>
          </a:p>
        </p:txBody>
      </p:sp>
    </p:spTree>
    <p:extLst>
      <p:ext uri="{BB962C8B-B14F-4D97-AF65-F5344CB8AC3E}">
        <p14:creationId xmlns:p14="http://schemas.microsoft.com/office/powerpoint/2010/main" val="215326233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140</Slides>
  <Notes>0</Notes>
  <HiddenSlides>0</HiddenSlides>
  <MMClips>0</MMClips>
  <ScaleCrop>false</ScaleCrop>
  <HeadingPairs>
    <vt:vector size="4" baseType="variant">
      <vt:variant>
        <vt:lpstr>Tema</vt:lpstr>
      </vt:variant>
      <vt:variant>
        <vt:i4>2</vt:i4>
      </vt:variant>
      <vt:variant>
        <vt:lpstr>Titoli diapositive</vt:lpstr>
      </vt:variant>
      <vt:variant>
        <vt:i4>140</vt:i4>
      </vt:variant>
    </vt:vector>
  </HeadingPairs>
  <TitlesOfParts>
    <vt:vector size="142" baseType="lpstr">
      <vt:lpstr>Tema di Office</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
  <cp:lastModifiedBy>Vincenzo Piccolo</cp:lastModifiedBy>
  <cp:revision>26</cp:revision>
  <dcterms:created xsi:type="dcterms:W3CDTF">2023-08-23T12:51:20Z</dcterms:created>
  <dcterms:modified xsi:type="dcterms:W3CDTF">2026-03-30T12:14:36Z</dcterms:modified>
</cp:coreProperties>
</file>