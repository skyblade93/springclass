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sldIdLst>
    <p:sldId id="395" r:id="rId3"/>
    <p:sldId id="394" r:id="rId4"/>
    <p:sldId id="393" r:id="rId5"/>
    <p:sldId id="392" r:id="rId6"/>
    <p:sldId id="391" r:id="rId7"/>
    <p:sldId id="390" r:id="rId8"/>
    <p:sldId id="389" r:id="rId9"/>
    <p:sldId id="388" r:id="rId10"/>
    <p:sldId id="387" r:id="rId11"/>
    <p:sldId id="386" r:id="rId12"/>
    <p:sldId id="385" r:id="rId13"/>
    <p:sldId id="384" r:id="rId14"/>
    <p:sldId id="383" r:id="rId15"/>
    <p:sldId id="382" r:id="rId16"/>
    <p:sldId id="381" r:id="rId17"/>
    <p:sldId id="380" r:id="rId18"/>
    <p:sldId id="379" r:id="rId19"/>
    <p:sldId id="378" r:id="rId20"/>
    <p:sldId id="377" r:id="rId21"/>
    <p:sldId id="376" r:id="rId22"/>
    <p:sldId id="375" r:id="rId23"/>
    <p:sldId id="374" r:id="rId24"/>
    <p:sldId id="373" r:id="rId25"/>
    <p:sldId id="372" r:id="rId26"/>
    <p:sldId id="371" r:id="rId27"/>
    <p:sldId id="370" r:id="rId28"/>
    <p:sldId id="369" r:id="rId29"/>
    <p:sldId id="368" r:id="rId30"/>
    <p:sldId id="367" r:id="rId31"/>
    <p:sldId id="366" r:id="rId32"/>
    <p:sldId id="365" r:id="rId33"/>
    <p:sldId id="364" r:id="rId34"/>
    <p:sldId id="363" r:id="rId35"/>
    <p:sldId id="362" r:id="rId36"/>
    <p:sldId id="361" r:id="rId37"/>
    <p:sldId id="360" r:id="rId38"/>
    <p:sldId id="359" r:id="rId39"/>
    <p:sldId id="358" r:id="rId40"/>
    <p:sldId id="357" r:id="rId41"/>
    <p:sldId id="356" r:id="rId42"/>
    <p:sldId id="355" r:id="rId43"/>
    <p:sldId id="354" r:id="rId44"/>
    <p:sldId id="353" r:id="rId45"/>
    <p:sldId id="352" r:id="rId46"/>
    <p:sldId id="351" r:id="rId47"/>
    <p:sldId id="350" r:id="rId48"/>
    <p:sldId id="349" r:id="rId49"/>
    <p:sldId id="348" r:id="rId50"/>
    <p:sldId id="347" r:id="rId51"/>
    <p:sldId id="346" r:id="rId52"/>
    <p:sldId id="345" r:id="rId53"/>
    <p:sldId id="344" r:id="rId54"/>
    <p:sldId id="343" r:id="rId55"/>
    <p:sldId id="342" r:id="rId56"/>
    <p:sldId id="341" r:id="rId57"/>
    <p:sldId id="340" r:id="rId58"/>
    <p:sldId id="339" r:id="rId59"/>
    <p:sldId id="338" r:id="rId60"/>
    <p:sldId id="337" r:id="rId61"/>
    <p:sldId id="336" r:id="rId62"/>
    <p:sldId id="335" r:id="rId63"/>
    <p:sldId id="334" r:id="rId64"/>
    <p:sldId id="333" r:id="rId65"/>
    <p:sldId id="332" r:id="rId66"/>
    <p:sldId id="331" r:id="rId67"/>
    <p:sldId id="330" r:id="rId68"/>
    <p:sldId id="329" r:id="rId69"/>
    <p:sldId id="328" r:id="rId70"/>
    <p:sldId id="327" r:id="rId71"/>
    <p:sldId id="326" r:id="rId72"/>
    <p:sldId id="325" r:id="rId73"/>
    <p:sldId id="324" r:id="rId74"/>
    <p:sldId id="323" r:id="rId75"/>
    <p:sldId id="322" r:id="rId76"/>
    <p:sldId id="321" r:id="rId77"/>
    <p:sldId id="320" r:id="rId78"/>
    <p:sldId id="319" r:id="rId79"/>
    <p:sldId id="318" r:id="rId80"/>
    <p:sldId id="317" r:id="rId81"/>
    <p:sldId id="316" r:id="rId82"/>
    <p:sldId id="315" r:id="rId83"/>
    <p:sldId id="314" r:id="rId84"/>
    <p:sldId id="313" r:id="rId85"/>
    <p:sldId id="312" r:id="rId86"/>
    <p:sldId id="311" r:id="rId87"/>
    <p:sldId id="310" r:id="rId88"/>
    <p:sldId id="309" r:id="rId89"/>
    <p:sldId id="308" r:id="rId90"/>
    <p:sldId id="307" r:id="rId91"/>
    <p:sldId id="306" r:id="rId92"/>
    <p:sldId id="305" r:id="rId93"/>
    <p:sldId id="304" r:id="rId94"/>
    <p:sldId id="303" r:id="rId95"/>
    <p:sldId id="302" r:id="rId96"/>
    <p:sldId id="301" r:id="rId97"/>
    <p:sldId id="300" r:id="rId98"/>
    <p:sldId id="299" r:id="rId99"/>
    <p:sldId id="298" r:id="rId100"/>
    <p:sldId id="297" r:id="rId101"/>
    <p:sldId id="296" r:id="rId102"/>
    <p:sldId id="295" r:id="rId103"/>
    <p:sldId id="294" r:id="rId104"/>
    <p:sldId id="293" r:id="rId105"/>
    <p:sldId id="292" r:id="rId106"/>
    <p:sldId id="291" r:id="rId107"/>
    <p:sldId id="290" r:id="rId108"/>
    <p:sldId id="289" r:id="rId109"/>
    <p:sldId id="288" r:id="rId110"/>
    <p:sldId id="287" r:id="rId111"/>
    <p:sldId id="286" r:id="rId112"/>
    <p:sldId id="285" r:id="rId113"/>
    <p:sldId id="284" r:id="rId114"/>
    <p:sldId id="283" r:id="rId115"/>
    <p:sldId id="282" r:id="rId116"/>
    <p:sldId id="281" r:id="rId117"/>
    <p:sldId id="280" r:id="rId118"/>
    <p:sldId id="279" r:id="rId119"/>
    <p:sldId id="278" r:id="rId120"/>
    <p:sldId id="277" r:id="rId121"/>
    <p:sldId id="276" r:id="rId122"/>
    <p:sldId id="275" r:id="rId123"/>
    <p:sldId id="274" r:id="rId124"/>
    <p:sldId id="273" r:id="rId125"/>
    <p:sldId id="272" r:id="rId126"/>
    <p:sldId id="271" r:id="rId127"/>
    <p:sldId id="270" r:id="rId128"/>
    <p:sldId id="269" r:id="rId129"/>
    <p:sldId id="268" r:id="rId130"/>
    <p:sldId id="267" r:id="rId131"/>
    <p:sldId id="266" r:id="rId132"/>
    <p:sldId id="265" r:id="rId133"/>
    <p:sldId id="264" r:id="rId134"/>
    <p:sldId id="263" r:id="rId135"/>
    <p:sldId id="262" r:id="rId136"/>
    <p:sldId id="261" r:id="rId137"/>
    <p:sldId id="260" r:id="rId138"/>
    <p:sldId id="259" r:id="rId139"/>
    <p:sldId id="258" r:id="rId140"/>
    <p:sldId id="257" r:id="rId14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presProps" Target="pres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a:t>
            </a:r>
            <a:endParaRPr lang="de-DE"/>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27.03.2026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186192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27.03.2026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631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a:t>
            </a:r>
            <a:endParaRPr lang="de-DE"/>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F64A8E5F-40E5-4553-9F3C-699F1A5B8145}" type="datetimeFigureOut">
              <a:rPr lang="de-DE" smtClean="0"/>
              <a:t>27.03.2026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57739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sz="half" idx="1"/>
          </p:nvPr>
        </p:nvSpPr>
        <p:spPr>
          <a:xfrm>
            <a:off x="838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contenuto 3"/>
          <p:cNvSpPr>
            <a:spLocks noGrp="1"/>
          </p:cNvSpPr>
          <p:nvPr>
            <p:ph sz="half" idx="2"/>
          </p:nvPr>
        </p:nvSpPr>
        <p:spPr>
          <a:xfrm>
            <a:off x="6172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data 4"/>
          <p:cNvSpPr>
            <a:spLocks noGrp="1"/>
          </p:cNvSpPr>
          <p:nvPr>
            <p:ph type="dt" sz="half" idx="10"/>
          </p:nvPr>
        </p:nvSpPr>
        <p:spPr/>
        <p:txBody>
          <a:bodyPr/>
          <a:lstStyle/>
          <a:p>
            <a:fld id="{F64A8E5F-40E5-4553-9F3C-699F1A5B8145}" type="datetimeFigureOut">
              <a:rPr lang="de-DE" smtClean="0"/>
              <a:t>27.03.2026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84089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a:t>
            </a:r>
            <a:endParaRPr lang="de-DE"/>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7" name="Segnaposto data 6"/>
          <p:cNvSpPr>
            <a:spLocks noGrp="1"/>
          </p:cNvSpPr>
          <p:nvPr>
            <p:ph type="dt" sz="half" idx="10"/>
          </p:nvPr>
        </p:nvSpPr>
        <p:spPr/>
        <p:txBody>
          <a:bodyPr/>
          <a:lstStyle/>
          <a:p>
            <a:fld id="{F64A8E5F-40E5-4553-9F3C-699F1A5B8145}" type="datetimeFigureOut">
              <a:rPr lang="de-DE" smtClean="0"/>
              <a:t>27.03.2026</a:t>
            </a:fld>
            <a:endParaRPr lang="de-DE"/>
          </a:p>
        </p:txBody>
      </p:sp>
      <p:sp>
        <p:nvSpPr>
          <p:cNvPr id="8" name="Segnaposto piè di pagina 7"/>
          <p:cNvSpPr>
            <a:spLocks noGrp="1"/>
          </p:cNvSpPr>
          <p:nvPr>
            <p:ph type="ftr" sz="quarter" idx="11"/>
          </p:nvPr>
        </p:nvSpPr>
        <p:spPr/>
        <p:txBody>
          <a:bodyPr/>
          <a:lstStyle/>
          <a:p>
            <a:endParaRPr lang="de-DE"/>
          </a:p>
        </p:txBody>
      </p:sp>
      <p:sp>
        <p:nvSpPr>
          <p:cNvPr id="9" name="Segnaposto numero diapositiva 8"/>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747982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data 2"/>
          <p:cNvSpPr>
            <a:spLocks noGrp="1"/>
          </p:cNvSpPr>
          <p:nvPr>
            <p:ph type="dt" sz="half" idx="10"/>
          </p:nvPr>
        </p:nvSpPr>
        <p:spPr/>
        <p:txBody>
          <a:bodyPr/>
          <a:lstStyle/>
          <a:p>
            <a:fld id="{F64A8E5F-40E5-4553-9F3C-699F1A5B8145}" type="datetimeFigureOut">
              <a:rPr lang="de-DE" smtClean="0"/>
              <a:t>27.03.2026</a:t>
            </a:fld>
            <a:endParaRPr lang="de-DE"/>
          </a:p>
        </p:txBody>
      </p:sp>
      <p:sp>
        <p:nvSpPr>
          <p:cNvPr id="4" name="Segnaposto piè di pagina 3"/>
          <p:cNvSpPr>
            <a:spLocks noGrp="1"/>
          </p:cNvSpPr>
          <p:nvPr>
            <p:ph type="ftr" sz="quarter" idx="11"/>
          </p:nvPr>
        </p:nvSpPr>
        <p:spPr/>
        <p:txBody>
          <a:bodyPr/>
          <a:lstStyle/>
          <a:p>
            <a:endParaRPr lang="de-DE"/>
          </a:p>
        </p:txBody>
      </p:sp>
      <p:sp>
        <p:nvSpPr>
          <p:cNvPr id="5" name="Segnaposto numero diapositiva 4"/>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31782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F64A8E5F-40E5-4553-9F3C-699F1A5B8145}" type="datetimeFigureOut">
              <a:rPr lang="de-DE" smtClean="0"/>
              <a:t>27.03.2026</a:t>
            </a:fld>
            <a:endParaRPr lang="de-DE"/>
          </a:p>
        </p:txBody>
      </p:sp>
      <p:sp>
        <p:nvSpPr>
          <p:cNvPr id="3" name="Segnaposto piè di pagina 2"/>
          <p:cNvSpPr>
            <a:spLocks noGrp="1"/>
          </p:cNvSpPr>
          <p:nvPr>
            <p:ph type="ftr" sz="quarter" idx="11"/>
          </p:nvPr>
        </p:nvSpPr>
        <p:spPr/>
        <p:txBody>
          <a:bodyPr/>
          <a:lstStyle/>
          <a:p>
            <a:endParaRPr lang="de-DE"/>
          </a:p>
        </p:txBody>
      </p:sp>
      <p:sp>
        <p:nvSpPr>
          <p:cNvPr id="4" name="Segnaposto numero diapositiva 3"/>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89409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27.03.2026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36581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27.03.2026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68857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27.03.2026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42446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a:t>
            </a:r>
            <a:endParaRPr lang="de-DE"/>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27.03.2026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026842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411C66A-B0C1-7866-3D26-29AECA7A6CF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D7513622-0E25-D27C-B56E-5F02BBA3DF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37E2AB8D-2E87-1D80-7E8E-3DE87022B9A1}"/>
              </a:ext>
            </a:extLst>
          </p:cNvPr>
          <p:cNvSpPr>
            <a:spLocks noGrp="1"/>
          </p:cNvSpPr>
          <p:nvPr>
            <p:ph type="dt" sz="half" idx="10"/>
          </p:nvPr>
        </p:nvSpPr>
        <p:spPr/>
        <p:txBody>
          <a:bodyPr/>
          <a:lstStyle/>
          <a:p>
            <a:fld id="{734271AC-57B9-42F6-A82F-430D47D1FB54}" type="datetimeFigureOut">
              <a:rPr lang="it-IT" smtClean="0"/>
              <a:t>27/03/2026</a:t>
            </a:fld>
            <a:endParaRPr lang="it-IT"/>
          </a:p>
        </p:txBody>
      </p:sp>
      <p:sp>
        <p:nvSpPr>
          <p:cNvPr id="5" name="Segnaposto piè di pagina 4">
            <a:extLst>
              <a:ext uri="{FF2B5EF4-FFF2-40B4-BE49-F238E27FC236}">
                <a16:creationId xmlns:a16="http://schemas.microsoft.com/office/drawing/2014/main" id="{D62B23E6-7AFC-4519-0F56-4D06D921BBF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063B3F3-8769-6F7B-FEC4-E10F0FE31C83}"/>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717390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521C64-FA1E-8945-57BB-EBC9F3E1DD6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0CB6B06-E4BA-9CD5-43D5-284D5EDD0656}"/>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A5CF074-0183-72A1-EE86-ABF9592357C5}"/>
              </a:ext>
            </a:extLst>
          </p:cNvPr>
          <p:cNvSpPr>
            <a:spLocks noGrp="1"/>
          </p:cNvSpPr>
          <p:nvPr>
            <p:ph type="dt" sz="half" idx="10"/>
          </p:nvPr>
        </p:nvSpPr>
        <p:spPr/>
        <p:txBody>
          <a:bodyPr/>
          <a:lstStyle/>
          <a:p>
            <a:fld id="{734271AC-57B9-42F6-A82F-430D47D1FB54}" type="datetimeFigureOut">
              <a:rPr lang="it-IT" smtClean="0"/>
              <a:t>27/03/2026</a:t>
            </a:fld>
            <a:endParaRPr lang="it-IT"/>
          </a:p>
        </p:txBody>
      </p:sp>
      <p:sp>
        <p:nvSpPr>
          <p:cNvPr id="5" name="Segnaposto piè di pagina 4">
            <a:extLst>
              <a:ext uri="{FF2B5EF4-FFF2-40B4-BE49-F238E27FC236}">
                <a16:creationId xmlns:a16="http://schemas.microsoft.com/office/drawing/2014/main" id="{D9E18A0C-6FEE-0DF4-2E3A-F5D511F73FC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B3F2827-C529-23AA-BC3A-F718C734B0A2}"/>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290994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51AFE0-CE1F-1BBB-A8FE-5E1A6C7E5884}"/>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AF741322-2136-BE73-F3C9-0284E9DAF0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6BDD83E5-9853-A50D-DDB7-885BB5BF4BD2}"/>
              </a:ext>
            </a:extLst>
          </p:cNvPr>
          <p:cNvSpPr>
            <a:spLocks noGrp="1"/>
          </p:cNvSpPr>
          <p:nvPr>
            <p:ph type="dt" sz="half" idx="10"/>
          </p:nvPr>
        </p:nvSpPr>
        <p:spPr/>
        <p:txBody>
          <a:bodyPr/>
          <a:lstStyle/>
          <a:p>
            <a:fld id="{734271AC-57B9-42F6-A82F-430D47D1FB54}" type="datetimeFigureOut">
              <a:rPr lang="it-IT" smtClean="0"/>
              <a:t>27/03/2026</a:t>
            </a:fld>
            <a:endParaRPr lang="it-IT"/>
          </a:p>
        </p:txBody>
      </p:sp>
      <p:sp>
        <p:nvSpPr>
          <p:cNvPr id="5" name="Segnaposto piè di pagina 4">
            <a:extLst>
              <a:ext uri="{FF2B5EF4-FFF2-40B4-BE49-F238E27FC236}">
                <a16:creationId xmlns:a16="http://schemas.microsoft.com/office/drawing/2014/main" id="{4FAF9313-012B-2107-BDB1-0747BBFD9EA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A328B51-437C-79F8-8CFB-E006BB22D92C}"/>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190634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7C9E0E-AECB-76B4-49AE-55C0CA0D809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10DFC74-D8BF-9633-822B-5F67DF39F485}"/>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9FDC73C3-2A05-3BA7-ED76-8C3A440C64D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19BABA24-DFE1-C1D0-9FD3-E5DF735A66AB}"/>
              </a:ext>
            </a:extLst>
          </p:cNvPr>
          <p:cNvSpPr>
            <a:spLocks noGrp="1"/>
          </p:cNvSpPr>
          <p:nvPr>
            <p:ph type="dt" sz="half" idx="10"/>
          </p:nvPr>
        </p:nvSpPr>
        <p:spPr/>
        <p:txBody>
          <a:bodyPr/>
          <a:lstStyle/>
          <a:p>
            <a:fld id="{734271AC-57B9-42F6-A82F-430D47D1FB54}" type="datetimeFigureOut">
              <a:rPr lang="it-IT" smtClean="0"/>
              <a:t>27/03/2026</a:t>
            </a:fld>
            <a:endParaRPr lang="it-IT"/>
          </a:p>
        </p:txBody>
      </p:sp>
      <p:sp>
        <p:nvSpPr>
          <p:cNvPr id="6" name="Segnaposto piè di pagina 5">
            <a:extLst>
              <a:ext uri="{FF2B5EF4-FFF2-40B4-BE49-F238E27FC236}">
                <a16:creationId xmlns:a16="http://schemas.microsoft.com/office/drawing/2014/main" id="{3FBD9E49-CECE-11E5-EFC3-DDAF5BAF437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27BBD9B3-F778-65E1-B3FA-7CE80C14C04D}"/>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327516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FACB617-15AE-8FD2-B0E4-E7070FEA318E}"/>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4E19AF32-390E-819A-1ECC-D7674C2917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B382BC5-E1AD-497C-F3C2-9D4C28310B58}"/>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7652B836-AF71-CDB6-F5B1-C1E212BD54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F51442CC-FB1A-9FDF-6250-16AA25952014}"/>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D80F8DA9-22EC-0D6F-3B5B-177D038C6E51}"/>
              </a:ext>
            </a:extLst>
          </p:cNvPr>
          <p:cNvSpPr>
            <a:spLocks noGrp="1"/>
          </p:cNvSpPr>
          <p:nvPr>
            <p:ph type="dt" sz="half" idx="10"/>
          </p:nvPr>
        </p:nvSpPr>
        <p:spPr/>
        <p:txBody>
          <a:bodyPr/>
          <a:lstStyle/>
          <a:p>
            <a:fld id="{734271AC-57B9-42F6-A82F-430D47D1FB54}" type="datetimeFigureOut">
              <a:rPr lang="it-IT" smtClean="0"/>
              <a:t>27/03/2026</a:t>
            </a:fld>
            <a:endParaRPr lang="it-IT"/>
          </a:p>
        </p:txBody>
      </p:sp>
      <p:sp>
        <p:nvSpPr>
          <p:cNvPr id="8" name="Segnaposto piè di pagina 7">
            <a:extLst>
              <a:ext uri="{FF2B5EF4-FFF2-40B4-BE49-F238E27FC236}">
                <a16:creationId xmlns:a16="http://schemas.microsoft.com/office/drawing/2014/main" id="{B1F7D1D5-6548-F064-1853-A99AC1A5A955}"/>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DB1C4147-34A9-F254-CD97-8B0B0D46D8B6}"/>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574009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AB8F660-5FAB-0706-57FD-238F9379405F}"/>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37EF1B78-C137-31EE-411A-63CA9B68B399}"/>
              </a:ext>
            </a:extLst>
          </p:cNvPr>
          <p:cNvSpPr>
            <a:spLocks noGrp="1"/>
          </p:cNvSpPr>
          <p:nvPr>
            <p:ph type="dt" sz="half" idx="10"/>
          </p:nvPr>
        </p:nvSpPr>
        <p:spPr/>
        <p:txBody>
          <a:bodyPr/>
          <a:lstStyle/>
          <a:p>
            <a:fld id="{734271AC-57B9-42F6-A82F-430D47D1FB54}" type="datetimeFigureOut">
              <a:rPr lang="it-IT" smtClean="0"/>
              <a:t>27/03/2026</a:t>
            </a:fld>
            <a:endParaRPr lang="it-IT"/>
          </a:p>
        </p:txBody>
      </p:sp>
      <p:sp>
        <p:nvSpPr>
          <p:cNvPr id="4" name="Segnaposto piè di pagina 3">
            <a:extLst>
              <a:ext uri="{FF2B5EF4-FFF2-40B4-BE49-F238E27FC236}">
                <a16:creationId xmlns:a16="http://schemas.microsoft.com/office/drawing/2014/main" id="{D720C33A-D9F8-230E-80BC-6070D64DBCA4}"/>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2A75A252-4F7E-A574-BBD5-74949925ACCA}"/>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1152966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2D6BC536-F4B2-4D94-2664-04549F9E05C7}"/>
              </a:ext>
            </a:extLst>
          </p:cNvPr>
          <p:cNvSpPr>
            <a:spLocks noGrp="1"/>
          </p:cNvSpPr>
          <p:nvPr>
            <p:ph type="dt" sz="half" idx="10"/>
          </p:nvPr>
        </p:nvSpPr>
        <p:spPr/>
        <p:txBody>
          <a:bodyPr/>
          <a:lstStyle/>
          <a:p>
            <a:fld id="{734271AC-57B9-42F6-A82F-430D47D1FB54}" type="datetimeFigureOut">
              <a:rPr lang="it-IT" smtClean="0"/>
              <a:t>27/03/2026</a:t>
            </a:fld>
            <a:endParaRPr lang="it-IT"/>
          </a:p>
        </p:txBody>
      </p:sp>
      <p:sp>
        <p:nvSpPr>
          <p:cNvPr id="3" name="Segnaposto piè di pagina 2">
            <a:extLst>
              <a:ext uri="{FF2B5EF4-FFF2-40B4-BE49-F238E27FC236}">
                <a16:creationId xmlns:a16="http://schemas.microsoft.com/office/drawing/2014/main" id="{EA31F2EE-89F2-DD90-BB32-DCE5120D4C98}"/>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4FC5E6F0-EECD-8109-1050-8565F07B857F}"/>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40621023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385FD8-40B9-A7D3-9A94-AFB291AF8018}"/>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58B5F0B-1124-87FF-8AA1-C8DA6AF4F7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82A423BB-4ABB-EEB4-698A-0F64E9E7EF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AB0BC1E-CFE1-A594-B10A-A4217C7B8B93}"/>
              </a:ext>
            </a:extLst>
          </p:cNvPr>
          <p:cNvSpPr>
            <a:spLocks noGrp="1"/>
          </p:cNvSpPr>
          <p:nvPr>
            <p:ph type="dt" sz="half" idx="10"/>
          </p:nvPr>
        </p:nvSpPr>
        <p:spPr/>
        <p:txBody>
          <a:bodyPr/>
          <a:lstStyle/>
          <a:p>
            <a:fld id="{734271AC-57B9-42F6-A82F-430D47D1FB54}" type="datetimeFigureOut">
              <a:rPr lang="it-IT" smtClean="0"/>
              <a:t>27/03/2026</a:t>
            </a:fld>
            <a:endParaRPr lang="it-IT"/>
          </a:p>
        </p:txBody>
      </p:sp>
      <p:sp>
        <p:nvSpPr>
          <p:cNvPr id="6" name="Segnaposto piè di pagina 5">
            <a:extLst>
              <a:ext uri="{FF2B5EF4-FFF2-40B4-BE49-F238E27FC236}">
                <a16:creationId xmlns:a16="http://schemas.microsoft.com/office/drawing/2014/main" id="{E187E49F-C309-4CE2-0983-EC9545D596F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FB5A6BA-A572-8243-E1E5-45059927DE6A}"/>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1874868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D464F7-D228-FD5C-2FF0-6DC6C57473A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92E35FA-4ADB-04E9-A265-7A03C96AE3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C9B6AE28-8F09-9536-754B-E5A67D4FEA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9338B1BA-3048-6D75-DE88-45D778AB5A8E}"/>
              </a:ext>
            </a:extLst>
          </p:cNvPr>
          <p:cNvSpPr>
            <a:spLocks noGrp="1"/>
          </p:cNvSpPr>
          <p:nvPr>
            <p:ph type="dt" sz="half" idx="10"/>
          </p:nvPr>
        </p:nvSpPr>
        <p:spPr/>
        <p:txBody>
          <a:bodyPr/>
          <a:lstStyle/>
          <a:p>
            <a:fld id="{734271AC-57B9-42F6-A82F-430D47D1FB54}" type="datetimeFigureOut">
              <a:rPr lang="it-IT" smtClean="0"/>
              <a:t>27/03/2026</a:t>
            </a:fld>
            <a:endParaRPr lang="it-IT"/>
          </a:p>
        </p:txBody>
      </p:sp>
      <p:sp>
        <p:nvSpPr>
          <p:cNvPr id="6" name="Segnaposto piè di pagina 5">
            <a:extLst>
              <a:ext uri="{FF2B5EF4-FFF2-40B4-BE49-F238E27FC236}">
                <a16:creationId xmlns:a16="http://schemas.microsoft.com/office/drawing/2014/main" id="{9A8DA03E-2831-51FC-E3B4-1F2FABF2152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1DB1B3F-6E85-61CC-CA1A-FCA9E8222DCF}"/>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3048917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957F892-C827-07B1-CD90-33732AC5FCCB}"/>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AE4A31C-2935-1092-90D0-A666786B7639}"/>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71052BA-2199-CFA1-5130-310ACF2BDD20}"/>
              </a:ext>
            </a:extLst>
          </p:cNvPr>
          <p:cNvSpPr>
            <a:spLocks noGrp="1"/>
          </p:cNvSpPr>
          <p:nvPr>
            <p:ph type="dt" sz="half" idx="10"/>
          </p:nvPr>
        </p:nvSpPr>
        <p:spPr/>
        <p:txBody>
          <a:bodyPr/>
          <a:lstStyle/>
          <a:p>
            <a:fld id="{734271AC-57B9-42F6-A82F-430D47D1FB54}" type="datetimeFigureOut">
              <a:rPr lang="it-IT" smtClean="0"/>
              <a:t>27/03/2026</a:t>
            </a:fld>
            <a:endParaRPr lang="it-IT"/>
          </a:p>
        </p:txBody>
      </p:sp>
      <p:sp>
        <p:nvSpPr>
          <p:cNvPr id="5" name="Segnaposto piè di pagina 4">
            <a:extLst>
              <a:ext uri="{FF2B5EF4-FFF2-40B4-BE49-F238E27FC236}">
                <a16:creationId xmlns:a16="http://schemas.microsoft.com/office/drawing/2014/main" id="{1050635D-C1B0-8120-0835-CED8BEA0C8F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3FD6E55-EF4D-9828-E631-F28B200AFBB0}"/>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658302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6BF5F9E-C47B-428B-8A8E-B7622BF357AC}"/>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5479440-E149-2460-5D3F-E36BEF0D787D}"/>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7DAA5A2-B373-F6DA-51E6-235FDB47FE48}"/>
              </a:ext>
            </a:extLst>
          </p:cNvPr>
          <p:cNvSpPr>
            <a:spLocks noGrp="1"/>
          </p:cNvSpPr>
          <p:nvPr>
            <p:ph type="dt" sz="half" idx="10"/>
          </p:nvPr>
        </p:nvSpPr>
        <p:spPr/>
        <p:txBody>
          <a:bodyPr/>
          <a:lstStyle/>
          <a:p>
            <a:fld id="{734271AC-57B9-42F6-A82F-430D47D1FB54}" type="datetimeFigureOut">
              <a:rPr lang="it-IT" smtClean="0"/>
              <a:t>27/03/2026</a:t>
            </a:fld>
            <a:endParaRPr lang="it-IT"/>
          </a:p>
        </p:txBody>
      </p:sp>
      <p:sp>
        <p:nvSpPr>
          <p:cNvPr id="5" name="Segnaposto piè di pagina 4">
            <a:extLst>
              <a:ext uri="{FF2B5EF4-FFF2-40B4-BE49-F238E27FC236}">
                <a16:creationId xmlns:a16="http://schemas.microsoft.com/office/drawing/2014/main" id="{D322361F-5C91-3E41-62FD-1C2ED7A1BCD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AA796F5-AFC0-B29F-0C3D-0AF29CAD4168}"/>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576324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endParaRPr lang="de-DE"/>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4A8E5F-40E5-4553-9F3C-699F1A5B8145}" type="datetimeFigureOut">
              <a:rPr lang="de-DE" smtClean="0"/>
              <a:t>27.03.2026</a:t>
            </a:fld>
            <a:endParaRPr lang="de-DE"/>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D45B7-DFE2-4393-8D37-380FC36BF3AA}" type="slidenum">
              <a:rPr lang="de-DE" smtClean="0"/>
              <a:t>‹N›</a:t>
            </a:fld>
            <a:endParaRPr lang="de-DE"/>
          </a:p>
        </p:txBody>
      </p:sp>
    </p:spTree>
    <p:extLst>
      <p:ext uri="{BB962C8B-B14F-4D97-AF65-F5344CB8AC3E}">
        <p14:creationId xmlns:p14="http://schemas.microsoft.com/office/powerpoint/2010/main" val="1801931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CB31383-5659-2940-236C-F9346E91B4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67A1E06-4FB4-3F20-564F-4FA29D5A19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DBC1E01-19BC-CF30-A5B1-1974D7E586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4271AC-57B9-42F6-A82F-430D47D1FB54}" type="datetimeFigureOut">
              <a:rPr lang="it-IT" smtClean="0"/>
              <a:t>27/03/2026</a:t>
            </a:fld>
            <a:endParaRPr lang="it-IT"/>
          </a:p>
        </p:txBody>
      </p:sp>
      <p:sp>
        <p:nvSpPr>
          <p:cNvPr id="5" name="Segnaposto piè di pagina 4">
            <a:extLst>
              <a:ext uri="{FF2B5EF4-FFF2-40B4-BE49-F238E27FC236}">
                <a16:creationId xmlns:a16="http://schemas.microsoft.com/office/drawing/2014/main" id="{B91BCDDF-DD4D-D38B-E8DE-90714829F9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BD5B9393-E55B-8C2C-7636-1010066DE2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D7E2DB-F4FF-4776-8D08-CC7AA39C3F39}" type="slidenum">
              <a:rPr lang="it-IT" smtClean="0"/>
              <a:t>‹N›</a:t>
            </a:fld>
            <a:endParaRPr lang="it-IT"/>
          </a:p>
        </p:txBody>
      </p:sp>
    </p:spTree>
    <p:extLst>
      <p:ext uri="{BB962C8B-B14F-4D97-AF65-F5344CB8AC3E}">
        <p14:creationId xmlns:p14="http://schemas.microsoft.com/office/powerpoint/2010/main" val="424742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La gestione delle eccezioni</a:t>
            </a: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0015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8597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3775505" y="795647"/>
            <a:ext cx="6857150" cy="707886"/>
          </a:xfrm>
          <a:prstGeom prst="rect">
            <a:avLst/>
          </a:prstGeom>
          <a:noFill/>
        </p:spPr>
        <p:txBody>
          <a:bodyPr wrap="square">
            <a:spAutoFit/>
          </a:bodyPr>
          <a:lstStyle/>
          <a:p>
            <a:r>
              <a:rPr lang="it-IT" sz="2000" dirty="0"/>
              <a:t>Durante le operazioni di INPUT (acquisizione di dati dall’esterno) ed in altri casi anche è possibile che accadano eventi talvolta, </a:t>
            </a:r>
            <a:endParaRPr lang="it-IT" sz="1000" dirty="0"/>
          </a:p>
        </p:txBody>
      </p:sp>
      <p:sp>
        <p:nvSpPr>
          <p:cNvPr id="6" name="CasellaDiTesto 5">
            <a:extLst>
              <a:ext uri="{FF2B5EF4-FFF2-40B4-BE49-F238E27FC236}">
                <a16:creationId xmlns:a16="http://schemas.microsoft.com/office/drawing/2014/main" id="{DBFF058C-691B-BC9C-0009-6292771EC617}"/>
              </a:ext>
            </a:extLst>
          </p:cNvPr>
          <p:cNvSpPr txBox="1"/>
          <p:nvPr/>
        </p:nvSpPr>
        <p:spPr>
          <a:xfrm>
            <a:off x="282039" y="1550755"/>
            <a:ext cx="10350616" cy="369332"/>
          </a:xfrm>
          <a:prstGeom prst="rect">
            <a:avLst/>
          </a:prstGeom>
          <a:noFill/>
        </p:spPr>
        <p:txBody>
          <a:bodyPr wrap="square">
            <a:spAutoFit/>
          </a:bodyPr>
          <a:lstStyle/>
          <a:p>
            <a:r>
              <a:rPr lang="it-IT" sz="1800" dirty="0"/>
              <a:t>imprevisti, che possono alterare il normale flusso del programma.</a:t>
            </a:r>
          </a:p>
        </p:txBody>
      </p:sp>
    </p:spTree>
    <p:extLst>
      <p:ext uri="{BB962C8B-B14F-4D97-AF65-F5344CB8AC3E}">
        <p14:creationId xmlns:p14="http://schemas.microsoft.com/office/powerpoint/2010/main" val="230653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3775505" y="795647"/>
            <a:ext cx="6857150" cy="707886"/>
          </a:xfrm>
          <a:prstGeom prst="rect">
            <a:avLst/>
          </a:prstGeom>
          <a:noFill/>
        </p:spPr>
        <p:txBody>
          <a:bodyPr wrap="square">
            <a:spAutoFit/>
          </a:bodyPr>
          <a:lstStyle/>
          <a:p>
            <a:r>
              <a:rPr lang="it-IT" sz="2000" dirty="0"/>
              <a:t>Durante le operazioni di INPUT (acquisizione di dati dall’esterno) ed in altri casi anche è possibile che accadano eventi talvolta, </a:t>
            </a:r>
            <a:endParaRPr lang="it-IT" sz="1000" dirty="0"/>
          </a:p>
        </p:txBody>
      </p:sp>
      <p:sp>
        <p:nvSpPr>
          <p:cNvPr id="6" name="CasellaDiTesto 5">
            <a:extLst>
              <a:ext uri="{FF2B5EF4-FFF2-40B4-BE49-F238E27FC236}">
                <a16:creationId xmlns:a16="http://schemas.microsoft.com/office/drawing/2014/main" id="{DBFF058C-691B-BC9C-0009-6292771EC617}"/>
              </a:ext>
            </a:extLst>
          </p:cNvPr>
          <p:cNvSpPr txBox="1"/>
          <p:nvPr/>
        </p:nvSpPr>
        <p:spPr>
          <a:xfrm>
            <a:off x="282039" y="1550755"/>
            <a:ext cx="10350616" cy="923330"/>
          </a:xfrm>
          <a:prstGeom prst="rect">
            <a:avLst/>
          </a:prstGeom>
          <a:noFill/>
        </p:spPr>
        <p:txBody>
          <a:bodyPr wrap="square">
            <a:spAutoFit/>
          </a:bodyPr>
          <a:lstStyle/>
          <a:p>
            <a:r>
              <a:rPr lang="it-IT" sz="1800" dirty="0"/>
              <a:t>imprevisti, che possono alterare il normale flusso del programma.</a:t>
            </a:r>
          </a:p>
          <a:p>
            <a:r>
              <a:rPr lang="it-IT" sz="1800" dirty="0"/>
              <a:t>Supponiamo che si stia eseguendo un comando che attende l’inserimento in input di un valore numerico da parte dell’utente. Il valore deve essere acquisito in input ed inserito in una variabile di tipo </a:t>
            </a:r>
            <a:r>
              <a:rPr lang="it-IT" sz="1800" dirty="0" err="1"/>
              <a:t>int</a:t>
            </a:r>
            <a:r>
              <a:rPr lang="it-IT" sz="1800" dirty="0"/>
              <a:t>.</a:t>
            </a:r>
          </a:p>
        </p:txBody>
      </p:sp>
    </p:spTree>
    <p:extLst>
      <p:ext uri="{BB962C8B-B14F-4D97-AF65-F5344CB8AC3E}">
        <p14:creationId xmlns:p14="http://schemas.microsoft.com/office/powerpoint/2010/main" val="3915616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3775505" y="795647"/>
            <a:ext cx="6857150" cy="707886"/>
          </a:xfrm>
          <a:prstGeom prst="rect">
            <a:avLst/>
          </a:prstGeom>
          <a:noFill/>
        </p:spPr>
        <p:txBody>
          <a:bodyPr wrap="square">
            <a:spAutoFit/>
          </a:bodyPr>
          <a:lstStyle/>
          <a:p>
            <a:r>
              <a:rPr lang="it-IT" sz="2000" dirty="0"/>
              <a:t>Durante le operazioni di INPUT (acquisizione di dati dall’esterno) ed in altri casi anche è possibile che accadano eventi talvolta, </a:t>
            </a:r>
            <a:endParaRPr lang="it-IT" sz="1000" dirty="0"/>
          </a:p>
        </p:txBody>
      </p:sp>
      <p:sp>
        <p:nvSpPr>
          <p:cNvPr id="6" name="CasellaDiTesto 5">
            <a:extLst>
              <a:ext uri="{FF2B5EF4-FFF2-40B4-BE49-F238E27FC236}">
                <a16:creationId xmlns:a16="http://schemas.microsoft.com/office/drawing/2014/main" id="{DBFF058C-691B-BC9C-0009-6292771EC617}"/>
              </a:ext>
            </a:extLst>
          </p:cNvPr>
          <p:cNvSpPr txBox="1"/>
          <p:nvPr/>
        </p:nvSpPr>
        <p:spPr>
          <a:xfrm>
            <a:off x="282039" y="1550755"/>
            <a:ext cx="10350616" cy="2031325"/>
          </a:xfrm>
          <a:prstGeom prst="rect">
            <a:avLst/>
          </a:prstGeom>
          <a:noFill/>
        </p:spPr>
        <p:txBody>
          <a:bodyPr wrap="square">
            <a:spAutoFit/>
          </a:bodyPr>
          <a:lstStyle/>
          <a:p>
            <a:r>
              <a:rPr lang="it-IT" sz="1800" dirty="0"/>
              <a:t>imprevisti, che possono alterare il normale flusso del programma.</a:t>
            </a:r>
          </a:p>
          <a:p>
            <a:r>
              <a:rPr lang="it-IT" sz="1800" dirty="0"/>
              <a:t>Supponiamo che si stia eseguendo un comando che attende l’inserimento in input di un valore numerico da parte dell’utente. Il valore deve essere acquisito in input ed inserito in una variabile di tipo </a:t>
            </a:r>
            <a:r>
              <a:rPr lang="it-IT" sz="1800" dirty="0" err="1"/>
              <a:t>int</a:t>
            </a:r>
            <a:r>
              <a:rPr lang="it-IT" sz="1800" dirty="0"/>
              <a:t>.</a:t>
            </a:r>
          </a:p>
          <a:p>
            <a:r>
              <a:rPr lang="it-IT" dirty="0"/>
              <a:t>La variabile è predisposta per ricevere numeri e non altri tipi di dati e lo stesso metodo </a:t>
            </a:r>
            <a:r>
              <a:rPr lang="it-IT" dirty="0" err="1"/>
              <a:t>netxInt</a:t>
            </a:r>
            <a:r>
              <a:rPr lang="it-IT" dirty="0"/>
              <a:t>(), se usassimo questo metodo, od il metodo </a:t>
            </a:r>
            <a:r>
              <a:rPr lang="it-IT" dirty="0" err="1"/>
              <a:t>parseInt</a:t>
            </a:r>
            <a:r>
              <a:rPr lang="it-IT" dirty="0"/>
              <a:t>(), se avessimo prima recuperato i dati in formato stringa con </a:t>
            </a:r>
            <a:r>
              <a:rPr lang="it-IT" dirty="0" err="1"/>
              <a:t>nextLine</a:t>
            </a:r>
            <a:r>
              <a:rPr lang="it-IT" dirty="0"/>
              <a:t>(), si aspettano che il contenuto del valore da passare alla variabile siano compatibili con un numero intero.</a:t>
            </a:r>
            <a:endParaRPr lang="it-IT" sz="1800" dirty="0"/>
          </a:p>
        </p:txBody>
      </p:sp>
    </p:spTree>
    <p:extLst>
      <p:ext uri="{BB962C8B-B14F-4D97-AF65-F5344CB8AC3E}">
        <p14:creationId xmlns:p14="http://schemas.microsoft.com/office/powerpoint/2010/main" val="2760279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3775505" y="795647"/>
            <a:ext cx="6857150" cy="707886"/>
          </a:xfrm>
          <a:prstGeom prst="rect">
            <a:avLst/>
          </a:prstGeom>
          <a:noFill/>
        </p:spPr>
        <p:txBody>
          <a:bodyPr wrap="square">
            <a:spAutoFit/>
          </a:bodyPr>
          <a:lstStyle/>
          <a:p>
            <a:r>
              <a:rPr lang="it-IT" sz="2000" dirty="0"/>
              <a:t>Durante le operazioni di INPUT (acquisizione di dati dall’esterno) ed in altri casi anche è possibile che accadano eventi talvolta, </a:t>
            </a:r>
            <a:endParaRPr lang="it-IT" sz="1000" dirty="0"/>
          </a:p>
        </p:txBody>
      </p:sp>
      <p:sp>
        <p:nvSpPr>
          <p:cNvPr id="6" name="CasellaDiTesto 5">
            <a:extLst>
              <a:ext uri="{FF2B5EF4-FFF2-40B4-BE49-F238E27FC236}">
                <a16:creationId xmlns:a16="http://schemas.microsoft.com/office/drawing/2014/main" id="{DBFF058C-691B-BC9C-0009-6292771EC617}"/>
              </a:ext>
            </a:extLst>
          </p:cNvPr>
          <p:cNvSpPr txBox="1"/>
          <p:nvPr/>
        </p:nvSpPr>
        <p:spPr>
          <a:xfrm>
            <a:off x="282039" y="1550755"/>
            <a:ext cx="10350616" cy="2308324"/>
          </a:xfrm>
          <a:prstGeom prst="rect">
            <a:avLst/>
          </a:prstGeom>
          <a:noFill/>
        </p:spPr>
        <p:txBody>
          <a:bodyPr wrap="square">
            <a:spAutoFit/>
          </a:bodyPr>
          <a:lstStyle/>
          <a:p>
            <a:r>
              <a:rPr lang="it-IT" sz="1800" dirty="0"/>
              <a:t>imprevisti, che possono alterare il normale flusso del programma.</a:t>
            </a:r>
          </a:p>
          <a:p>
            <a:r>
              <a:rPr lang="it-IT" sz="1800" dirty="0"/>
              <a:t>Supponiamo che si stia eseguendo un comando che attende l’inserimento in input di un valore numerico da parte dell’utente. Il valore deve essere acquisito in input ed inserito in una variabile di tipo </a:t>
            </a:r>
            <a:r>
              <a:rPr lang="it-IT" sz="1800" dirty="0" err="1"/>
              <a:t>int</a:t>
            </a:r>
            <a:r>
              <a:rPr lang="it-IT" sz="1800" dirty="0"/>
              <a:t>.</a:t>
            </a:r>
          </a:p>
          <a:p>
            <a:r>
              <a:rPr lang="it-IT" dirty="0"/>
              <a:t>La variabile è predisposta per ricevere numeri e non altri tipi di dati e lo stesso metodo </a:t>
            </a:r>
            <a:r>
              <a:rPr lang="it-IT" dirty="0" err="1"/>
              <a:t>netxInt</a:t>
            </a:r>
            <a:r>
              <a:rPr lang="it-IT" dirty="0"/>
              <a:t>(), se usassimo questo metodo, od il metodo </a:t>
            </a:r>
            <a:r>
              <a:rPr lang="it-IT" dirty="0" err="1"/>
              <a:t>parseInt</a:t>
            </a:r>
            <a:r>
              <a:rPr lang="it-IT" dirty="0"/>
              <a:t>(), se avessimo prima recuperato i dati in formato stringa con </a:t>
            </a:r>
            <a:r>
              <a:rPr lang="it-IT" dirty="0" err="1"/>
              <a:t>nextLine</a:t>
            </a:r>
            <a:r>
              <a:rPr lang="it-IT" dirty="0"/>
              <a:t>(), si aspettano che il contenuto del valore da passare alla variabile siano compatibili con un numero intero. Ma l’utente, lo sappiamo, può commettere un errore (consapevole o meno).</a:t>
            </a:r>
          </a:p>
          <a:p>
            <a:r>
              <a:rPr lang="it-IT" sz="1800" dirty="0"/>
              <a:t>In tal caso cosa accadrebbe?</a:t>
            </a:r>
          </a:p>
        </p:txBody>
      </p:sp>
    </p:spTree>
    <p:extLst>
      <p:ext uri="{BB962C8B-B14F-4D97-AF65-F5344CB8AC3E}">
        <p14:creationId xmlns:p14="http://schemas.microsoft.com/office/powerpoint/2010/main" val="2432668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3775505" y="795647"/>
            <a:ext cx="6857150" cy="707886"/>
          </a:xfrm>
          <a:prstGeom prst="rect">
            <a:avLst/>
          </a:prstGeom>
          <a:noFill/>
        </p:spPr>
        <p:txBody>
          <a:bodyPr wrap="square">
            <a:spAutoFit/>
          </a:bodyPr>
          <a:lstStyle/>
          <a:p>
            <a:r>
              <a:rPr lang="it-IT" sz="2000" dirty="0"/>
              <a:t>Durante le operazioni di INPUT (acquisizione di dati dall’esterno) ed in altri casi anche è possibile che accadano eventi talvolta, </a:t>
            </a:r>
            <a:endParaRPr lang="it-IT" sz="1000" dirty="0"/>
          </a:p>
        </p:txBody>
      </p:sp>
      <p:sp>
        <p:nvSpPr>
          <p:cNvPr id="6" name="CasellaDiTesto 5">
            <a:extLst>
              <a:ext uri="{FF2B5EF4-FFF2-40B4-BE49-F238E27FC236}">
                <a16:creationId xmlns:a16="http://schemas.microsoft.com/office/drawing/2014/main" id="{DBFF058C-691B-BC9C-0009-6292771EC617}"/>
              </a:ext>
            </a:extLst>
          </p:cNvPr>
          <p:cNvSpPr txBox="1"/>
          <p:nvPr/>
        </p:nvSpPr>
        <p:spPr>
          <a:xfrm>
            <a:off x="282039" y="1550755"/>
            <a:ext cx="10350616" cy="2723823"/>
          </a:xfrm>
          <a:prstGeom prst="rect">
            <a:avLst/>
          </a:prstGeom>
          <a:noFill/>
        </p:spPr>
        <p:txBody>
          <a:bodyPr wrap="square">
            <a:spAutoFit/>
          </a:bodyPr>
          <a:lstStyle/>
          <a:p>
            <a:r>
              <a:rPr lang="it-IT" sz="1800" dirty="0"/>
              <a:t>imprevisti, che possono alterare il normale flusso del programma.</a:t>
            </a:r>
          </a:p>
          <a:p>
            <a:r>
              <a:rPr lang="it-IT" sz="1800" dirty="0"/>
              <a:t>Supponiamo che si stia eseguendo un comando che attende l’inserimento in input di un valore numerico da parte dell’utente. Il valore deve essere acquisito in input ed inserito in una variabile di tipo </a:t>
            </a:r>
            <a:r>
              <a:rPr lang="it-IT" sz="1800" dirty="0" err="1"/>
              <a:t>int</a:t>
            </a:r>
            <a:r>
              <a:rPr lang="it-IT" sz="1800" dirty="0"/>
              <a:t>.</a:t>
            </a:r>
          </a:p>
          <a:p>
            <a:r>
              <a:rPr lang="it-IT" dirty="0"/>
              <a:t>La variabile è predisposta per ricevere numeri e non altri tipi di dati e lo stesso metodo </a:t>
            </a:r>
            <a:r>
              <a:rPr lang="it-IT" dirty="0" err="1"/>
              <a:t>netxInt</a:t>
            </a:r>
            <a:r>
              <a:rPr lang="it-IT" dirty="0"/>
              <a:t>(), se usassimo questo metodo, od il metodo </a:t>
            </a:r>
            <a:r>
              <a:rPr lang="it-IT" dirty="0" err="1"/>
              <a:t>parseInt</a:t>
            </a:r>
            <a:r>
              <a:rPr lang="it-IT" dirty="0"/>
              <a:t>(), se avessimo prima recuperato i dati in formato stringa con </a:t>
            </a:r>
            <a:r>
              <a:rPr lang="it-IT" dirty="0" err="1"/>
              <a:t>nextLine</a:t>
            </a:r>
            <a:r>
              <a:rPr lang="it-IT" dirty="0"/>
              <a:t>(), si aspettano che il contenuto del valore da passare alla variabile siano compatibili con un numero intero. Ma l’utente, lo sappiamo, può commettere un errore (consapevole o meno).</a:t>
            </a:r>
          </a:p>
          <a:p>
            <a:r>
              <a:rPr lang="it-IT" sz="1800" dirty="0"/>
              <a:t>In tal caso cosa accadrebbe?</a:t>
            </a:r>
          </a:p>
          <a:p>
            <a:r>
              <a:rPr lang="it-IT" sz="1800" dirty="0"/>
              <a:t>Si genererebbe un errore e verrebbe interrotto il programma.</a:t>
            </a:r>
          </a:p>
          <a:p>
            <a:endParaRPr lang="it-IT" sz="900" dirty="0"/>
          </a:p>
        </p:txBody>
      </p:sp>
    </p:spTree>
    <p:extLst>
      <p:ext uri="{BB962C8B-B14F-4D97-AF65-F5344CB8AC3E}">
        <p14:creationId xmlns:p14="http://schemas.microsoft.com/office/powerpoint/2010/main" val="2602338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3775505" y="795647"/>
            <a:ext cx="6857150" cy="707886"/>
          </a:xfrm>
          <a:prstGeom prst="rect">
            <a:avLst/>
          </a:prstGeom>
          <a:noFill/>
        </p:spPr>
        <p:txBody>
          <a:bodyPr wrap="square">
            <a:spAutoFit/>
          </a:bodyPr>
          <a:lstStyle/>
          <a:p>
            <a:r>
              <a:rPr lang="it-IT" sz="2000" dirty="0"/>
              <a:t>Durante le operazioni di INPUT (acquisizione di dati dall’esterno) ed in altri casi anche è possibile che accadano eventi talvolta, </a:t>
            </a:r>
            <a:endParaRPr lang="it-IT" sz="1000" dirty="0"/>
          </a:p>
        </p:txBody>
      </p:sp>
      <p:sp>
        <p:nvSpPr>
          <p:cNvPr id="6" name="CasellaDiTesto 5">
            <a:extLst>
              <a:ext uri="{FF2B5EF4-FFF2-40B4-BE49-F238E27FC236}">
                <a16:creationId xmlns:a16="http://schemas.microsoft.com/office/drawing/2014/main" id="{DBFF058C-691B-BC9C-0009-6292771EC617}"/>
              </a:ext>
            </a:extLst>
          </p:cNvPr>
          <p:cNvSpPr txBox="1"/>
          <p:nvPr/>
        </p:nvSpPr>
        <p:spPr>
          <a:xfrm>
            <a:off x="282039" y="1550755"/>
            <a:ext cx="10350616" cy="2723823"/>
          </a:xfrm>
          <a:prstGeom prst="rect">
            <a:avLst/>
          </a:prstGeom>
          <a:noFill/>
        </p:spPr>
        <p:txBody>
          <a:bodyPr wrap="square">
            <a:spAutoFit/>
          </a:bodyPr>
          <a:lstStyle/>
          <a:p>
            <a:r>
              <a:rPr lang="it-IT" sz="1800" dirty="0"/>
              <a:t>imprevisti, che possono alterare il normale flusso del programma.</a:t>
            </a:r>
          </a:p>
          <a:p>
            <a:r>
              <a:rPr lang="it-IT" sz="1800" dirty="0"/>
              <a:t>Supponiamo che si stia eseguendo un comando che attende l’inserimento in input di un valore numerico da parte dell’utente. Il valore deve essere acquisito in input ed inserito in una variabile di tipo </a:t>
            </a:r>
            <a:r>
              <a:rPr lang="it-IT" sz="1800" dirty="0" err="1"/>
              <a:t>int</a:t>
            </a:r>
            <a:r>
              <a:rPr lang="it-IT" sz="1800" dirty="0"/>
              <a:t>.</a:t>
            </a:r>
          </a:p>
          <a:p>
            <a:r>
              <a:rPr lang="it-IT" dirty="0"/>
              <a:t>La variabile è predisposta per ricevere numeri e non altri tipi di dati e lo stesso metodo </a:t>
            </a:r>
            <a:r>
              <a:rPr lang="it-IT" dirty="0" err="1"/>
              <a:t>netxInt</a:t>
            </a:r>
            <a:r>
              <a:rPr lang="it-IT" dirty="0"/>
              <a:t>(), se usassimo questo metodo, od il metodo </a:t>
            </a:r>
            <a:r>
              <a:rPr lang="it-IT" dirty="0" err="1"/>
              <a:t>parseInt</a:t>
            </a:r>
            <a:r>
              <a:rPr lang="it-IT" dirty="0"/>
              <a:t>(), se avessimo prima recuperato i dati in formato stringa con </a:t>
            </a:r>
            <a:r>
              <a:rPr lang="it-IT" dirty="0" err="1"/>
              <a:t>nextLine</a:t>
            </a:r>
            <a:r>
              <a:rPr lang="it-IT" dirty="0"/>
              <a:t>(), si aspettano che il contenuto del valore da passare alla variabile siano compatibili con un numero intero. Ma l’utente, lo sappiamo, può commettere un errore (consapevole o meno).</a:t>
            </a:r>
          </a:p>
          <a:p>
            <a:r>
              <a:rPr lang="it-IT" sz="1800" dirty="0"/>
              <a:t>In tal caso cosa accadrebbe?</a:t>
            </a:r>
          </a:p>
          <a:p>
            <a:r>
              <a:rPr lang="it-IT" sz="1800" dirty="0"/>
              <a:t>Si genererebbe un errore e verrebbe interrotto il programma.</a:t>
            </a:r>
          </a:p>
          <a:p>
            <a:endParaRPr lang="it-IT" sz="900" dirty="0"/>
          </a:p>
        </p:txBody>
      </p:sp>
      <p:pic>
        <p:nvPicPr>
          <p:cNvPr id="12" name="Immagine 11">
            <a:extLst>
              <a:ext uri="{FF2B5EF4-FFF2-40B4-BE49-F238E27FC236}">
                <a16:creationId xmlns:a16="http://schemas.microsoft.com/office/drawing/2014/main" id="{29835494-5139-456B-4089-199BE7F09A31}"/>
              </a:ext>
            </a:extLst>
          </p:cNvPr>
          <p:cNvPicPr>
            <a:picLocks noChangeAspect="1"/>
          </p:cNvPicPr>
          <p:nvPr/>
        </p:nvPicPr>
        <p:blipFill>
          <a:blip r:embed="rId3"/>
          <a:stretch>
            <a:fillRect/>
          </a:stretch>
        </p:blipFill>
        <p:spPr>
          <a:xfrm>
            <a:off x="379822" y="4294974"/>
            <a:ext cx="7878274" cy="2095792"/>
          </a:xfrm>
          <a:prstGeom prst="rect">
            <a:avLst/>
          </a:prstGeom>
        </p:spPr>
      </p:pic>
    </p:spTree>
    <p:extLst>
      <p:ext uri="{BB962C8B-B14F-4D97-AF65-F5344CB8AC3E}">
        <p14:creationId xmlns:p14="http://schemas.microsoft.com/office/powerpoint/2010/main" val="4133441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2667425" y="2690336"/>
            <a:ext cx="6857150" cy="1477328"/>
          </a:xfrm>
          <a:prstGeom prst="rect">
            <a:avLst/>
          </a:prstGeom>
          <a:noFill/>
        </p:spPr>
        <p:txBody>
          <a:bodyPr wrap="square">
            <a:spAutoFit/>
          </a:bodyPr>
          <a:lstStyle/>
          <a:p>
            <a:r>
              <a:rPr lang="it-IT" sz="3000" dirty="0"/>
              <a:t>Indubbiamente è poco professionale lasciare che un programma si chiuda in modo brutale per un motivo così banale.</a:t>
            </a:r>
          </a:p>
        </p:txBody>
      </p:sp>
    </p:spTree>
    <p:extLst>
      <p:ext uri="{BB962C8B-B14F-4D97-AF65-F5344CB8AC3E}">
        <p14:creationId xmlns:p14="http://schemas.microsoft.com/office/powerpoint/2010/main" val="1346656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2667425" y="2228671"/>
            <a:ext cx="6857150" cy="2400657"/>
          </a:xfrm>
          <a:prstGeom prst="rect">
            <a:avLst/>
          </a:prstGeom>
          <a:noFill/>
        </p:spPr>
        <p:txBody>
          <a:bodyPr wrap="square">
            <a:spAutoFit/>
          </a:bodyPr>
          <a:lstStyle/>
          <a:p>
            <a:r>
              <a:rPr lang="it-IT" sz="3000" dirty="0"/>
              <a:t>Va considerato che sia altamente probabile che un simile errore accada facilmente, quindi va ridotto il rischio che un errore tanto semplicistico possa causare una interruzione brutale del nostro software.</a:t>
            </a:r>
          </a:p>
        </p:txBody>
      </p:sp>
    </p:spTree>
    <p:extLst>
      <p:ext uri="{BB962C8B-B14F-4D97-AF65-F5344CB8AC3E}">
        <p14:creationId xmlns:p14="http://schemas.microsoft.com/office/powerpoint/2010/main" val="1357439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2667425" y="2228671"/>
            <a:ext cx="6857150" cy="2554545"/>
          </a:xfrm>
          <a:prstGeom prst="rect">
            <a:avLst/>
          </a:prstGeom>
          <a:noFill/>
        </p:spPr>
        <p:txBody>
          <a:bodyPr wrap="square">
            <a:spAutoFit/>
          </a:bodyPr>
          <a:lstStyle/>
          <a:p>
            <a:r>
              <a:rPr lang="it-IT" sz="3200" dirty="0"/>
              <a:t>In generale, più che di errori si tende a parlare di eccezioni, ossia eventi imprevisti (come già detto) che possono influenzare il corretto comportamento del programma.</a:t>
            </a:r>
          </a:p>
        </p:txBody>
      </p:sp>
    </p:spTree>
    <p:extLst>
      <p:ext uri="{BB962C8B-B14F-4D97-AF65-F5344CB8AC3E}">
        <p14:creationId xmlns:p14="http://schemas.microsoft.com/office/powerpoint/2010/main" val="2726112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2667425" y="2228671"/>
            <a:ext cx="6857150" cy="3046988"/>
          </a:xfrm>
          <a:prstGeom prst="rect">
            <a:avLst/>
          </a:prstGeom>
          <a:noFill/>
        </p:spPr>
        <p:txBody>
          <a:bodyPr wrap="square">
            <a:spAutoFit/>
          </a:bodyPr>
          <a:lstStyle/>
          <a:p>
            <a:r>
              <a:rPr lang="it-IT" sz="3200" b="0" i="0" dirty="0">
                <a:solidFill>
                  <a:srgbClr val="050E17"/>
                </a:solidFill>
                <a:effectLst/>
                <a:latin typeface="-apple-system"/>
              </a:rPr>
              <a:t>La gestione degli errori è un'importante parte della programmazione che consiste nel prevedere e gestire eventuali errori o eccezioni che possono verificarsi durante l'esecuzione di un programma.</a:t>
            </a:r>
          </a:p>
        </p:txBody>
      </p:sp>
    </p:spTree>
    <p:extLst>
      <p:ext uri="{BB962C8B-B14F-4D97-AF65-F5344CB8AC3E}">
        <p14:creationId xmlns:p14="http://schemas.microsoft.com/office/powerpoint/2010/main" val="700379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2667425" y="2228671"/>
            <a:ext cx="6857150" cy="3046988"/>
          </a:xfrm>
          <a:prstGeom prst="rect">
            <a:avLst/>
          </a:prstGeom>
          <a:noFill/>
        </p:spPr>
        <p:txBody>
          <a:bodyPr wrap="square">
            <a:spAutoFit/>
          </a:bodyPr>
          <a:lstStyle/>
          <a:p>
            <a:pPr algn="l"/>
            <a:r>
              <a:rPr lang="it-IT" sz="3200" b="0" i="0" dirty="0">
                <a:solidFill>
                  <a:srgbClr val="050E17"/>
                </a:solidFill>
                <a:effectLst/>
                <a:latin typeface="-apple-system"/>
              </a:rPr>
              <a:t>In Java, le eccezioni sono segnalate da un'istanza di una classe che si chiama </a:t>
            </a:r>
            <a:r>
              <a:rPr lang="it-IT" sz="3200" b="0" i="0" dirty="0" err="1">
                <a:solidFill>
                  <a:srgbClr val="050E17"/>
                </a:solidFill>
                <a:effectLst/>
                <a:latin typeface="-apple-system"/>
              </a:rPr>
              <a:t>Exception</a:t>
            </a:r>
            <a:r>
              <a:rPr lang="it-IT" sz="3200" b="0" i="0" dirty="0">
                <a:solidFill>
                  <a:srgbClr val="050E17"/>
                </a:solidFill>
                <a:effectLst/>
                <a:latin typeface="-apple-system"/>
              </a:rPr>
              <a:t> o da delle classi che sono derivate da essa (cosa ch</a:t>
            </a:r>
            <a:r>
              <a:rPr lang="it-IT" sz="3200" dirty="0">
                <a:solidFill>
                  <a:srgbClr val="050E17"/>
                </a:solidFill>
                <a:latin typeface="-apple-system"/>
              </a:rPr>
              <a:t>e in gergo si dice estesa e che approfondiremo in seguito)</a:t>
            </a:r>
            <a:r>
              <a:rPr lang="it-IT" sz="3200" b="0" i="0" dirty="0">
                <a:solidFill>
                  <a:srgbClr val="050E17"/>
                </a:solidFill>
                <a:effectLst/>
                <a:latin typeface="-apple-system"/>
              </a:rPr>
              <a:t>. </a:t>
            </a:r>
          </a:p>
        </p:txBody>
      </p:sp>
    </p:spTree>
    <p:extLst>
      <p:ext uri="{BB962C8B-B14F-4D97-AF65-F5344CB8AC3E}">
        <p14:creationId xmlns:p14="http://schemas.microsoft.com/office/powerpoint/2010/main" val="3919627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2667425" y="2228671"/>
            <a:ext cx="6857150" cy="2554545"/>
          </a:xfrm>
          <a:prstGeom prst="rect">
            <a:avLst/>
          </a:prstGeom>
          <a:noFill/>
        </p:spPr>
        <p:txBody>
          <a:bodyPr wrap="square">
            <a:spAutoFit/>
          </a:bodyPr>
          <a:lstStyle/>
          <a:p>
            <a:pPr algn="l"/>
            <a:r>
              <a:rPr lang="it-IT" sz="3200" b="0" i="0" dirty="0">
                <a:solidFill>
                  <a:srgbClr val="050E17"/>
                </a:solidFill>
                <a:effectLst/>
                <a:latin typeface="-apple-system"/>
              </a:rPr>
              <a:t>Le eccezioni possono essere di diversi tipi, ed hanno nomi diversi (a seconda del tipo): </a:t>
            </a:r>
            <a:r>
              <a:rPr lang="it-IT" sz="3200" b="0" i="0" dirty="0" err="1">
                <a:solidFill>
                  <a:srgbClr val="050E17"/>
                </a:solidFill>
                <a:effectLst/>
                <a:latin typeface="-apple-system"/>
              </a:rPr>
              <a:t>NumberFormatException</a:t>
            </a:r>
            <a:r>
              <a:rPr lang="it-IT" sz="3200" b="0" i="0" dirty="0">
                <a:solidFill>
                  <a:srgbClr val="050E17"/>
                </a:solidFill>
                <a:effectLst/>
                <a:latin typeface="-apple-system"/>
              </a:rPr>
              <a:t>, </a:t>
            </a:r>
            <a:r>
              <a:rPr lang="it-IT" sz="3200" b="0" i="0" dirty="0" err="1">
                <a:solidFill>
                  <a:srgbClr val="050E17"/>
                </a:solidFill>
                <a:effectLst/>
                <a:latin typeface="-apple-system"/>
              </a:rPr>
              <a:t>InputMismatchException</a:t>
            </a:r>
            <a:r>
              <a:rPr lang="it-IT" sz="3200" b="0" i="0" dirty="0">
                <a:solidFill>
                  <a:srgbClr val="050E17"/>
                </a:solidFill>
                <a:effectLst/>
                <a:latin typeface="-apple-system"/>
              </a:rPr>
              <a:t>, </a:t>
            </a:r>
            <a:r>
              <a:rPr lang="it-IT" sz="3200" b="0" i="0" dirty="0" err="1">
                <a:solidFill>
                  <a:srgbClr val="050E17"/>
                </a:solidFill>
                <a:effectLst/>
                <a:latin typeface="-apple-system"/>
              </a:rPr>
              <a:t>IOException</a:t>
            </a:r>
            <a:r>
              <a:rPr lang="it-IT" sz="3200" b="0" i="0" dirty="0">
                <a:solidFill>
                  <a:srgbClr val="050E17"/>
                </a:solidFill>
                <a:effectLst/>
                <a:latin typeface="-apple-system"/>
              </a:rPr>
              <a:t>, e così via.</a:t>
            </a:r>
          </a:p>
        </p:txBody>
      </p:sp>
    </p:spTree>
    <p:extLst>
      <p:ext uri="{BB962C8B-B14F-4D97-AF65-F5344CB8AC3E}">
        <p14:creationId xmlns:p14="http://schemas.microsoft.com/office/powerpoint/2010/main" val="2373024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2667425" y="2228671"/>
            <a:ext cx="6857150" cy="3046988"/>
          </a:xfrm>
          <a:prstGeom prst="rect">
            <a:avLst/>
          </a:prstGeom>
          <a:noFill/>
        </p:spPr>
        <p:txBody>
          <a:bodyPr wrap="square">
            <a:spAutoFit/>
          </a:bodyPr>
          <a:lstStyle/>
          <a:p>
            <a:pPr algn="l"/>
            <a:r>
              <a:rPr lang="it-IT" sz="3200" dirty="0">
                <a:solidFill>
                  <a:srgbClr val="050E17"/>
                </a:solidFill>
                <a:latin typeface="-apple-system"/>
              </a:rPr>
              <a:t>Per ciascuna tipologia di eccezione/errore è stata realizzata una classe specifica (ossia esiste la classe </a:t>
            </a:r>
            <a:r>
              <a:rPr lang="it-IT" sz="3200" b="0" i="0" dirty="0" err="1">
                <a:solidFill>
                  <a:srgbClr val="050E17"/>
                </a:solidFill>
                <a:effectLst/>
                <a:latin typeface="-apple-system"/>
              </a:rPr>
              <a:t>NumberFormatException</a:t>
            </a:r>
            <a:r>
              <a:rPr lang="it-IT" sz="3200" b="0" i="0" dirty="0">
                <a:solidFill>
                  <a:srgbClr val="050E17"/>
                </a:solidFill>
                <a:effectLst/>
                <a:latin typeface="-apple-system"/>
              </a:rPr>
              <a:t>, la classe </a:t>
            </a:r>
            <a:r>
              <a:rPr lang="it-IT" sz="3200" b="0" i="0" dirty="0" err="1">
                <a:solidFill>
                  <a:srgbClr val="050E17"/>
                </a:solidFill>
                <a:effectLst/>
                <a:latin typeface="-apple-system"/>
              </a:rPr>
              <a:t>InputMismatchException</a:t>
            </a:r>
            <a:r>
              <a:rPr lang="it-IT" sz="3200" b="0" i="0" dirty="0">
                <a:solidFill>
                  <a:srgbClr val="050E17"/>
                </a:solidFill>
                <a:effectLst/>
                <a:latin typeface="-apple-system"/>
              </a:rPr>
              <a:t>, la classe </a:t>
            </a:r>
            <a:r>
              <a:rPr lang="it-IT" sz="3200" b="0" i="0" dirty="0" err="1">
                <a:solidFill>
                  <a:srgbClr val="050E17"/>
                </a:solidFill>
                <a:effectLst/>
                <a:latin typeface="-apple-system"/>
              </a:rPr>
              <a:t>IOException</a:t>
            </a:r>
            <a:r>
              <a:rPr lang="it-IT" sz="3200" b="0" i="0" dirty="0">
                <a:solidFill>
                  <a:srgbClr val="050E17"/>
                </a:solidFill>
                <a:effectLst/>
                <a:latin typeface="-apple-system"/>
              </a:rPr>
              <a:t>…</a:t>
            </a:r>
            <a:endParaRPr lang="it-IT" sz="3000" dirty="0"/>
          </a:p>
        </p:txBody>
      </p:sp>
    </p:spTree>
    <p:extLst>
      <p:ext uri="{BB962C8B-B14F-4D97-AF65-F5344CB8AC3E}">
        <p14:creationId xmlns:p14="http://schemas.microsoft.com/office/powerpoint/2010/main" val="3410170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2667425" y="2228671"/>
            <a:ext cx="6857150" cy="1569660"/>
          </a:xfrm>
          <a:prstGeom prst="rect">
            <a:avLst/>
          </a:prstGeom>
          <a:noFill/>
        </p:spPr>
        <p:txBody>
          <a:bodyPr wrap="square">
            <a:spAutoFit/>
          </a:bodyPr>
          <a:lstStyle/>
          <a:p>
            <a:pPr algn="l"/>
            <a:r>
              <a:rPr lang="it-IT" sz="3200" b="0" i="0" dirty="0">
                <a:solidFill>
                  <a:srgbClr val="050E17"/>
                </a:solidFill>
                <a:effectLst/>
                <a:latin typeface="-apple-system"/>
              </a:rPr>
              <a:t>e per i casi più generici, per i quali non esiste una classe specifica si può usare la classe </a:t>
            </a:r>
            <a:r>
              <a:rPr lang="it-IT" sz="3200" b="0" i="0" dirty="0" err="1">
                <a:solidFill>
                  <a:srgbClr val="050E17"/>
                </a:solidFill>
                <a:effectLst/>
                <a:latin typeface="-apple-system"/>
              </a:rPr>
              <a:t>Exception</a:t>
            </a:r>
            <a:r>
              <a:rPr lang="it-IT" sz="3200" b="0" i="0" dirty="0">
                <a:solidFill>
                  <a:srgbClr val="050E17"/>
                </a:solidFill>
                <a:effectLst/>
                <a:latin typeface="-apple-system"/>
              </a:rPr>
              <a:t>).</a:t>
            </a:r>
          </a:p>
        </p:txBody>
      </p:sp>
    </p:spTree>
    <p:extLst>
      <p:ext uri="{BB962C8B-B14F-4D97-AF65-F5344CB8AC3E}">
        <p14:creationId xmlns:p14="http://schemas.microsoft.com/office/powerpoint/2010/main" val="11825158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2667425" y="2228671"/>
            <a:ext cx="6857150" cy="3046988"/>
          </a:xfrm>
          <a:prstGeom prst="rect">
            <a:avLst/>
          </a:prstGeom>
          <a:noFill/>
        </p:spPr>
        <p:txBody>
          <a:bodyPr wrap="square">
            <a:spAutoFit/>
          </a:bodyPr>
          <a:lstStyle/>
          <a:p>
            <a:pPr algn="l"/>
            <a:r>
              <a:rPr lang="it-IT" sz="3200" b="0" i="0" dirty="0">
                <a:solidFill>
                  <a:srgbClr val="050E17"/>
                </a:solidFill>
                <a:effectLst/>
                <a:latin typeface="-apple-system"/>
              </a:rPr>
              <a:t>Quando si utilizza la classe Scanner per leggere l'input dell'utente, possono verificarsi diversi tipi di errori di input, ad esempio se l'utente inserisce un valore che non può essere convertito in un intero o in un double. </a:t>
            </a:r>
          </a:p>
        </p:txBody>
      </p:sp>
    </p:spTree>
    <p:extLst>
      <p:ext uri="{BB962C8B-B14F-4D97-AF65-F5344CB8AC3E}">
        <p14:creationId xmlns:p14="http://schemas.microsoft.com/office/powerpoint/2010/main" val="3917319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2667425" y="2228671"/>
            <a:ext cx="6857150" cy="2062103"/>
          </a:xfrm>
          <a:prstGeom prst="rect">
            <a:avLst/>
          </a:prstGeom>
          <a:noFill/>
        </p:spPr>
        <p:txBody>
          <a:bodyPr wrap="square">
            <a:spAutoFit/>
          </a:bodyPr>
          <a:lstStyle/>
          <a:p>
            <a:pPr algn="l"/>
            <a:r>
              <a:rPr lang="it-IT" sz="3200" b="0" i="0" dirty="0">
                <a:solidFill>
                  <a:srgbClr val="050E17"/>
                </a:solidFill>
                <a:effectLst/>
                <a:latin typeface="-apple-system"/>
              </a:rPr>
              <a:t>In questi casi, il programma può generare un'eccezione.</a:t>
            </a:r>
          </a:p>
          <a:p>
            <a:pPr algn="l"/>
            <a:r>
              <a:rPr lang="it-IT" sz="3200" b="0" i="0" dirty="0">
                <a:solidFill>
                  <a:srgbClr val="050E17"/>
                </a:solidFill>
                <a:effectLst/>
                <a:latin typeface="-apple-system"/>
              </a:rPr>
              <a:t>Per gestire queste eccezioni, si può utilizzare il costrutto </a:t>
            </a:r>
            <a:r>
              <a:rPr lang="it-IT" sz="3200" b="0" i="0" dirty="0" err="1">
                <a:solidFill>
                  <a:srgbClr val="050E17"/>
                </a:solidFill>
                <a:effectLst/>
                <a:latin typeface="-apple-system"/>
              </a:rPr>
              <a:t>try</a:t>
            </a:r>
            <a:r>
              <a:rPr lang="it-IT" sz="3200" b="0" i="0" dirty="0">
                <a:solidFill>
                  <a:srgbClr val="050E17"/>
                </a:solidFill>
                <a:effectLst/>
                <a:latin typeface="-apple-system"/>
              </a:rPr>
              <a:t>-catch. </a:t>
            </a:r>
            <a:endParaRPr lang="it-IT" sz="3000" dirty="0"/>
          </a:p>
        </p:txBody>
      </p:sp>
    </p:spTree>
    <p:extLst>
      <p:ext uri="{BB962C8B-B14F-4D97-AF65-F5344CB8AC3E}">
        <p14:creationId xmlns:p14="http://schemas.microsoft.com/office/powerpoint/2010/main" val="1367116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2667425" y="2228671"/>
            <a:ext cx="6857150" cy="2062103"/>
          </a:xfrm>
          <a:prstGeom prst="rect">
            <a:avLst/>
          </a:prstGeom>
          <a:noFill/>
        </p:spPr>
        <p:txBody>
          <a:bodyPr wrap="square">
            <a:spAutoFit/>
          </a:bodyPr>
          <a:lstStyle/>
          <a:p>
            <a:pPr algn="l"/>
            <a:r>
              <a:rPr lang="it-IT" sz="3200" b="0" i="0" dirty="0">
                <a:solidFill>
                  <a:srgbClr val="050E17"/>
                </a:solidFill>
                <a:effectLst/>
                <a:latin typeface="-apple-system"/>
              </a:rPr>
              <a:t>Il blocco </a:t>
            </a:r>
            <a:r>
              <a:rPr lang="it-IT" sz="3200" b="0" i="0" dirty="0" err="1">
                <a:solidFill>
                  <a:srgbClr val="050E17"/>
                </a:solidFill>
                <a:effectLst/>
                <a:latin typeface="-apple-system"/>
              </a:rPr>
              <a:t>try</a:t>
            </a:r>
            <a:r>
              <a:rPr lang="it-IT" sz="3200" b="0" i="0" dirty="0">
                <a:solidFill>
                  <a:srgbClr val="050E17"/>
                </a:solidFill>
                <a:effectLst/>
                <a:latin typeface="-apple-system"/>
              </a:rPr>
              <a:t> contiene il codice che potrebbe generare un'eccezione, mentre il blocco catch contiene il codice per gestire l'eccezione.</a:t>
            </a:r>
          </a:p>
        </p:txBody>
      </p:sp>
    </p:spTree>
    <p:extLst>
      <p:ext uri="{BB962C8B-B14F-4D97-AF65-F5344CB8AC3E}">
        <p14:creationId xmlns:p14="http://schemas.microsoft.com/office/powerpoint/2010/main" val="469970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3775505" y="874455"/>
            <a:ext cx="6857150" cy="1631216"/>
          </a:xfrm>
          <a:prstGeom prst="rect">
            <a:avLst/>
          </a:prstGeom>
          <a:noFill/>
        </p:spPr>
        <p:txBody>
          <a:bodyPr wrap="square">
            <a:spAutoFit/>
          </a:bodyPr>
          <a:lstStyle/>
          <a:p>
            <a:pPr algn="l"/>
            <a:r>
              <a:rPr lang="it-IT" sz="2500" b="0" i="0" dirty="0">
                <a:solidFill>
                  <a:srgbClr val="050E17"/>
                </a:solidFill>
                <a:effectLst/>
                <a:latin typeface="-apple-system"/>
              </a:rPr>
              <a:t>Ad esempio, il seguente codice utilizza il costrutto </a:t>
            </a:r>
            <a:r>
              <a:rPr lang="it-IT" sz="2500" b="0" i="0" dirty="0" err="1">
                <a:solidFill>
                  <a:srgbClr val="050E17"/>
                </a:solidFill>
                <a:effectLst/>
                <a:latin typeface="-apple-system"/>
              </a:rPr>
              <a:t>try</a:t>
            </a:r>
            <a:r>
              <a:rPr lang="it-IT" sz="2500" b="0" i="0" dirty="0">
                <a:solidFill>
                  <a:srgbClr val="050E17"/>
                </a:solidFill>
                <a:effectLst/>
                <a:latin typeface="-apple-system"/>
              </a:rPr>
              <a:t>-catch per gestire l'eccezione </a:t>
            </a:r>
            <a:r>
              <a:rPr lang="it-IT" sz="2500" b="0" i="0" dirty="0" err="1">
                <a:solidFill>
                  <a:srgbClr val="050E17"/>
                </a:solidFill>
                <a:effectLst/>
                <a:latin typeface="-apple-system"/>
              </a:rPr>
              <a:t>NumberFormatException</a:t>
            </a:r>
            <a:r>
              <a:rPr lang="it-IT" sz="2500" b="0" i="0" dirty="0">
                <a:solidFill>
                  <a:srgbClr val="050E17"/>
                </a:solidFill>
                <a:effectLst/>
                <a:latin typeface="-apple-system"/>
              </a:rPr>
              <a:t> che può verificarsi se l'utente inserisce un valore non valido:</a:t>
            </a:r>
            <a:endParaRPr lang="it-IT" sz="2500" dirty="0"/>
          </a:p>
        </p:txBody>
      </p:sp>
    </p:spTree>
    <p:extLst>
      <p:ext uri="{BB962C8B-B14F-4D97-AF65-F5344CB8AC3E}">
        <p14:creationId xmlns:p14="http://schemas.microsoft.com/office/powerpoint/2010/main" val="45000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3775505" y="874455"/>
            <a:ext cx="6857150" cy="1631216"/>
          </a:xfrm>
          <a:prstGeom prst="rect">
            <a:avLst/>
          </a:prstGeom>
          <a:noFill/>
        </p:spPr>
        <p:txBody>
          <a:bodyPr wrap="square">
            <a:spAutoFit/>
          </a:bodyPr>
          <a:lstStyle/>
          <a:p>
            <a:pPr algn="l"/>
            <a:r>
              <a:rPr lang="it-IT" sz="2500" b="0" i="0" dirty="0">
                <a:solidFill>
                  <a:srgbClr val="050E17"/>
                </a:solidFill>
                <a:effectLst/>
                <a:latin typeface="-apple-system"/>
              </a:rPr>
              <a:t>Ad esempio, il seguente codice utilizza il costrutto </a:t>
            </a:r>
            <a:r>
              <a:rPr lang="it-IT" sz="2500" b="0" i="0" dirty="0" err="1">
                <a:solidFill>
                  <a:srgbClr val="050E17"/>
                </a:solidFill>
                <a:effectLst/>
                <a:latin typeface="-apple-system"/>
              </a:rPr>
              <a:t>try</a:t>
            </a:r>
            <a:r>
              <a:rPr lang="it-IT" sz="2500" b="0" i="0" dirty="0">
                <a:solidFill>
                  <a:srgbClr val="050E17"/>
                </a:solidFill>
                <a:effectLst/>
                <a:latin typeface="-apple-system"/>
              </a:rPr>
              <a:t>-catch per gestire l'eccezione </a:t>
            </a:r>
            <a:r>
              <a:rPr lang="it-IT" sz="2500" b="0" i="0" dirty="0" err="1">
                <a:solidFill>
                  <a:srgbClr val="050E17"/>
                </a:solidFill>
                <a:effectLst/>
                <a:latin typeface="-apple-system"/>
              </a:rPr>
              <a:t>NumberFormatException</a:t>
            </a:r>
            <a:r>
              <a:rPr lang="it-IT" sz="2500" b="0" i="0" dirty="0">
                <a:solidFill>
                  <a:srgbClr val="050E17"/>
                </a:solidFill>
                <a:effectLst/>
                <a:latin typeface="-apple-system"/>
              </a:rPr>
              <a:t> che può verificarsi se l'utente inserisce un valore non valido:</a:t>
            </a:r>
            <a:endParaRPr lang="it-IT" sz="2500" dirty="0"/>
          </a:p>
        </p:txBody>
      </p:sp>
      <p:sp>
        <p:nvSpPr>
          <p:cNvPr id="5" name="CasellaDiTesto 4">
            <a:extLst>
              <a:ext uri="{FF2B5EF4-FFF2-40B4-BE49-F238E27FC236}">
                <a16:creationId xmlns:a16="http://schemas.microsoft.com/office/drawing/2014/main" id="{002F3D22-68F5-73AF-232A-00F844718C9E}"/>
              </a:ext>
            </a:extLst>
          </p:cNvPr>
          <p:cNvSpPr txBox="1"/>
          <p:nvPr/>
        </p:nvSpPr>
        <p:spPr>
          <a:xfrm>
            <a:off x="424544" y="2505671"/>
            <a:ext cx="11628910" cy="1980350"/>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import</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java.util.Scanner</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static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main(String[]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args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Scanner(System.in)</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"Inserisci un numero intero: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27498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3775505" y="874455"/>
            <a:ext cx="6857150" cy="1631216"/>
          </a:xfrm>
          <a:prstGeom prst="rect">
            <a:avLst/>
          </a:prstGeom>
          <a:noFill/>
        </p:spPr>
        <p:txBody>
          <a:bodyPr wrap="square">
            <a:spAutoFit/>
          </a:bodyPr>
          <a:lstStyle/>
          <a:p>
            <a:pPr algn="l"/>
            <a:r>
              <a:rPr lang="it-IT" sz="2500" b="0" i="0" dirty="0">
                <a:solidFill>
                  <a:srgbClr val="050E17"/>
                </a:solidFill>
                <a:effectLst/>
                <a:latin typeface="-apple-system"/>
              </a:rPr>
              <a:t>Ad esempio, il seguente codice utilizza il costrutto </a:t>
            </a:r>
            <a:r>
              <a:rPr lang="it-IT" sz="2500" b="0" i="0" dirty="0" err="1">
                <a:solidFill>
                  <a:srgbClr val="050E17"/>
                </a:solidFill>
                <a:effectLst/>
                <a:latin typeface="-apple-system"/>
              </a:rPr>
              <a:t>try</a:t>
            </a:r>
            <a:r>
              <a:rPr lang="it-IT" sz="2500" b="0" i="0" dirty="0">
                <a:solidFill>
                  <a:srgbClr val="050E17"/>
                </a:solidFill>
                <a:effectLst/>
                <a:latin typeface="-apple-system"/>
              </a:rPr>
              <a:t>-catch per gestire l'eccezione </a:t>
            </a:r>
            <a:r>
              <a:rPr lang="it-IT" sz="2500" b="0" i="0" dirty="0" err="1">
                <a:solidFill>
                  <a:srgbClr val="050E17"/>
                </a:solidFill>
                <a:effectLst/>
                <a:latin typeface="-apple-system"/>
              </a:rPr>
              <a:t>InputMismatchException</a:t>
            </a:r>
            <a:r>
              <a:rPr lang="it-IT" sz="2500" b="0" i="0" dirty="0">
                <a:solidFill>
                  <a:srgbClr val="050E17"/>
                </a:solidFill>
                <a:effectLst/>
                <a:latin typeface="-apple-system"/>
              </a:rPr>
              <a:t> che può verificarsi se l'utente inserisce un valore non valido:</a:t>
            </a:r>
            <a:endParaRPr lang="it-IT" sz="2500" dirty="0"/>
          </a:p>
        </p:txBody>
      </p:sp>
      <p:sp>
        <p:nvSpPr>
          <p:cNvPr id="5" name="CasellaDiTesto 4">
            <a:extLst>
              <a:ext uri="{FF2B5EF4-FFF2-40B4-BE49-F238E27FC236}">
                <a16:creationId xmlns:a16="http://schemas.microsoft.com/office/drawing/2014/main" id="{002F3D22-68F5-73AF-232A-00F844718C9E}"/>
              </a:ext>
            </a:extLst>
          </p:cNvPr>
          <p:cNvSpPr txBox="1"/>
          <p:nvPr/>
        </p:nvSpPr>
        <p:spPr>
          <a:xfrm>
            <a:off x="424544" y="2505671"/>
            <a:ext cx="11628910" cy="3554819"/>
          </a:xfrm>
          <a:prstGeom prst="rect">
            <a:avLst/>
          </a:prstGeom>
          <a:solidFill>
            <a:schemeClr val="tx1">
              <a:lumMod val="85000"/>
              <a:lumOff val="15000"/>
            </a:schemeClr>
          </a:solidFill>
        </p:spPr>
        <p:txBody>
          <a:bodyPr wrap="square">
            <a:spAutoFit/>
          </a:bodyPr>
          <a:lstStyle/>
          <a:p>
            <a:r>
              <a:rPr lang="it-IT" sz="1500" b="0" dirty="0">
                <a:solidFill>
                  <a:srgbClr val="569CD6"/>
                </a:solidFill>
                <a:effectLst/>
                <a:latin typeface="Consolas" panose="020B0609020204030204" pitchFamily="49" charset="0"/>
              </a:rPr>
              <a:t>import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java.util.InputMismatchException</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569CD6"/>
                </a:solidFill>
                <a:effectLst/>
                <a:latin typeface="Consolas" panose="020B0609020204030204" pitchFamily="49" charset="0"/>
              </a:rPr>
              <a:t>import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java.util.Scanner</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br>
              <a:rPr lang="it-IT" sz="1500" b="0" dirty="0">
                <a:solidFill>
                  <a:srgbClr val="D4D4D4"/>
                </a:solidFill>
                <a:effectLst/>
                <a:latin typeface="Consolas" panose="020B0609020204030204" pitchFamily="49" charset="0"/>
              </a:rPr>
            </a:b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MyClass</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static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main</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args</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Scanner </a:t>
            </a:r>
            <a:r>
              <a:rPr lang="it-IT" sz="1500" b="0" dirty="0" err="1">
                <a:solidFill>
                  <a:srgbClr val="D4D4D4"/>
                </a:solidFill>
                <a:effectLst/>
                <a:latin typeface="Consolas" panose="020B0609020204030204" pitchFamily="49" charset="0"/>
              </a:rPr>
              <a:t>myScanner</a:t>
            </a:r>
            <a:r>
              <a:rPr lang="it-IT" sz="1500" b="0" dirty="0">
                <a:solidFill>
                  <a:srgbClr val="D4D4D4"/>
                </a:solidFill>
                <a:effectLst/>
                <a:latin typeface="Consolas" panose="020B0609020204030204" pitchFamily="49" charset="0"/>
              </a:rPr>
              <a:t> = </a:t>
            </a:r>
            <a:r>
              <a:rPr lang="it-IT" sz="1500" b="0" dirty="0">
                <a:solidFill>
                  <a:srgbClr val="569CD6"/>
                </a:solidFill>
                <a:effectLst/>
                <a:latin typeface="Consolas" panose="020B0609020204030204" pitchFamily="49" charset="0"/>
              </a:rPr>
              <a:t>new</a:t>
            </a:r>
            <a:r>
              <a:rPr lang="it-IT" sz="1500" b="0" dirty="0">
                <a:solidFill>
                  <a:srgbClr val="D4D4D4"/>
                </a:solidFill>
                <a:effectLst/>
                <a:latin typeface="Consolas" panose="020B0609020204030204" pitchFamily="49" charset="0"/>
              </a:rPr>
              <a:t> Scanner(</a:t>
            </a:r>
            <a:r>
              <a:rPr lang="it-IT" sz="1500" b="0" dirty="0" err="1">
                <a:solidFill>
                  <a:srgbClr val="D4D4D4"/>
                </a:solidFill>
                <a:effectLst/>
                <a:latin typeface="Consolas" panose="020B0609020204030204" pitchFamily="49" charset="0"/>
              </a:rPr>
              <a:t>System.in</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System.out.println</a:t>
            </a:r>
            <a:r>
              <a:rPr lang="it-IT" sz="1500" b="0" dirty="0">
                <a:solidFill>
                  <a:srgbClr val="D4D4D4"/>
                </a:solidFill>
                <a:effectLst/>
                <a:latin typeface="Consolas" panose="020B0609020204030204" pitchFamily="49" charset="0"/>
              </a:rPr>
              <a:t>(</a:t>
            </a:r>
            <a:r>
              <a:rPr lang="it-IT" sz="1500" b="0" dirty="0">
                <a:solidFill>
                  <a:srgbClr val="CE9178"/>
                </a:solidFill>
                <a:effectLst/>
                <a:latin typeface="Consolas" panose="020B0609020204030204" pitchFamily="49" charset="0"/>
              </a:rPr>
              <a:t>"Inserisci un numero intero: "</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try</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numero = </a:t>
            </a:r>
            <a:r>
              <a:rPr lang="it-IT" sz="1500" b="0" dirty="0" err="1">
                <a:solidFill>
                  <a:srgbClr val="D4D4D4"/>
                </a:solidFill>
                <a:effectLst/>
                <a:latin typeface="Consolas" panose="020B0609020204030204" pitchFamily="49" charset="0"/>
              </a:rPr>
              <a:t>myScanner.nextInt</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r>
              <a:rPr lang="it-IT" sz="1500" b="0" dirty="0">
                <a:solidFill>
                  <a:srgbClr val="6A9955"/>
                </a:solidFill>
                <a:effectLst/>
                <a:latin typeface="Consolas" panose="020B0609020204030204" pitchFamily="49" charset="0"/>
              </a:rPr>
              <a:t>// Tenta di leggere un intero dall'input dell'utente</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System.out.println</a:t>
            </a:r>
            <a:r>
              <a:rPr lang="it-IT" sz="1500" b="0" dirty="0">
                <a:solidFill>
                  <a:srgbClr val="D4D4D4"/>
                </a:solidFill>
                <a:effectLst/>
                <a:latin typeface="Consolas" panose="020B0609020204030204" pitchFamily="49" charset="0"/>
              </a:rPr>
              <a:t>(</a:t>
            </a:r>
            <a:r>
              <a:rPr lang="it-IT" sz="1500" b="0" dirty="0">
                <a:solidFill>
                  <a:srgbClr val="CE9178"/>
                </a:solidFill>
                <a:effectLst/>
                <a:latin typeface="Consolas" panose="020B0609020204030204" pitchFamily="49" charset="0"/>
              </a:rPr>
              <a:t>"Il numero inserito è: "</a:t>
            </a:r>
            <a:r>
              <a:rPr lang="it-IT" sz="1500" b="0" dirty="0">
                <a:solidFill>
                  <a:srgbClr val="D4D4D4"/>
                </a:solidFill>
                <a:effectLst/>
                <a:latin typeface="Consolas" panose="020B0609020204030204" pitchFamily="49" charset="0"/>
              </a:rPr>
              <a:t> + numero)</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 </a:t>
            </a:r>
            <a:r>
              <a:rPr lang="it-IT" sz="1500" b="0" dirty="0">
                <a:solidFill>
                  <a:srgbClr val="569CD6"/>
                </a:solidFill>
                <a:effectLst/>
                <a:latin typeface="Consolas" panose="020B0609020204030204" pitchFamily="49" charset="0"/>
              </a:rPr>
              <a:t>catch</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InputMismatchException</a:t>
            </a:r>
            <a:r>
              <a:rPr lang="it-IT" sz="1500" b="0" dirty="0">
                <a:solidFill>
                  <a:srgbClr val="D4D4D4"/>
                </a:solidFill>
                <a:effectLst/>
                <a:latin typeface="Consolas" panose="020B0609020204030204" pitchFamily="49" charset="0"/>
              </a:rPr>
              <a:t> e)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System.out.println</a:t>
            </a:r>
            <a:r>
              <a:rPr lang="it-IT" sz="1500" b="0" dirty="0">
                <a:solidFill>
                  <a:srgbClr val="D4D4D4"/>
                </a:solidFill>
                <a:effectLst/>
                <a:latin typeface="Consolas" panose="020B0609020204030204" pitchFamily="49" charset="0"/>
              </a:rPr>
              <a:t>(</a:t>
            </a:r>
            <a:r>
              <a:rPr lang="it-IT" sz="1500" b="0" dirty="0">
                <a:solidFill>
                  <a:srgbClr val="CE9178"/>
                </a:solidFill>
                <a:effectLst/>
                <a:latin typeface="Consolas" panose="020B0609020204030204" pitchFamily="49" charset="0"/>
              </a:rPr>
              <a:t>"Input non valido"</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345358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3" name="CasellaDiTesto 2">
            <a:extLst>
              <a:ext uri="{FF2B5EF4-FFF2-40B4-BE49-F238E27FC236}">
                <a16:creationId xmlns:a16="http://schemas.microsoft.com/office/drawing/2014/main" id="{A43C0927-569D-E089-A65C-A16B92ED7808}"/>
              </a:ext>
            </a:extLst>
          </p:cNvPr>
          <p:cNvSpPr txBox="1"/>
          <p:nvPr/>
        </p:nvSpPr>
        <p:spPr>
          <a:xfrm>
            <a:off x="3775505" y="886350"/>
            <a:ext cx="7287471" cy="2400657"/>
          </a:xfrm>
          <a:prstGeom prst="rect">
            <a:avLst/>
          </a:prstGeom>
          <a:solidFill>
            <a:schemeClr val="tx1">
              <a:lumMod val="85000"/>
              <a:lumOff val="15000"/>
            </a:schemeClr>
          </a:solidFill>
        </p:spPr>
        <p:txBody>
          <a:bodyPr wrap="square">
            <a:spAutoFit/>
          </a:bodyPr>
          <a:lstStyle/>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java.util.InputMismatchException</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MyClass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static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main</a:t>
            </a:r>
            <a:r>
              <a:rPr lang="it-IT" sz="1000" b="0" dirty="0">
                <a:solidFill>
                  <a:srgbClr val="D4D4D4"/>
                </a:solidFill>
                <a:effectLst/>
                <a:latin typeface="Consolas" panose="020B0609020204030204" pitchFamily="49" charset="0"/>
              </a:rPr>
              <a:t>(</a:t>
            </a:r>
            <a:r>
              <a:rPr lang="it-IT" sz="1000" b="0" dirty="0" err="1">
                <a:solidFill>
                  <a:srgbClr val="D4D4D4"/>
                </a:solidFill>
                <a:effectLst/>
                <a:latin typeface="Consolas" panose="020B0609020204030204" pitchFamily="49" charset="0"/>
              </a:rPr>
              <a:t>String</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args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Scanner </a:t>
            </a:r>
            <a:r>
              <a:rPr lang="it-IT" sz="1000" b="0" dirty="0" err="1">
                <a:solidFill>
                  <a:srgbClr val="D4D4D4"/>
                </a:solidFill>
                <a:effectLst/>
                <a:latin typeface="Consolas" panose="020B0609020204030204" pitchFamily="49" charset="0"/>
              </a:rPr>
              <a:t>myScanner</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Scanner(</a:t>
            </a:r>
            <a:r>
              <a:rPr lang="it-IT" sz="1000" b="0" dirty="0" err="1">
                <a:solidFill>
                  <a:srgbClr val="D4D4D4"/>
                </a:solidFill>
                <a:effectLst/>
                <a:latin typeface="Consolas" panose="020B0609020204030204" pitchFamily="49" charset="0"/>
              </a:rPr>
              <a:t>System.in</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"Inserisci un numero intero: "</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try</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numero = </a:t>
            </a:r>
            <a:r>
              <a:rPr lang="it-IT" sz="1000" b="0" dirty="0" err="1">
                <a:solidFill>
                  <a:srgbClr val="D4D4D4"/>
                </a:solidFill>
                <a:effectLst/>
                <a:latin typeface="Consolas" panose="020B0609020204030204" pitchFamily="49" charset="0"/>
              </a:rPr>
              <a:t>myScanner.nextInt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r>
              <a:rPr lang="it-IT" sz="1000" b="0" dirty="0">
                <a:solidFill>
                  <a:srgbClr val="D4D4D4"/>
                </a:solidFill>
                <a:effectLst/>
                <a:latin typeface="Consolas" panose="020B0609020204030204" pitchFamily="49" charset="0"/>
              </a:rPr>
              <a:t> </a:t>
            </a:r>
            <a:r>
              <a:rPr lang="it-IT" sz="1000" b="0" dirty="0">
                <a:solidFill>
                  <a:srgbClr val="6A9955"/>
                </a:solidFill>
                <a:effectLst/>
                <a:latin typeface="Consolas" panose="020B0609020204030204" pitchFamily="49" charset="0"/>
              </a:rPr>
              <a:t>// Tenta di leggere un intero dall'input dell'utente</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"Il numero inserito è: "</a:t>
            </a:r>
            <a:r>
              <a:rPr lang="it-IT" sz="1000" b="0" dirty="0">
                <a:solidFill>
                  <a:srgbClr val="D4D4D4"/>
                </a:solidFill>
                <a:effectLst/>
                <a:latin typeface="Consolas" panose="020B0609020204030204" pitchFamily="49" charset="0"/>
              </a:rPr>
              <a:t> + numero)</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catch</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InputMismatchException</a:t>
            </a:r>
            <a:r>
              <a:rPr lang="it-IT" sz="1000" b="0" dirty="0">
                <a:solidFill>
                  <a:srgbClr val="D4D4D4"/>
                </a:solidFill>
                <a:effectLst/>
                <a:latin typeface="Consolas" panose="020B0609020204030204" pitchFamily="49" charset="0"/>
              </a:rPr>
              <a:t> e)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"Input non valido"</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306204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192975" y="1617870"/>
            <a:ext cx="3280558" cy="1015663"/>
          </a:xfrm>
          <a:prstGeom prst="rect">
            <a:avLst/>
          </a:prstGeom>
          <a:noFill/>
        </p:spPr>
        <p:txBody>
          <a:bodyPr wrap="square">
            <a:spAutoFit/>
          </a:bodyPr>
          <a:lstStyle/>
          <a:p>
            <a:pPr algn="l"/>
            <a:r>
              <a:rPr lang="it-IT" sz="1500" b="0" i="0" dirty="0">
                <a:solidFill>
                  <a:srgbClr val="050E17"/>
                </a:solidFill>
                <a:effectLst/>
                <a:latin typeface="-apple-system"/>
              </a:rPr>
              <a:t>In questo esempio, il blocco </a:t>
            </a:r>
            <a:r>
              <a:rPr lang="it-IT" sz="1500" b="0" i="0" dirty="0" err="1">
                <a:solidFill>
                  <a:srgbClr val="050E17"/>
                </a:solidFill>
                <a:effectLst/>
                <a:latin typeface="-apple-system"/>
              </a:rPr>
              <a:t>try</a:t>
            </a:r>
            <a:r>
              <a:rPr lang="it-IT" sz="1500" b="0" i="0" dirty="0">
                <a:solidFill>
                  <a:srgbClr val="050E17"/>
                </a:solidFill>
                <a:effectLst/>
                <a:latin typeface="-apple-system"/>
              </a:rPr>
              <a:t> contiene il metodo </a:t>
            </a:r>
            <a:r>
              <a:rPr lang="it-IT" sz="1500" b="0" i="0" dirty="0" err="1">
                <a:solidFill>
                  <a:srgbClr val="050E17"/>
                </a:solidFill>
                <a:effectLst/>
                <a:latin typeface="-apple-system"/>
              </a:rPr>
              <a:t>nextInt</a:t>
            </a:r>
            <a:r>
              <a:rPr lang="it-IT" sz="1500" b="0" i="0" dirty="0">
                <a:solidFill>
                  <a:srgbClr val="050E17"/>
                </a:solidFill>
                <a:effectLst/>
                <a:latin typeface="-apple-system"/>
              </a:rPr>
              <a:t>() della classe Scanner che tenta di leggere un intero dall'input dell'utente.  </a:t>
            </a:r>
            <a:endParaRPr lang="it-IT" sz="1600" dirty="0">
              <a:solidFill>
                <a:srgbClr val="050E17"/>
              </a:solidFill>
              <a:latin typeface="-apple-system"/>
            </a:endParaRPr>
          </a:p>
        </p:txBody>
      </p:sp>
      <p:sp>
        <p:nvSpPr>
          <p:cNvPr id="3" name="CasellaDiTesto 2">
            <a:extLst>
              <a:ext uri="{FF2B5EF4-FFF2-40B4-BE49-F238E27FC236}">
                <a16:creationId xmlns:a16="http://schemas.microsoft.com/office/drawing/2014/main" id="{5D9AEB8C-5532-3DCE-2A95-ACB4D4964435}"/>
              </a:ext>
            </a:extLst>
          </p:cNvPr>
          <p:cNvSpPr txBox="1"/>
          <p:nvPr/>
        </p:nvSpPr>
        <p:spPr>
          <a:xfrm>
            <a:off x="3775505" y="886350"/>
            <a:ext cx="7287471" cy="2400657"/>
          </a:xfrm>
          <a:prstGeom prst="rect">
            <a:avLst/>
          </a:prstGeom>
          <a:solidFill>
            <a:schemeClr val="tx1">
              <a:lumMod val="85000"/>
              <a:lumOff val="15000"/>
            </a:schemeClr>
          </a:solidFill>
        </p:spPr>
        <p:txBody>
          <a:bodyPr wrap="square">
            <a:spAutoFit/>
          </a:bodyPr>
          <a:lstStyle/>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java.util.InputMismatchException</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MyClass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static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main</a:t>
            </a:r>
            <a:r>
              <a:rPr lang="it-IT" sz="1000" b="0" dirty="0">
                <a:solidFill>
                  <a:srgbClr val="D4D4D4"/>
                </a:solidFill>
                <a:effectLst/>
                <a:latin typeface="Consolas" panose="020B0609020204030204" pitchFamily="49" charset="0"/>
              </a:rPr>
              <a:t>(</a:t>
            </a:r>
            <a:r>
              <a:rPr lang="it-IT" sz="1000" b="0" dirty="0" err="1">
                <a:solidFill>
                  <a:srgbClr val="D4D4D4"/>
                </a:solidFill>
                <a:effectLst/>
                <a:latin typeface="Consolas" panose="020B0609020204030204" pitchFamily="49" charset="0"/>
              </a:rPr>
              <a:t>String</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args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Scanner </a:t>
            </a:r>
            <a:r>
              <a:rPr lang="it-IT" sz="1000" b="0" dirty="0" err="1">
                <a:solidFill>
                  <a:srgbClr val="D4D4D4"/>
                </a:solidFill>
                <a:effectLst/>
                <a:latin typeface="Consolas" panose="020B0609020204030204" pitchFamily="49" charset="0"/>
              </a:rPr>
              <a:t>myScanner</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Scanner(</a:t>
            </a:r>
            <a:r>
              <a:rPr lang="it-IT" sz="1000" b="0" dirty="0" err="1">
                <a:solidFill>
                  <a:srgbClr val="D4D4D4"/>
                </a:solidFill>
                <a:effectLst/>
                <a:latin typeface="Consolas" panose="020B0609020204030204" pitchFamily="49" charset="0"/>
              </a:rPr>
              <a:t>System.in</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"Inserisci un numero intero: "</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try</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numero = </a:t>
            </a:r>
            <a:r>
              <a:rPr lang="it-IT" sz="1000" b="0" dirty="0" err="1">
                <a:solidFill>
                  <a:srgbClr val="D4D4D4"/>
                </a:solidFill>
                <a:effectLst/>
                <a:latin typeface="Consolas" panose="020B0609020204030204" pitchFamily="49" charset="0"/>
              </a:rPr>
              <a:t>myScanner.nextInt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r>
              <a:rPr lang="it-IT" sz="1000" b="0" dirty="0">
                <a:solidFill>
                  <a:srgbClr val="D4D4D4"/>
                </a:solidFill>
                <a:effectLst/>
                <a:latin typeface="Consolas" panose="020B0609020204030204" pitchFamily="49" charset="0"/>
              </a:rPr>
              <a:t> </a:t>
            </a:r>
            <a:r>
              <a:rPr lang="it-IT" sz="1000" b="0" dirty="0">
                <a:solidFill>
                  <a:srgbClr val="6A9955"/>
                </a:solidFill>
                <a:effectLst/>
                <a:latin typeface="Consolas" panose="020B0609020204030204" pitchFamily="49" charset="0"/>
              </a:rPr>
              <a:t>// Tenta di leggere un intero dall'input dell'utente</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"Il numero inserito è: "</a:t>
            </a:r>
            <a:r>
              <a:rPr lang="it-IT" sz="1000" b="0" dirty="0">
                <a:solidFill>
                  <a:srgbClr val="D4D4D4"/>
                </a:solidFill>
                <a:effectLst/>
                <a:latin typeface="Consolas" panose="020B0609020204030204" pitchFamily="49" charset="0"/>
              </a:rPr>
              <a:t> + numero)</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catch</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InputMismatchException</a:t>
            </a:r>
            <a:r>
              <a:rPr lang="it-IT" sz="1000" b="0" dirty="0">
                <a:solidFill>
                  <a:srgbClr val="D4D4D4"/>
                </a:solidFill>
                <a:effectLst/>
                <a:latin typeface="Consolas" panose="020B0609020204030204" pitchFamily="49" charset="0"/>
              </a:rPr>
              <a:t> e)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"Input non valido"</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41672629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192975" y="1617870"/>
            <a:ext cx="3280558" cy="1769715"/>
          </a:xfrm>
          <a:prstGeom prst="rect">
            <a:avLst/>
          </a:prstGeom>
          <a:noFill/>
        </p:spPr>
        <p:txBody>
          <a:bodyPr wrap="square">
            <a:spAutoFit/>
          </a:bodyPr>
          <a:lstStyle/>
          <a:p>
            <a:pPr algn="l"/>
            <a:r>
              <a:rPr lang="it-IT" sz="1500" b="0" i="0" dirty="0">
                <a:solidFill>
                  <a:srgbClr val="050E17"/>
                </a:solidFill>
                <a:effectLst/>
                <a:latin typeface="-apple-system"/>
              </a:rPr>
              <a:t>In questo esempio, il blocco </a:t>
            </a:r>
            <a:r>
              <a:rPr lang="it-IT" sz="1500" b="0" i="0" dirty="0" err="1">
                <a:solidFill>
                  <a:srgbClr val="050E17"/>
                </a:solidFill>
                <a:effectLst/>
                <a:latin typeface="-apple-system"/>
              </a:rPr>
              <a:t>try</a:t>
            </a:r>
            <a:r>
              <a:rPr lang="it-IT" sz="1500" b="0" i="0" dirty="0">
                <a:solidFill>
                  <a:srgbClr val="050E17"/>
                </a:solidFill>
                <a:effectLst/>
                <a:latin typeface="-apple-system"/>
              </a:rPr>
              <a:t> contiene il metodo </a:t>
            </a:r>
            <a:r>
              <a:rPr lang="it-IT" sz="1500" b="0" i="0" dirty="0" err="1">
                <a:solidFill>
                  <a:srgbClr val="050E17"/>
                </a:solidFill>
                <a:effectLst/>
                <a:latin typeface="-apple-system"/>
              </a:rPr>
              <a:t>nextInt</a:t>
            </a:r>
            <a:r>
              <a:rPr lang="it-IT" sz="1500" b="0" i="0" dirty="0">
                <a:solidFill>
                  <a:srgbClr val="050E17"/>
                </a:solidFill>
                <a:effectLst/>
                <a:latin typeface="-apple-system"/>
              </a:rPr>
              <a:t>() della classe Scanner che tenta di leggere un intero dall'input dell'utente.  </a:t>
            </a:r>
            <a:r>
              <a:rPr lang="it-IT" sz="1600" b="0" i="0" dirty="0">
                <a:solidFill>
                  <a:srgbClr val="050E17"/>
                </a:solidFill>
                <a:effectLst/>
                <a:latin typeface="-apple-system"/>
              </a:rPr>
              <a:t>Se l'input non è un intero valido, viene generata un'eccezione di tipo </a:t>
            </a:r>
            <a:r>
              <a:rPr lang="it-IT" sz="1600" b="0" i="0" dirty="0" err="1">
                <a:solidFill>
                  <a:srgbClr val="050E17"/>
                </a:solidFill>
                <a:effectLst/>
                <a:latin typeface="-apple-system"/>
              </a:rPr>
              <a:t>InputMismatchException</a:t>
            </a:r>
            <a:r>
              <a:rPr lang="it-IT" sz="1600" b="0" i="0" dirty="0">
                <a:solidFill>
                  <a:srgbClr val="050E17"/>
                </a:solidFill>
                <a:effectLst/>
                <a:latin typeface="-apple-system"/>
              </a:rPr>
              <a:t>. </a:t>
            </a:r>
            <a:endParaRPr lang="it-IT" sz="1600" dirty="0">
              <a:solidFill>
                <a:srgbClr val="050E17"/>
              </a:solidFill>
              <a:latin typeface="-apple-system"/>
            </a:endParaRPr>
          </a:p>
        </p:txBody>
      </p:sp>
      <p:sp>
        <p:nvSpPr>
          <p:cNvPr id="3" name="CasellaDiTesto 2">
            <a:extLst>
              <a:ext uri="{FF2B5EF4-FFF2-40B4-BE49-F238E27FC236}">
                <a16:creationId xmlns:a16="http://schemas.microsoft.com/office/drawing/2014/main" id="{92A08359-15DE-570D-E304-55EC95C15D1C}"/>
              </a:ext>
            </a:extLst>
          </p:cNvPr>
          <p:cNvSpPr txBox="1"/>
          <p:nvPr/>
        </p:nvSpPr>
        <p:spPr>
          <a:xfrm>
            <a:off x="3775505" y="886350"/>
            <a:ext cx="7287471" cy="2400657"/>
          </a:xfrm>
          <a:prstGeom prst="rect">
            <a:avLst/>
          </a:prstGeom>
          <a:solidFill>
            <a:schemeClr val="tx1">
              <a:lumMod val="85000"/>
              <a:lumOff val="15000"/>
            </a:schemeClr>
          </a:solidFill>
        </p:spPr>
        <p:txBody>
          <a:bodyPr wrap="square">
            <a:spAutoFit/>
          </a:bodyPr>
          <a:lstStyle/>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java.util.InputMismatchException</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MyClass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static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main</a:t>
            </a:r>
            <a:r>
              <a:rPr lang="it-IT" sz="1000" b="0" dirty="0">
                <a:solidFill>
                  <a:srgbClr val="D4D4D4"/>
                </a:solidFill>
                <a:effectLst/>
                <a:latin typeface="Consolas" panose="020B0609020204030204" pitchFamily="49" charset="0"/>
              </a:rPr>
              <a:t>(</a:t>
            </a:r>
            <a:r>
              <a:rPr lang="it-IT" sz="1000" b="0" dirty="0" err="1">
                <a:solidFill>
                  <a:srgbClr val="D4D4D4"/>
                </a:solidFill>
                <a:effectLst/>
                <a:latin typeface="Consolas" panose="020B0609020204030204" pitchFamily="49" charset="0"/>
              </a:rPr>
              <a:t>String</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args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Scanner </a:t>
            </a:r>
            <a:r>
              <a:rPr lang="it-IT" sz="1000" b="0" dirty="0" err="1">
                <a:solidFill>
                  <a:srgbClr val="D4D4D4"/>
                </a:solidFill>
                <a:effectLst/>
                <a:latin typeface="Consolas" panose="020B0609020204030204" pitchFamily="49" charset="0"/>
              </a:rPr>
              <a:t>myScanner</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Scanner(</a:t>
            </a:r>
            <a:r>
              <a:rPr lang="it-IT" sz="1000" b="0" dirty="0" err="1">
                <a:solidFill>
                  <a:srgbClr val="D4D4D4"/>
                </a:solidFill>
                <a:effectLst/>
                <a:latin typeface="Consolas" panose="020B0609020204030204" pitchFamily="49" charset="0"/>
              </a:rPr>
              <a:t>System.in</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"Inserisci un numero intero: "</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try</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numero = </a:t>
            </a:r>
            <a:r>
              <a:rPr lang="it-IT" sz="1000" b="0" dirty="0" err="1">
                <a:solidFill>
                  <a:srgbClr val="D4D4D4"/>
                </a:solidFill>
                <a:effectLst/>
                <a:latin typeface="Consolas" panose="020B0609020204030204" pitchFamily="49" charset="0"/>
              </a:rPr>
              <a:t>myScanner.nextInt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r>
              <a:rPr lang="it-IT" sz="1000" b="0" dirty="0">
                <a:solidFill>
                  <a:srgbClr val="D4D4D4"/>
                </a:solidFill>
                <a:effectLst/>
                <a:latin typeface="Consolas" panose="020B0609020204030204" pitchFamily="49" charset="0"/>
              </a:rPr>
              <a:t> </a:t>
            </a:r>
            <a:r>
              <a:rPr lang="it-IT" sz="1000" b="0" dirty="0">
                <a:solidFill>
                  <a:srgbClr val="6A9955"/>
                </a:solidFill>
                <a:effectLst/>
                <a:latin typeface="Consolas" panose="020B0609020204030204" pitchFamily="49" charset="0"/>
              </a:rPr>
              <a:t>// Tenta di leggere un intero dall'input dell'utente</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"Il numero inserito è: "</a:t>
            </a:r>
            <a:r>
              <a:rPr lang="it-IT" sz="1000" b="0" dirty="0">
                <a:solidFill>
                  <a:srgbClr val="D4D4D4"/>
                </a:solidFill>
                <a:effectLst/>
                <a:latin typeface="Consolas" panose="020B0609020204030204" pitchFamily="49" charset="0"/>
              </a:rPr>
              <a:t> + numero)</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catch</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InputMismatchException</a:t>
            </a:r>
            <a:r>
              <a:rPr lang="it-IT" sz="1000" b="0" dirty="0">
                <a:solidFill>
                  <a:srgbClr val="D4D4D4"/>
                </a:solidFill>
                <a:effectLst/>
                <a:latin typeface="Consolas" panose="020B0609020204030204" pitchFamily="49" charset="0"/>
              </a:rPr>
              <a:t> e)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"Input non valido"</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600556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192975" y="1617870"/>
            <a:ext cx="3280558" cy="2262158"/>
          </a:xfrm>
          <a:prstGeom prst="rect">
            <a:avLst/>
          </a:prstGeom>
          <a:noFill/>
        </p:spPr>
        <p:txBody>
          <a:bodyPr wrap="square">
            <a:spAutoFit/>
          </a:bodyPr>
          <a:lstStyle/>
          <a:p>
            <a:pPr algn="l"/>
            <a:r>
              <a:rPr lang="it-IT" sz="1500" b="0" i="0" dirty="0">
                <a:solidFill>
                  <a:srgbClr val="050E17"/>
                </a:solidFill>
                <a:effectLst/>
                <a:latin typeface="-apple-system"/>
              </a:rPr>
              <a:t>In questo esempio, il blocco </a:t>
            </a:r>
            <a:r>
              <a:rPr lang="it-IT" sz="1500" b="0" i="0" dirty="0" err="1">
                <a:solidFill>
                  <a:srgbClr val="050E17"/>
                </a:solidFill>
                <a:effectLst/>
                <a:latin typeface="-apple-system"/>
              </a:rPr>
              <a:t>try</a:t>
            </a:r>
            <a:r>
              <a:rPr lang="it-IT" sz="1500" b="0" i="0" dirty="0">
                <a:solidFill>
                  <a:srgbClr val="050E17"/>
                </a:solidFill>
                <a:effectLst/>
                <a:latin typeface="-apple-system"/>
              </a:rPr>
              <a:t> contiene il metodo </a:t>
            </a:r>
            <a:r>
              <a:rPr lang="it-IT" sz="1500" b="0" i="0" dirty="0" err="1">
                <a:solidFill>
                  <a:srgbClr val="050E17"/>
                </a:solidFill>
                <a:effectLst/>
                <a:latin typeface="-apple-system"/>
              </a:rPr>
              <a:t>nextInt</a:t>
            </a:r>
            <a:r>
              <a:rPr lang="it-IT" sz="1500" b="0" i="0" dirty="0">
                <a:solidFill>
                  <a:srgbClr val="050E17"/>
                </a:solidFill>
                <a:effectLst/>
                <a:latin typeface="-apple-system"/>
              </a:rPr>
              <a:t>() della classe Scanner che tenta di leggere un intero dall'input dell'utente.  </a:t>
            </a:r>
            <a:r>
              <a:rPr lang="it-IT" sz="1600" b="0" i="0" dirty="0">
                <a:solidFill>
                  <a:srgbClr val="050E17"/>
                </a:solidFill>
                <a:effectLst/>
                <a:latin typeface="-apple-system"/>
              </a:rPr>
              <a:t>Se l'input non è un intero valido, viene generata un'eccezione di tipo </a:t>
            </a:r>
            <a:r>
              <a:rPr lang="it-IT" sz="1600" b="0" i="0" dirty="0" err="1">
                <a:solidFill>
                  <a:srgbClr val="050E17"/>
                </a:solidFill>
                <a:effectLst/>
                <a:latin typeface="-apple-system"/>
              </a:rPr>
              <a:t>InputMismatchException</a:t>
            </a:r>
            <a:r>
              <a:rPr lang="it-IT" sz="1600" b="0" i="0" dirty="0">
                <a:solidFill>
                  <a:srgbClr val="050E17"/>
                </a:solidFill>
                <a:effectLst/>
                <a:latin typeface="-apple-system"/>
              </a:rPr>
              <a:t>. Il blocco catch contiene il codice per gestire l'eccezione.</a:t>
            </a:r>
            <a:endParaRPr lang="it-IT" sz="1600" dirty="0">
              <a:solidFill>
                <a:srgbClr val="050E17"/>
              </a:solidFill>
              <a:latin typeface="-apple-system"/>
            </a:endParaRPr>
          </a:p>
        </p:txBody>
      </p:sp>
      <p:sp>
        <p:nvSpPr>
          <p:cNvPr id="3" name="CasellaDiTesto 2">
            <a:extLst>
              <a:ext uri="{FF2B5EF4-FFF2-40B4-BE49-F238E27FC236}">
                <a16:creationId xmlns:a16="http://schemas.microsoft.com/office/drawing/2014/main" id="{A57CE95B-061C-3311-06A3-FE44DAEACC55}"/>
              </a:ext>
            </a:extLst>
          </p:cNvPr>
          <p:cNvSpPr txBox="1"/>
          <p:nvPr/>
        </p:nvSpPr>
        <p:spPr>
          <a:xfrm>
            <a:off x="3775505" y="886350"/>
            <a:ext cx="7287471" cy="2400657"/>
          </a:xfrm>
          <a:prstGeom prst="rect">
            <a:avLst/>
          </a:prstGeom>
          <a:solidFill>
            <a:schemeClr val="tx1">
              <a:lumMod val="85000"/>
              <a:lumOff val="15000"/>
            </a:schemeClr>
          </a:solidFill>
        </p:spPr>
        <p:txBody>
          <a:bodyPr wrap="square">
            <a:spAutoFit/>
          </a:bodyPr>
          <a:lstStyle/>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java.util.InputMismatchException</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MyClass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static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main</a:t>
            </a:r>
            <a:r>
              <a:rPr lang="it-IT" sz="1000" b="0" dirty="0">
                <a:solidFill>
                  <a:srgbClr val="D4D4D4"/>
                </a:solidFill>
                <a:effectLst/>
                <a:latin typeface="Consolas" panose="020B0609020204030204" pitchFamily="49" charset="0"/>
              </a:rPr>
              <a:t>(</a:t>
            </a:r>
            <a:r>
              <a:rPr lang="it-IT" sz="1000" b="0" dirty="0" err="1">
                <a:solidFill>
                  <a:srgbClr val="D4D4D4"/>
                </a:solidFill>
                <a:effectLst/>
                <a:latin typeface="Consolas" panose="020B0609020204030204" pitchFamily="49" charset="0"/>
              </a:rPr>
              <a:t>String</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args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Scanner </a:t>
            </a:r>
            <a:r>
              <a:rPr lang="it-IT" sz="1000" b="0" dirty="0" err="1">
                <a:solidFill>
                  <a:srgbClr val="D4D4D4"/>
                </a:solidFill>
                <a:effectLst/>
                <a:latin typeface="Consolas" panose="020B0609020204030204" pitchFamily="49" charset="0"/>
              </a:rPr>
              <a:t>myScanner</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Scanner(</a:t>
            </a:r>
            <a:r>
              <a:rPr lang="it-IT" sz="1000" b="0" dirty="0" err="1">
                <a:solidFill>
                  <a:srgbClr val="D4D4D4"/>
                </a:solidFill>
                <a:effectLst/>
                <a:latin typeface="Consolas" panose="020B0609020204030204" pitchFamily="49" charset="0"/>
              </a:rPr>
              <a:t>System.in</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"Inserisci un numero intero: "</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try</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numero = </a:t>
            </a:r>
            <a:r>
              <a:rPr lang="it-IT" sz="1000" b="0" dirty="0" err="1">
                <a:solidFill>
                  <a:srgbClr val="D4D4D4"/>
                </a:solidFill>
                <a:effectLst/>
                <a:latin typeface="Consolas" panose="020B0609020204030204" pitchFamily="49" charset="0"/>
              </a:rPr>
              <a:t>myScanner.nextInt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r>
              <a:rPr lang="it-IT" sz="1000" b="0" dirty="0">
                <a:solidFill>
                  <a:srgbClr val="D4D4D4"/>
                </a:solidFill>
                <a:effectLst/>
                <a:latin typeface="Consolas" panose="020B0609020204030204" pitchFamily="49" charset="0"/>
              </a:rPr>
              <a:t> </a:t>
            </a:r>
            <a:r>
              <a:rPr lang="it-IT" sz="1000" b="0" dirty="0">
                <a:solidFill>
                  <a:srgbClr val="6A9955"/>
                </a:solidFill>
                <a:effectLst/>
                <a:latin typeface="Consolas" panose="020B0609020204030204" pitchFamily="49" charset="0"/>
              </a:rPr>
              <a:t>// Tenta di leggere un intero dall'input dell'utente</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"Il numero inserito è: "</a:t>
            </a:r>
            <a:r>
              <a:rPr lang="it-IT" sz="1000" b="0" dirty="0">
                <a:solidFill>
                  <a:srgbClr val="D4D4D4"/>
                </a:solidFill>
                <a:effectLst/>
                <a:latin typeface="Consolas" panose="020B0609020204030204" pitchFamily="49" charset="0"/>
              </a:rPr>
              <a:t> + numero)</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catch</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InputMismatchException</a:t>
            </a:r>
            <a:r>
              <a:rPr lang="it-IT" sz="1000" b="0" dirty="0">
                <a:solidFill>
                  <a:srgbClr val="D4D4D4"/>
                </a:solidFill>
                <a:effectLst/>
                <a:latin typeface="Consolas" panose="020B0609020204030204" pitchFamily="49" charset="0"/>
              </a:rPr>
              <a:t> e)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"Input non valido"</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4283994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192975" y="1617870"/>
            <a:ext cx="3280558" cy="2754600"/>
          </a:xfrm>
          <a:prstGeom prst="rect">
            <a:avLst/>
          </a:prstGeom>
          <a:noFill/>
        </p:spPr>
        <p:txBody>
          <a:bodyPr wrap="square">
            <a:spAutoFit/>
          </a:bodyPr>
          <a:lstStyle/>
          <a:p>
            <a:pPr algn="l"/>
            <a:r>
              <a:rPr lang="it-IT" sz="1500" b="0" i="0" dirty="0">
                <a:solidFill>
                  <a:srgbClr val="050E17"/>
                </a:solidFill>
                <a:effectLst/>
                <a:latin typeface="-apple-system"/>
              </a:rPr>
              <a:t>In questo esempio, il blocco </a:t>
            </a:r>
            <a:r>
              <a:rPr lang="it-IT" sz="1500" b="0" i="0" dirty="0" err="1">
                <a:solidFill>
                  <a:srgbClr val="050E17"/>
                </a:solidFill>
                <a:effectLst/>
                <a:latin typeface="-apple-system"/>
              </a:rPr>
              <a:t>try</a:t>
            </a:r>
            <a:r>
              <a:rPr lang="it-IT" sz="1500" b="0" i="0" dirty="0">
                <a:solidFill>
                  <a:srgbClr val="050E17"/>
                </a:solidFill>
                <a:effectLst/>
                <a:latin typeface="-apple-system"/>
              </a:rPr>
              <a:t> contiene il metodo </a:t>
            </a:r>
            <a:r>
              <a:rPr lang="it-IT" sz="1500" b="0" i="0" dirty="0" err="1">
                <a:solidFill>
                  <a:srgbClr val="050E17"/>
                </a:solidFill>
                <a:effectLst/>
                <a:latin typeface="-apple-system"/>
              </a:rPr>
              <a:t>nextInt</a:t>
            </a:r>
            <a:r>
              <a:rPr lang="it-IT" sz="1500" b="0" i="0" dirty="0">
                <a:solidFill>
                  <a:srgbClr val="050E17"/>
                </a:solidFill>
                <a:effectLst/>
                <a:latin typeface="-apple-system"/>
              </a:rPr>
              <a:t>() della classe Scanner che tenta di leggere un intero dall'input dell'utente.  </a:t>
            </a:r>
            <a:r>
              <a:rPr lang="it-IT" sz="1600" b="0" i="0" dirty="0">
                <a:solidFill>
                  <a:srgbClr val="050E17"/>
                </a:solidFill>
                <a:effectLst/>
                <a:latin typeface="-apple-system"/>
              </a:rPr>
              <a:t>Se l'input non è un intero valido, viene generata un'eccezione di tipo </a:t>
            </a:r>
            <a:r>
              <a:rPr lang="it-IT" sz="1600" b="0" i="0" dirty="0" err="1">
                <a:solidFill>
                  <a:srgbClr val="050E17"/>
                </a:solidFill>
                <a:effectLst/>
                <a:latin typeface="-apple-system"/>
              </a:rPr>
              <a:t>InputMismatchException</a:t>
            </a:r>
            <a:r>
              <a:rPr lang="it-IT" sz="1600" b="0" i="0" dirty="0">
                <a:solidFill>
                  <a:srgbClr val="050E17"/>
                </a:solidFill>
                <a:effectLst/>
                <a:latin typeface="-apple-system"/>
              </a:rPr>
              <a:t>. Il blocco catch contiene il codice per gestire l'eccezione. In questo caso, il messaggio "Input non valido" viene stampato sulla console.</a:t>
            </a:r>
            <a:endParaRPr lang="it-IT" sz="1600" dirty="0">
              <a:solidFill>
                <a:srgbClr val="050E17"/>
              </a:solidFill>
              <a:latin typeface="-apple-system"/>
            </a:endParaRPr>
          </a:p>
        </p:txBody>
      </p:sp>
      <p:sp>
        <p:nvSpPr>
          <p:cNvPr id="3" name="CasellaDiTesto 2">
            <a:extLst>
              <a:ext uri="{FF2B5EF4-FFF2-40B4-BE49-F238E27FC236}">
                <a16:creationId xmlns:a16="http://schemas.microsoft.com/office/drawing/2014/main" id="{5DAC3540-A804-AA0F-DCFF-2FE8BA0E7356}"/>
              </a:ext>
            </a:extLst>
          </p:cNvPr>
          <p:cNvSpPr txBox="1"/>
          <p:nvPr/>
        </p:nvSpPr>
        <p:spPr>
          <a:xfrm>
            <a:off x="3775505" y="886350"/>
            <a:ext cx="7287471" cy="2400657"/>
          </a:xfrm>
          <a:prstGeom prst="rect">
            <a:avLst/>
          </a:prstGeom>
          <a:solidFill>
            <a:schemeClr val="tx1">
              <a:lumMod val="85000"/>
              <a:lumOff val="15000"/>
            </a:schemeClr>
          </a:solidFill>
        </p:spPr>
        <p:txBody>
          <a:bodyPr wrap="square">
            <a:spAutoFit/>
          </a:bodyPr>
          <a:lstStyle/>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java.util.InputMismatchException</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MyClass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static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main</a:t>
            </a:r>
            <a:r>
              <a:rPr lang="it-IT" sz="1000" b="0" dirty="0">
                <a:solidFill>
                  <a:srgbClr val="D4D4D4"/>
                </a:solidFill>
                <a:effectLst/>
                <a:latin typeface="Consolas" panose="020B0609020204030204" pitchFamily="49" charset="0"/>
              </a:rPr>
              <a:t>(</a:t>
            </a:r>
            <a:r>
              <a:rPr lang="it-IT" sz="1000" b="0" dirty="0" err="1">
                <a:solidFill>
                  <a:srgbClr val="D4D4D4"/>
                </a:solidFill>
                <a:effectLst/>
                <a:latin typeface="Consolas" panose="020B0609020204030204" pitchFamily="49" charset="0"/>
              </a:rPr>
              <a:t>String</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args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Scanner </a:t>
            </a:r>
            <a:r>
              <a:rPr lang="it-IT" sz="1000" b="0" dirty="0" err="1">
                <a:solidFill>
                  <a:srgbClr val="D4D4D4"/>
                </a:solidFill>
                <a:effectLst/>
                <a:latin typeface="Consolas" panose="020B0609020204030204" pitchFamily="49" charset="0"/>
              </a:rPr>
              <a:t>myScanner</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Scanner(</a:t>
            </a:r>
            <a:r>
              <a:rPr lang="it-IT" sz="1000" b="0" dirty="0" err="1">
                <a:solidFill>
                  <a:srgbClr val="D4D4D4"/>
                </a:solidFill>
                <a:effectLst/>
                <a:latin typeface="Consolas" panose="020B0609020204030204" pitchFamily="49" charset="0"/>
              </a:rPr>
              <a:t>System.in</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"Inserisci un numero intero: "</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try</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numero = </a:t>
            </a:r>
            <a:r>
              <a:rPr lang="it-IT" sz="1000" b="0" dirty="0" err="1">
                <a:solidFill>
                  <a:srgbClr val="D4D4D4"/>
                </a:solidFill>
                <a:effectLst/>
                <a:latin typeface="Consolas" panose="020B0609020204030204" pitchFamily="49" charset="0"/>
              </a:rPr>
              <a:t>myScanner.nextInt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r>
              <a:rPr lang="it-IT" sz="1000" b="0" dirty="0">
                <a:solidFill>
                  <a:srgbClr val="D4D4D4"/>
                </a:solidFill>
                <a:effectLst/>
                <a:latin typeface="Consolas" panose="020B0609020204030204" pitchFamily="49" charset="0"/>
              </a:rPr>
              <a:t> </a:t>
            </a:r>
            <a:r>
              <a:rPr lang="it-IT" sz="1000" b="0" dirty="0">
                <a:solidFill>
                  <a:srgbClr val="6A9955"/>
                </a:solidFill>
                <a:effectLst/>
                <a:latin typeface="Consolas" panose="020B0609020204030204" pitchFamily="49" charset="0"/>
              </a:rPr>
              <a:t>// Tenta di leggere un intero dall'input dell'utente</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"Il numero inserito è: "</a:t>
            </a:r>
            <a:r>
              <a:rPr lang="it-IT" sz="1000" b="0" dirty="0">
                <a:solidFill>
                  <a:srgbClr val="D4D4D4"/>
                </a:solidFill>
                <a:effectLst/>
                <a:latin typeface="Consolas" panose="020B0609020204030204" pitchFamily="49" charset="0"/>
              </a:rPr>
              <a:t> + numero)</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catch</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InputMismatchException</a:t>
            </a:r>
            <a:r>
              <a:rPr lang="it-IT" sz="1000" b="0" dirty="0">
                <a:solidFill>
                  <a:srgbClr val="D4D4D4"/>
                </a:solidFill>
                <a:effectLst/>
                <a:latin typeface="Consolas" panose="020B0609020204030204" pitchFamily="49" charset="0"/>
              </a:rPr>
              <a:t> e)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"Input non valido"</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059297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192975" y="1617870"/>
            <a:ext cx="3280558" cy="2754600"/>
          </a:xfrm>
          <a:prstGeom prst="rect">
            <a:avLst/>
          </a:prstGeom>
          <a:noFill/>
        </p:spPr>
        <p:txBody>
          <a:bodyPr wrap="square">
            <a:spAutoFit/>
          </a:bodyPr>
          <a:lstStyle/>
          <a:p>
            <a:pPr algn="l"/>
            <a:r>
              <a:rPr lang="it-IT" sz="1500" b="0" i="0" dirty="0">
                <a:solidFill>
                  <a:srgbClr val="050E17"/>
                </a:solidFill>
                <a:effectLst/>
                <a:latin typeface="-apple-system"/>
              </a:rPr>
              <a:t>In questo esempio, il blocco </a:t>
            </a:r>
            <a:r>
              <a:rPr lang="it-IT" sz="1500" b="0" i="0" dirty="0" err="1">
                <a:solidFill>
                  <a:srgbClr val="050E17"/>
                </a:solidFill>
                <a:effectLst/>
                <a:latin typeface="-apple-system"/>
              </a:rPr>
              <a:t>try</a:t>
            </a:r>
            <a:r>
              <a:rPr lang="it-IT" sz="1500" b="0" i="0" dirty="0">
                <a:solidFill>
                  <a:srgbClr val="050E17"/>
                </a:solidFill>
                <a:effectLst/>
                <a:latin typeface="-apple-system"/>
              </a:rPr>
              <a:t> contiene il metodo </a:t>
            </a:r>
            <a:r>
              <a:rPr lang="it-IT" sz="1500" b="0" i="0" dirty="0" err="1">
                <a:solidFill>
                  <a:srgbClr val="050E17"/>
                </a:solidFill>
                <a:effectLst/>
                <a:latin typeface="-apple-system"/>
              </a:rPr>
              <a:t>nextInt</a:t>
            </a:r>
            <a:r>
              <a:rPr lang="it-IT" sz="1500" b="0" i="0" dirty="0">
                <a:solidFill>
                  <a:srgbClr val="050E17"/>
                </a:solidFill>
                <a:effectLst/>
                <a:latin typeface="-apple-system"/>
              </a:rPr>
              <a:t>() della classe Scanner che tenta di leggere un intero dall'input dell'utente.  </a:t>
            </a:r>
            <a:r>
              <a:rPr lang="it-IT" sz="1600" b="0" i="0" dirty="0">
                <a:solidFill>
                  <a:srgbClr val="050E17"/>
                </a:solidFill>
                <a:effectLst/>
                <a:latin typeface="-apple-system"/>
              </a:rPr>
              <a:t>Se l'input non è un intero valido, viene generata un'eccezione di tipo </a:t>
            </a:r>
            <a:r>
              <a:rPr lang="it-IT" sz="1600" b="0" i="0" dirty="0" err="1">
                <a:solidFill>
                  <a:srgbClr val="050E17"/>
                </a:solidFill>
                <a:effectLst/>
                <a:latin typeface="-apple-system"/>
              </a:rPr>
              <a:t>InputMismatchException</a:t>
            </a:r>
            <a:r>
              <a:rPr lang="it-IT" sz="1600" b="0" i="0" dirty="0">
                <a:solidFill>
                  <a:srgbClr val="050E17"/>
                </a:solidFill>
                <a:effectLst/>
                <a:latin typeface="-apple-system"/>
              </a:rPr>
              <a:t>. Il blocco catch contiene il codice per gestire l'eccezione. In questo caso, il messaggio "Input non valido" viene stampato sulla console.</a:t>
            </a:r>
            <a:endParaRPr lang="it-IT" sz="1600" dirty="0">
              <a:solidFill>
                <a:srgbClr val="050E17"/>
              </a:solidFill>
              <a:latin typeface="-apple-system"/>
            </a:endParaRPr>
          </a:p>
        </p:txBody>
      </p:sp>
      <p:sp>
        <p:nvSpPr>
          <p:cNvPr id="14" name="CasellaDiTesto 13">
            <a:extLst>
              <a:ext uri="{FF2B5EF4-FFF2-40B4-BE49-F238E27FC236}">
                <a16:creationId xmlns:a16="http://schemas.microsoft.com/office/drawing/2014/main" id="{EB0F9203-6A42-938E-5E5A-90E0BAC33CA9}"/>
              </a:ext>
            </a:extLst>
          </p:cNvPr>
          <p:cNvSpPr txBox="1"/>
          <p:nvPr/>
        </p:nvSpPr>
        <p:spPr>
          <a:xfrm>
            <a:off x="169223" y="4855084"/>
            <a:ext cx="11599223" cy="646331"/>
          </a:xfrm>
          <a:prstGeom prst="rect">
            <a:avLst/>
          </a:prstGeom>
          <a:noFill/>
        </p:spPr>
        <p:txBody>
          <a:bodyPr wrap="square">
            <a:spAutoFit/>
          </a:bodyPr>
          <a:lstStyle/>
          <a:p>
            <a:pPr algn="l"/>
            <a:r>
              <a:rPr lang="it-IT" sz="1800" b="0" i="0" dirty="0">
                <a:solidFill>
                  <a:srgbClr val="050E17"/>
                </a:solidFill>
                <a:effectLst/>
                <a:latin typeface="-apple-system"/>
              </a:rPr>
              <a:t>In generale, il costrutto </a:t>
            </a:r>
            <a:r>
              <a:rPr lang="it-IT" sz="1800" b="0" i="0" dirty="0" err="1">
                <a:solidFill>
                  <a:srgbClr val="050E17"/>
                </a:solidFill>
                <a:effectLst/>
                <a:latin typeface="-apple-system"/>
              </a:rPr>
              <a:t>try</a:t>
            </a:r>
            <a:r>
              <a:rPr lang="it-IT" sz="1800" b="0" i="0" dirty="0">
                <a:solidFill>
                  <a:srgbClr val="050E17"/>
                </a:solidFill>
                <a:effectLst/>
                <a:latin typeface="-apple-system"/>
              </a:rPr>
              <a:t>-catch può essere utilizzato per gestire qualsiasi tipo di eccezione che può verificarsi durante l'esecuzione di un programma. </a:t>
            </a:r>
          </a:p>
        </p:txBody>
      </p:sp>
      <p:sp>
        <p:nvSpPr>
          <p:cNvPr id="3" name="CasellaDiTesto 2">
            <a:extLst>
              <a:ext uri="{FF2B5EF4-FFF2-40B4-BE49-F238E27FC236}">
                <a16:creationId xmlns:a16="http://schemas.microsoft.com/office/drawing/2014/main" id="{396E82EB-B8D1-36C5-0D65-805C61F781AE}"/>
              </a:ext>
            </a:extLst>
          </p:cNvPr>
          <p:cNvSpPr txBox="1"/>
          <p:nvPr/>
        </p:nvSpPr>
        <p:spPr>
          <a:xfrm>
            <a:off x="3775505" y="886350"/>
            <a:ext cx="7287471" cy="2400657"/>
          </a:xfrm>
          <a:prstGeom prst="rect">
            <a:avLst/>
          </a:prstGeom>
          <a:solidFill>
            <a:schemeClr val="tx1">
              <a:lumMod val="85000"/>
              <a:lumOff val="15000"/>
            </a:schemeClr>
          </a:solidFill>
        </p:spPr>
        <p:txBody>
          <a:bodyPr wrap="square">
            <a:spAutoFit/>
          </a:bodyPr>
          <a:lstStyle/>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java.util.InputMismatchException</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569CD6"/>
                </a:solidFill>
                <a:effectLst/>
                <a:latin typeface="Consolas" panose="020B0609020204030204" pitchFamily="49" charset="0"/>
              </a:rPr>
              <a:t>import</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java.util.Scanner</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br>
              <a:rPr lang="it-IT" sz="1000" b="0" dirty="0">
                <a:solidFill>
                  <a:srgbClr val="D4D4D4"/>
                </a:solidFill>
                <a:effectLst/>
                <a:latin typeface="Consolas" panose="020B0609020204030204" pitchFamily="49" charset="0"/>
              </a:rPr>
            </a:b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class</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MyClass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a:solidFill>
                  <a:srgbClr val="569CD6"/>
                </a:solidFill>
                <a:effectLst/>
                <a:latin typeface="Consolas" panose="020B0609020204030204" pitchFamily="49" charset="0"/>
              </a:rPr>
              <a:t>public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static</a:t>
            </a:r>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void</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main</a:t>
            </a:r>
            <a:r>
              <a:rPr lang="it-IT" sz="1000" b="0" dirty="0">
                <a:solidFill>
                  <a:srgbClr val="D4D4D4"/>
                </a:solidFill>
                <a:effectLst/>
                <a:latin typeface="Consolas" panose="020B0609020204030204" pitchFamily="49" charset="0"/>
              </a:rPr>
              <a:t>(</a:t>
            </a:r>
            <a:r>
              <a:rPr lang="it-IT" sz="1000" b="0" dirty="0" err="1">
                <a:solidFill>
                  <a:srgbClr val="D4D4D4"/>
                </a:solidFill>
                <a:effectLst/>
                <a:latin typeface="Consolas" panose="020B0609020204030204" pitchFamily="49" charset="0"/>
              </a:rPr>
              <a:t>String</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args</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Scanner </a:t>
            </a:r>
            <a:r>
              <a:rPr lang="it-IT" sz="1000" b="0" dirty="0" err="1">
                <a:solidFill>
                  <a:srgbClr val="D4D4D4"/>
                </a:solidFill>
                <a:effectLst/>
                <a:latin typeface="Consolas" panose="020B0609020204030204" pitchFamily="49" charset="0"/>
              </a:rPr>
              <a:t>myScanner</a:t>
            </a:r>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new</a:t>
            </a:r>
            <a:r>
              <a:rPr lang="it-IT" sz="1000" b="0" dirty="0">
                <a:solidFill>
                  <a:srgbClr val="D4D4D4"/>
                </a:solidFill>
                <a:effectLst/>
                <a:latin typeface="Consolas" panose="020B0609020204030204" pitchFamily="49" charset="0"/>
              </a:rPr>
              <a:t> Scanner(</a:t>
            </a:r>
            <a:r>
              <a:rPr lang="it-IT" sz="1000" b="0" dirty="0" err="1">
                <a:solidFill>
                  <a:srgbClr val="D4D4D4"/>
                </a:solidFill>
                <a:effectLst/>
                <a:latin typeface="Consolas" panose="020B0609020204030204" pitchFamily="49" charset="0"/>
              </a:rPr>
              <a:t>System.in</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"Inserisci un numero intero: "</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try</a:t>
            </a:r>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r>
              <a:rPr lang="it-IT" sz="1000" b="0" dirty="0" err="1">
                <a:solidFill>
                  <a:srgbClr val="569CD6"/>
                </a:solidFill>
                <a:effectLst/>
                <a:latin typeface="Consolas" panose="020B0609020204030204" pitchFamily="49" charset="0"/>
              </a:rPr>
              <a:t>int</a:t>
            </a:r>
            <a:r>
              <a:rPr lang="it-IT" sz="1000" b="0" dirty="0">
                <a:solidFill>
                  <a:srgbClr val="D4D4D4"/>
                </a:solidFill>
                <a:effectLst/>
                <a:latin typeface="Consolas" panose="020B0609020204030204" pitchFamily="49" charset="0"/>
              </a:rPr>
              <a:t> numero = </a:t>
            </a:r>
            <a:r>
              <a:rPr lang="it-IT" sz="1000" b="0" dirty="0" err="1">
                <a:solidFill>
                  <a:srgbClr val="D4D4D4"/>
                </a:solidFill>
                <a:effectLst/>
                <a:latin typeface="Consolas" panose="020B0609020204030204" pitchFamily="49" charset="0"/>
              </a:rPr>
              <a:t>myScanner.nextInt</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r>
              <a:rPr lang="it-IT" sz="1000" b="0" dirty="0">
                <a:solidFill>
                  <a:srgbClr val="D4D4D4"/>
                </a:solidFill>
                <a:effectLst/>
                <a:latin typeface="Consolas" panose="020B0609020204030204" pitchFamily="49" charset="0"/>
              </a:rPr>
              <a:t> </a:t>
            </a:r>
            <a:r>
              <a:rPr lang="it-IT" sz="1000" b="0" dirty="0">
                <a:solidFill>
                  <a:srgbClr val="6A9955"/>
                </a:solidFill>
                <a:effectLst/>
                <a:latin typeface="Consolas" panose="020B0609020204030204" pitchFamily="49" charset="0"/>
              </a:rPr>
              <a:t>// Tenta di leggere un intero dall'input dell'utente</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"Il numero inserito è: "</a:t>
            </a:r>
            <a:r>
              <a:rPr lang="it-IT" sz="1000" b="0" dirty="0">
                <a:solidFill>
                  <a:srgbClr val="D4D4D4"/>
                </a:solidFill>
                <a:effectLst/>
                <a:latin typeface="Consolas" panose="020B0609020204030204" pitchFamily="49" charset="0"/>
              </a:rPr>
              <a:t> + numero)</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 </a:t>
            </a:r>
            <a:r>
              <a:rPr lang="it-IT" sz="1000" b="0" dirty="0">
                <a:solidFill>
                  <a:srgbClr val="569CD6"/>
                </a:solidFill>
                <a:effectLst/>
                <a:latin typeface="Consolas" panose="020B0609020204030204" pitchFamily="49" charset="0"/>
              </a:rPr>
              <a:t>catch</a:t>
            </a:r>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InputMismatchException</a:t>
            </a:r>
            <a:r>
              <a:rPr lang="it-IT" sz="1000" b="0" dirty="0">
                <a:solidFill>
                  <a:srgbClr val="D4D4D4"/>
                </a:solidFill>
                <a:effectLst/>
                <a:latin typeface="Consolas" panose="020B0609020204030204" pitchFamily="49" charset="0"/>
              </a:rPr>
              <a:t> e) {</a:t>
            </a:r>
          </a:p>
          <a:p>
            <a:r>
              <a:rPr lang="it-IT" sz="1000" b="0" dirty="0">
                <a:solidFill>
                  <a:srgbClr val="D4D4D4"/>
                </a:solidFill>
                <a:effectLst/>
                <a:latin typeface="Consolas" panose="020B0609020204030204" pitchFamily="49" charset="0"/>
              </a:rPr>
              <a:t>            </a:t>
            </a:r>
            <a:r>
              <a:rPr lang="it-IT" sz="1000" b="0" dirty="0" err="1">
                <a:solidFill>
                  <a:srgbClr val="D4D4D4"/>
                </a:solidFill>
                <a:effectLst/>
                <a:latin typeface="Consolas" panose="020B0609020204030204" pitchFamily="49" charset="0"/>
              </a:rPr>
              <a:t>System.out.println</a:t>
            </a:r>
            <a:r>
              <a:rPr lang="it-IT" sz="1000" b="0" dirty="0">
                <a:solidFill>
                  <a:srgbClr val="D4D4D4"/>
                </a:solidFill>
                <a:effectLst/>
                <a:latin typeface="Consolas" panose="020B0609020204030204" pitchFamily="49" charset="0"/>
              </a:rPr>
              <a:t>(</a:t>
            </a:r>
            <a:r>
              <a:rPr lang="it-IT" sz="1000" b="0" dirty="0">
                <a:solidFill>
                  <a:srgbClr val="CE9178"/>
                </a:solidFill>
                <a:effectLst/>
                <a:latin typeface="Consolas" panose="020B0609020204030204" pitchFamily="49" charset="0"/>
              </a:rPr>
              <a:t>"Input non valido"</a:t>
            </a:r>
            <a:r>
              <a:rPr lang="it-IT" sz="1000" b="0" dirty="0">
                <a:solidFill>
                  <a:srgbClr val="D4D4D4"/>
                </a:solidFill>
                <a:effectLst/>
                <a:latin typeface="Consolas" panose="020B0609020204030204" pitchFamily="49" charset="0"/>
              </a:rPr>
              <a:t>)</a:t>
            </a:r>
            <a:r>
              <a:rPr lang="it-IT" sz="1000" b="0" dirty="0">
                <a:solidFill>
                  <a:srgbClr val="569CD6"/>
                </a:solidFill>
                <a:effectLst/>
                <a:latin typeface="Consolas" panose="020B0609020204030204" pitchFamily="49" charset="0"/>
              </a:rPr>
              <a:t>;</a:t>
            </a:r>
            <a:endParaRPr lang="it-IT" sz="1000" b="0" dirty="0">
              <a:solidFill>
                <a:srgbClr val="D4D4D4"/>
              </a:solidFill>
              <a:effectLst/>
              <a:latin typeface="Consolas" panose="020B0609020204030204" pitchFamily="49" charset="0"/>
            </a:endParaRP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    }</a:t>
            </a:r>
          </a:p>
          <a:p>
            <a:r>
              <a:rPr lang="it-IT" sz="1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1463441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se l’utente inserisce un testo non valido?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TRY - CATCH </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183860"/>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Gestione degli errori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192975" y="1617870"/>
            <a:ext cx="3280558" cy="2754600"/>
          </a:xfrm>
          <a:prstGeom prst="rect">
            <a:avLst/>
          </a:prstGeom>
          <a:noFill/>
        </p:spPr>
        <p:txBody>
          <a:bodyPr wrap="square">
            <a:spAutoFit/>
          </a:bodyPr>
          <a:lstStyle/>
          <a:p>
            <a:pPr algn="l"/>
            <a:r>
              <a:rPr lang="it-IT" sz="1500" b="0" i="0" dirty="0">
                <a:solidFill>
                  <a:srgbClr val="050E17"/>
                </a:solidFill>
                <a:effectLst/>
                <a:latin typeface="-apple-system"/>
              </a:rPr>
              <a:t>In questo esempio, il blocco </a:t>
            </a:r>
            <a:r>
              <a:rPr lang="it-IT" sz="1500" b="0" i="0" dirty="0" err="1">
                <a:solidFill>
                  <a:srgbClr val="050E17"/>
                </a:solidFill>
                <a:effectLst/>
                <a:latin typeface="-apple-system"/>
              </a:rPr>
              <a:t>try</a:t>
            </a:r>
            <a:r>
              <a:rPr lang="it-IT" sz="1500" b="0" i="0" dirty="0">
                <a:solidFill>
                  <a:srgbClr val="050E17"/>
                </a:solidFill>
                <a:effectLst/>
                <a:latin typeface="-apple-system"/>
              </a:rPr>
              <a:t> contiene il metodo </a:t>
            </a:r>
            <a:r>
              <a:rPr lang="it-IT" sz="1500" b="0" i="0" dirty="0" err="1">
                <a:solidFill>
                  <a:srgbClr val="050E17"/>
                </a:solidFill>
                <a:effectLst/>
                <a:latin typeface="-apple-system"/>
              </a:rPr>
              <a:t>nextInt</a:t>
            </a:r>
            <a:r>
              <a:rPr lang="it-IT" sz="1500" b="0" i="0" dirty="0">
                <a:solidFill>
                  <a:srgbClr val="050E17"/>
                </a:solidFill>
                <a:effectLst/>
                <a:latin typeface="-apple-system"/>
              </a:rPr>
              <a:t>() della classe Scanner che tenta di leggere un intero dall'input dell'utente.  </a:t>
            </a:r>
            <a:r>
              <a:rPr lang="it-IT" sz="1600" b="0" i="0" dirty="0">
                <a:solidFill>
                  <a:srgbClr val="050E17"/>
                </a:solidFill>
                <a:effectLst/>
                <a:latin typeface="-apple-system"/>
              </a:rPr>
              <a:t>Se l'input non è un intero valido, viene generata un'eccezione di tipo </a:t>
            </a:r>
            <a:r>
              <a:rPr lang="it-IT" sz="1600" b="0" i="0" dirty="0" err="1">
                <a:solidFill>
                  <a:srgbClr val="050E17"/>
                </a:solidFill>
                <a:effectLst/>
                <a:latin typeface="-apple-system"/>
              </a:rPr>
              <a:t>InputMismatchException</a:t>
            </a:r>
            <a:r>
              <a:rPr lang="it-IT" sz="1600" b="0" i="0" dirty="0">
                <a:solidFill>
                  <a:srgbClr val="050E17"/>
                </a:solidFill>
                <a:effectLst/>
                <a:latin typeface="-apple-system"/>
              </a:rPr>
              <a:t>. Il blocco catch contiene il codice per gestire l'eccezione. In questo caso, il messaggio "Input non valido" viene stampato sulla console.</a:t>
            </a:r>
            <a:endParaRPr lang="it-IT" sz="1600" dirty="0">
              <a:solidFill>
                <a:srgbClr val="050E17"/>
              </a:solidFill>
              <a:latin typeface="-apple-system"/>
            </a:endParaRPr>
          </a:p>
        </p:txBody>
      </p:sp>
      <p:sp>
        <p:nvSpPr>
          <p:cNvPr id="5" name="CasellaDiTesto 4">
            <a:extLst>
              <a:ext uri="{FF2B5EF4-FFF2-40B4-BE49-F238E27FC236}">
                <a16:creationId xmlns:a16="http://schemas.microsoft.com/office/drawing/2014/main" id="{002F3D22-68F5-73AF-232A-00F844718C9E}"/>
              </a:ext>
            </a:extLst>
          </p:cNvPr>
          <p:cNvSpPr txBox="1"/>
          <p:nvPr/>
        </p:nvSpPr>
        <p:spPr>
          <a:xfrm>
            <a:off x="3680503" y="842786"/>
            <a:ext cx="7981066" cy="3945183"/>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2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import</a:t>
            </a: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2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java.util.Scanner</a:t>
            </a:r>
            <a:r>
              <a:rPr lang="en-GB" sz="12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2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2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class</a:t>
            </a: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2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MyClass</a:t>
            </a: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2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2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static</a:t>
            </a: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2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main(String[] </a:t>
            </a:r>
            <a:r>
              <a:rPr lang="en-GB" sz="12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args</a:t>
            </a: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 </a:t>
            </a:r>
            <a:r>
              <a:rPr lang="en-GB" sz="12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a:t>
            </a: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GB" sz="12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Scanner(System.in)</a:t>
            </a:r>
            <a:r>
              <a:rPr lang="en-GB" sz="12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2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2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"Inserisci un numero intero: "</a:t>
            </a:r>
            <a:r>
              <a:rPr lang="it-IT"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2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2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try</a:t>
            </a:r>
            <a:r>
              <a:rPr lang="it-IT"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2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it-IT"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numero = </a:t>
            </a:r>
            <a:r>
              <a:rPr lang="it-IT" sz="12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myScanner.nextInt</a:t>
            </a:r>
            <a:r>
              <a:rPr lang="it-IT"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2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200" kern="0" dirty="0">
                <a:solidFill>
                  <a:srgbClr val="6A9955"/>
                </a:solidFill>
                <a:effectLst/>
                <a:latin typeface="Consolas" panose="020B0609020204030204" pitchFamily="49" charset="0"/>
                <a:ea typeface="Times New Roman" panose="02020603050405020304" pitchFamily="18" charset="0"/>
                <a:cs typeface="Times New Roman" panose="02020603050405020304" pitchFamily="18" charset="0"/>
              </a:rPr>
              <a:t>// Tenta di leggere un intero dall'input dell'utente</a:t>
            </a:r>
            <a:endParaRPr lang="it-IT"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2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2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"Il numero inserito è: "</a:t>
            </a:r>
            <a:r>
              <a:rPr lang="it-IT"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numero)</a:t>
            </a:r>
            <a:r>
              <a:rPr lang="it-IT" sz="12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2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catch</a:t>
            </a: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2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NumberFormatException</a:t>
            </a: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e) {</a:t>
            </a:r>
            <a:endParaRPr lang="it-IT"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2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GB" sz="12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"Input non </a:t>
            </a:r>
            <a:r>
              <a:rPr lang="en-GB" sz="1200" kern="0" dirty="0" err="1">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valido</a:t>
            </a:r>
            <a:r>
              <a:rPr lang="en-GB" sz="12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GB" sz="12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2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CasellaDiTesto 13">
            <a:extLst>
              <a:ext uri="{FF2B5EF4-FFF2-40B4-BE49-F238E27FC236}">
                <a16:creationId xmlns:a16="http://schemas.microsoft.com/office/drawing/2014/main" id="{EB0F9203-6A42-938E-5E5A-90E0BAC33CA9}"/>
              </a:ext>
            </a:extLst>
          </p:cNvPr>
          <p:cNvSpPr txBox="1"/>
          <p:nvPr/>
        </p:nvSpPr>
        <p:spPr>
          <a:xfrm>
            <a:off x="169223" y="4855084"/>
            <a:ext cx="11599223" cy="923330"/>
          </a:xfrm>
          <a:prstGeom prst="rect">
            <a:avLst/>
          </a:prstGeom>
          <a:noFill/>
        </p:spPr>
        <p:txBody>
          <a:bodyPr wrap="square">
            <a:spAutoFit/>
          </a:bodyPr>
          <a:lstStyle/>
          <a:p>
            <a:pPr algn="l"/>
            <a:r>
              <a:rPr lang="it-IT" sz="1800" b="0" i="0" dirty="0">
                <a:solidFill>
                  <a:srgbClr val="050E17"/>
                </a:solidFill>
                <a:effectLst/>
                <a:latin typeface="-apple-system"/>
              </a:rPr>
              <a:t>In generale, il costrutto </a:t>
            </a:r>
            <a:r>
              <a:rPr lang="it-IT" sz="1800" b="0" i="0" dirty="0" err="1">
                <a:solidFill>
                  <a:srgbClr val="050E17"/>
                </a:solidFill>
                <a:effectLst/>
                <a:latin typeface="-apple-system"/>
              </a:rPr>
              <a:t>try</a:t>
            </a:r>
            <a:r>
              <a:rPr lang="it-IT" sz="1800" b="0" i="0" dirty="0">
                <a:solidFill>
                  <a:srgbClr val="050E17"/>
                </a:solidFill>
                <a:effectLst/>
                <a:latin typeface="-apple-system"/>
              </a:rPr>
              <a:t>-catch può essere utilizzato per gestire qualsiasi tipo di eccezione che può verificarsi durante l'esecuzione di un programma. È importante prevedere e gestire le eccezioni in modo da garantire che il programma funzioni correttamente anche in presenza di errori o situazioni impreviste.</a:t>
            </a:r>
          </a:p>
        </p:txBody>
      </p:sp>
    </p:spTree>
    <p:extLst>
      <p:ext uri="{BB962C8B-B14F-4D97-AF65-F5344CB8AC3E}">
        <p14:creationId xmlns:p14="http://schemas.microsoft.com/office/powerpoint/2010/main" val="11169627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Il controllo del flusso</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Gestire le condizioni (cicli)</a:t>
            </a: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31590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if, switch, for, </a:t>
            </a:r>
            <a:r>
              <a:rPr lang="it-IT" b="1" i="0" u="sng" dirty="0" err="1">
                <a:solidFill>
                  <a:srgbClr val="050E17"/>
                </a:solidFill>
                <a:effectLst/>
                <a:latin typeface="-apple-system"/>
              </a:rPr>
              <a:t>while</a:t>
            </a:r>
            <a:endParaRPr lang="it-IT" b="1" i="0" u="sng" dirty="0">
              <a:solidFill>
                <a:srgbClr val="050E17"/>
              </a:solidFill>
              <a:effectLst/>
              <a:latin typeface="-apple-system"/>
            </a:endParaRP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1477328"/>
          </a:xfrm>
          <a:prstGeom prst="rect">
            <a:avLst/>
          </a:prstGeom>
          <a:noFill/>
        </p:spPr>
        <p:txBody>
          <a:bodyPr wrap="square">
            <a:spAutoFit/>
          </a:bodyPr>
          <a:lstStyle/>
          <a:p>
            <a:r>
              <a:rPr lang="it-IT" dirty="0"/>
              <a:t>Le istruzioni di controllo di flusso in Java consentono di controllare il flusso di esecuzione del programma in base a determinate condizioni o iterazioni. Qui di seguito troverai una breve spiegazione delle istruzioni di controllo di flusso più comuni in Java.</a:t>
            </a:r>
          </a:p>
        </p:txBody>
      </p:sp>
    </p:spTree>
    <p:extLst>
      <p:ext uri="{BB962C8B-B14F-4D97-AF65-F5344CB8AC3E}">
        <p14:creationId xmlns:p14="http://schemas.microsoft.com/office/powerpoint/2010/main" val="6170112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if</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646331"/>
          </a:xfrm>
          <a:prstGeom prst="rect">
            <a:avLst/>
          </a:prstGeom>
          <a:noFill/>
        </p:spPr>
        <p:txBody>
          <a:bodyPr wrap="square">
            <a:spAutoFit/>
          </a:bodyPr>
          <a:lstStyle/>
          <a:p>
            <a:r>
              <a:rPr lang="it-IT" dirty="0"/>
              <a:t>L'istruzione "if" permette di eseguire del codice solo se una determinata condizione è verificata. </a:t>
            </a:r>
          </a:p>
        </p:txBody>
      </p:sp>
    </p:spTree>
    <p:extLst>
      <p:ext uri="{BB962C8B-B14F-4D97-AF65-F5344CB8AC3E}">
        <p14:creationId xmlns:p14="http://schemas.microsoft.com/office/powerpoint/2010/main" val="38644094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if</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646331"/>
          </a:xfrm>
          <a:prstGeom prst="rect">
            <a:avLst/>
          </a:prstGeom>
          <a:noFill/>
        </p:spPr>
        <p:txBody>
          <a:bodyPr wrap="square">
            <a:spAutoFit/>
          </a:bodyPr>
          <a:lstStyle/>
          <a:p>
            <a:r>
              <a:rPr lang="it-IT" dirty="0"/>
              <a:t>L'istruzione "if" permette di eseguire del codice solo se una determinata condizione è verificata. </a:t>
            </a:r>
          </a:p>
        </p:txBody>
      </p:sp>
      <p:sp>
        <p:nvSpPr>
          <p:cNvPr id="3" name="CasellaDiTesto 2">
            <a:extLst>
              <a:ext uri="{FF2B5EF4-FFF2-40B4-BE49-F238E27FC236}">
                <a16:creationId xmlns:a16="http://schemas.microsoft.com/office/drawing/2014/main" id="{CC97D984-F596-0E70-79D3-F7F795CA9FFE}"/>
              </a:ext>
            </a:extLst>
          </p:cNvPr>
          <p:cNvSpPr txBox="1"/>
          <p:nvPr/>
        </p:nvSpPr>
        <p:spPr>
          <a:xfrm>
            <a:off x="3931722" y="2244331"/>
            <a:ext cx="6097978" cy="923330"/>
          </a:xfrm>
          <a:prstGeom prst="rect">
            <a:avLst/>
          </a:prstGeom>
          <a:solidFill>
            <a:schemeClr val="tx1">
              <a:lumMod val="85000"/>
              <a:lumOff val="15000"/>
            </a:schemeClr>
          </a:solidFill>
        </p:spPr>
        <p:txBody>
          <a:bodyPr wrap="square">
            <a:spAutoFit/>
          </a:bodyPr>
          <a:lstStyle/>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if</a:t>
            </a:r>
            <a:r>
              <a:rPr lang="it-IT" b="0" dirty="0">
                <a:solidFill>
                  <a:srgbClr val="D4D4D4"/>
                </a:solidFill>
                <a:effectLst/>
                <a:latin typeface="Consolas" panose="020B0609020204030204" pitchFamily="49" charset="0"/>
              </a:rPr>
              <a:t> (x &gt; </a:t>
            </a:r>
            <a:r>
              <a:rPr lang="it-IT" b="0" dirty="0">
                <a:solidFill>
                  <a:srgbClr val="B5CEA8"/>
                </a:solidFill>
                <a:effectLst/>
                <a:latin typeface="Consolas" panose="020B0609020204030204" pitchFamily="49" charset="0"/>
              </a:rPr>
              <a:t>0</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"x è positivo"</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p:txBody>
      </p:sp>
      <p:sp>
        <p:nvSpPr>
          <p:cNvPr id="9" name="CasellaDiTesto 8">
            <a:extLst>
              <a:ext uri="{FF2B5EF4-FFF2-40B4-BE49-F238E27FC236}">
                <a16:creationId xmlns:a16="http://schemas.microsoft.com/office/drawing/2014/main" id="{35C38340-2BCA-6D88-6B2A-9118E63143BC}"/>
              </a:ext>
            </a:extLst>
          </p:cNvPr>
          <p:cNvSpPr txBox="1"/>
          <p:nvPr/>
        </p:nvSpPr>
        <p:spPr>
          <a:xfrm>
            <a:off x="3826965" y="1755961"/>
            <a:ext cx="6097978" cy="369332"/>
          </a:xfrm>
          <a:prstGeom prst="rect">
            <a:avLst/>
          </a:prstGeom>
          <a:noFill/>
        </p:spPr>
        <p:txBody>
          <a:bodyPr wrap="square">
            <a:spAutoFit/>
          </a:bodyPr>
          <a:lstStyle/>
          <a:p>
            <a:r>
              <a:rPr lang="it-IT" dirty="0"/>
              <a:t>Ad esempio:</a:t>
            </a:r>
          </a:p>
        </p:txBody>
      </p:sp>
    </p:spTree>
    <p:extLst>
      <p:ext uri="{BB962C8B-B14F-4D97-AF65-F5344CB8AC3E}">
        <p14:creationId xmlns:p14="http://schemas.microsoft.com/office/powerpoint/2010/main" val="3598383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if</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646331"/>
          </a:xfrm>
          <a:prstGeom prst="rect">
            <a:avLst/>
          </a:prstGeom>
          <a:noFill/>
        </p:spPr>
        <p:txBody>
          <a:bodyPr wrap="square">
            <a:spAutoFit/>
          </a:bodyPr>
          <a:lstStyle/>
          <a:p>
            <a:r>
              <a:rPr lang="it-IT" dirty="0"/>
              <a:t>L'istruzione "if" permette di eseguire del codice solo se una determinata condizione è verificata. </a:t>
            </a:r>
          </a:p>
        </p:txBody>
      </p:sp>
      <p:sp>
        <p:nvSpPr>
          <p:cNvPr id="3" name="CasellaDiTesto 2">
            <a:extLst>
              <a:ext uri="{FF2B5EF4-FFF2-40B4-BE49-F238E27FC236}">
                <a16:creationId xmlns:a16="http://schemas.microsoft.com/office/drawing/2014/main" id="{CC97D984-F596-0E70-79D3-F7F795CA9FFE}"/>
              </a:ext>
            </a:extLst>
          </p:cNvPr>
          <p:cNvSpPr txBox="1"/>
          <p:nvPr/>
        </p:nvSpPr>
        <p:spPr>
          <a:xfrm>
            <a:off x="3931722" y="2244331"/>
            <a:ext cx="6097978" cy="923330"/>
          </a:xfrm>
          <a:prstGeom prst="rect">
            <a:avLst/>
          </a:prstGeom>
          <a:solidFill>
            <a:schemeClr val="tx1">
              <a:lumMod val="85000"/>
              <a:lumOff val="15000"/>
            </a:schemeClr>
          </a:solidFill>
        </p:spPr>
        <p:txBody>
          <a:bodyPr wrap="square">
            <a:spAutoFit/>
          </a:bodyPr>
          <a:lstStyle/>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if</a:t>
            </a:r>
            <a:r>
              <a:rPr lang="it-IT" b="0" dirty="0">
                <a:solidFill>
                  <a:srgbClr val="D4D4D4"/>
                </a:solidFill>
                <a:effectLst/>
                <a:latin typeface="Consolas" panose="020B0609020204030204" pitchFamily="49" charset="0"/>
              </a:rPr>
              <a:t> (x &gt; </a:t>
            </a:r>
            <a:r>
              <a:rPr lang="it-IT" b="0" dirty="0">
                <a:solidFill>
                  <a:srgbClr val="B5CEA8"/>
                </a:solidFill>
                <a:effectLst/>
                <a:latin typeface="Consolas" panose="020B0609020204030204" pitchFamily="49" charset="0"/>
              </a:rPr>
              <a:t>0</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"x è positivo"</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p:txBody>
      </p:sp>
      <p:sp>
        <p:nvSpPr>
          <p:cNvPr id="7" name="CasellaDiTesto 6">
            <a:extLst>
              <a:ext uri="{FF2B5EF4-FFF2-40B4-BE49-F238E27FC236}">
                <a16:creationId xmlns:a16="http://schemas.microsoft.com/office/drawing/2014/main" id="{F20368F9-2D08-7A1D-B30B-619E9352F725}"/>
              </a:ext>
            </a:extLst>
          </p:cNvPr>
          <p:cNvSpPr txBox="1"/>
          <p:nvPr/>
        </p:nvSpPr>
        <p:spPr>
          <a:xfrm>
            <a:off x="3826965" y="3568971"/>
            <a:ext cx="6097978" cy="646331"/>
          </a:xfrm>
          <a:prstGeom prst="rect">
            <a:avLst/>
          </a:prstGeom>
          <a:noFill/>
        </p:spPr>
        <p:txBody>
          <a:bodyPr wrap="square">
            <a:spAutoFit/>
          </a:bodyPr>
          <a:lstStyle/>
          <a:p>
            <a:r>
              <a:rPr lang="it-IT" dirty="0"/>
              <a:t>In questo esempio, il codice all'interno delle parentesi graffe verrà eseguito solo se la variabile "x" è maggiore di 0.</a:t>
            </a:r>
          </a:p>
        </p:txBody>
      </p:sp>
      <p:sp>
        <p:nvSpPr>
          <p:cNvPr id="9" name="CasellaDiTesto 8">
            <a:extLst>
              <a:ext uri="{FF2B5EF4-FFF2-40B4-BE49-F238E27FC236}">
                <a16:creationId xmlns:a16="http://schemas.microsoft.com/office/drawing/2014/main" id="{35C38340-2BCA-6D88-6B2A-9118E63143BC}"/>
              </a:ext>
            </a:extLst>
          </p:cNvPr>
          <p:cNvSpPr txBox="1"/>
          <p:nvPr/>
        </p:nvSpPr>
        <p:spPr>
          <a:xfrm>
            <a:off x="3826965" y="1755961"/>
            <a:ext cx="6097978" cy="369332"/>
          </a:xfrm>
          <a:prstGeom prst="rect">
            <a:avLst/>
          </a:prstGeom>
          <a:noFill/>
        </p:spPr>
        <p:txBody>
          <a:bodyPr wrap="square">
            <a:spAutoFit/>
          </a:bodyPr>
          <a:lstStyle/>
          <a:p>
            <a:r>
              <a:rPr lang="it-IT" dirty="0"/>
              <a:t>Ad esempio:</a:t>
            </a:r>
          </a:p>
        </p:txBody>
      </p:sp>
    </p:spTree>
    <p:extLst>
      <p:ext uri="{BB962C8B-B14F-4D97-AF65-F5344CB8AC3E}">
        <p14:creationId xmlns:p14="http://schemas.microsoft.com/office/powerpoint/2010/main" val="15153766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switch</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646331"/>
          </a:xfrm>
          <a:prstGeom prst="rect">
            <a:avLst/>
          </a:prstGeom>
          <a:noFill/>
        </p:spPr>
        <p:txBody>
          <a:bodyPr wrap="square">
            <a:spAutoFit/>
          </a:bodyPr>
          <a:lstStyle/>
          <a:p>
            <a:r>
              <a:rPr lang="it-IT" dirty="0"/>
              <a:t>L'istruzione "switch" permette di eseguire del codice diverso in base al valore di una variabile. Ad esempio:</a:t>
            </a:r>
          </a:p>
        </p:txBody>
      </p:sp>
      <p:sp>
        <p:nvSpPr>
          <p:cNvPr id="3" name="CasellaDiTesto 2">
            <a:extLst>
              <a:ext uri="{FF2B5EF4-FFF2-40B4-BE49-F238E27FC236}">
                <a16:creationId xmlns:a16="http://schemas.microsoft.com/office/drawing/2014/main" id="{CC97D984-F596-0E70-79D3-F7F795CA9FFE}"/>
              </a:ext>
            </a:extLst>
          </p:cNvPr>
          <p:cNvSpPr txBox="1"/>
          <p:nvPr/>
        </p:nvSpPr>
        <p:spPr>
          <a:xfrm>
            <a:off x="3927762" y="1819423"/>
            <a:ext cx="8125691"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switch</a:t>
            </a:r>
            <a:r>
              <a:rPr lang="it-IT" b="0" dirty="0">
                <a:solidFill>
                  <a:srgbClr val="D4D4D4"/>
                </a:solidFill>
                <a:effectLst/>
                <a:latin typeface="Consolas" panose="020B0609020204030204" pitchFamily="49" charset="0"/>
              </a:rPr>
              <a:t> (giorno)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case</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1</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"Lunedì"</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break;</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case</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2</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"Martedì"</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break;</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6A9955"/>
                </a:solidFill>
                <a:effectLst/>
                <a:latin typeface="Consolas" panose="020B0609020204030204" pitchFamily="49" charset="0"/>
              </a:rPr>
              <a:t>// altri casi possibili</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default</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"Giorno non valido"</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p:txBody>
      </p:sp>
    </p:spTree>
    <p:extLst>
      <p:ext uri="{BB962C8B-B14F-4D97-AF65-F5344CB8AC3E}">
        <p14:creationId xmlns:p14="http://schemas.microsoft.com/office/powerpoint/2010/main" val="26330024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switch</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646331"/>
          </a:xfrm>
          <a:prstGeom prst="rect">
            <a:avLst/>
          </a:prstGeom>
          <a:noFill/>
        </p:spPr>
        <p:txBody>
          <a:bodyPr wrap="square">
            <a:spAutoFit/>
          </a:bodyPr>
          <a:lstStyle/>
          <a:p>
            <a:r>
              <a:rPr lang="it-IT" dirty="0"/>
              <a:t>L'istruzione "switch" permette di eseguire del codice diverso in base al valore di una variabile. Ad esempio:</a:t>
            </a:r>
          </a:p>
        </p:txBody>
      </p:sp>
      <p:sp>
        <p:nvSpPr>
          <p:cNvPr id="3" name="CasellaDiTesto 2">
            <a:extLst>
              <a:ext uri="{FF2B5EF4-FFF2-40B4-BE49-F238E27FC236}">
                <a16:creationId xmlns:a16="http://schemas.microsoft.com/office/drawing/2014/main" id="{CC97D984-F596-0E70-79D3-F7F795CA9FFE}"/>
              </a:ext>
            </a:extLst>
          </p:cNvPr>
          <p:cNvSpPr txBox="1"/>
          <p:nvPr/>
        </p:nvSpPr>
        <p:spPr>
          <a:xfrm>
            <a:off x="3927762" y="1819423"/>
            <a:ext cx="8125691"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switch</a:t>
            </a:r>
            <a:r>
              <a:rPr lang="it-IT" b="0" dirty="0">
                <a:solidFill>
                  <a:srgbClr val="D4D4D4"/>
                </a:solidFill>
                <a:effectLst/>
                <a:latin typeface="Consolas" panose="020B0609020204030204" pitchFamily="49" charset="0"/>
              </a:rPr>
              <a:t> (giorno)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case</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1</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"Lunedì"</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break;</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case</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2</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"Martedì"</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break;</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6A9955"/>
                </a:solidFill>
                <a:effectLst/>
                <a:latin typeface="Consolas" panose="020B0609020204030204" pitchFamily="49" charset="0"/>
              </a:rPr>
              <a:t>// altri casi possibili</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default</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"Giorno non valido"</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p:txBody>
      </p:sp>
      <p:sp>
        <p:nvSpPr>
          <p:cNvPr id="7" name="CasellaDiTesto 6">
            <a:extLst>
              <a:ext uri="{FF2B5EF4-FFF2-40B4-BE49-F238E27FC236}">
                <a16:creationId xmlns:a16="http://schemas.microsoft.com/office/drawing/2014/main" id="{F20368F9-2D08-7A1D-B30B-619E9352F725}"/>
              </a:ext>
            </a:extLst>
          </p:cNvPr>
          <p:cNvSpPr txBox="1"/>
          <p:nvPr/>
        </p:nvSpPr>
        <p:spPr>
          <a:xfrm>
            <a:off x="3927762" y="5048433"/>
            <a:ext cx="6097978" cy="646331"/>
          </a:xfrm>
          <a:prstGeom prst="rect">
            <a:avLst/>
          </a:prstGeom>
          <a:noFill/>
        </p:spPr>
        <p:txBody>
          <a:bodyPr wrap="square">
            <a:spAutoFit/>
          </a:bodyPr>
          <a:lstStyle/>
          <a:p>
            <a:r>
              <a:rPr lang="it-IT" dirty="0"/>
              <a:t>In questo esempio, il codice all'interno del caso corretto verrà eseguito in base al valore della variabile "giorno". </a:t>
            </a:r>
            <a:endParaRPr lang="it-IT" dirty="0">
              <a:highlight>
                <a:srgbClr val="FFFF00"/>
              </a:highlight>
            </a:endParaRPr>
          </a:p>
        </p:txBody>
      </p:sp>
    </p:spTree>
    <p:extLst>
      <p:ext uri="{BB962C8B-B14F-4D97-AF65-F5344CB8AC3E}">
        <p14:creationId xmlns:p14="http://schemas.microsoft.com/office/powerpoint/2010/main" val="24138556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switch</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646331"/>
          </a:xfrm>
          <a:prstGeom prst="rect">
            <a:avLst/>
          </a:prstGeom>
          <a:noFill/>
        </p:spPr>
        <p:txBody>
          <a:bodyPr wrap="square">
            <a:spAutoFit/>
          </a:bodyPr>
          <a:lstStyle/>
          <a:p>
            <a:r>
              <a:rPr lang="it-IT" dirty="0"/>
              <a:t>L'istruzione "switch" permette di eseguire del codice diverso in base al valore di una variabile. Ad esempio:</a:t>
            </a:r>
          </a:p>
        </p:txBody>
      </p:sp>
      <p:sp>
        <p:nvSpPr>
          <p:cNvPr id="3" name="CasellaDiTesto 2">
            <a:extLst>
              <a:ext uri="{FF2B5EF4-FFF2-40B4-BE49-F238E27FC236}">
                <a16:creationId xmlns:a16="http://schemas.microsoft.com/office/drawing/2014/main" id="{CC97D984-F596-0E70-79D3-F7F795CA9FFE}"/>
              </a:ext>
            </a:extLst>
          </p:cNvPr>
          <p:cNvSpPr txBox="1"/>
          <p:nvPr/>
        </p:nvSpPr>
        <p:spPr>
          <a:xfrm>
            <a:off x="3927762" y="1819423"/>
            <a:ext cx="8125691"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switch</a:t>
            </a:r>
            <a:r>
              <a:rPr lang="it-IT" b="0" dirty="0">
                <a:solidFill>
                  <a:srgbClr val="D4D4D4"/>
                </a:solidFill>
                <a:effectLst/>
                <a:latin typeface="Consolas" panose="020B0609020204030204" pitchFamily="49" charset="0"/>
              </a:rPr>
              <a:t> (giorno)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case</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1</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"Lunedì"</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break;</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case</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2</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"Martedì"</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break;</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6A9955"/>
                </a:solidFill>
                <a:effectLst/>
                <a:latin typeface="Consolas" panose="020B0609020204030204" pitchFamily="49" charset="0"/>
              </a:rPr>
              <a:t>// altri casi possibili</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default</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"Giorno non valido"</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p:txBody>
      </p:sp>
      <p:sp>
        <p:nvSpPr>
          <p:cNvPr id="7" name="CasellaDiTesto 6">
            <a:extLst>
              <a:ext uri="{FF2B5EF4-FFF2-40B4-BE49-F238E27FC236}">
                <a16:creationId xmlns:a16="http://schemas.microsoft.com/office/drawing/2014/main" id="{F20368F9-2D08-7A1D-B30B-619E9352F725}"/>
              </a:ext>
            </a:extLst>
          </p:cNvPr>
          <p:cNvSpPr txBox="1"/>
          <p:nvPr/>
        </p:nvSpPr>
        <p:spPr>
          <a:xfrm>
            <a:off x="3927762" y="5048433"/>
            <a:ext cx="6097978" cy="1200329"/>
          </a:xfrm>
          <a:prstGeom prst="rect">
            <a:avLst/>
          </a:prstGeom>
          <a:noFill/>
        </p:spPr>
        <p:txBody>
          <a:bodyPr wrap="square">
            <a:spAutoFit/>
          </a:bodyPr>
          <a:lstStyle/>
          <a:p>
            <a:r>
              <a:rPr lang="it-IT" dirty="0"/>
              <a:t>In questo esempio, il codice all'interno del caso corretto verrà eseguito in base al valore della variabile "giorno". </a:t>
            </a:r>
          </a:p>
          <a:p>
            <a:r>
              <a:rPr lang="it-IT" dirty="0"/>
              <a:t>Se nessun caso corretto viene trovato, il codice all'interno della clausola "default" verrà eseguito. </a:t>
            </a:r>
            <a:endParaRPr lang="it-IT" dirty="0">
              <a:highlight>
                <a:srgbClr val="FFFF00"/>
              </a:highlight>
            </a:endParaRPr>
          </a:p>
        </p:txBody>
      </p:sp>
    </p:spTree>
    <p:extLst>
      <p:ext uri="{BB962C8B-B14F-4D97-AF65-F5344CB8AC3E}">
        <p14:creationId xmlns:p14="http://schemas.microsoft.com/office/powerpoint/2010/main" val="28582568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switch</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646331"/>
          </a:xfrm>
          <a:prstGeom prst="rect">
            <a:avLst/>
          </a:prstGeom>
          <a:noFill/>
        </p:spPr>
        <p:txBody>
          <a:bodyPr wrap="square">
            <a:spAutoFit/>
          </a:bodyPr>
          <a:lstStyle/>
          <a:p>
            <a:r>
              <a:rPr lang="it-IT" dirty="0"/>
              <a:t>L'istruzione "switch" permette di eseguire del codice diverso in base al valore di una variabile. Ad esempio:</a:t>
            </a:r>
          </a:p>
        </p:txBody>
      </p:sp>
      <p:sp>
        <p:nvSpPr>
          <p:cNvPr id="3" name="CasellaDiTesto 2">
            <a:extLst>
              <a:ext uri="{FF2B5EF4-FFF2-40B4-BE49-F238E27FC236}">
                <a16:creationId xmlns:a16="http://schemas.microsoft.com/office/drawing/2014/main" id="{CC97D984-F596-0E70-79D3-F7F795CA9FFE}"/>
              </a:ext>
            </a:extLst>
          </p:cNvPr>
          <p:cNvSpPr txBox="1"/>
          <p:nvPr/>
        </p:nvSpPr>
        <p:spPr>
          <a:xfrm>
            <a:off x="3927762" y="1819423"/>
            <a:ext cx="8125691" cy="3139321"/>
          </a:xfrm>
          <a:prstGeom prst="rect">
            <a:avLst/>
          </a:prstGeom>
          <a:solidFill>
            <a:schemeClr val="tx1">
              <a:lumMod val="85000"/>
              <a:lumOff val="15000"/>
            </a:schemeClr>
          </a:solidFill>
        </p:spPr>
        <p:txBody>
          <a:bodyPr wrap="square">
            <a:spAutoFit/>
          </a:bodyPr>
          <a:lstStyle/>
          <a:p>
            <a:r>
              <a:rPr lang="it-IT" b="0" dirty="0">
                <a:solidFill>
                  <a:srgbClr val="569CD6"/>
                </a:solidFill>
                <a:effectLst/>
                <a:latin typeface="Consolas" panose="020B0609020204030204" pitchFamily="49" charset="0"/>
              </a:rPr>
              <a:t>switch</a:t>
            </a:r>
            <a:r>
              <a:rPr lang="it-IT" b="0" dirty="0">
                <a:solidFill>
                  <a:srgbClr val="D4D4D4"/>
                </a:solidFill>
                <a:effectLst/>
                <a:latin typeface="Consolas" panose="020B0609020204030204" pitchFamily="49" charset="0"/>
              </a:rPr>
              <a:t> (giorno)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case</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1</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"Lunedì"</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break;</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case</a:t>
            </a:r>
            <a:r>
              <a:rPr lang="it-IT" b="0" dirty="0">
                <a:solidFill>
                  <a:srgbClr val="D4D4D4"/>
                </a:solidFill>
                <a:effectLst/>
                <a:latin typeface="Consolas" panose="020B0609020204030204" pitchFamily="49" charset="0"/>
              </a:rPr>
              <a:t> </a:t>
            </a:r>
            <a:r>
              <a:rPr lang="it-IT" b="0" dirty="0">
                <a:solidFill>
                  <a:srgbClr val="B5CEA8"/>
                </a:solidFill>
                <a:effectLst/>
                <a:latin typeface="Consolas" panose="020B0609020204030204" pitchFamily="49" charset="0"/>
              </a:rPr>
              <a:t>2</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"Martedì"</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break;</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6A9955"/>
                </a:solidFill>
                <a:effectLst/>
                <a:latin typeface="Consolas" panose="020B0609020204030204" pitchFamily="49" charset="0"/>
              </a:rPr>
              <a:t>// altri casi possibili</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default</a:t>
            </a:r>
            <a:r>
              <a:rPr lang="it-IT" b="0" dirty="0">
                <a:solidFill>
                  <a:srgbClr val="D4D4D4"/>
                </a:solidFill>
                <a:effectLst/>
                <a:latin typeface="Consolas" panose="020B0609020204030204" pitchFamily="49" charset="0"/>
              </a:rPr>
              <a:t>:</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"Giorno non valido"</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p:txBody>
      </p:sp>
      <p:sp>
        <p:nvSpPr>
          <p:cNvPr id="7" name="CasellaDiTesto 6">
            <a:extLst>
              <a:ext uri="{FF2B5EF4-FFF2-40B4-BE49-F238E27FC236}">
                <a16:creationId xmlns:a16="http://schemas.microsoft.com/office/drawing/2014/main" id="{F20368F9-2D08-7A1D-B30B-619E9352F725}"/>
              </a:ext>
            </a:extLst>
          </p:cNvPr>
          <p:cNvSpPr txBox="1"/>
          <p:nvPr/>
        </p:nvSpPr>
        <p:spPr>
          <a:xfrm>
            <a:off x="3927762" y="5048433"/>
            <a:ext cx="6097978" cy="1477328"/>
          </a:xfrm>
          <a:prstGeom prst="rect">
            <a:avLst/>
          </a:prstGeom>
          <a:noFill/>
        </p:spPr>
        <p:txBody>
          <a:bodyPr wrap="square">
            <a:spAutoFit/>
          </a:bodyPr>
          <a:lstStyle/>
          <a:p>
            <a:r>
              <a:rPr lang="it-IT" dirty="0"/>
              <a:t>In questo esempio, il codice all'interno del caso corretto verrà eseguito in base al valore della variabile "giorno". </a:t>
            </a:r>
          </a:p>
          <a:p>
            <a:r>
              <a:rPr lang="it-IT" dirty="0"/>
              <a:t>Se nessun caso corretto viene trovato, il codice all'interno della clausola "default" verrà eseguito. </a:t>
            </a:r>
          </a:p>
          <a:p>
            <a:r>
              <a:rPr lang="it-IT" dirty="0">
                <a:highlight>
                  <a:srgbClr val="FFFF00"/>
                </a:highlight>
              </a:rPr>
              <a:t>Viene usato, essenzialmente, come un concatenamento di if.</a:t>
            </a:r>
          </a:p>
        </p:txBody>
      </p:sp>
    </p:spTree>
    <p:extLst>
      <p:ext uri="{BB962C8B-B14F-4D97-AF65-F5344CB8AC3E}">
        <p14:creationId xmlns:p14="http://schemas.microsoft.com/office/powerpoint/2010/main" val="33907245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err="1">
                <a:solidFill>
                  <a:srgbClr val="050E17"/>
                </a:solidFill>
                <a:effectLst/>
                <a:latin typeface="-apple-system"/>
              </a:rPr>
              <a:t>while</a:t>
            </a:r>
            <a:endParaRPr lang="it-IT" b="1" i="0" u="sng" dirty="0">
              <a:solidFill>
                <a:srgbClr val="050E17"/>
              </a:solidFill>
              <a:effectLst/>
              <a:latin typeface="-apple-system"/>
            </a:endParaRP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646331"/>
          </a:xfrm>
          <a:prstGeom prst="rect">
            <a:avLst/>
          </a:prstGeom>
          <a:noFill/>
        </p:spPr>
        <p:txBody>
          <a:bodyPr wrap="square">
            <a:spAutoFit/>
          </a:bodyPr>
          <a:lstStyle/>
          <a:p>
            <a:r>
              <a:rPr lang="it-IT" dirty="0"/>
              <a:t>L'istruzione "</a:t>
            </a:r>
            <a:r>
              <a:rPr lang="it-IT" dirty="0" err="1"/>
              <a:t>while</a:t>
            </a:r>
            <a:r>
              <a:rPr lang="it-IT" dirty="0"/>
              <a:t>" permette di eseguire un blocco di codice finché una determinata condizione è verificata. </a:t>
            </a:r>
          </a:p>
        </p:txBody>
      </p:sp>
    </p:spTree>
    <p:extLst>
      <p:ext uri="{BB962C8B-B14F-4D97-AF65-F5344CB8AC3E}">
        <p14:creationId xmlns:p14="http://schemas.microsoft.com/office/powerpoint/2010/main" val="35067955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err="1">
                <a:solidFill>
                  <a:srgbClr val="050E17"/>
                </a:solidFill>
                <a:effectLst/>
                <a:latin typeface="-apple-system"/>
              </a:rPr>
              <a:t>while</a:t>
            </a:r>
            <a:endParaRPr lang="it-IT" b="1" i="0" u="sng" dirty="0">
              <a:solidFill>
                <a:srgbClr val="050E17"/>
              </a:solidFill>
              <a:effectLst/>
              <a:latin typeface="-apple-system"/>
            </a:endParaRP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923330"/>
          </a:xfrm>
          <a:prstGeom prst="rect">
            <a:avLst/>
          </a:prstGeom>
          <a:noFill/>
        </p:spPr>
        <p:txBody>
          <a:bodyPr wrap="square">
            <a:spAutoFit/>
          </a:bodyPr>
          <a:lstStyle/>
          <a:p>
            <a:r>
              <a:rPr lang="it-IT" dirty="0"/>
              <a:t>L'istruzione "</a:t>
            </a:r>
            <a:r>
              <a:rPr lang="it-IT" dirty="0" err="1"/>
              <a:t>while</a:t>
            </a:r>
            <a:r>
              <a:rPr lang="it-IT" dirty="0"/>
              <a:t>" permette di eseguire un blocco di codice finché una determinata condizione è verificata. </a:t>
            </a:r>
          </a:p>
          <a:p>
            <a:r>
              <a:rPr lang="it-IT" dirty="0"/>
              <a:t>Ad esempio:</a:t>
            </a:r>
          </a:p>
        </p:txBody>
      </p:sp>
      <p:sp>
        <p:nvSpPr>
          <p:cNvPr id="3" name="CasellaDiTesto 2">
            <a:extLst>
              <a:ext uri="{FF2B5EF4-FFF2-40B4-BE49-F238E27FC236}">
                <a16:creationId xmlns:a16="http://schemas.microsoft.com/office/drawing/2014/main" id="{CC97D984-F596-0E70-79D3-F7F795CA9FFE}"/>
              </a:ext>
            </a:extLst>
          </p:cNvPr>
          <p:cNvSpPr txBox="1"/>
          <p:nvPr/>
        </p:nvSpPr>
        <p:spPr>
          <a:xfrm>
            <a:off x="3927763" y="1951672"/>
            <a:ext cx="8125691" cy="1477328"/>
          </a:xfrm>
          <a:prstGeom prst="rect">
            <a:avLst/>
          </a:prstGeom>
          <a:solidFill>
            <a:schemeClr val="tx1">
              <a:lumMod val="85000"/>
              <a:lumOff val="15000"/>
            </a:schemeClr>
          </a:solidFill>
        </p:spPr>
        <p:txBody>
          <a:bodyPr wrap="square">
            <a:spAutoFit/>
          </a:bodyPr>
          <a:lstStyle/>
          <a:p>
            <a:r>
              <a:rPr lang="nn-NO" b="0" dirty="0">
                <a:solidFill>
                  <a:srgbClr val="569CD6"/>
                </a:solidFill>
                <a:effectLst/>
                <a:latin typeface="Consolas" panose="020B0609020204030204" pitchFamily="49" charset="0"/>
              </a:rPr>
              <a:t>int</a:t>
            </a:r>
            <a:r>
              <a:rPr lang="nn-NO" b="0" dirty="0">
                <a:solidFill>
                  <a:srgbClr val="D4D4D4"/>
                </a:solidFill>
                <a:effectLst/>
                <a:latin typeface="Consolas" panose="020B0609020204030204" pitchFamily="49" charset="0"/>
              </a:rPr>
              <a:t> i = </a:t>
            </a:r>
            <a:r>
              <a:rPr lang="nn-NO" b="0" dirty="0">
                <a:solidFill>
                  <a:srgbClr val="B5CEA8"/>
                </a:solidFill>
                <a:effectLst/>
                <a:latin typeface="Consolas" panose="020B0609020204030204" pitchFamily="49" charset="0"/>
              </a:rPr>
              <a:t>0</a:t>
            </a:r>
            <a:r>
              <a:rPr lang="nn-NO" b="0" dirty="0">
                <a:solidFill>
                  <a:srgbClr val="569CD6"/>
                </a:solidFill>
                <a:effectLst/>
                <a:latin typeface="Consolas" panose="020B0609020204030204" pitchFamily="49" charset="0"/>
              </a:rPr>
              <a:t>;</a:t>
            </a:r>
            <a:endParaRPr lang="nn-NO" b="0" dirty="0">
              <a:solidFill>
                <a:srgbClr val="D4D4D4"/>
              </a:solidFill>
              <a:effectLst/>
              <a:latin typeface="Consolas" panose="020B0609020204030204" pitchFamily="49" charset="0"/>
            </a:endParaRPr>
          </a:p>
          <a:p>
            <a:r>
              <a:rPr lang="nn-NO" b="0" dirty="0">
                <a:solidFill>
                  <a:srgbClr val="569CD6"/>
                </a:solidFill>
                <a:effectLst/>
                <a:latin typeface="Consolas" panose="020B0609020204030204" pitchFamily="49" charset="0"/>
              </a:rPr>
              <a:t>while</a:t>
            </a:r>
            <a:r>
              <a:rPr lang="nn-NO" b="0" dirty="0">
                <a:solidFill>
                  <a:srgbClr val="D4D4D4"/>
                </a:solidFill>
                <a:effectLst/>
                <a:latin typeface="Consolas" panose="020B0609020204030204" pitchFamily="49" charset="0"/>
              </a:rPr>
              <a:t> (i &lt; </a:t>
            </a:r>
            <a:r>
              <a:rPr lang="nn-NO" b="0" dirty="0">
                <a:solidFill>
                  <a:srgbClr val="B5CEA8"/>
                </a:solidFill>
                <a:effectLst/>
                <a:latin typeface="Consolas" panose="020B0609020204030204" pitchFamily="49" charset="0"/>
              </a:rPr>
              <a:t>10</a:t>
            </a:r>
            <a:r>
              <a:rPr lang="nn-NO" b="0" dirty="0">
                <a:solidFill>
                  <a:srgbClr val="D4D4D4"/>
                </a:solidFill>
                <a:effectLst/>
                <a:latin typeface="Consolas" panose="020B0609020204030204" pitchFamily="49" charset="0"/>
              </a:rPr>
              <a:t>) {</a:t>
            </a:r>
          </a:p>
          <a:p>
            <a:r>
              <a:rPr lang="nn-NO" b="0" dirty="0">
                <a:solidFill>
                  <a:srgbClr val="D4D4D4"/>
                </a:solidFill>
                <a:effectLst/>
                <a:latin typeface="Consolas" panose="020B0609020204030204" pitchFamily="49" charset="0"/>
              </a:rPr>
              <a:t>  System.out.println(i)</a:t>
            </a:r>
            <a:r>
              <a:rPr lang="nn-NO" b="0" dirty="0">
                <a:solidFill>
                  <a:srgbClr val="569CD6"/>
                </a:solidFill>
                <a:effectLst/>
                <a:latin typeface="Consolas" panose="020B0609020204030204" pitchFamily="49" charset="0"/>
              </a:rPr>
              <a:t>;</a:t>
            </a:r>
            <a:endParaRPr lang="nn-NO" b="0" dirty="0">
              <a:solidFill>
                <a:srgbClr val="D4D4D4"/>
              </a:solidFill>
              <a:effectLst/>
              <a:latin typeface="Consolas" panose="020B0609020204030204" pitchFamily="49" charset="0"/>
            </a:endParaRPr>
          </a:p>
          <a:p>
            <a:r>
              <a:rPr lang="nn-NO" b="0" dirty="0">
                <a:solidFill>
                  <a:srgbClr val="D4D4D4"/>
                </a:solidFill>
                <a:effectLst/>
                <a:latin typeface="Consolas" panose="020B0609020204030204" pitchFamily="49" charset="0"/>
              </a:rPr>
              <a:t>  i++</a:t>
            </a:r>
            <a:r>
              <a:rPr lang="nn-NO" b="0" dirty="0">
                <a:solidFill>
                  <a:srgbClr val="569CD6"/>
                </a:solidFill>
                <a:effectLst/>
                <a:latin typeface="Consolas" panose="020B0609020204030204" pitchFamily="49" charset="0"/>
              </a:rPr>
              <a:t>;</a:t>
            </a:r>
            <a:endParaRPr lang="nn-NO" b="0" dirty="0">
              <a:solidFill>
                <a:srgbClr val="D4D4D4"/>
              </a:solidFill>
              <a:effectLst/>
              <a:latin typeface="Consolas" panose="020B0609020204030204" pitchFamily="49" charset="0"/>
            </a:endParaRPr>
          </a:p>
          <a:p>
            <a:r>
              <a:rPr lang="nn-NO"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7547363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err="1">
                <a:solidFill>
                  <a:srgbClr val="050E17"/>
                </a:solidFill>
                <a:effectLst/>
                <a:latin typeface="-apple-system"/>
              </a:rPr>
              <a:t>while</a:t>
            </a:r>
            <a:endParaRPr lang="it-IT" b="1" i="0" u="sng" dirty="0">
              <a:solidFill>
                <a:srgbClr val="050E17"/>
              </a:solidFill>
              <a:effectLst/>
              <a:latin typeface="-apple-system"/>
            </a:endParaRP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923330"/>
          </a:xfrm>
          <a:prstGeom prst="rect">
            <a:avLst/>
          </a:prstGeom>
          <a:noFill/>
        </p:spPr>
        <p:txBody>
          <a:bodyPr wrap="square">
            <a:spAutoFit/>
          </a:bodyPr>
          <a:lstStyle/>
          <a:p>
            <a:r>
              <a:rPr lang="it-IT" dirty="0"/>
              <a:t>L'istruzione "</a:t>
            </a:r>
            <a:r>
              <a:rPr lang="it-IT" dirty="0" err="1"/>
              <a:t>while</a:t>
            </a:r>
            <a:r>
              <a:rPr lang="it-IT" dirty="0"/>
              <a:t>" permette di eseguire un blocco di codice finché una determinata condizione è verificata. </a:t>
            </a:r>
          </a:p>
          <a:p>
            <a:r>
              <a:rPr lang="it-IT" dirty="0"/>
              <a:t>Ad esempio:</a:t>
            </a:r>
          </a:p>
        </p:txBody>
      </p:sp>
      <p:sp>
        <p:nvSpPr>
          <p:cNvPr id="3" name="CasellaDiTesto 2">
            <a:extLst>
              <a:ext uri="{FF2B5EF4-FFF2-40B4-BE49-F238E27FC236}">
                <a16:creationId xmlns:a16="http://schemas.microsoft.com/office/drawing/2014/main" id="{CC97D984-F596-0E70-79D3-F7F795CA9FFE}"/>
              </a:ext>
            </a:extLst>
          </p:cNvPr>
          <p:cNvSpPr txBox="1"/>
          <p:nvPr/>
        </p:nvSpPr>
        <p:spPr>
          <a:xfrm>
            <a:off x="3927763" y="1951672"/>
            <a:ext cx="8125691" cy="1477328"/>
          </a:xfrm>
          <a:prstGeom prst="rect">
            <a:avLst/>
          </a:prstGeom>
          <a:solidFill>
            <a:schemeClr val="tx1">
              <a:lumMod val="85000"/>
              <a:lumOff val="15000"/>
            </a:schemeClr>
          </a:solidFill>
        </p:spPr>
        <p:txBody>
          <a:bodyPr wrap="square">
            <a:spAutoFit/>
          </a:bodyPr>
          <a:lstStyle/>
          <a:p>
            <a:r>
              <a:rPr lang="nn-NO" b="0" dirty="0">
                <a:solidFill>
                  <a:srgbClr val="569CD6"/>
                </a:solidFill>
                <a:effectLst/>
                <a:latin typeface="Consolas" panose="020B0609020204030204" pitchFamily="49" charset="0"/>
              </a:rPr>
              <a:t>int</a:t>
            </a:r>
            <a:r>
              <a:rPr lang="nn-NO" b="0" dirty="0">
                <a:solidFill>
                  <a:srgbClr val="D4D4D4"/>
                </a:solidFill>
                <a:effectLst/>
                <a:latin typeface="Consolas" panose="020B0609020204030204" pitchFamily="49" charset="0"/>
              </a:rPr>
              <a:t> i = </a:t>
            </a:r>
            <a:r>
              <a:rPr lang="nn-NO" b="0" dirty="0">
                <a:solidFill>
                  <a:srgbClr val="B5CEA8"/>
                </a:solidFill>
                <a:effectLst/>
                <a:latin typeface="Consolas" panose="020B0609020204030204" pitchFamily="49" charset="0"/>
              </a:rPr>
              <a:t>0</a:t>
            </a:r>
            <a:r>
              <a:rPr lang="nn-NO" b="0" dirty="0">
                <a:solidFill>
                  <a:srgbClr val="569CD6"/>
                </a:solidFill>
                <a:effectLst/>
                <a:latin typeface="Consolas" panose="020B0609020204030204" pitchFamily="49" charset="0"/>
              </a:rPr>
              <a:t>;</a:t>
            </a:r>
            <a:endParaRPr lang="nn-NO" b="0" dirty="0">
              <a:solidFill>
                <a:srgbClr val="D4D4D4"/>
              </a:solidFill>
              <a:effectLst/>
              <a:latin typeface="Consolas" panose="020B0609020204030204" pitchFamily="49" charset="0"/>
            </a:endParaRPr>
          </a:p>
          <a:p>
            <a:r>
              <a:rPr lang="nn-NO" b="0" dirty="0">
                <a:solidFill>
                  <a:srgbClr val="569CD6"/>
                </a:solidFill>
                <a:effectLst/>
                <a:latin typeface="Consolas" panose="020B0609020204030204" pitchFamily="49" charset="0"/>
              </a:rPr>
              <a:t>while</a:t>
            </a:r>
            <a:r>
              <a:rPr lang="nn-NO" b="0" dirty="0">
                <a:solidFill>
                  <a:srgbClr val="D4D4D4"/>
                </a:solidFill>
                <a:effectLst/>
                <a:latin typeface="Consolas" panose="020B0609020204030204" pitchFamily="49" charset="0"/>
              </a:rPr>
              <a:t> (i &lt; </a:t>
            </a:r>
            <a:r>
              <a:rPr lang="nn-NO" b="0" dirty="0">
                <a:solidFill>
                  <a:srgbClr val="B5CEA8"/>
                </a:solidFill>
                <a:effectLst/>
                <a:latin typeface="Consolas" panose="020B0609020204030204" pitchFamily="49" charset="0"/>
              </a:rPr>
              <a:t>10</a:t>
            </a:r>
            <a:r>
              <a:rPr lang="nn-NO" b="0" dirty="0">
                <a:solidFill>
                  <a:srgbClr val="D4D4D4"/>
                </a:solidFill>
                <a:effectLst/>
                <a:latin typeface="Consolas" panose="020B0609020204030204" pitchFamily="49" charset="0"/>
              </a:rPr>
              <a:t>) {</a:t>
            </a:r>
          </a:p>
          <a:p>
            <a:r>
              <a:rPr lang="nn-NO" b="0" dirty="0">
                <a:solidFill>
                  <a:srgbClr val="D4D4D4"/>
                </a:solidFill>
                <a:effectLst/>
                <a:latin typeface="Consolas" panose="020B0609020204030204" pitchFamily="49" charset="0"/>
              </a:rPr>
              <a:t>  System.out.println(i)</a:t>
            </a:r>
            <a:r>
              <a:rPr lang="nn-NO" b="0" dirty="0">
                <a:solidFill>
                  <a:srgbClr val="569CD6"/>
                </a:solidFill>
                <a:effectLst/>
                <a:latin typeface="Consolas" panose="020B0609020204030204" pitchFamily="49" charset="0"/>
              </a:rPr>
              <a:t>;</a:t>
            </a:r>
            <a:endParaRPr lang="nn-NO" b="0" dirty="0">
              <a:solidFill>
                <a:srgbClr val="D4D4D4"/>
              </a:solidFill>
              <a:effectLst/>
              <a:latin typeface="Consolas" panose="020B0609020204030204" pitchFamily="49" charset="0"/>
            </a:endParaRPr>
          </a:p>
          <a:p>
            <a:r>
              <a:rPr lang="nn-NO" b="0" dirty="0">
                <a:solidFill>
                  <a:srgbClr val="D4D4D4"/>
                </a:solidFill>
                <a:effectLst/>
                <a:latin typeface="Consolas" panose="020B0609020204030204" pitchFamily="49" charset="0"/>
              </a:rPr>
              <a:t>  i++</a:t>
            </a:r>
            <a:r>
              <a:rPr lang="nn-NO" b="0" dirty="0">
                <a:solidFill>
                  <a:srgbClr val="569CD6"/>
                </a:solidFill>
                <a:effectLst/>
                <a:latin typeface="Consolas" panose="020B0609020204030204" pitchFamily="49" charset="0"/>
              </a:rPr>
              <a:t>;</a:t>
            </a:r>
            <a:endParaRPr lang="nn-NO" b="0" dirty="0">
              <a:solidFill>
                <a:srgbClr val="D4D4D4"/>
              </a:solidFill>
              <a:effectLst/>
              <a:latin typeface="Consolas" panose="020B0609020204030204" pitchFamily="49" charset="0"/>
            </a:endParaRPr>
          </a:p>
          <a:p>
            <a:r>
              <a:rPr lang="nn-NO" b="0" dirty="0">
                <a:solidFill>
                  <a:srgbClr val="D4D4D4"/>
                </a:solidFill>
                <a:effectLst/>
                <a:latin typeface="Consolas" panose="020B0609020204030204" pitchFamily="49" charset="0"/>
              </a:rPr>
              <a:t>}</a:t>
            </a:r>
          </a:p>
        </p:txBody>
      </p:sp>
      <p:sp>
        <p:nvSpPr>
          <p:cNvPr id="7" name="CasellaDiTesto 6">
            <a:extLst>
              <a:ext uri="{FF2B5EF4-FFF2-40B4-BE49-F238E27FC236}">
                <a16:creationId xmlns:a16="http://schemas.microsoft.com/office/drawing/2014/main" id="{F20368F9-2D08-7A1D-B30B-619E9352F725}"/>
              </a:ext>
            </a:extLst>
          </p:cNvPr>
          <p:cNvSpPr txBox="1"/>
          <p:nvPr/>
        </p:nvSpPr>
        <p:spPr>
          <a:xfrm>
            <a:off x="3927763" y="3561249"/>
            <a:ext cx="6097978" cy="923330"/>
          </a:xfrm>
          <a:prstGeom prst="rect">
            <a:avLst/>
          </a:prstGeom>
          <a:noFill/>
        </p:spPr>
        <p:txBody>
          <a:bodyPr wrap="square">
            <a:spAutoFit/>
          </a:bodyPr>
          <a:lstStyle/>
          <a:p>
            <a:r>
              <a:rPr lang="it-IT" dirty="0"/>
              <a:t>In questo esempio, il blocco di codice all'interno delle parentesi graffe verrà eseguito finché la variabile "i" è minore di 10, con la variabile "i" che aumenta di 1 ad ogni iterazione.</a:t>
            </a:r>
          </a:p>
        </p:txBody>
      </p:sp>
    </p:spTree>
    <p:extLst>
      <p:ext uri="{BB962C8B-B14F-4D97-AF65-F5344CB8AC3E}">
        <p14:creationId xmlns:p14="http://schemas.microsoft.com/office/powerpoint/2010/main" val="8407047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for</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923330"/>
          </a:xfrm>
          <a:prstGeom prst="rect">
            <a:avLst/>
          </a:prstGeom>
          <a:noFill/>
        </p:spPr>
        <p:txBody>
          <a:bodyPr wrap="square">
            <a:spAutoFit/>
          </a:bodyPr>
          <a:lstStyle/>
          <a:p>
            <a:r>
              <a:rPr lang="it-IT" dirty="0"/>
              <a:t>L'istruzione "for"  funziona essenzialmente tipo </a:t>
            </a:r>
            <a:r>
              <a:rPr lang="it-IT" dirty="0" err="1"/>
              <a:t>while</a:t>
            </a:r>
            <a:r>
              <a:rPr lang="it-IT" dirty="0"/>
              <a:t>, con la particolarità che possiede la possibilità di definire una istruzione una tantum all’inizio ed una istruzione iterativa.</a:t>
            </a:r>
          </a:p>
        </p:txBody>
      </p:sp>
    </p:spTree>
    <p:extLst>
      <p:ext uri="{BB962C8B-B14F-4D97-AF65-F5344CB8AC3E}">
        <p14:creationId xmlns:p14="http://schemas.microsoft.com/office/powerpoint/2010/main" val="38268425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for</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1477328"/>
          </a:xfrm>
          <a:prstGeom prst="rect">
            <a:avLst/>
          </a:prstGeom>
          <a:noFill/>
        </p:spPr>
        <p:txBody>
          <a:bodyPr wrap="square">
            <a:spAutoFit/>
          </a:bodyPr>
          <a:lstStyle/>
          <a:p>
            <a:r>
              <a:rPr lang="it-IT" dirty="0"/>
              <a:t>L'istruzione "for"  funziona essenzialmente tipo </a:t>
            </a:r>
            <a:r>
              <a:rPr lang="it-IT" dirty="0" err="1"/>
              <a:t>while</a:t>
            </a:r>
            <a:r>
              <a:rPr lang="it-IT" dirty="0"/>
              <a:t>, con la particolarità che possiede la possibilità di definire una istruzione una tantum all’inizio ed una istruzione iterativa.</a:t>
            </a:r>
          </a:p>
          <a:p>
            <a:endParaRPr lang="it-IT" dirty="0"/>
          </a:p>
          <a:p>
            <a:r>
              <a:rPr lang="it-IT" dirty="0"/>
              <a:t>for (istruzione una tantum; condizione; istruzione iterativa)</a:t>
            </a:r>
          </a:p>
        </p:txBody>
      </p:sp>
    </p:spTree>
    <p:extLst>
      <p:ext uri="{BB962C8B-B14F-4D97-AF65-F5344CB8AC3E}">
        <p14:creationId xmlns:p14="http://schemas.microsoft.com/office/powerpoint/2010/main" val="7047400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for</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2585323"/>
          </a:xfrm>
          <a:prstGeom prst="rect">
            <a:avLst/>
          </a:prstGeom>
          <a:noFill/>
        </p:spPr>
        <p:txBody>
          <a:bodyPr wrap="square">
            <a:spAutoFit/>
          </a:bodyPr>
          <a:lstStyle/>
          <a:p>
            <a:r>
              <a:rPr lang="it-IT" dirty="0"/>
              <a:t>L'istruzione "for"  funziona essenzialmente tipo </a:t>
            </a:r>
            <a:r>
              <a:rPr lang="it-IT" dirty="0" err="1"/>
              <a:t>while</a:t>
            </a:r>
            <a:r>
              <a:rPr lang="it-IT" dirty="0"/>
              <a:t>, con la particolarità che possiede la possibilità di definire una istruzione una tantum all’inizio ed una istruzione iterativa.</a:t>
            </a:r>
          </a:p>
          <a:p>
            <a:endParaRPr lang="it-IT" dirty="0"/>
          </a:p>
          <a:p>
            <a:r>
              <a:rPr lang="it-IT" dirty="0"/>
              <a:t>for (istruzione una tantum; condizione; istruzione iterativa)</a:t>
            </a:r>
          </a:p>
          <a:p>
            <a:endParaRPr lang="it-IT" dirty="0"/>
          </a:p>
          <a:p>
            <a:r>
              <a:rPr lang="it-IT" dirty="0"/>
              <a:t>E per via di questa struttura, viene spesso usata per creare cicli di conteggio, ossia eseguire un blocco di codice per un certo numero di iterazioni. </a:t>
            </a:r>
          </a:p>
        </p:txBody>
      </p:sp>
    </p:spTree>
    <p:extLst>
      <p:ext uri="{BB962C8B-B14F-4D97-AF65-F5344CB8AC3E}">
        <p14:creationId xmlns:p14="http://schemas.microsoft.com/office/powerpoint/2010/main" val="17245227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for</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3416320"/>
          </a:xfrm>
          <a:prstGeom prst="rect">
            <a:avLst/>
          </a:prstGeom>
          <a:noFill/>
        </p:spPr>
        <p:txBody>
          <a:bodyPr wrap="square">
            <a:spAutoFit/>
          </a:bodyPr>
          <a:lstStyle/>
          <a:p>
            <a:r>
              <a:rPr lang="it-IT" dirty="0"/>
              <a:t>L'istruzione "for"  funziona essenzialmente tipo </a:t>
            </a:r>
            <a:r>
              <a:rPr lang="it-IT" dirty="0" err="1"/>
              <a:t>while</a:t>
            </a:r>
            <a:r>
              <a:rPr lang="it-IT" dirty="0"/>
              <a:t>, con la particolarità che possiede la possibilità di definire una istruzione una tantum all’inizio ed una istruzione iterativa.</a:t>
            </a:r>
          </a:p>
          <a:p>
            <a:endParaRPr lang="it-IT" dirty="0"/>
          </a:p>
          <a:p>
            <a:r>
              <a:rPr lang="it-IT" dirty="0"/>
              <a:t>for (istruzione una tantum; condizione; istruzione iterativa)</a:t>
            </a:r>
          </a:p>
          <a:p>
            <a:endParaRPr lang="it-IT" dirty="0"/>
          </a:p>
          <a:p>
            <a:r>
              <a:rPr lang="it-IT" dirty="0"/>
              <a:t>E per via di questa struttura, viene spesso usata per creare cicli di conteggio, ossia eseguire un blocco di codice per un certo numero di iterazioni. </a:t>
            </a:r>
          </a:p>
          <a:p>
            <a:endParaRPr lang="it-IT" dirty="0"/>
          </a:p>
          <a:p>
            <a:r>
              <a:rPr lang="it-IT" dirty="0"/>
              <a:t>Ad esempio:</a:t>
            </a:r>
          </a:p>
          <a:p>
            <a:endParaRPr lang="it-IT" dirty="0"/>
          </a:p>
        </p:txBody>
      </p:sp>
      <p:sp>
        <p:nvSpPr>
          <p:cNvPr id="5" name="CasellaDiTesto 4">
            <a:extLst>
              <a:ext uri="{FF2B5EF4-FFF2-40B4-BE49-F238E27FC236}">
                <a16:creationId xmlns:a16="http://schemas.microsoft.com/office/drawing/2014/main" id="{D6E61E98-2187-A03B-5C2B-B261BF7D7EAC}"/>
              </a:ext>
            </a:extLst>
          </p:cNvPr>
          <p:cNvSpPr txBox="1"/>
          <p:nvPr/>
        </p:nvSpPr>
        <p:spPr>
          <a:xfrm>
            <a:off x="3805194" y="4335966"/>
            <a:ext cx="6097978" cy="923330"/>
          </a:xfrm>
          <a:prstGeom prst="rect">
            <a:avLst/>
          </a:prstGeom>
          <a:solidFill>
            <a:schemeClr val="tx1">
              <a:lumMod val="85000"/>
              <a:lumOff val="15000"/>
            </a:schemeClr>
          </a:solidFill>
        </p:spPr>
        <p:txBody>
          <a:bodyPr wrap="square">
            <a:spAutoFit/>
          </a:bodyPr>
          <a:lstStyle/>
          <a:p>
            <a:r>
              <a:rPr lang="nn-NO" b="0">
                <a:solidFill>
                  <a:srgbClr val="569CD6"/>
                </a:solidFill>
                <a:effectLst/>
                <a:latin typeface="Consolas" panose="020B0609020204030204" pitchFamily="49" charset="0"/>
              </a:rPr>
              <a:t>for</a:t>
            </a:r>
            <a:r>
              <a:rPr lang="nn-NO" b="0">
                <a:solidFill>
                  <a:srgbClr val="D4D4D4"/>
                </a:solidFill>
                <a:effectLst/>
                <a:latin typeface="Consolas" panose="020B0609020204030204" pitchFamily="49" charset="0"/>
              </a:rPr>
              <a:t> (</a:t>
            </a:r>
            <a:r>
              <a:rPr lang="nn-NO" b="0">
                <a:solidFill>
                  <a:srgbClr val="569CD6"/>
                </a:solidFill>
                <a:effectLst/>
                <a:latin typeface="Consolas" panose="020B0609020204030204" pitchFamily="49" charset="0"/>
              </a:rPr>
              <a:t>int</a:t>
            </a:r>
            <a:r>
              <a:rPr lang="nn-NO" b="0">
                <a:solidFill>
                  <a:srgbClr val="D4D4D4"/>
                </a:solidFill>
                <a:effectLst/>
                <a:latin typeface="Consolas" panose="020B0609020204030204" pitchFamily="49" charset="0"/>
              </a:rPr>
              <a:t> i = </a:t>
            </a:r>
            <a:r>
              <a:rPr lang="nn-NO" b="0">
                <a:solidFill>
                  <a:srgbClr val="B5CEA8"/>
                </a:solidFill>
                <a:effectLst/>
                <a:latin typeface="Consolas" panose="020B0609020204030204" pitchFamily="49" charset="0"/>
              </a:rPr>
              <a:t>0</a:t>
            </a:r>
            <a:r>
              <a:rPr lang="nn-NO" b="0">
                <a:solidFill>
                  <a:srgbClr val="569CD6"/>
                </a:solidFill>
                <a:effectLst/>
                <a:latin typeface="Consolas" panose="020B0609020204030204" pitchFamily="49" charset="0"/>
              </a:rPr>
              <a:t>;</a:t>
            </a:r>
            <a:r>
              <a:rPr lang="nn-NO" b="0">
                <a:solidFill>
                  <a:srgbClr val="D4D4D4"/>
                </a:solidFill>
                <a:effectLst/>
                <a:latin typeface="Consolas" panose="020B0609020204030204" pitchFamily="49" charset="0"/>
              </a:rPr>
              <a:t> i &lt; </a:t>
            </a:r>
            <a:r>
              <a:rPr lang="nn-NO" b="0">
                <a:solidFill>
                  <a:srgbClr val="B5CEA8"/>
                </a:solidFill>
                <a:effectLst/>
                <a:latin typeface="Consolas" panose="020B0609020204030204" pitchFamily="49" charset="0"/>
              </a:rPr>
              <a:t>10</a:t>
            </a:r>
            <a:r>
              <a:rPr lang="nn-NO" b="0">
                <a:solidFill>
                  <a:srgbClr val="569CD6"/>
                </a:solidFill>
                <a:effectLst/>
                <a:latin typeface="Consolas" panose="020B0609020204030204" pitchFamily="49" charset="0"/>
              </a:rPr>
              <a:t>;</a:t>
            </a:r>
            <a:r>
              <a:rPr lang="nn-NO" b="0">
                <a:solidFill>
                  <a:srgbClr val="D4D4D4"/>
                </a:solidFill>
                <a:effectLst/>
                <a:latin typeface="Consolas" panose="020B0609020204030204" pitchFamily="49" charset="0"/>
              </a:rPr>
              <a:t> i++) {</a:t>
            </a:r>
          </a:p>
          <a:p>
            <a:r>
              <a:rPr lang="nn-NO" b="0">
                <a:solidFill>
                  <a:srgbClr val="D4D4D4"/>
                </a:solidFill>
                <a:effectLst/>
                <a:latin typeface="Consolas" panose="020B0609020204030204" pitchFamily="49" charset="0"/>
              </a:rPr>
              <a:t>            System.out.println(i)</a:t>
            </a:r>
            <a:r>
              <a:rPr lang="nn-NO" b="0">
                <a:solidFill>
                  <a:srgbClr val="569CD6"/>
                </a:solidFill>
                <a:effectLst/>
                <a:latin typeface="Consolas" panose="020B0609020204030204" pitchFamily="49" charset="0"/>
              </a:rPr>
              <a:t>;</a:t>
            </a:r>
            <a:endParaRPr lang="nn-NO" b="0">
              <a:solidFill>
                <a:srgbClr val="D4D4D4"/>
              </a:solidFill>
              <a:effectLst/>
              <a:latin typeface="Consolas" panose="020B0609020204030204" pitchFamily="49" charset="0"/>
            </a:endParaRPr>
          </a:p>
          <a:p>
            <a:r>
              <a:rPr lang="nn-NO" b="0">
                <a:solidFill>
                  <a:srgbClr val="D4D4D4"/>
                </a:solidFill>
                <a:effectLst/>
                <a:latin typeface="Consolas" panose="020B0609020204030204" pitchFamily="49" charset="0"/>
              </a:rPr>
              <a:t>          }</a:t>
            </a:r>
            <a:endParaRPr lang="nn-NO"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655552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for</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3416320"/>
          </a:xfrm>
          <a:prstGeom prst="rect">
            <a:avLst/>
          </a:prstGeom>
          <a:noFill/>
        </p:spPr>
        <p:txBody>
          <a:bodyPr wrap="square">
            <a:spAutoFit/>
          </a:bodyPr>
          <a:lstStyle/>
          <a:p>
            <a:r>
              <a:rPr lang="it-IT" dirty="0"/>
              <a:t>L'istruzione "for"  funziona essenzialmente tipo </a:t>
            </a:r>
            <a:r>
              <a:rPr lang="it-IT" dirty="0" err="1"/>
              <a:t>while</a:t>
            </a:r>
            <a:r>
              <a:rPr lang="it-IT" dirty="0"/>
              <a:t>, con la particolarità che possiede la possibilità di definire una istruzione una tantum all’inizio ed una istruzione iterativa.</a:t>
            </a:r>
          </a:p>
          <a:p>
            <a:endParaRPr lang="it-IT" dirty="0"/>
          </a:p>
          <a:p>
            <a:r>
              <a:rPr lang="it-IT" dirty="0"/>
              <a:t>for (istruzione una tantum; condizione; istruzione iterativa)</a:t>
            </a:r>
          </a:p>
          <a:p>
            <a:endParaRPr lang="it-IT" dirty="0"/>
          </a:p>
          <a:p>
            <a:r>
              <a:rPr lang="it-IT" dirty="0"/>
              <a:t>E per via di questa struttura, viene spesso usata per creare cicli di conteggio, ossia eseguire un blocco di codice per un certo numero di iterazioni. </a:t>
            </a:r>
          </a:p>
          <a:p>
            <a:endParaRPr lang="it-IT" dirty="0"/>
          </a:p>
          <a:p>
            <a:r>
              <a:rPr lang="it-IT" dirty="0"/>
              <a:t>Ad esempio:</a:t>
            </a:r>
          </a:p>
          <a:p>
            <a:endParaRPr lang="it-IT" dirty="0"/>
          </a:p>
        </p:txBody>
      </p:sp>
      <p:sp>
        <p:nvSpPr>
          <p:cNvPr id="5" name="CasellaDiTesto 4">
            <a:extLst>
              <a:ext uri="{FF2B5EF4-FFF2-40B4-BE49-F238E27FC236}">
                <a16:creationId xmlns:a16="http://schemas.microsoft.com/office/drawing/2014/main" id="{D6E61E98-2187-A03B-5C2B-B261BF7D7EAC}"/>
              </a:ext>
            </a:extLst>
          </p:cNvPr>
          <p:cNvSpPr txBox="1"/>
          <p:nvPr/>
        </p:nvSpPr>
        <p:spPr>
          <a:xfrm>
            <a:off x="3805194" y="4335966"/>
            <a:ext cx="6097978" cy="923330"/>
          </a:xfrm>
          <a:prstGeom prst="rect">
            <a:avLst/>
          </a:prstGeom>
          <a:solidFill>
            <a:schemeClr val="tx1">
              <a:lumMod val="85000"/>
              <a:lumOff val="15000"/>
            </a:schemeClr>
          </a:solidFill>
        </p:spPr>
        <p:txBody>
          <a:bodyPr wrap="square">
            <a:spAutoFit/>
          </a:bodyPr>
          <a:lstStyle/>
          <a:p>
            <a:r>
              <a:rPr lang="nn-NO" b="0">
                <a:solidFill>
                  <a:srgbClr val="569CD6"/>
                </a:solidFill>
                <a:effectLst/>
                <a:latin typeface="Consolas" panose="020B0609020204030204" pitchFamily="49" charset="0"/>
              </a:rPr>
              <a:t>for</a:t>
            </a:r>
            <a:r>
              <a:rPr lang="nn-NO" b="0">
                <a:solidFill>
                  <a:srgbClr val="D4D4D4"/>
                </a:solidFill>
                <a:effectLst/>
                <a:latin typeface="Consolas" panose="020B0609020204030204" pitchFamily="49" charset="0"/>
              </a:rPr>
              <a:t> (</a:t>
            </a:r>
            <a:r>
              <a:rPr lang="nn-NO" b="0">
                <a:solidFill>
                  <a:srgbClr val="569CD6"/>
                </a:solidFill>
                <a:effectLst/>
                <a:latin typeface="Consolas" panose="020B0609020204030204" pitchFamily="49" charset="0"/>
              </a:rPr>
              <a:t>int</a:t>
            </a:r>
            <a:r>
              <a:rPr lang="nn-NO" b="0">
                <a:solidFill>
                  <a:srgbClr val="D4D4D4"/>
                </a:solidFill>
                <a:effectLst/>
                <a:latin typeface="Consolas" panose="020B0609020204030204" pitchFamily="49" charset="0"/>
              </a:rPr>
              <a:t> i = </a:t>
            </a:r>
            <a:r>
              <a:rPr lang="nn-NO" b="0">
                <a:solidFill>
                  <a:srgbClr val="B5CEA8"/>
                </a:solidFill>
                <a:effectLst/>
                <a:latin typeface="Consolas" panose="020B0609020204030204" pitchFamily="49" charset="0"/>
              </a:rPr>
              <a:t>0</a:t>
            </a:r>
            <a:r>
              <a:rPr lang="nn-NO" b="0">
                <a:solidFill>
                  <a:srgbClr val="569CD6"/>
                </a:solidFill>
                <a:effectLst/>
                <a:latin typeface="Consolas" panose="020B0609020204030204" pitchFamily="49" charset="0"/>
              </a:rPr>
              <a:t>;</a:t>
            </a:r>
            <a:r>
              <a:rPr lang="nn-NO" b="0">
                <a:solidFill>
                  <a:srgbClr val="D4D4D4"/>
                </a:solidFill>
                <a:effectLst/>
                <a:latin typeface="Consolas" panose="020B0609020204030204" pitchFamily="49" charset="0"/>
              </a:rPr>
              <a:t> i &lt; </a:t>
            </a:r>
            <a:r>
              <a:rPr lang="nn-NO" b="0">
                <a:solidFill>
                  <a:srgbClr val="B5CEA8"/>
                </a:solidFill>
                <a:effectLst/>
                <a:latin typeface="Consolas" panose="020B0609020204030204" pitchFamily="49" charset="0"/>
              </a:rPr>
              <a:t>10</a:t>
            </a:r>
            <a:r>
              <a:rPr lang="nn-NO" b="0">
                <a:solidFill>
                  <a:srgbClr val="569CD6"/>
                </a:solidFill>
                <a:effectLst/>
                <a:latin typeface="Consolas" panose="020B0609020204030204" pitchFamily="49" charset="0"/>
              </a:rPr>
              <a:t>;</a:t>
            </a:r>
            <a:r>
              <a:rPr lang="nn-NO" b="0">
                <a:solidFill>
                  <a:srgbClr val="D4D4D4"/>
                </a:solidFill>
                <a:effectLst/>
                <a:latin typeface="Consolas" panose="020B0609020204030204" pitchFamily="49" charset="0"/>
              </a:rPr>
              <a:t> i++) {</a:t>
            </a:r>
          </a:p>
          <a:p>
            <a:r>
              <a:rPr lang="nn-NO" b="0">
                <a:solidFill>
                  <a:srgbClr val="D4D4D4"/>
                </a:solidFill>
                <a:effectLst/>
                <a:latin typeface="Consolas" panose="020B0609020204030204" pitchFamily="49" charset="0"/>
              </a:rPr>
              <a:t>            System.out.println(i)</a:t>
            </a:r>
            <a:r>
              <a:rPr lang="nn-NO" b="0">
                <a:solidFill>
                  <a:srgbClr val="569CD6"/>
                </a:solidFill>
                <a:effectLst/>
                <a:latin typeface="Consolas" panose="020B0609020204030204" pitchFamily="49" charset="0"/>
              </a:rPr>
              <a:t>;</a:t>
            </a:r>
            <a:endParaRPr lang="nn-NO" b="0">
              <a:solidFill>
                <a:srgbClr val="D4D4D4"/>
              </a:solidFill>
              <a:effectLst/>
              <a:latin typeface="Consolas" panose="020B0609020204030204" pitchFamily="49" charset="0"/>
            </a:endParaRPr>
          </a:p>
          <a:p>
            <a:r>
              <a:rPr lang="nn-NO" b="0">
                <a:solidFill>
                  <a:srgbClr val="D4D4D4"/>
                </a:solidFill>
                <a:effectLst/>
                <a:latin typeface="Consolas" panose="020B0609020204030204" pitchFamily="49" charset="0"/>
              </a:rPr>
              <a:t>          }</a:t>
            </a:r>
            <a:endParaRPr lang="nn-NO" b="0" dirty="0">
              <a:solidFill>
                <a:srgbClr val="D4D4D4"/>
              </a:solidFill>
              <a:effectLst/>
              <a:latin typeface="Consolas" panose="020B0609020204030204" pitchFamily="49" charset="0"/>
            </a:endParaRPr>
          </a:p>
        </p:txBody>
      </p:sp>
      <p:sp>
        <p:nvSpPr>
          <p:cNvPr id="9" name="CasellaDiTesto 8">
            <a:extLst>
              <a:ext uri="{FF2B5EF4-FFF2-40B4-BE49-F238E27FC236}">
                <a16:creationId xmlns:a16="http://schemas.microsoft.com/office/drawing/2014/main" id="{306CA70C-7F9A-6188-6B98-173CCB003B32}"/>
              </a:ext>
            </a:extLst>
          </p:cNvPr>
          <p:cNvSpPr txBox="1"/>
          <p:nvPr/>
        </p:nvSpPr>
        <p:spPr>
          <a:xfrm>
            <a:off x="3775505" y="5467436"/>
            <a:ext cx="6097978" cy="923330"/>
          </a:xfrm>
          <a:prstGeom prst="rect">
            <a:avLst/>
          </a:prstGeom>
          <a:noFill/>
        </p:spPr>
        <p:txBody>
          <a:bodyPr wrap="square">
            <a:spAutoFit/>
          </a:bodyPr>
          <a:lstStyle/>
          <a:p>
            <a:r>
              <a:rPr lang="it-IT" dirty="0"/>
              <a:t>In questo esempio, il blocco di codice all'interno delle parentesi graffe verrà eseguito 10 volte, con la variabile "i" che aumenta di 1 ad ogni iterazione.</a:t>
            </a:r>
          </a:p>
        </p:txBody>
      </p:sp>
    </p:spTree>
    <p:extLst>
      <p:ext uri="{BB962C8B-B14F-4D97-AF65-F5344CB8AC3E}">
        <p14:creationId xmlns:p14="http://schemas.microsoft.com/office/powerpoint/2010/main" val="15542933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OOP</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Classi</a:t>
            </a: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33053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a:t>
            </a:r>
            <a:endParaRPr lang="it-IT" dirty="0"/>
          </a:p>
        </p:txBody>
      </p:sp>
      <p:sp>
        <p:nvSpPr>
          <p:cNvPr id="10" name="CasellaDiTesto 9">
            <a:extLst>
              <a:ext uri="{FF2B5EF4-FFF2-40B4-BE49-F238E27FC236}">
                <a16:creationId xmlns:a16="http://schemas.microsoft.com/office/drawing/2014/main" id="{506544D0-4CDF-1774-CE74-3E8BC9805DED}"/>
              </a:ext>
            </a:extLst>
          </p:cNvPr>
          <p:cNvSpPr txBox="1"/>
          <p:nvPr/>
        </p:nvSpPr>
        <p:spPr>
          <a:xfrm>
            <a:off x="566711" y="2281426"/>
            <a:ext cx="11771415" cy="1015663"/>
          </a:xfrm>
          <a:prstGeom prst="rect">
            <a:avLst/>
          </a:prstGeom>
          <a:noFill/>
        </p:spPr>
        <p:txBody>
          <a:bodyPr wrap="square">
            <a:spAutoFit/>
          </a:bodyPr>
          <a:lstStyle/>
          <a:p>
            <a:pPr algn="l"/>
            <a:r>
              <a:rPr lang="it-IT" sz="2000" b="0" i="0" dirty="0">
                <a:effectLst/>
                <a:latin typeface="Söhne"/>
              </a:rPr>
              <a:t>La programmazione orientata agli oggetti (OOP) è un paradigma di programmazione che si </a:t>
            </a:r>
          </a:p>
          <a:p>
            <a:pPr algn="l"/>
            <a:r>
              <a:rPr lang="it-IT" sz="2000" b="0" i="0" dirty="0">
                <a:effectLst/>
                <a:latin typeface="Söhne"/>
              </a:rPr>
              <a:t>basa sulla creazione di oggetti, che sono istanze di classi, e sulle interazioni tra di essi per sviluppare applicazioni. </a:t>
            </a:r>
          </a:p>
        </p:txBody>
      </p:sp>
    </p:spTree>
    <p:extLst>
      <p:ext uri="{BB962C8B-B14F-4D97-AF65-F5344CB8AC3E}">
        <p14:creationId xmlns:p14="http://schemas.microsoft.com/office/powerpoint/2010/main" val="2488660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a:t>
            </a:r>
            <a:endParaRPr lang="it-IT" dirty="0"/>
          </a:p>
        </p:txBody>
      </p:sp>
      <p:sp>
        <p:nvSpPr>
          <p:cNvPr id="10" name="CasellaDiTesto 9">
            <a:extLst>
              <a:ext uri="{FF2B5EF4-FFF2-40B4-BE49-F238E27FC236}">
                <a16:creationId xmlns:a16="http://schemas.microsoft.com/office/drawing/2014/main" id="{506544D0-4CDF-1774-CE74-3E8BC9805DED}"/>
              </a:ext>
            </a:extLst>
          </p:cNvPr>
          <p:cNvSpPr txBox="1"/>
          <p:nvPr/>
        </p:nvSpPr>
        <p:spPr>
          <a:xfrm>
            <a:off x="661601" y="2298248"/>
            <a:ext cx="11771415" cy="707886"/>
          </a:xfrm>
          <a:prstGeom prst="rect">
            <a:avLst/>
          </a:prstGeom>
          <a:noFill/>
        </p:spPr>
        <p:txBody>
          <a:bodyPr wrap="square">
            <a:spAutoFit/>
          </a:bodyPr>
          <a:lstStyle/>
          <a:p>
            <a:pPr algn="l"/>
            <a:r>
              <a:rPr lang="it-IT" sz="2000" b="0" i="0" dirty="0">
                <a:effectLst/>
                <a:latin typeface="Söhne"/>
              </a:rPr>
              <a:t>In Java, la programmazione orientata agli oggetti è al centro del </a:t>
            </a:r>
          </a:p>
          <a:p>
            <a:pPr algn="l"/>
            <a:r>
              <a:rPr lang="it-IT" sz="2000" b="0" i="0" dirty="0">
                <a:effectLst/>
                <a:latin typeface="Söhne"/>
              </a:rPr>
              <a:t>linguaggio e viene utilizzata per scrivere applicazioni complesse e modulari.</a:t>
            </a:r>
          </a:p>
        </p:txBody>
      </p:sp>
    </p:spTree>
    <p:extLst>
      <p:ext uri="{BB962C8B-B14F-4D97-AF65-F5344CB8AC3E}">
        <p14:creationId xmlns:p14="http://schemas.microsoft.com/office/powerpoint/2010/main" val="15455397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a:t>
            </a:r>
            <a:endParaRPr lang="it-IT" dirty="0"/>
          </a:p>
        </p:txBody>
      </p:sp>
      <p:sp>
        <p:nvSpPr>
          <p:cNvPr id="10" name="CasellaDiTesto 9">
            <a:extLst>
              <a:ext uri="{FF2B5EF4-FFF2-40B4-BE49-F238E27FC236}">
                <a16:creationId xmlns:a16="http://schemas.microsoft.com/office/drawing/2014/main" id="{506544D0-4CDF-1774-CE74-3E8BC9805DED}"/>
              </a:ext>
            </a:extLst>
          </p:cNvPr>
          <p:cNvSpPr txBox="1"/>
          <p:nvPr/>
        </p:nvSpPr>
        <p:spPr>
          <a:xfrm>
            <a:off x="210292" y="2453524"/>
            <a:ext cx="11771415" cy="1323439"/>
          </a:xfrm>
          <a:prstGeom prst="rect">
            <a:avLst/>
          </a:prstGeom>
          <a:noFill/>
        </p:spPr>
        <p:txBody>
          <a:bodyPr wrap="square">
            <a:spAutoFit/>
          </a:bodyPr>
          <a:lstStyle/>
          <a:p>
            <a:pPr algn="ctr"/>
            <a:r>
              <a:rPr lang="it-IT" sz="2000" b="0" i="0" dirty="0">
                <a:effectLst/>
                <a:latin typeface="Söhne"/>
              </a:rPr>
              <a:t>Java è un linguaggio di programmazione orientato agli oggetti, </a:t>
            </a:r>
          </a:p>
          <a:p>
            <a:pPr algn="ctr"/>
            <a:r>
              <a:rPr lang="it-IT" sz="2000" b="0" i="0" dirty="0">
                <a:effectLst/>
                <a:latin typeface="Söhne"/>
              </a:rPr>
              <a:t>il che significa che tutte le entità in Java sono oggetti o classi. </a:t>
            </a:r>
          </a:p>
          <a:p>
            <a:pPr algn="ctr"/>
            <a:r>
              <a:rPr lang="it-IT" sz="2000" b="0" i="0" dirty="0">
                <a:effectLst/>
                <a:latin typeface="Söhne"/>
              </a:rPr>
              <a:t>Una classe è un modello per creare oggetti, </a:t>
            </a:r>
          </a:p>
          <a:p>
            <a:pPr algn="ctr"/>
            <a:r>
              <a:rPr lang="it-IT" sz="2000" b="0" i="0" dirty="0">
                <a:effectLst/>
                <a:latin typeface="Söhne"/>
              </a:rPr>
              <a:t>mentre un oggetto è un'istanza di una classe. </a:t>
            </a:r>
          </a:p>
        </p:txBody>
      </p:sp>
    </p:spTree>
    <p:extLst>
      <p:ext uri="{BB962C8B-B14F-4D97-AF65-F5344CB8AC3E}">
        <p14:creationId xmlns:p14="http://schemas.microsoft.com/office/powerpoint/2010/main" val="15746975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endParaRPr lang="it-IT" dirty="0"/>
          </a:p>
        </p:txBody>
      </p:sp>
      <p:sp>
        <p:nvSpPr>
          <p:cNvPr id="10" name="CasellaDiTesto 9">
            <a:extLst>
              <a:ext uri="{FF2B5EF4-FFF2-40B4-BE49-F238E27FC236}">
                <a16:creationId xmlns:a16="http://schemas.microsoft.com/office/drawing/2014/main" id="{506544D0-4CDF-1774-CE74-3E8BC9805DED}"/>
              </a:ext>
            </a:extLst>
          </p:cNvPr>
          <p:cNvSpPr txBox="1"/>
          <p:nvPr/>
        </p:nvSpPr>
        <p:spPr>
          <a:xfrm>
            <a:off x="282039" y="2393139"/>
            <a:ext cx="11771415" cy="1323439"/>
          </a:xfrm>
          <a:prstGeom prst="rect">
            <a:avLst/>
          </a:prstGeom>
          <a:noFill/>
        </p:spPr>
        <p:txBody>
          <a:bodyPr wrap="square">
            <a:spAutoFit/>
          </a:bodyPr>
          <a:lstStyle/>
          <a:p>
            <a:pPr algn="ctr"/>
            <a:r>
              <a:rPr lang="it-IT" sz="2000" b="0" i="0" dirty="0">
                <a:effectLst/>
                <a:latin typeface="Söhne"/>
              </a:rPr>
              <a:t>I dati e il codice sono contenuti all'interno di un oggetto, </a:t>
            </a:r>
          </a:p>
          <a:p>
            <a:pPr algn="ctr"/>
            <a:r>
              <a:rPr lang="it-IT" sz="2000" b="0" i="0" dirty="0">
                <a:effectLst/>
                <a:latin typeface="Söhne"/>
              </a:rPr>
              <a:t>che può interagire con altri oggetti tramite metodi e variabili.</a:t>
            </a:r>
          </a:p>
          <a:p>
            <a:pPr algn="ctr"/>
            <a:r>
              <a:rPr lang="it-IT" sz="2000" b="0" i="0" dirty="0">
                <a:effectLst/>
                <a:latin typeface="Söhne"/>
              </a:rPr>
              <a:t>Java utilizza quattro concetti fondamentali per implementare la programmazione orientata agli oggetti: incapsulamento</a:t>
            </a:r>
            <a:r>
              <a:rPr lang="it-IT" sz="2000" b="0" i="0">
                <a:effectLst/>
                <a:latin typeface="Söhne"/>
              </a:rPr>
              <a:t>, ereditarietà, </a:t>
            </a:r>
            <a:r>
              <a:rPr lang="it-IT" sz="2000" b="0" i="0" dirty="0">
                <a:effectLst/>
                <a:latin typeface="Söhne"/>
              </a:rPr>
              <a:t>astrazione e polimorfismo.</a:t>
            </a:r>
          </a:p>
        </p:txBody>
      </p:sp>
    </p:spTree>
    <p:extLst>
      <p:ext uri="{BB962C8B-B14F-4D97-AF65-F5344CB8AC3E}">
        <p14:creationId xmlns:p14="http://schemas.microsoft.com/office/powerpoint/2010/main" val="22052985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a:t>
            </a:r>
            <a:endParaRPr lang="it-IT" dirty="0"/>
          </a:p>
        </p:txBody>
      </p:sp>
      <p:sp>
        <p:nvSpPr>
          <p:cNvPr id="10" name="CasellaDiTesto 9">
            <a:extLst>
              <a:ext uri="{FF2B5EF4-FFF2-40B4-BE49-F238E27FC236}">
                <a16:creationId xmlns:a16="http://schemas.microsoft.com/office/drawing/2014/main" id="{506544D0-4CDF-1774-CE74-3E8BC9805DED}"/>
              </a:ext>
            </a:extLst>
          </p:cNvPr>
          <p:cNvSpPr txBox="1"/>
          <p:nvPr/>
        </p:nvSpPr>
        <p:spPr>
          <a:xfrm>
            <a:off x="282039" y="1582256"/>
            <a:ext cx="11771415" cy="2554545"/>
          </a:xfrm>
          <a:prstGeom prst="rect">
            <a:avLst/>
          </a:prstGeom>
          <a:noFill/>
        </p:spPr>
        <p:txBody>
          <a:bodyPr wrap="square">
            <a:spAutoFit/>
          </a:bodyPr>
          <a:lstStyle/>
          <a:p>
            <a:pPr algn="ctr"/>
            <a:r>
              <a:rPr lang="it-IT" sz="2000" b="0" i="0" dirty="0">
                <a:effectLst/>
                <a:latin typeface="Söhne"/>
              </a:rPr>
              <a:t>L'incapsulamento è il concetto di nascondere la complessità dell'implementazione dell'oggetto dall'esterno. </a:t>
            </a:r>
          </a:p>
          <a:p>
            <a:pPr algn="ctr"/>
            <a:r>
              <a:rPr lang="it-IT" sz="2000" b="0" i="0" dirty="0">
                <a:effectLst/>
                <a:latin typeface="Söhne"/>
              </a:rPr>
              <a:t>Ciò significa che il codice all'interno dell'oggetto è nascosto all'esterno e l'accesso a tale codice è controllato da metodi pubblici e privati.</a:t>
            </a:r>
          </a:p>
          <a:p>
            <a:pPr algn="ctr"/>
            <a:endParaRPr lang="it-IT" sz="2000" b="0" i="0" dirty="0">
              <a:effectLst/>
              <a:latin typeface="Söhne"/>
            </a:endParaRPr>
          </a:p>
          <a:p>
            <a:pPr algn="ctr"/>
            <a:r>
              <a:rPr lang="it-IT" sz="2000" b="0" i="0">
                <a:effectLst/>
                <a:latin typeface="Söhne"/>
              </a:rPr>
              <a:t>L'ereditarietà </a:t>
            </a:r>
            <a:r>
              <a:rPr lang="it-IT" sz="2000" b="0" i="0" dirty="0">
                <a:effectLst/>
                <a:latin typeface="Söhne"/>
              </a:rPr>
              <a:t>è il concetto di creare una nuova classe basata su una classe esistente. </a:t>
            </a:r>
          </a:p>
          <a:p>
            <a:pPr algn="ctr"/>
            <a:endParaRPr lang="it-IT" sz="2000" b="0" i="0" dirty="0">
              <a:effectLst/>
              <a:latin typeface="Söhne"/>
            </a:endParaRPr>
          </a:p>
          <a:p>
            <a:pPr algn="ctr"/>
            <a:r>
              <a:rPr lang="it-IT" sz="2000" b="0" i="0" dirty="0">
                <a:effectLst/>
                <a:latin typeface="Söhne"/>
              </a:rPr>
              <a:t>La nuova classe eredita i metodi e le variabili della classe esistente e può estendere o modificare il comportamento dell'oggetto.</a:t>
            </a:r>
          </a:p>
        </p:txBody>
      </p:sp>
    </p:spTree>
    <p:extLst>
      <p:ext uri="{BB962C8B-B14F-4D97-AF65-F5344CB8AC3E}">
        <p14:creationId xmlns:p14="http://schemas.microsoft.com/office/powerpoint/2010/main" val="19621388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a:t>
            </a:r>
            <a:endParaRPr lang="it-IT" dirty="0"/>
          </a:p>
        </p:txBody>
      </p:sp>
      <p:sp>
        <p:nvSpPr>
          <p:cNvPr id="10" name="CasellaDiTesto 9">
            <a:extLst>
              <a:ext uri="{FF2B5EF4-FFF2-40B4-BE49-F238E27FC236}">
                <a16:creationId xmlns:a16="http://schemas.microsoft.com/office/drawing/2014/main" id="{506544D0-4CDF-1774-CE74-3E8BC9805DED}"/>
              </a:ext>
            </a:extLst>
          </p:cNvPr>
          <p:cNvSpPr txBox="1"/>
          <p:nvPr/>
        </p:nvSpPr>
        <p:spPr>
          <a:xfrm>
            <a:off x="282039" y="1582256"/>
            <a:ext cx="11771415" cy="1938992"/>
          </a:xfrm>
          <a:prstGeom prst="rect">
            <a:avLst/>
          </a:prstGeom>
          <a:noFill/>
        </p:spPr>
        <p:txBody>
          <a:bodyPr wrap="square">
            <a:spAutoFit/>
          </a:bodyPr>
          <a:lstStyle/>
          <a:p>
            <a:pPr algn="ctr"/>
            <a:r>
              <a:rPr lang="it-IT" sz="2000" b="0" i="0" dirty="0">
                <a:effectLst/>
                <a:latin typeface="Söhne"/>
              </a:rPr>
              <a:t>L'astrazione è il concetto di definire solo le caratteristiche essenziali di un oggetto e nascondere i dettagli di implementazione. </a:t>
            </a:r>
          </a:p>
          <a:p>
            <a:pPr algn="ctr"/>
            <a:r>
              <a:rPr lang="it-IT" sz="2000" b="0" i="0" dirty="0">
                <a:effectLst/>
                <a:latin typeface="Söhne"/>
              </a:rPr>
              <a:t>Ciò significa che l'utente dell'oggetto non deve conoscere i dettagli interni dell'oggetto.</a:t>
            </a:r>
          </a:p>
          <a:p>
            <a:pPr algn="ctr"/>
            <a:r>
              <a:rPr lang="it-IT" sz="2000" b="0" i="0" dirty="0">
                <a:effectLst/>
                <a:latin typeface="Söhne"/>
              </a:rPr>
              <a:t>Il polimorfismo è il concetto di avere molte forme. </a:t>
            </a:r>
          </a:p>
          <a:p>
            <a:pPr algn="ctr"/>
            <a:r>
              <a:rPr lang="it-IT" sz="2000" b="0" i="0" dirty="0">
                <a:effectLst/>
                <a:latin typeface="Söhne"/>
              </a:rPr>
              <a:t>Ciò significa che un'istanza di una classe può essere trattata come un'istanza di una classe padre o figlia e può essere utilizzata in modo simile.</a:t>
            </a:r>
          </a:p>
        </p:txBody>
      </p:sp>
    </p:spTree>
    <p:extLst>
      <p:ext uri="{BB962C8B-B14F-4D97-AF65-F5344CB8AC3E}">
        <p14:creationId xmlns:p14="http://schemas.microsoft.com/office/powerpoint/2010/main" val="32756729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a:t>
            </a:r>
            <a:endParaRPr lang="it-IT" dirty="0"/>
          </a:p>
        </p:txBody>
      </p:sp>
      <p:sp>
        <p:nvSpPr>
          <p:cNvPr id="10" name="CasellaDiTesto 9">
            <a:extLst>
              <a:ext uri="{FF2B5EF4-FFF2-40B4-BE49-F238E27FC236}">
                <a16:creationId xmlns:a16="http://schemas.microsoft.com/office/drawing/2014/main" id="{506544D0-4CDF-1774-CE74-3E8BC9805DED}"/>
              </a:ext>
            </a:extLst>
          </p:cNvPr>
          <p:cNvSpPr txBox="1"/>
          <p:nvPr/>
        </p:nvSpPr>
        <p:spPr>
          <a:xfrm>
            <a:off x="282039" y="1582256"/>
            <a:ext cx="11771415" cy="1323439"/>
          </a:xfrm>
          <a:prstGeom prst="rect">
            <a:avLst/>
          </a:prstGeom>
          <a:noFill/>
        </p:spPr>
        <p:txBody>
          <a:bodyPr wrap="square">
            <a:spAutoFit/>
          </a:bodyPr>
          <a:lstStyle/>
          <a:p>
            <a:pPr algn="ctr"/>
            <a:r>
              <a:rPr lang="it-IT" sz="2000" b="0" i="0" dirty="0">
                <a:effectLst/>
                <a:latin typeface="Söhne"/>
              </a:rPr>
              <a:t>In Java, è possibile creare classi, definire metodi, creare oggetti e utilizzare le funzioni ereditate dalle classi di base per creare applicazioni sofisticate e modulari. </a:t>
            </a:r>
          </a:p>
          <a:p>
            <a:pPr algn="ctr"/>
            <a:r>
              <a:rPr lang="it-IT" sz="2000" b="0" i="0" dirty="0">
                <a:effectLst/>
                <a:latin typeface="Söhne"/>
              </a:rPr>
              <a:t>La programmazione orientata agli oggetti in Java offre molte funzionalità avanzate, </a:t>
            </a:r>
            <a:r>
              <a:rPr lang="it-IT" sz="2000" b="0" i="0">
                <a:effectLst/>
                <a:latin typeface="Söhne"/>
              </a:rPr>
              <a:t>come l'ereditarietà </a:t>
            </a:r>
            <a:r>
              <a:rPr lang="it-IT" sz="2000" b="0" i="0" dirty="0">
                <a:effectLst/>
                <a:latin typeface="Söhne"/>
              </a:rPr>
              <a:t>multipla, le interfacce e le classi astratte, che consentono agli sviluppatori di creare applicazioni complesse e modulari.</a:t>
            </a:r>
          </a:p>
        </p:txBody>
      </p:sp>
    </p:spTree>
    <p:extLst>
      <p:ext uri="{BB962C8B-B14F-4D97-AF65-F5344CB8AC3E}">
        <p14:creationId xmlns:p14="http://schemas.microsoft.com/office/powerpoint/2010/main" val="10809586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a:t>
            </a:r>
            <a:endParaRPr lang="it-IT" dirty="0"/>
          </a:p>
        </p:txBody>
      </p:sp>
      <p:sp>
        <p:nvSpPr>
          <p:cNvPr id="3" name="CasellaDiTesto 2">
            <a:extLst>
              <a:ext uri="{FF2B5EF4-FFF2-40B4-BE49-F238E27FC236}">
                <a16:creationId xmlns:a16="http://schemas.microsoft.com/office/drawing/2014/main" id="{29953D72-206D-71AF-6B59-866A6E0AF8E5}"/>
              </a:ext>
            </a:extLst>
          </p:cNvPr>
          <p:cNvSpPr txBox="1"/>
          <p:nvPr/>
        </p:nvSpPr>
        <p:spPr>
          <a:xfrm>
            <a:off x="3047281" y="2551837"/>
            <a:ext cx="6094562" cy="1754326"/>
          </a:xfrm>
          <a:prstGeom prst="rect">
            <a:avLst/>
          </a:prstGeom>
          <a:noFill/>
        </p:spPr>
        <p:txBody>
          <a:bodyPr wrap="square">
            <a:spAutoFit/>
          </a:bodyPr>
          <a:lstStyle/>
          <a:p>
            <a:r>
              <a:rPr lang="it-IT" b="0" i="0" dirty="0">
                <a:solidFill>
                  <a:srgbClr val="050E17"/>
                </a:solidFill>
                <a:effectLst/>
                <a:latin typeface="-apple-system"/>
              </a:rPr>
              <a:t>In Java, un programma è costituito da una classe eseguibile, che è il punto di ingresso per il programma, e da eventuali componenti esterni che sono classi non eseguibili. Queste classi non eseguibili vengono utilizzate dalla classe principale come strumenti, moduli o pezzi che contribuiscono a sviluppare il programma.</a:t>
            </a:r>
            <a:endParaRPr lang="it-IT" dirty="0"/>
          </a:p>
        </p:txBody>
      </p:sp>
    </p:spTree>
    <p:extLst>
      <p:ext uri="{BB962C8B-B14F-4D97-AF65-F5344CB8AC3E}">
        <p14:creationId xmlns:p14="http://schemas.microsoft.com/office/powerpoint/2010/main" val="14481167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a:t>
            </a:r>
            <a:endParaRPr lang="it-IT" dirty="0"/>
          </a:p>
        </p:txBody>
      </p:sp>
      <p:sp>
        <p:nvSpPr>
          <p:cNvPr id="5" name="CasellaDiTesto 4">
            <a:extLst>
              <a:ext uri="{FF2B5EF4-FFF2-40B4-BE49-F238E27FC236}">
                <a16:creationId xmlns:a16="http://schemas.microsoft.com/office/drawing/2014/main" id="{487F9C13-D846-B7D2-68DD-DAF2593D8EA7}"/>
              </a:ext>
            </a:extLst>
          </p:cNvPr>
          <p:cNvSpPr txBox="1"/>
          <p:nvPr/>
        </p:nvSpPr>
        <p:spPr>
          <a:xfrm>
            <a:off x="3047281" y="2551837"/>
            <a:ext cx="6094562" cy="1754326"/>
          </a:xfrm>
          <a:prstGeom prst="rect">
            <a:avLst/>
          </a:prstGeom>
          <a:noFill/>
        </p:spPr>
        <p:txBody>
          <a:bodyPr wrap="square">
            <a:spAutoFit/>
          </a:bodyPr>
          <a:lstStyle/>
          <a:p>
            <a:r>
              <a:rPr lang="it-IT" b="0" i="0" dirty="0">
                <a:solidFill>
                  <a:srgbClr val="050E17"/>
                </a:solidFill>
                <a:effectLst/>
                <a:latin typeface="-apple-system"/>
              </a:rPr>
              <a:t>Per capire meglio questo concetto, puoi pensare alla classe eseguibile come alla "guida" del programma, che definisce il flusso di esecuzione del programma e ne coordina l'interazione con l'utente. Le classi esterne, invece, sono come "strumenti" o "pezzi di lego" che la classe principale può utilizzare per svolgere determinate funzioni o compiti.</a:t>
            </a:r>
            <a:endParaRPr lang="it-IT" dirty="0"/>
          </a:p>
        </p:txBody>
      </p:sp>
    </p:spTree>
    <p:extLst>
      <p:ext uri="{BB962C8B-B14F-4D97-AF65-F5344CB8AC3E}">
        <p14:creationId xmlns:p14="http://schemas.microsoft.com/office/powerpoint/2010/main" val="21569795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a:t>
            </a:r>
            <a:endParaRPr lang="it-IT" dirty="0"/>
          </a:p>
        </p:txBody>
      </p:sp>
      <p:sp>
        <p:nvSpPr>
          <p:cNvPr id="3" name="CasellaDiTesto 2">
            <a:extLst>
              <a:ext uri="{FF2B5EF4-FFF2-40B4-BE49-F238E27FC236}">
                <a16:creationId xmlns:a16="http://schemas.microsoft.com/office/drawing/2014/main" id="{880254E0-48B9-C3F4-1F59-128B285C2703}"/>
              </a:ext>
            </a:extLst>
          </p:cNvPr>
          <p:cNvSpPr txBox="1"/>
          <p:nvPr/>
        </p:nvSpPr>
        <p:spPr>
          <a:xfrm>
            <a:off x="3047281" y="2136339"/>
            <a:ext cx="6094562" cy="2585323"/>
          </a:xfrm>
          <a:prstGeom prst="rect">
            <a:avLst/>
          </a:prstGeom>
          <a:noFill/>
        </p:spPr>
        <p:txBody>
          <a:bodyPr wrap="square">
            <a:spAutoFit/>
          </a:bodyPr>
          <a:lstStyle/>
          <a:p>
            <a:r>
              <a:rPr lang="it-IT" b="0" i="0" dirty="0">
                <a:solidFill>
                  <a:srgbClr val="050E17"/>
                </a:solidFill>
                <a:effectLst/>
                <a:latin typeface="-apple-system"/>
              </a:rPr>
              <a:t>Ad esempio, immagina di dover scrivere un programma per gestire un negozio online. La classe eseguibile potrebbe essere quella che gestisce l'interfaccia con l'utente e la gestione degli ordini, mentre le classi esterne potrebbero essere quelle che gestiscono il database dei prodotti, la generazione di fatture o l'elaborazione dei pagamenti. In questo modo, la classe principale può utilizzare queste classi esterne come strumenti per svolgere compiti specifici, senza dover riscrivere il codice ogni volta.</a:t>
            </a:r>
            <a:endParaRPr lang="it-IT" dirty="0"/>
          </a:p>
        </p:txBody>
      </p:sp>
    </p:spTree>
    <p:extLst>
      <p:ext uri="{BB962C8B-B14F-4D97-AF65-F5344CB8AC3E}">
        <p14:creationId xmlns:p14="http://schemas.microsoft.com/office/powerpoint/2010/main" val="34622874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048719" y="2095113"/>
            <a:ext cx="6094562" cy="1477328"/>
          </a:xfrm>
          <a:prstGeom prst="rect">
            <a:avLst/>
          </a:prstGeom>
          <a:noFill/>
        </p:spPr>
        <p:txBody>
          <a:bodyPr wrap="square">
            <a:spAutoFit/>
          </a:bodyPr>
          <a:lstStyle/>
          <a:p>
            <a:r>
              <a:rPr lang="it-IT" b="0" i="0" dirty="0">
                <a:solidFill>
                  <a:srgbClr val="050E17"/>
                </a:solidFill>
                <a:effectLst/>
                <a:latin typeface="-apple-system"/>
              </a:rPr>
              <a:t>In sintesi, le classi esterne sono come "mattoncini" che la classe principale può utilizzare per costruire il programma, senza dover riscrivere il codice ogni volta. Questo principio è chiamato "composizione" e consente di creare programmi modulari, flessibili e resistenti ai cambiamenti.</a:t>
            </a:r>
            <a:endParaRPr lang="it-IT" dirty="0"/>
          </a:p>
        </p:txBody>
      </p:sp>
    </p:spTree>
    <p:extLst>
      <p:ext uri="{BB962C8B-B14F-4D97-AF65-F5344CB8AC3E}">
        <p14:creationId xmlns:p14="http://schemas.microsoft.com/office/powerpoint/2010/main" val="26960897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178115" y="1312767"/>
            <a:ext cx="6094562" cy="923330"/>
          </a:xfrm>
          <a:prstGeom prst="rect">
            <a:avLst/>
          </a:prstGeom>
          <a:noFill/>
        </p:spPr>
        <p:txBody>
          <a:bodyPr wrap="square">
            <a:spAutoFit/>
          </a:bodyPr>
          <a:lstStyle/>
          <a:p>
            <a:pPr algn="ctr"/>
            <a:r>
              <a:rPr lang="it-IT" b="0" i="0" dirty="0">
                <a:solidFill>
                  <a:srgbClr val="050E17"/>
                </a:solidFill>
                <a:effectLst/>
                <a:latin typeface="-apple-system"/>
              </a:rPr>
              <a:t>Quindi, come già accennato precedentemente, in un programma JAVA potremo avere </a:t>
            </a:r>
            <a:endParaRPr lang="it-IT" dirty="0">
              <a:solidFill>
                <a:srgbClr val="050E17"/>
              </a:solidFill>
              <a:latin typeface="-apple-system"/>
            </a:endParaRPr>
          </a:p>
          <a:p>
            <a:pPr algn="ctr"/>
            <a:r>
              <a:rPr lang="it-IT" b="0" i="0" dirty="0">
                <a:solidFill>
                  <a:srgbClr val="050E17"/>
                </a:solidFill>
                <a:effectLst/>
                <a:latin typeface="-apple-system"/>
              </a:rPr>
              <a:t>classi eseguibili e classi non eseguibili</a:t>
            </a:r>
            <a:endParaRPr lang="it-IT" dirty="0"/>
          </a:p>
        </p:txBody>
      </p:sp>
    </p:spTree>
    <p:extLst>
      <p:ext uri="{BB962C8B-B14F-4D97-AF65-F5344CB8AC3E}">
        <p14:creationId xmlns:p14="http://schemas.microsoft.com/office/powerpoint/2010/main" val="27806298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178115" y="1312767"/>
            <a:ext cx="6094562" cy="923330"/>
          </a:xfrm>
          <a:prstGeom prst="rect">
            <a:avLst/>
          </a:prstGeom>
          <a:noFill/>
        </p:spPr>
        <p:txBody>
          <a:bodyPr wrap="square">
            <a:spAutoFit/>
          </a:bodyPr>
          <a:lstStyle/>
          <a:p>
            <a:pPr algn="ctr"/>
            <a:r>
              <a:rPr lang="it-IT" b="0" i="0" dirty="0">
                <a:solidFill>
                  <a:srgbClr val="050E17"/>
                </a:solidFill>
                <a:effectLst/>
                <a:latin typeface="-apple-system"/>
              </a:rPr>
              <a:t>Quindi, come già accennato precedentemente, in un programma JAVA potremo avere </a:t>
            </a:r>
            <a:endParaRPr lang="it-IT" dirty="0">
              <a:solidFill>
                <a:srgbClr val="050E17"/>
              </a:solidFill>
              <a:latin typeface="-apple-system"/>
            </a:endParaRPr>
          </a:p>
          <a:p>
            <a:pPr algn="ctr"/>
            <a:r>
              <a:rPr lang="it-IT" b="0" i="0" dirty="0">
                <a:solidFill>
                  <a:srgbClr val="050E17"/>
                </a:solidFill>
                <a:effectLst/>
                <a:latin typeface="-apple-system"/>
              </a:rPr>
              <a:t>classi eseguibili e classi non eseguibili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3022839" y="2053738"/>
            <a:ext cx="8053477" cy="1600438"/>
          </a:xfrm>
          <a:prstGeom prst="rect">
            <a:avLst/>
          </a:prstGeom>
          <a:noFill/>
        </p:spPr>
        <p:txBody>
          <a:bodyPr wrap="square">
            <a:spAutoFit/>
          </a:bodyPr>
          <a:lstStyle/>
          <a:p>
            <a:r>
              <a:rPr lang="it-IT" sz="1400" dirty="0"/>
              <a:t>Classe eseguibile:</a:t>
            </a:r>
          </a:p>
          <a:p>
            <a:endParaRPr lang="it-IT" sz="1400" dirty="0"/>
          </a:p>
          <a:p>
            <a:r>
              <a:rPr lang="it-IT" sz="1400" dirty="0">
                <a:solidFill>
                  <a:schemeClr val="accent5">
                    <a:lumMod val="75000"/>
                  </a:schemeClr>
                </a:solidFill>
              </a:rPr>
              <a:t>public class </a:t>
            </a:r>
            <a:r>
              <a:rPr lang="it-IT" sz="1400" dirty="0" err="1">
                <a:solidFill>
                  <a:schemeClr val="accent5">
                    <a:lumMod val="75000"/>
                  </a:schemeClr>
                </a:solidFill>
              </a:rPr>
              <a:t>Main</a:t>
            </a:r>
            <a:r>
              <a:rPr lang="it-IT" sz="1400" dirty="0">
                <a:solidFill>
                  <a:schemeClr val="accent5">
                    <a:lumMod val="75000"/>
                  </a:schemeClr>
                </a:solidFill>
              </a:rPr>
              <a:t> {</a:t>
            </a:r>
          </a:p>
          <a:p>
            <a:r>
              <a:rPr lang="it-IT" sz="1400" dirty="0">
                <a:solidFill>
                  <a:schemeClr val="accent5">
                    <a:lumMod val="75000"/>
                  </a:schemeClr>
                </a:solidFill>
              </a:rPr>
              <a:t>    public </a:t>
            </a:r>
            <a:r>
              <a:rPr lang="it-IT" sz="1400" dirty="0" err="1">
                <a:solidFill>
                  <a:schemeClr val="accent5">
                    <a:lumMod val="75000"/>
                  </a:schemeClr>
                </a:solidFill>
              </a:rPr>
              <a:t>static</a:t>
            </a:r>
            <a:r>
              <a:rPr lang="it-IT" sz="1400" dirty="0">
                <a:solidFill>
                  <a:schemeClr val="accent5">
                    <a:lumMod val="75000"/>
                  </a:schemeClr>
                </a:solidFill>
              </a:rPr>
              <a:t> </a:t>
            </a:r>
            <a:r>
              <a:rPr lang="it-IT" sz="1400" dirty="0" err="1">
                <a:solidFill>
                  <a:schemeClr val="accent5">
                    <a:lumMod val="75000"/>
                  </a:schemeClr>
                </a:solidFill>
              </a:rPr>
              <a:t>void</a:t>
            </a:r>
            <a:r>
              <a:rPr lang="it-IT" sz="1400" dirty="0">
                <a:solidFill>
                  <a:schemeClr val="accent5">
                    <a:lumMod val="75000"/>
                  </a:schemeClr>
                </a:solidFill>
              </a:rPr>
              <a:t> </a:t>
            </a:r>
            <a:r>
              <a:rPr lang="it-IT" sz="1400" dirty="0" err="1">
                <a:solidFill>
                  <a:schemeClr val="accent5">
                    <a:lumMod val="75000"/>
                  </a:schemeClr>
                </a:solidFill>
              </a:rPr>
              <a:t>main</a:t>
            </a:r>
            <a:r>
              <a:rPr lang="it-IT" sz="1400" dirty="0">
                <a:solidFill>
                  <a:schemeClr val="accent5">
                    <a:lumMod val="75000"/>
                  </a:schemeClr>
                </a:solidFill>
              </a:rPr>
              <a:t>(</a:t>
            </a:r>
            <a:r>
              <a:rPr lang="it-IT" sz="1400" dirty="0" err="1">
                <a:solidFill>
                  <a:schemeClr val="accent5">
                    <a:lumMod val="75000"/>
                  </a:schemeClr>
                </a:solidFill>
              </a:rPr>
              <a:t>String</a:t>
            </a:r>
            <a:r>
              <a:rPr lang="it-IT" sz="1400" dirty="0">
                <a:solidFill>
                  <a:schemeClr val="accent5">
                    <a:lumMod val="75000"/>
                  </a:schemeClr>
                </a:solidFill>
              </a:rPr>
              <a:t>[] </a:t>
            </a:r>
            <a:r>
              <a:rPr lang="it-IT" sz="1400" dirty="0" err="1">
                <a:solidFill>
                  <a:schemeClr val="accent5">
                    <a:lumMod val="75000"/>
                  </a:schemeClr>
                </a:solidFill>
              </a:rPr>
              <a:t>args</a:t>
            </a:r>
            <a:r>
              <a:rPr lang="it-IT" sz="1400" dirty="0">
                <a:solidFill>
                  <a:schemeClr val="accent5">
                    <a:lumMod val="75000"/>
                  </a:schemeClr>
                </a:solidFill>
              </a:rPr>
              <a:t>) {</a:t>
            </a:r>
          </a:p>
          <a:p>
            <a:r>
              <a:rPr lang="it-IT" sz="1400" dirty="0">
                <a:solidFill>
                  <a:schemeClr val="accent5">
                    <a:lumMod val="75000"/>
                  </a:schemeClr>
                </a:solidFill>
              </a:rPr>
              <a:t>        // codice per l'esecuzione del programma</a:t>
            </a:r>
          </a:p>
          <a:p>
            <a:r>
              <a:rPr lang="it-IT" sz="1400" dirty="0">
                <a:solidFill>
                  <a:schemeClr val="accent5">
                    <a:lumMod val="75000"/>
                  </a:schemeClr>
                </a:solidFill>
              </a:rPr>
              <a:t>    }</a:t>
            </a:r>
          </a:p>
          <a:p>
            <a:r>
              <a:rPr lang="it-IT" sz="1400" dirty="0">
                <a:solidFill>
                  <a:schemeClr val="accent5">
                    <a:lumMod val="75000"/>
                  </a:schemeClr>
                </a:solidFill>
              </a:rPr>
              <a:t>}</a:t>
            </a:r>
          </a:p>
        </p:txBody>
      </p:sp>
    </p:spTree>
    <p:extLst>
      <p:ext uri="{BB962C8B-B14F-4D97-AF65-F5344CB8AC3E}">
        <p14:creationId xmlns:p14="http://schemas.microsoft.com/office/powerpoint/2010/main" val="19829293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178115" y="1312767"/>
            <a:ext cx="6094562" cy="923330"/>
          </a:xfrm>
          <a:prstGeom prst="rect">
            <a:avLst/>
          </a:prstGeom>
          <a:noFill/>
        </p:spPr>
        <p:txBody>
          <a:bodyPr wrap="square">
            <a:spAutoFit/>
          </a:bodyPr>
          <a:lstStyle/>
          <a:p>
            <a:pPr algn="ctr"/>
            <a:r>
              <a:rPr lang="it-IT" b="0" i="0" dirty="0">
                <a:solidFill>
                  <a:srgbClr val="050E17"/>
                </a:solidFill>
                <a:effectLst/>
                <a:latin typeface="-apple-system"/>
              </a:rPr>
              <a:t>Quindi, come già accennato precedentemente, in un programma JAVA potremo avere </a:t>
            </a:r>
            <a:endParaRPr lang="it-IT" dirty="0">
              <a:solidFill>
                <a:srgbClr val="050E17"/>
              </a:solidFill>
              <a:latin typeface="-apple-system"/>
            </a:endParaRPr>
          </a:p>
          <a:p>
            <a:pPr algn="ctr"/>
            <a:r>
              <a:rPr lang="it-IT" b="0" i="0" dirty="0">
                <a:solidFill>
                  <a:srgbClr val="050E17"/>
                </a:solidFill>
                <a:effectLst/>
                <a:latin typeface="-apple-system"/>
              </a:rPr>
              <a:t>classi eseguibili e classi non eseguibili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3022839" y="2053738"/>
            <a:ext cx="8053477" cy="2246769"/>
          </a:xfrm>
          <a:prstGeom prst="rect">
            <a:avLst/>
          </a:prstGeom>
          <a:noFill/>
        </p:spPr>
        <p:txBody>
          <a:bodyPr wrap="square">
            <a:spAutoFit/>
          </a:bodyPr>
          <a:lstStyle/>
          <a:p>
            <a:r>
              <a:rPr lang="it-IT" sz="1400" dirty="0"/>
              <a:t>Classe eseguibile:</a:t>
            </a:r>
          </a:p>
          <a:p>
            <a:endParaRPr lang="it-IT" sz="1400" dirty="0"/>
          </a:p>
          <a:p>
            <a:r>
              <a:rPr lang="it-IT" sz="1400" dirty="0">
                <a:solidFill>
                  <a:schemeClr val="accent5">
                    <a:lumMod val="75000"/>
                  </a:schemeClr>
                </a:solidFill>
              </a:rPr>
              <a:t>public class </a:t>
            </a:r>
            <a:r>
              <a:rPr lang="it-IT" sz="1400" dirty="0" err="1">
                <a:solidFill>
                  <a:schemeClr val="accent5">
                    <a:lumMod val="75000"/>
                  </a:schemeClr>
                </a:solidFill>
              </a:rPr>
              <a:t>Main</a:t>
            </a:r>
            <a:r>
              <a:rPr lang="it-IT" sz="1400" dirty="0">
                <a:solidFill>
                  <a:schemeClr val="accent5">
                    <a:lumMod val="75000"/>
                  </a:schemeClr>
                </a:solidFill>
              </a:rPr>
              <a:t> {</a:t>
            </a:r>
          </a:p>
          <a:p>
            <a:r>
              <a:rPr lang="it-IT" sz="1400" dirty="0">
                <a:solidFill>
                  <a:schemeClr val="accent5">
                    <a:lumMod val="75000"/>
                  </a:schemeClr>
                </a:solidFill>
              </a:rPr>
              <a:t>    public </a:t>
            </a:r>
            <a:r>
              <a:rPr lang="it-IT" sz="1400" dirty="0" err="1">
                <a:solidFill>
                  <a:schemeClr val="accent5">
                    <a:lumMod val="75000"/>
                  </a:schemeClr>
                </a:solidFill>
              </a:rPr>
              <a:t>static</a:t>
            </a:r>
            <a:r>
              <a:rPr lang="it-IT" sz="1400" dirty="0">
                <a:solidFill>
                  <a:schemeClr val="accent5">
                    <a:lumMod val="75000"/>
                  </a:schemeClr>
                </a:solidFill>
              </a:rPr>
              <a:t> </a:t>
            </a:r>
            <a:r>
              <a:rPr lang="it-IT" sz="1400" dirty="0" err="1">
                <a:solidFill>
                  <a:schemeClr val="accent5">
                    <a:lumMod val="75000"/>
                  </a:schemeClr>
                </a:solidFill>
              </a:rPr>
              <a:t>void</a:t>
            </a:r>
            <a:r>
              <a:rPr lang="it-IT" sz="1400" dirty="0">
                <a:solidFill>
                  <a:schemeClr val="accent5">
                    <a:lumMod val="75000"/>
                  </a:schemeClr>
                </a:solidFill>
              </a:rPr>
              <a:t> </a:t>
            </a:r>
            <a:r>
              <a:rPr lang="it-IT" sz="1400" dirty="0" err="1">
                <a:solidFill>
                  <a:schemeClr val="accent5">
                    <a:lumMod val="75000"/>
                  </a:schemeClr>
                </a:solidFill>
              </a:rPr>
              <a:t>main</a:t>
            </a:r>
            <a:r>
              <a:rPr lang="it-IT" sz="1400" dirty="0">
                <a:solidFill>
                  <a:schemeClr val="accent5">
                    <a:lumMod val="75000"/>
                  </a:schemeClr>
                </a:solidFill>
              </a:rPr>
              <a:t>(</a:t>
            </a:r>
            <a:r>
              <a:rPr lang="it-IT" sz="1400" dirty="0" err="1">
                <a:solidFill>
                  <a:schemeClr val="accent5">
                    <a:lumMod val="75000"/>
                  </a:schemeClr>
                </a:solidFill>
              </a:rPr>
              <a:t>String</a:t>
            </a:r>
            <a:r>
              <a:rPr lang="it-IT" sz="1400" dirty="0">
                <a:solidFill>
                  <a:schemeClr val="accent5">
                    <a:lumMod val="75000"/>
                  </a:schemeClr>
                </a:solidFill>
              </a:rPr>
              <a:t>[] </a:t>
            </a:r>
            <a:r>
              <a:rPr lang="it-IT" sz="1400" dirty="0" err="1">
                <a:solidFill>
                  <a:schemeClr val="accent5">
                    <a:lumMod val="75000"/>
                  </a:schemeClr>
                </a:solidFill>
              </a:rPr>
              <a:t>args</a:t>
            </a:r>
            <a:r>
              <a:rPr lang="it-IT" sz="1400" dirty="0">
                <a:solidFill>
                  <a:schemeClr val="accent5">
                    <a:lumMod val="75000"/>
                  </a:schemeClr>
                </a:solidFill>
              </a:rPr>
              <a:t>) {</a:t>
            </a:r>
          </a:p>
          <a:p>
            <a:r>
              <a:rPr lang="it-IT" sz="1400" dirty="0">
                <a:solidFill>
                  <a:schemeClr val="accent5">
                    <a:lumMod val="75000"/>
                  </a:schemeClr>
                </a:solidFill>
              </a:rPr>
              <a:t>        // codice per l'esecuzione del programma</a:t>
            </a:r>
          </a:p>
          <a:p>
            <a:r>
              <a:rPr lang="it-IT" sz="1400" dirty="0">
                <a:solidFill>
                  <a:schemeClr val="accent5">
                    <a:lumMod val="75000"/>
                  </a:schemeClr>
                </a:solidFill>
              </a:rPr>
              <a:t>    }</a:t>
            </a:r>
          </a:p>
          <a:p>
            <a:r>
              <a:rPr lang="it-IT" sz="1400" dirty="0">
                <a:solidFill>
                  <a:schemeClr val="accent5">
                    <a:lumMod val="75000"/>
                  </a:schemeClr>
                </a:solidFill>
              </a:rPr>
              <a:t>}</a:t>
            </a:r>
          </a:p>
          <a:p>
            <a:r>
              <a:rPr lang="it-IT" sz="1400" dirty="0"/>
              <a:t>La classe </a:t>
            </a:r>
            <a:r>
              <a:rPr lang="it-IT" sz="1400" dirty="0" err="1"/>
              <a:t>Main</a:t>
            </a:r>
            <a:r>
              <a:rPr lang="it-IT" sz="1400" dirty="0"/>
              <a:t> è l'entry point del programma, ovvero la classe che viene eseguita per primo quando il programma viene avviato. Il metodo </a:t>
            </a:r>
            <a:r>
              <a:rPr lang="it-IT" sz="1400" dirty="0" err="1"/>
              <a:t>main</a:t>
            </a:r>
            <a:r>
              <a:rPr lang="it-IT" sz="1400" dirty="0"/>
              <a:t> è il metodo principale del programma e contiene il codice che verrà eseguito.</a:t>
            </a:r>
          </a:p>
        </p:txBody>
      </p:sp>
    </p:spTree>
    <p:extLst>
      <p:ext uri="{BB962C8B-B14F-4D97-AF65-F5344CB8AC3E}">
        <p14:creationId xmlns:p14="http://schemas.microsoft.com/office/powerpoint/2010/main" val="36464166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178115" y="1312767"/>
            <a:ext cx="6094562" cy="923330"/>
          </a:xfrm>
          <a:prstGeom prst="rect">
            <a:avLst/>
          </a:prstGeom>
          <a:noFill/>
        </p:spPr>
        <p:txBody>
          <a:bodyPr wrap="square">
            <a:spAutoFit/>
          </a:bodyPr>
          <a:lstStyle/>
          <a:p>
            <a:pPr algn="ctr"/>
            <a:r>
              <a:rPr lang="it-IT" b="0" i="0" dirty="0">
                <a:solidFill>
                  <a:srgbClr val="050E17"/>
                </a:solidFill>
                <a:effectLst/>
                <a:latin typeface="-apple-system"/>
              </a:rPr>
              <a:t>Quindi, come già accennato precedentemente, in un programma JAVA potremo avere </a:t>
            </a:r>
            <a:endParaRPr lang="it-IT" dirty="0">
              <a:solidFill>
                <a:srgbClr val="050E17"/>
              </a:solidFill>
              <a:latin typeface="-apple-system"/>
            </a:endParaRPr>
          </a:p>
          <a:p>
            <a:pPr algn="ctr"/>
            <a:r>
              <a:rPr lang="it-IT" b="0" i="0" dirty="0">
                <a:solidFill>
                  <a:srgbClr val="050E17"/>
                </a:solidFill>
                <a:effectLst/>
                <a:latin typeface="-apple-system"/>
              </a:rPr>
              <a:t>classi eseguibili e classi non eseguibili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3022839" y="2053738"/>
            <a:ext cx="8053477" cy="3539430"/>
          </a:xfrm>
          <a:prstGeom prst="rect">
            <a:avLst/>
          </a:prstGeom>
          <a:noFill/>
        </p:spPr>
        <p:txBody>
          <a:bodyPr wrap="square">
            <a:spAutoFit/>
          </a:bodyPr>
          <a:lstStyle/>
          <a:p>
            <a:r>
              <a:rPr lang="it-IT" sz="1400" dirty="0"/>
              <a:t>Classe eseguibile:</a:t>
            </a:r>
          </a:p>
          <a:p>
            <a:endParaRPr lang="it-IT" sz="1400" dirty="0"/>
          </a:p>
          <a:p>
            <a:r>
              <a:rPr lang="it-IT" sz="1400" dirty="0">
                <a:solidFill>
                  <a:schemeClr val="accent5">
                    <a:lumMod val="75000"/>
                  </a:schemeClr>
                </a:solidFill>
              </a:rPr>
              <a:t>public class </a:t>
            </a:r>
            <a:r>
              <a:rPr lang="it-IT" sz="1400" dirty="0" err="1">
                <a:solidFill>
                  <a:schemeClr val="accent5">
                    <a:lumMod val="75000"/>
                  </a:schemeClr>
                </a:solidFill>
              </a:rPr>
              <a:t>Main</a:t>
            </a:r>
            <a:r>
              <a:rPr lang="it-IT" sz="1400" dirty="0">
                <a:solidFill>
                  <a:schemeClr val="accent5">
                    <a:lumMod val="75000"/>
                  </a:schemeClr>
                </a:solidFill>
              </a:rPr>
              <a:t> {</a:t>
            </a:r>
          </a:p>
          <a:p>
            <a:r>
              <a:rPr lang="it-IT" sz="1400" dirty="0">
                <a:solidFill>
                  <a:schemeClr val="accent5">
                    <a:lumMod val="75000"/>
                  </a:schemeClr>
                </a:solidFill>
              </a:rPr>
              <a:t>    public </a:t>
            </a:r>
            <a:r>
              <a:rPr lang="it-IT" sz="1400" dirty="0" err="1">
                <a:solidFill>
                  <a:schemeClr val="accent5">
                    <a:lumMod val="75000"/>
                  </a:schemeClr>
                </a:solidFill>
              </a:rPr>
              <a:t>static</a:t>
            </a:r>
            <a:r>
              <a:rPr lang="it-IT" sz="1400" dirty="0">
                <a:solidFill>
                  <a:schemeClr val="accent5">
                    <a:lumMod val="75000"/>
                  </a:schemeClr>
                </a:solidFill>
              </a:rPr>
              <a:t> </a:t>
            </a:r>
            <a:r>
              <a:rPr lang="it-IT" sz="1400" dirty="0" err="1">
                <a:solidFill>
                  <a:schemeClr val="accent5">
                    <a:lumMod val="75000"/>
                  </a:schemeClr>
                </a:solidFill>
              </a:rPr>
              <a:t>void</a:t>
            </a:r>
            <a:r>
              <a:rPr lang="it-IT" sz="1400" dirty="0">
                <a:solidFill>
                  <a:schemeClr val="accent5">
                    <a:lumMod val="75000"/>
                  </a:schemeClr>
                </a:solidFill>
              </a:rPr>
              <a:t> </a:t>
            </a:r>
            <a:r>
              <a:rPr lang="it-IT" sz="1400" dirty="0" err="1">
                <a:solidFill>
                  <a:schemeClr val="accent5">
                    <a:lumMod val="75000"/>
                  </a:schemeClr>
                </a:solidFill>
              </a:rPr>
              <a:t>main</a:t>
            </a:r>
            <a:r>
              <a:rPr lang="it-IT" sz="1400" dirty="0">
                <a:solidFill>
                  <a:schemeClr val="accent5">
                    <a:lumMod val="75000"/>
                  </a:schemeClr>
                </a:solidFill>
              </a:rPr>
              <a:t>(</a:t>
            </a:r>
            <a:r>
              <a:rPr lang="it-IT" sz="1400" dirty="0" err="1">
                <a:solidFill>
                  <a:schemeClr val="accent5">
                    <a:lumMod val="75000"/>
                  </a:schemeClr>
                </a:solidFill>
              </a:rPr>
              <a:t>String</a:t>
            </a:r>
            <a:r>
              <a:rPr lang="it-IT" sz="1400" dirty="0">
                <a:solidFill>
                  <a:schemeClr val="accent5">
                    <a:lumMod val="75000"/>
                  </a:schemeClr>
                </a:solidFill>
              </a:rPr>
              <a:t>[] </a:t>
            </a:r>
            <a:r>
              <a:rPr lang="it-IT" sz="1400" dirty="0" err="1">
                <a:solidFill>
                  <a:schemeClr val="accent5">
                    <a:lumMod val="75000"/>
                  </a:schemeClr>
                </a:solidFill>
              </a:rPr>
              <a:t>args</a:t>
            </a:r>
            <a:r>
              <a:rPr lang="it-IT" sz="1400" dirty="0">
                <a:solidFill>
                  <a:schemeClr val="accent5">
                    <a:lumMod val="75000"/>
                  </a:schemeClr>
                </a:solidFill>
              </a:rPr>
              <a:t>) {</a:t>
            </a:r>
          </a:p>
          <a:p>
            <a:r>
              <a:rPr lang="it-IT" sz="1400" dirty="0">
                <a:solidFill>
                  <a:schemeClr val="accent5">
                    <a:lumMod val="75000"/>
                  </a:schemeClr>
                </a:solidFill>
              </a:rPr>
              <a:t>        // codice per l'esecuzione del programma</a:t>
            </a:r>
          </a:p>
          <a:p>
            <a:r>
              <a:rPr lang="it-IT" sz="1400" dirty="0">
                <a:solidFill>
                  <a:schemeClr val="accent5">
                    <a:lumMod val="75000"/>
                  </a:schemeClr>
                </a:solidFill>
              </a:rPr>
              <a:t>    }</a:t>
            </a:r>
          </a:p>
          <a:p>
            <a:r>
              <a:rPr lang="it-IT" sz="1400" dirty="0">
                <a:solidFill>
                  <a:schemeClr val="accent5">
                    <a:lumMod val="75000"/>
                  </a:schemeClr>
                </a:solidFill>
              </a:rPr>
              <a:t>}</a:t>
            </a:r>
          </a:p>
          <a:p>
            <a:r>
              <a:rPr lang="it-IT" sz="1400" dirty="0"/>
              <a:t>La classe </a:t>
            </a:r>
            <a:r>
              <a:rPr lang="it-IT" sz="1400" dirty="0" err="1"/>
              <a:t>Main</a:t>
            </a:r>
            <a:r>
              <a:rPr lang="it-IT" sz="1400" dirty="0"/>
              <a:t> è l'entry point del programma, ovvero la classe che viene eseguita per primo quando il programma viene avviato. Il metodo </a:t>
            </a:r>
            <a:r>
              <a:rPr lang="it-IT" sz="1400" dirty="0" err="1"/>
              <a:t>main</a:t>
            </a:r>
            <a:r>
              <a:rPr lang="it-IT" sz="1400" dirty="0"/>
              <a:t> è il metodo principale del programma e contiene il codice che verrà eseguito.</a:t>
            </a:r>
          </a:p>
          <a:p>
            <a:endParaRPr lang="it-IT" sz="1400" dirty="0"/>
          </a:p>
          <a:p>
            <a:r>
              <a:rPr lang="it-IT" sz="1400" dirty="0"/>
              <a:t>Classe non eseguibile:</a:t>
            </a:r>
          </a:p>
          <a:p>
            <a:endParaRPr lang="it-IT" sz="1400" dirty="0"/>
          </a:p>
          <a:p>
            <a:r>
              <a:rPr lang="it-IT" sz="1400" dirty="0">
                <a:solidFill>
                  <a:schemeClr val="accent5">
                    <a:lumMod val="75000"/>
                  </a:schemeClr>
                </a:solidFill>
              </a:rPr>
              <a:t>public class Persona {</a:t>
            </a:r>
          </a:p>
          <a:p>
            <a:r>
              <a:rPr lang="it-IT" sz="1400" dirty="0">
                <a:solidFill>
                  <a:schemeClr val="accent5">
                    <a:lumMod val="75000"/>
                  </a:schemeClr>
                </a:solidFill>
              </a:rPr>
              <a:t>     // codice per l'esecuzione del programma</a:t>
            </a:r>
          </a:p>
          <a:p>
            <a:r>
              <a:rPr lang="it-IT" sz="1400" dirty="0">
                <a:solidFill>
                  <a:schemeClr val="accent5">
                    <a:lumMod val="75000"/>
                  </a:schemeClr>
                </a:solidFill>
              </a:rPr>
              <a:t>}</a:t>
            </a:r>
          </a:p>
        </p:txBody>
      </p:sp>
    </p:spTree>
    <p:extLst>
      <p:ext uri="{BB962C8B-B14F-4D97-AF65-F5344CB8AC3E}">
        <p14:creationId xmlns:p14="http://schemas.microsoft.com/office/powerpoint/2010/main" val="22501330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178115" y="1312767"/>
            <a:ext cx="6094562" cy="923330"/>
          </a:xfrm>
          <a:prstGeom prst="rect">
            <a:avLst/>
          </a:prstGeom>
          <a:noFill/>
        </p:spPr>
        <p:txBody>
          <a:bodyPr wrap="square">
            <a:spAutoFit/>
          </a:bodyPr>
          <a:lstStyle/>
          <a:p>
            <a:pPr algn="ctr"/>
            <a:r>
              <a:rPr lang="it-IT" b="0" i="0" dirty="0">
                <a:solidFill>
                  <a:srgbClr val="050E17"/>
                </a:solidFill>
                <a:effectLst/>
                <a:latin typeface="-apple-system"/>
              </a:rPr>
              <a:t>Quindi, come già accennato precedentemente, in un programma JAVA potremo avere </a:t>
            </a:r>
            <a:endParaRPr lang="it-IT" dirty="0">
              <a:solidFill>
                <a:srgbClr val="050E17"/>
              </a:solidFill>
              <a:latin typeface="-apple-system"/>
            </a:endParaRPr>
          </a:p>
          <a:p>
            <a:pPr algn="ctr"/>
            <a:r>
              <a:rPr lang="it-IT" b="0" i="0" dirty="0">
                <a:solidFill>
                  <a:srgbClr val="050E17"/>
                </a:solidFill>
                <a:effectLst/>
                <a:latin typeface="-apple-system"/>
              </a:rPr>
              <a:t>classi eseguibili e classi non eseguibili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3022839" y="2053738"/>
            <a:ext cx="8053477" cy="3754874"/>
          </a:xfrm>
          <a:prstGeom prst="rect">
            <a:avLst/>
          </a:prstGeom>
          <a:noFill/>
        </p:spPr>
        <p:txBody>
          <a:bodyPr wrap="square">
            <a:spAutoFit/>
          </a:bodyPr>
          <a:lstStyle/>
          <a:p>
            <a:r>
              <a:rPr lang="it-IT" sz="1400" dirty="0"/>
              <a:t>Classe eseguibile:</a:t>
            </a:r>
          </a:p>
          <a:p>
            <a:endParaRPr lang="it-IT" sz="1400" dirty="0"/>
          </a:p>
          <a:p>
            <a:r>
              <a:rPr lang="it-IT" sz="1400" dirty="0">
                <a:solidFill>
                  <a:schemeClr val="accent5">
                    <a:lumMod val="75000"/>
                  </a:schemeClr>
                </a:solidFill>
              </a:rPr>
              <a:t>public class </a:t>
            </a:r>
            <a:r>
              <a:rPr lang="it-IT" sz="1400" dirty="0" err="1">
                <a:solidFill>
                  <a:schemeClr val="accent5">
                    <a:lumMod val="75000"/>
                  </a:schemeClr>
                </a:solidFill>
              </a:rPr>
              <a:t>Main</a:t>
            </a:r>
            <a:r>
              <a:rPr lang="it-IT" sz="1400" dirty="0">
                <a:solidFill>
                  <a:schemeClr val="accent5">
                    <a:lumMod val="75000"/>
                  </a:schemeClr>
                </a:solidFill>
              </a:rPr>
              <a:t> {</a:t>
            </a:r>
          </a:p>
          <a:p>
            <a:r>
              <a:rPr lang="it-IT" sz="1400" dirty="0">
                <a:solidFill>
                  <a:schemeClr val="accent5">
                    <a:lumMod val="75000"/>
                  </a:schemeClr>
                </a:solidFill>
              </a:rPr>
              <a:t>    public </a:t>
            </a:r>
            <a:r>
              <a:rPr lang="it-IT" sz="1400" dirty="0" err="1">
                <a:solidFill>
                  <a:schemeClr val="accent5">
                    <a:lumMod val="75000"/>
                  </a:schemeClr>
                </a:solidFill>
              </a:rPr>
              <a:t>static</a:t>
            </a:r>
            <a:r>
              <a:rPr lang="it-IT" sz="1400" dirty="0">
                <a:solidFill>
                  <a:schemeClr val="accent5">
                    <a:lumMod val="75000"/>
                  </a:schemeClr>
                </a:solidFill>
              </a:rPr>
              <a:t> </a:t>
            </a:r>
            <a:r>
              <a:rPr lang="it-IT" sz="1400" dirty="0" err="1">
                <a:solidFill>
                  <a:schemeClr val="accent5">
                    <a:lumMod val="75000"/>
                  </a:schemeClr>
                </a:solidFill>
              </a:rPr>
              <a:t>void</a:t>
            </a:r>
            <a:r>
              <a:rPr lang="it-IT" sz="1400" dirty="0">
                <a:solidFill>
                  <a:schemeClr val="accent5">
                    <a:lumMod val="75000"/>
                  </a:schemeClr>
                </a:solidFill>
              </a:rPr>
              <a:t> </a:t>
            </a:r>
            <a:r>
              <a:rPr lang="it-IT" sz="1400" dirty="0" err="1">
                <a:solidFill>
                  <a:schemeClr val="accent5">
                    <a:lumMod val="75000"/>
                  </a:schemeClr>
                </a:solidFill>
              </a:rPr>
              <a:t>main</a:t>
            </a:r>
            <a:r>
              <a:rPr lang="it-IT" sz="1400" dirty="0">
                <a:solidFill>
                  <a:schemeClr val="accent5">
                    <a:lumMod val="75000"/>
                  </a:schemeClr>
                </a:solidFill>
              </a:rPr>
              <a:t>(</a:t>
            </a:r>
            <a:r>
              <a:rPr lang="it-IT" sz="1400" dirty="0" err="1">
                <a:solidFill>
                  <a:schemeClr val="accent5">
                    <a:lumMod val="75000"/>
                  </a:schemeClr>
                </a:solidFill>
              </a:rPr>
              <a:t>String</a:t>
            </a:r>
            <a:r>
              <a:rPr lang="it-IT" sz="1400" dirty="0">
                <a:solidFill>
                  <a:schemeClr val="accent5">
                    <a:lumMod val="75000"/>
                  </a:schemeClr>
                </a:solidFill>
              </a:rPr>
              <a:t>[] </a:t>
            </a:r>
            <a:r>
              <a:rPr lang="it-IT" sz="1400" dirty="0" err="1">
                <a:solidFill>
                  <a:schemeClr val="accent5">
                    <a:lumMod val="75000"/>
                  </a:schemeClr>
                </a:solidFill>
              </a:rPr>
              <a:t>args</a:t>
            </a:r>
            <a:r>
              <a:rPr lang="it-IT" sz="1400" dirty="0">
                <a:solidFill>
                  <a:schemeClr val="accent5">
                    <a:lumMod val="75000"/>
                  </a:schemeClr>
                </a:solidFill>
              </a:rPr>
              <a:t>) {</a:t>
            </a:r>
          </a:p>
          <a:p>
            <a:r>
              <a:rPr lang="it-IT" sz="1400" dirty="0">
                <a:solidFill>
                  <a:schemeClr val="accent5">
                    <a:lumMod val="75000"/>
                  </a:schemeClr>
                </a:solidFill>
              </a:rPr>
              <a:t>        // codice per l'esecuzione del programma</a:t>
            </a:r>
          </a:p>
          <a:p>
            <a:r>
              <a:rPr lang="it-IT" sz="1400" dirty="0">
                <a:solidFill>
                  <a:schemeClr val="accent5">
                    <a:lumMod val="75000"/>
                  </a:schemeClr>
                </a:solidFill>
              </a:rPr>
              <a:t>    }</a:t>
            </a:r>
          </a:p>
          <a:p>
            <a:r>
              <a:rPr lang="it-IT" sz="1400" dirty="0">
                <a:solidFill>
                  <a:schemeClr val="accent5">
                    <a:lumMod val="75000"/>
                  </a:schemeClr>
                </a:solidFill>
              </a:rPr>
              <a:t>}</a:t>
            </a:r>
          </a:p>
          <a:p>
            <a:r>
              <a:rPr lang="it-IT" sz="1400" dirty="0"/>
              <a:t>La classe </a:t>
            </a:r>
            <a:r>
              <a:rPr lang="it-IT" sz="1400" dirty="0" err="1"/>
              <a:t>Main</a:t>
            </a:r>
            <a:r>
              <a:rPr lang="it-IT" sz="1400" dirty="0"/>
              <a:t> è l'entry point del programma, ovvero la classe che viene eseguita per primo quando il programma viene avviato. Il metodo </a:t>
            </a:r>
            <a:r>
              <a:rPr lang="it-IT" sz="1400" dirty="0" err="1"/>
              <a:t>main</a:t>
            </a:r>
            <a:r>
              <a:rPr lang="it-IT" sz="1400" dirty="0"/>
              <a:t> è il metodo principale del programma e contiene il codice che verrà eseguito.</a:t>
            </a:r>
          </a:p>
          <a:p>
            <a:endParaRPr lang="it-IT" sz="1400" dirty="0"/>
          </a:p>
          <a:p>
            <a:r>
              <a:rPr lang="it-IT" sz="1400" dirty="0"/>
              <a:t>Classe non eseguibile:</a:t>
            </a:r>
          </a:p>
          <a:p>
            <a:endParaRPr lang="it-IT" sz="1400" dirty="0"/>
          </a:p>
          <a:p>
            <a:r>
              <a:rPr lang="it-IT" sz="1400" dirty="0">
                <a:solidFill>
                  <a:schemeClr val="accent5">
                    <a:lumMod val="75000"/>
                  </a:schemeClr>
                </a:solidFill>
              </a:rPr>
              <a:t>public class Persona {</a:t>
            </a:r>
          </a:p>
          <a:p>
            <a:r>
              <a:rPr lang="it-IT" sz="1400" dirty="0">
                <a:solidFill>
                  <a:schemeClr val="accent5">
                    <a:lumMod val="75000"/>
                  </a:schemeClr>
                </a:solidFill>
              </a:rPr>
              <a:t>     // codice per l'esecuzione del programma</a:t>
            </a:r>
          </a:p>
          <a:p>
            <a:r>
              <a:rPr lang="it-IT" sz="1400" dirty="0">
                <a:solidFill>
                  <a:schemeClr val="accent5">
                    <a:lumMod val="75000"/>
                  </a:schemeClr>
                </a:solidFill>
              </a:rPr>
              <a:t>}</a:t>
            </a:r>
          </a:p>
          <a:p>
            <a:r>
              <a:rPr lang="it-IT" sz="1400" dirty="0">
                <a:solidFill>
                  <a:srgbClr val="FF0000"/>
                </a:solidFill>
                <a:highlight>
                  <a:srgbClr val="FFFF00"/>
                </a:highlight>
              </a:rPr>
              <a:t>NELLA CLASSE ESEGUIBILE C’E’ IL METODO </a:t>
            </a:r>
            <a:r>
              <a:rPr lang="it-IT" sz="1400" dirty="0">
                <a:solidFill>
                  <a:schemeClr val="accent5">
                    <a:lumMod val="75000"/>
                  </a:schemeClr>
                </a:solidFill>
                <a:highlight>
                  <a:srgbClr val="FFFF00"/>
                </a:highlight>
              </a:rPr>
              <a:t>public </a:t>
            </a:r>
            <a:r>
              <a:rPr lang="it-IT" sz="1400" dirty="0" err="1">
                <a:solidFill>
                  <a:schemeClr val="accent5">
                    <a:lumMod val="75000"/>
                  </a:schemeClr>
                </a:solidFill>
                <a:highlight>
                  <a:srgbClr val="FFFF00"/>
                </a:highlight>
              </a:rPr>
              <a:t>static</a:t>
            </a:r>
            <a:r>
              <a:rPr lang="it-IT" sz="1400" dirty="0">
                <a:solidFill>
                  <a:schemeClr val="accent5">
                    <a:lumMod val="75000"/>
                  </a:schemeClr>
                </a:solidFill>
                <a:highlight>
                  <a:srgbClr val="FFFF00"/>
                </a:highlight>
              </a:rPr>
              <a:t> </a:t>
            </a:r>
            <a:r>
              <a:rPr lang="it-IT" sz="1400" dirty="0" err="1">
                <a:solidFill>
                  <a:schemeClr val="accent5">
                    <a:lumMod val="75000"/>
                  </a:schemeClr>
                </a:solidFill>
                <a:highlight>
                  <a:srgbClr val="FFFF00"/>
                </a:highlight>
              </a:rPr>
              <a:t>void</a:t>
            </a:r>
            <a:r>
              <a:rPr lang="it-IT" sz="1400" dirty="0">
                <a:solidFill>
                  <a:schemeClr val="accent5">
                    <a:lumMod val="75000"/>
                  </a:schemeClr>
                </a:solidFill>
                <a:highlight>
                  <a:srgbClr val="FFFF00"/>
                </a:highlight>
              </a:rPr>
              <a:t> </a:t>
            </a:r>
            <a:r>
              <a:rPr lang="it-IT" sz="1400" dirty="0" err="1">
                <a:solidFill>
                  <a:schemeClr val="accent5">
                    <a:lumMod val="75000"/>
                  </a:schemeClr>
                </a:solidFill>
                <a:highlight>
                  <a:srgbClr val="FFFF00"/>
                </a:highlight>
              </a:rPr>
              <a:t>main</a:t>
            </a:r>
            <a:r>
              <a:rPr lang="it-IT" sz="1400" dirty="0">
                <a:solidFill>
                  <a:schemeClr val="accent5">
                    <a:lumMod val="75000"/>
                  </a:schemeClr>
                </a:solidFill>
                <a:highlight>
                  <a:srgbClr val="FFFF00"/>
                </a:highlight>
              </a:rPr>
              <a:t>(</a:t>
            </a:r>
            <a:r>
              <a:rPr lang="it-IT" sz="1400" dirty="0" err="1">
                <a:solidFill>
                  <a:schemeClr val="accent5">
                    <a:lumMod val="75000"/>
                  </a:schemeClr>
                </a:solidFill>
                <a:highlight>
                  <a:srgbClr val="FFFF00"/>
                </a:highlight>
              </a:rPr>
              <a:t>String</a:t>
            </a:r>
            <a:r>
              <a:rPr lang="it-IT" sz="1400" dirty="0">
                <a:solidFill>
                  <a:schemeClr val="accent5">
                    <a:lumMod val="75000"/>
                  </a:schemeClr>
                </a:solidFill>
                <a:highlight>
                  <a:srgbClr val="FFFF00"/>
                </a:highlight>
              </a:rPr>
              <a:t>[] </a:t>
            </a:r>
            <a:r>
              <a:rPr lang="it-IT" sz="1400" dirty="0" err="1">
                <a:solidFill>
                  <a:schemeClr val="accent5">
                    <a:lumMod val="75000"/>
                  </a:schemeClr>
                </a:solidFill>
                <a:highlight>
                  <a:srgbClr val="FFFF00"/>
                </a:highlight>
              </a:rPr>
              <a:t>args</a:t>
            </a:r>
            <a:r>
              <a:rPr lang="it-IT" sz="1400" dirty="0">
                <a:solidFill>
                  <a:schemeClr val="accent5">
                    <a:lumMod val="75000"/>
                  </a:schemeClr>
                </a:solidFill>
                <a:highlight>
                  <a:srgbClr val="FFFF00"/>
                </a:highlight>
              </a:rPr>
              <a:t>)</a:t>
            </a:r>
            <a:r>
              <a:rPr lang="it-IT" sz="1400" dirty="0">
                <a:solidFill>
                  <a:srgbClr val="FF0000"/>
                </a:solidFill>
                <a:highlight>
                  <a:srgbClr val="FFFF00"/>
                </a:highlight>
              </a:rPr>
              <a:t> !!!</a:t>
            </a:r>
          </a:p>
        </p:txBody>
      </p:sp>
    </p:spTree>
    <p:extLst>
      <p:ext uri="{BB962C8B-B14F-4D97-AF65-F5344CB8AC3E}">
        <p14:creationId xmlns:p14="http://schemas.microsoft.com/office/powerpoint/2010/main" val="13750015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178115" y="1312767"/>
            <a:ext cx="6094562" cy="923330"/>
          </a:xfrm>
          <a:prstGeom prst="rect">
            <a:avLst/>
          </a:prstGeom>
          <a:noFill/>
        </p:spPr>
        <p:txBody>
          <a:bodyPr wrap="square">
            <a:spAutoFit/>
          </a:bodyPr>
          <a:lstStyle/>
          <a:p>
            <a:pPr algn="ctr"/>
            <a:r>
              <a:rPr lang="it-IT" b="0" i="0" dirty="0">
                <a:solidFill>
                  <a:srgbClr val="050E17"/>
                </a:solidFill>
                <a:effectLst/>
                <a:latin typeface="-apple-system"/>
              </a:rPr>
              <a:t>Quindi, come già accennato precedentemente, in un programma JAVA potremo avere </a:t>
            </a:r>
            <a:endParaRPr lang="it-IT" dirty="0">
              <a:solidFill>
                <a:srgbClr val="050E17"/>
              </a:solidFill>
              <a:latin typeface="-apple-system"/>
            </a:endParaRPr>
          </a:p>
          <a:p>
            <a:pPr algn="ctr"/>
            <a:r>
              <a:rPr lang="it-IT" b="0" i="0" dirty="0">
                <a:solidFill>
                  <a:srgbClr val="050E17"/>
                </a:solidFill>
                <a:effectLst/>
                <a:latin typeface="-apple-system"/>
              </a:rPr>
              <a:t>classi eseguibili e classi non eseguibili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3022839" y="2053738"/>
            <a:ext cx="8053477" cy="4401205"/>
          </a:xfrm>
          <a:prstGeom prst="rect">
            <a:avLst/>
          </a:prstGeom>
          <a:noFill/>
        </p:spPr>
        <p:txBody>
          <a:bodyPr wrap="square">
            <a:spAutoFit/>
          </a:bodyPr>
          <a:lstStyle/>
          <a:p>
            <a:r>
              <a:rPr lang="it-IT" sz="1400" dirty="0"/>
              <a:t>Classe eseguibile:</a:t>
            </a:r>
          </a:p>
          <a:p>
            <a:endParaRPr lang="it-IT" sz="1400" dirty="0"/>
          </a:p>
          <a:p>
            <a:r>
              <a:rPr lang="it-IT" sz="1400" dirty="0">
                <a:solidFill>
                  <a:schemeClr val="accent5">
                    <a:lumMod val="75000"/>
                  </a:schemeClr>
                </a:solidFill>
              </a:rPr>
              <a:t>public class </a:t>
            </a:r>
            <a:r>
              <a:rPr lang="it-IT" sz="1400" dirty="0" err="1">
                <a:solidFill>
                  <a:schemeClr val="accent5">
                    <a:lumMod val="75000"/>
                  </a:schemeClr>
                </a:solidFill>
              </a:rPr>
              <a:t>Main</a:t>
            </a:r>
            <a:r>
              <a:rPr lang="it-IT" sz="1400" dirty="0">
                <a:solidFill>
                  <a:schemeClr val="accent5">
                    <a:lumMod val="75000"/>
                  </a:schemeClr>
                </a:solidFill>
              </a:rPr>
              <a:t> {</a:t>
            </a:r>
          </a:p>
          <a:p>
            <a:r>
              <a:rPr lang="it-IT" sz="1400" dirty="0">
                <a:solidFill>
                  <a:schemeClr val="accent5">
                    <a:lumMod val="75000"/>
                  </a:schemeClr>
                </a:solidFill>
              </a:rPr>
              <a:t>    public </a:t>
            </a:r>
            <a:r>
              <a:rPr lang="it-IT" sz="1400" dirty="0" err="1">
                <a:solidFill>
                  <a:schemeClr val="accent5">
                    <a:lumMod val="75000"/>
                  </a:schemeClr>
                </a:solidFill>
              </a:rPr>
              <a:t>static</a:t>
            </a:r>
            <a:r>
              <a:rPr lang="it-IT" sz="1400" dirty="0">
                <a:solidFill>
                  <a:schemeClr val="accent5">
                    <a:lumMod val="75000"/>
                  </a:schemeClr>
                </a:solidFill>
              </a:rPr>
              <a:t> </a:t>
            </a:r>
            <a:r>
              <a:rPr lang="it-IT" sz="1400" dirty="0" err="1">
                <a:solidFill>
                  <a:schemeClr val="accent5">
                    <a:lumMod val="75000"/>
                  </a:schemeClr>
                </a:solidFill>
              </a:rPr>
              <a:t>void</a:t>
            </a:r>
            <a:r>
              <a:rPr lang="it-IT" sz="1400" dirty="0">
                <a:solidFill>
                  <a:schemeClr val="accent5">
                    <a:lumMod val="75000"/>
                  </a:schemeClr>
                </a:solidFill>
              </a:rPr>
              <a:t> </a:t>
            </a:r>
            <a:r>
              <a:rPr lang="it-IT" sz="1400" dirty="0" err="1">
                <a:solidFill>
                  <a:schemeClr val="accent5">
                    <a:lumMod val="75000"/>
                  </a:schemeClr>
                </a:solidFill>
              </a:rPr>
              <a:t>main</a:t>
            </a:r>
            <a:r>
              <a:rPr lang="it-IT" sz="1400" dirty="0">
                <a:solidFill>
                  <a:schemeClr val="accent5">
                    <a:lumMod val="75000"/>
                  </a:schemeClr>
                </a:solidFill>
              </a:rPr>
              <a:t>(</a:t>
            </a:r>
            <a:r>
              <a:rPr lang="it-IT" sz="1400" dirty="0" err="1">
                <a:solidFill>
                  <a:schemeClr val="accent5">
                    <a:lumMod val="75000"/>
                  </a:schemeClr>
                </a:solidFill>
              </a:rPr>
              <a:t>String</a:t>
            </a:r>
            <a:r>
              <a:rPr lang="it-IT" sz="1400" dirty="0">
                <a:solidFill>
                  <a:schemeClr val="accent5">
                    <a:lumMod val="75000"/>
                  </a:schemeClr>
                </a:solidFill>
              </a:rPr>
              <a:t>[] </a:t>
            </a:r>
            <a:r>
              <a:rPr lang="it-IT" sz="1400" dirty="0" err="1">
                <a:solidFill>
                  <a:schemeClr val="accent5">
                    <a:lumMod val="75000"/>
                  </a:schemeClr>
                </a:solidFill>
              </a:rPr>
              <a:t>args</a:t>
            </a:r>
            <a:r>
              <a:rPr lang="it-IT" sz="1400" dirty="0">
                <a:solidFill>
                  <a:schemeClr val="accent5">
                    <a:lumMod val="75000"/>
                  </a:schemeClr>
                </a:solidFill>
              </a:rPr>
              <a:t>) {</a:t>
            </a:r>
          </a:p>
          <a:p>
            <a:r>
              <a:rPr lang="it-IT" sz="1400" dirty="0">
                <a:solidFill>
                  <a:schemeClr val="accent5">
                    <a:lumMod val="75000"/>
                  </a:schemeClr>
                </a:solidFill>
              </a:rPr>
              <a:t>        // codice per l'esecuzione del programma</a:t>
            </a:r>
          </a:p>
          <a:p>
            <a:r>
              <a:rPr lang="it-IT" sz="1400" dirty="0">
                <a:solidFill>
                  <a:schemeClr val="accent5">
                    <a:lumMod val="75000"/>
                  </a:schemeClr>
                </a:solidFill>
              </a:rPr>
              <a:t>    }</a:t>
            </a:r>
          </a:p>
          <a:p>
            <a:r>
              <a:rPr lang="it-IT" sz="1400" dirty="0">
                <a:solidFill>
                  <a:schemeClr val="accent5">
                    <a:lumMod val="75000"/>
                  </a:schemeClr>
                </a:solidFill>
              </a:rPr>
              <a:t>}</a:t>
            </a:r>
          </a:p>
          <a:p>
            <a:r>
              <a:rPr lang="it-IT" sz="1400" dirty="0"/>
              <a:t>La classe </a:t>
            </a:r>
            <a:r>
              <a:rPr lang="it-IT" sz="1400" dirty="0" err="1"/>
              <a:t>Main</a:t>
            </a:r>
            <a:r>
              <a:rPr lang="it-IT" sz="1400" dirty="0"/>
              <a:t> è l'entry point del programma, ovvero la classe che viene eseguita per primo quando il programma viene avviato. Il metodo </a:t>
            </a:r>
            <a:r>
              <a:rPr lang="it-IT" sz="1400" dirty="0" err="1"/>
              <a:t>main</a:t>
            </a:r>
            <a:r>
              <a:rPr lang="it-IT" sz="1400" dirty="0"/>
              <a:t> è il metodo principale del programma e contiene il codice che verrà eseguito.</a:t>
            </a:r>
          </a:p>
          <a:p>
            <a:endParaRPr lang="it-IT" sz="1400" dirty="0"/>
          </a:p>
          <a:p>
            <a:r>
              <a:rPr lang="it-IT" sz="1400" dirty="0"/>
              <a:t>Classe non eseguibile:</a:t>
            </a:r>
          </a:p>
          <a:p>
            <a:endParaRPr lang="it-IT" sz="1400" dirty="0"/>
          </a:p>
          <a:p>
            <a:r>
              <a:rPr lang="it-IT" sz="1400" dirty="0">
                <a:solidFill>
                  <a:schemeClr val="accent5">
                    <a:lumMod val="75000"/>
                  </a:schemeClr>
                </a:solidFill>
              </a:rPr>
              <a:t>public class Persona {</a:t>
            </a:r>
          </a:p>
          <a:p>
            <a:r>
              <a:rPr lang="it-IT" sz="1400" dirty="0">
                <a:solidFill>
                  <a:schemeClr val="accent5">
                    <a:lumMod val="75000"/>
                  </a:schemeClr>
                </a:solidFill>
              </a:rPr>
              <a:t>     // codice per l'esecuzione del programma</a:t>
            </a:r>
          </a:p>
          <a:p>
            <a:r>
              <a:rPr lang="it-IT" sz="1400" dirty="0">
                <a:solidFill>
                  <a:schemeClr val="accent5">
                    <a:lumMod val="75000"/>
                  </a:schemeClr>
                </a:solidFill>
              </a:rPr>
              <a:t>}</a:t>
            </a:r>
          </a:p>
          <a:p>
            <a:r>
              <a:rPr lang="it-IT" sz="1400" dirty="0">
                <a:solidFill>
                  <a:srgbClr val="FF0000"/>
                </a:solidFill>
                <a:highlight>
                  <a:srgbClr val="FFFF00"/>
                </a:highlight>
              </a:rPr>
              <a:t>NELLA CLASSE ESEGUIBILE C’E’ IL METODO </a:t>
            </a:r>
            <a:r>
              <a:rPr lang="it-IT" sz="1400" dirty="0">
                <a:solidFill>
                  <a:schemeClr val="accent5">
                    <a:lumMod val="75000"/>
                  </a:schemeClr>
                </a:solidFill>
                <a:highlight>
                  <a:srgbClr val="FFFF00"/>
                </a:highlight>
              </a:rPr>
              <a:t>public </a:t>
            </a:r>
            <a:r>
              <a:rPr lang="it-IT" sz="1400" dirty="0" err="1">
                <a:solidFill>
                  <a:schemeClr val="accent5">
                    <a:lumMod val="75000"/>
                  </a:schemeClr>
                </a:solidFill>
                <a:highlight>
                  <a:srgbClr val="FFFF00"/>
                </a:highlight>
              </a:rPr>
              <a:t>static</a:t>
            </a:r>
            <a:r>
              <a:rPr lang="it-IT" sz="1400" dirty="0">
                <a:solidFill>
                  <a:schemeClr val="accent5">
                    <a:lumMod val="75000"/>
                  </a:schemeClr>
                </a:solidFill>
                <a:highlight>
                  <a:srgbClr val="FFFF00"/>
                </a:highlight>
              </a:rPr>
              <a:t> </a:t>
            </a:r>
            <a:r>
              <a:rPr lang="it-IT" sz="1400" dirty="0" err="1">
                <a:solidFill>
                  <a:schemeClr val="accent5">
                    <a:lumMod val="75000"/>
                  </a:schemeClr>
                </a:solidFill>
                <a:highlight>
                  <a:srgbClr val="FFFF00"/>
                </a:highlight>
              </a:rPr>
              <a:t>void</a:t>
            </a:r>
            <a:r>
              <a:rPr lang="it-IT" sz="1400" dirty="0">
                <a:solidFill>
                  <a:schemeClr val="accent5">
                    <a:lumMod val="75000"/>
                  </a:schemeClr>
                </a:solidFill>
                <a:highlight>
                  <a:srgbClr val="FFFF00"/>
                </a:highlight>
              </a:rPr>
              <a:t> </a:t>
            </a:r>
            <a:r>
              <a:rPr lang="it-IT" sz="1400" dirty="0" err="1">
                <a:solidFill>
                  <a:schemeClr val="accent5">
                    <a:lumMod val="75000"/>
                  </a:schemeClr>
                </a:solidFill>
                <a:highlight>
                  <a:srgbClr val="FFFF00"/>
                </a:highlight>
              </a:rPr>
              <a:t>main</a:t>
            </a:r>
            <a:r>
              <a:rPr lang="it-IT" sz="1400" dirty="0">
                <a:solidFill>
                  <a:schemeClr val="accent5">
                    <a:lumMod val="75000"/>
                  </a:schemeClr>
                </a:solidFill>
                <a:highlight>
                  <a:srgbClr val="FFFF00"/>
                </a:highlight>
              </a:rPr>
              <a:t>(</a:t>
            </a:r>
            <a:r>
              <a:rPr lang="it-IT" sz="1400" dirty="0" err="1">
                <a:solidFill>
                  <a:schemeClr val="accent5">
                    <a:lumMod val="75000"/>
                  </a:schemeClr>
                </a:solidFill>
                <a:highlight>
                  <a:srgbClr val="FFFF00"/>
                </a:highlight>
              </a:rPr>
              <a:t>String</a:t>
            </a:r>
            <a:r>
              <a:rPr lang="it-IT" sz="1400" dirty="0">
                <a:solidFill>
                  <a:schemeClr val="accent5">
                    <a:lumMod val="75000"/>
                  </a:schemeClr>
                </a:solidFill>
                <a:highlight>
                  <a:srgbClr val="FFFF00"/>
                </a:highlight>
              </a:rPr>
              <a:t>[] </a:t>
            </a:r>
            <a:r>
              <a:rPr lang="it-IT" sz="1400" dirty="0" err="1">
                <a:solidFill>
                  <a:schemeClr val="accent5">
                    <a:lumMod val="75000"/>
                  </a:schemeClr>
                </a:solidFill>
                <a:highlight>
                  <a:srgbClr val="FFFF00"/>
                </a:highlight>
              </a:rPr>
              <a:t>args</a:t>
            </a:r>
            <a:r>
              <a:rPr lang="it-IT" sz="1400" dirty="0">
                <a:solidFill>
                  <a:schemeClr val="accent5">
                    <a:lumMod val="75000"/>
                  </a:schemeClr>
                </a:solidFill>
                <a:highlight>
                  <a:srgbClr val="FFFF00"/>
                </a:highlight>
              </a:rPr>
              <a:t>)</a:t>
            </a:r>
            <a:r>
              <a:rPr lang="it-IT" sz="1400" dirty="0">
                <a:solidFill>
                  <a:srgbClr val="FF0000"/>
                </a:solidFill>
                <a:highlight>
                  <a:srgbClr val="FFFF00"/>
                </a:highlight>
              </a:rPr>
              <a:t> !!!</a:t>
            </a:r>
          </a:p>
          <a:p>
            <a:r>
              <a:rPr lang="it-IT" sz="1400" dirty="0"/>
              <a:t>La classe Persona rappresenta un'entità del programma, che ha un nome e un'età. La classe non è eseguibile, ovvero non contiene un metodo </a:t>
            </a:r>
            <a:r>
              <a:rPr lang="it-IT" sz="1400" dirty="0" err="1"/>
              <a:t>main</a:t>
            </a:r>
            <a:r>
              <a:rPr lang="it-IT" sz="1400" dirty="0"/>
              <a:t>, ma può essere utilizzata da altre classi come strumento per creare oggetti di tipo Persona.</a:t>
            </a:r>
          </a:p>
        </p:txBody>
      </p:sp>
    </p:spTree>
    <p:extLst>
      <p:ext uri="{BB962C8B-B14F-4D97-AF65-F5344CB8AC3E}">
        <p14:creationId xmlns:p14="http://schemas.microsoft.com/office/powerpoint/2010/main" val="23873354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654060" y="2459504"/>
            <a:ext cx="8053477" cy="1938992"/>
          </a:xfrm>
          <a:prstGeom prst="rect">
            <a:avLst/>
          </a:prstGeom>
          <a:noFill/>
        </p:spPr>
        <p:txBody>
          <a:bodyPr wrap="square">
            <a:spAutoFit/>
          </a:bodyPr>
          <a:lstStyle/>
          <a:p>
            <a:r>
              <a:rPr lang="it-IT" sz="3000" dirty="0"/>
              <a:t>Le classi possono possedere delle variabili dichiarate internamente, </a:t>
            </a:r>
            <a:r>
              <a:rPr lang="it-IT" sz="3000"/>
              <a:t>dette proprietà </a:t>
            </a:r>
            <a:r>
              <a:rPr lang="it-IT" sz="3000" dirty="0"/>
              <a:t>o campi.</a:t>
            </a:r>
          </a:p>
          <a:p>
            <a:r>
              <a:rPr lang="it-IT" sz="3000" dirty="0"/>
              <a:t>Si possono dichiarare in due modi: statico o dinamico..</a:t>
            </a:r>
          </a:p>
        </p:txBody>
      </p:sp>
    </p:spTree>
    <p:extLst>
      <p:ext uri="{BB962C8B-B14F-4D97-AF65-F5344CB8AC3E}">
        <p14:creationId xmlns:p14="http://schemas.microsoft.com/office/powerpoint/2010/main" val="39176249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069261" y="1997839"/>
            <a:ext cx="8053477" cy="2862322"/>
          </a:xfrm>
          <a:prstGeom prst="rect">
            <a:avLst/>
          </a:prstGeom>
          <a:noFill/>
        </p:spPr>
        <p:txBody>
          <a:bodyPr wrap="square">
            <a:spAutoFit/>
          </a:bodyPr>
          <a:lstStyle/>
          <a:p>
            <a:r>
              <a:rPr lang="it-IT" sz="3000" dirty="0"/>
              <a:t>Se dinamici si chiamano variabili</a:t>
            </a:r>
            <a:r>
              <a:rPr lang="it-IT" sz="3000"/>
              <a:t>, proprietà </a:t>
            </a:r>
            <a:r>
              <a:rPr lang="it-IT" sz="3000" dirty="0"/>
              <a:t>o campi di istanza e sono quelle che si potranno usare solo creando, con il metodo new una istanza di un oggetto di quella classe e poi si potrà usare in qualche modo (essenzialmente queste variabili esistono solo all’interno delle istanze).</a:t>
            </a:r>
          </a:p>
        </p:txBody>
      </p:sp>
    </p:spTree>
    <p:extLst>
      <p:ext uri="{BB962C8B-B14F-4D97-AF65-F5344CB8AC3E}">
        <p14:creationId xmlns:p14="http://schemas.microsoft.com/office/powerpoint/2010/main" val="16306066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069261" y="2459504"/>
            <a:ext cx="8053477" cy="1938992"/>
          </a:xfrm>
          <a:prstGeom prst="rect">
            <a:avLst/>
          </a:prstGeom>
          <a:noFill/>
        </p:spPr>
        <p:txBody>
          <a:bodyPr wrap="square">
            <a:spAutoFit/>
          </a:bodyPr>
          <a:lstStyle/>
          <a:p>
            <a:r>
              <a:rPr lang="it-IT" sz="3000" dirty="0"/>
              <a:t>Le variabili statiche, come chiariremo meglio in seguito, sono invece accessibili anche senza creare istanze perché esistono indistintamente dall’essere o meno stato istanziato un oggetto.</a:t>
            </a:r>
          </a:p>
        </p:txBody>
      </p:sp>
    </p:spTree>
    <p:extLst>
      <p:ext uri="{BB962C8B-B14F-4D97-AF65-F5344CB8AC3E}">
        <p14:creationId xmlns:p14="http://schemas.microsoft.com/office/powerpoint/2010/main" val="32206951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1315168" y="2767280"/>
            <a:ext cx="10731261" cy="1323439"/>
          </a:xfrm>
          <a:prstGeom prst="rect">
            <a:avLst/>
          </a:prstGeom>
          <a:noFill/>
        </p:spPr>
        <p:txBody>
          <a:bodyPr wrap="square">
            <a:spAutoFit/>
          </a:bodyPr>
          <a:lstStyle/>
          <a:p>
            <a:r>
              <a:rPr lang="it-IT" sz="4000" dirty="0"/>
              <a:t>Per ora concentriamoci su quelle dinamiche (approfondiremo le variabili statiche in seguito).</a:t>
            </a:r>
          </a:p>
        </p:txBody>
      </p:sp>
    </p:spTree>
    <p:extLst>
      <p:ext uri="{BB962C8B-B14F-4D97-AF65-F5344CB8AC3E}">
        <p14:creationId xmlns:p14="http://schemas.microsoft.com/office/powerpoint/2010/main" val="6315192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181405" y="1714076"/>
            <a:ext cx="8053477" cy="1477328"/>
          </a:xfrm>
          <a:prstGeom prst="rect">
            <a:avLst/>
          </a:prstGeom>
          <a:noFill/>
        </p:spPr>
        <p:txBody>
          <a:bodyPr wrap="square">
            <a:spAutoFit/>
          </a:bodyPr>
          <a:lstStyle/>
          <a:p>
            <a:r>
              <a:rPr lang="it-IT" sz="3000" dirty="0"/>
              <a:t>Le variabili di istanza delle classi in Java, che come detto sono spesso </a:t>
            </a:r>
            <a:r>
              <a:rPr lang="it-IT" sz="3000"/>
              <a:t>chiamate proprietà </a:t>
            </a:r>
            <a:r>
              <a:rPr lang="it-IT" sz="3000" dirty="0"/>
              <a:t>o campi, sono utilizzate per conservare lo stato dell'oggetto:</a:t>
            </a:r>
          </a:p>
        </p:txBody>
      </p:sp>
    </p:spTree>
    <p:extLst>
      <p:ext uri="{BB962C8B-B14F-4D97-AF65-F5344CB8AC3E}">
        <p14:creationId xmlns:p14="http://schemas.microsoft.com/office/powerpoint/2010/main" val="262290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181405" y="1714076"/>
            <a:ext cx="8053477" cy="3785652"/>
          </a:xfrm>
          <a:prstGeom prst="rect">
            <a:avLst/>
          </a:prstGeom>
          <a:noFill/>
        </p:spPr>
        <p:txBody>
          <a:bodyPr wrap="square">
            <a:spAutoFit/>
          </a:bodyPr>
          <a:lstStyle/>
          <a:p>
            <a:r>
              <a:rPr lang="it-IT" sz="3000" dirty="0"/>
              <a:t>Le variabili di istanza delle classi in Java, che come detto sono spesso </a:t>
            </a:r>
            <a:r>
              <a:rPr lang="it-IT" sz="3000"/>
              <a:t>chiamate proprietà </a:t>
            </a:r>
            <a:r>
              <a:rPr lang="it-IT" sz="3000" dirty="0"/>
              <a:t>o campi, sono utilizzate per conservare lo stato dell'oggetto: ogni oggetto infatti può avere diverse combinazioni di valore per queste variabili, in quanto ogni oggetto ha la sua copia di queste variabili; tale combinazione definisce ciò che chiamiamo LO STATO dell’oggetto, come detto</a:t>
            </a:r>
          </a:p>
        </p:txBody>
      </p:sp>
    </p:spTree>
    <p:extLst>
      <p:ext uri="{BB962C8B-B14F-4D97-AF65-F5344CB8AC3E}">
        <p14:creationId xmlns:p14="http://schemas.microsoft.com/office/powerpoint/2010/main" val="18365859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181405" y="1714076"/>
            <a:ext cx="8053477" cy="1015663"/>
          </a:xfrm>
          <a:prstGeom prst="rect">
            <a:avLst/>
          </a:prstGeom>
          <a:noFill/>
        </p:spPr>
        <p:txBody>
          <a:bodyPr wrap="square">
            <a:spAutoFit/>
          </a:bodyPr>
          <a:lstStyle/>
          <a:p>
            <a:r>
              <a:rPr lang="it-IT" sz="2000" dirty="0"/>
              <a:t>Per aggiungere una variabile di istanza a una classe, si dichiara la variabile all'interno della definizione della classe. Ad esempio, per aggiungere una variabile di istanza di tipo </a:t>
            </a:r>
            <a:r>
              <a:rPr lang="it-IT" sz="2000" dirty="0" err="1"/>
              <a:t>String</a:t>
            </a:r>
            <a:r>
              <a:rPr lang="it-IT" sz="2000" dirty="0"/>
              <a:t> chiamata nome, si può fare così:</a:t>
            </a:r>
          </a:p>
        </p:txBody>
      </p:sp>
      <p:sp>
        <p:nvSpPr>
          <p:cNvPr id="10" name="CasellaDiTesto 9">
            <a:extLst>
              <a:ext uri="{FF2B5EF4-FFF2-40B4-BE49-F238E27FC236}">
                <a16:creationId xmlns:a16="http://schemas.microsoft.com/office/drawing/2014/main" id="{3001C2ED-C35A-09B9-F588-9AD9DD417BF4}"/>
              </a:ext>
            </a:extLst>
          </p:cNvPr>
          <p:cNvSpPr txBox="1"/>
          <p:nvPr/>
        </p:nvSpPr>
        <p:spPr>
          <a:xfrm>
            <a:off x="3047281" y="2967335"/>
            <a:ext cx="6094562" cy="923330"/>
          </a:xfrm>
          <a:prstGeom prst="rect">
            <a:avLst/>
          </a:prstGeom>
          <a:solidFill>
            <a:schemeClr val="tx1">
              <a:lumMod val="85000"/>
              <a:lumOff val="15000"/>
            </a:schemeClr>
          </a:solidFill>
        </p:spPr>
        <p:txBody>
          <a:bodyPr wrap="square">
            <a:spAutoFit/>
          </a:bodyPr>
          <a:lstStyle/>
          <a:p>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D4D4D4"/>
                </a:solidFill>
                <a:effectLst/>
                <a:latin typeface="Consolas" panose="020B0609020204030204" pitchFamily="49" charset="0"/>
              </a:rPr>
              <a:t> Persona {</a:t>
            </a:r>
          </a:p>
          <a:p>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String </a:t>
            </a:r>
            <a:r>
              <a:rPr lang="en-US" b="0" dirty="0" err="1">
                <a:solidFill>
                  <a:srgbClr val="D4D4D4"/>
                </a:solidFill>
                <a:effectLst/>
                <a:latin typeface="Consolas" panose="020B0609020204030204" pitchFamily="49" charset="0"/>
              </a:rPr>
              <a:t>nome</a:t>
            </a:r>
            <a:r>
              <a:rPr lang="en-US" b="0" dirty="0">
                <a:solidFill>
                  <a:srgbClr val="569CD6"/>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6330314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10" name="CasellaDiTesto 9">
            <a:extLst>
              <a:ext uri="{FF2B5EF4-FFF2-40B4-BE49-F238E27FC236}">
                <a16:creationId xmlns:a16="http://schemas.microsoft.com/office/drawing/2014/main" id="{3001C2ED-C35A-09B9-F588-9AD9DD417BF4}"/>
              </a:ext>
            </a:extLst>
          </p:cNvPr>
          <p:cNvSpPr txBox="1"/>
          <p:nvPr/>
        </p:nvSpPr>
        <p:spPr>
          <a:xfrm>
            <a:off x="3858164" y="1028789"/>
            <a:ext cx="6094562" cy="923330"/>
          </a:xfrm>
          <a:prstGeom prst="rect">
            <a:avLst/>
          </a:prstGeom>
          <a:solidFill>
            <a:schemeClr val="tx1">
              <a:lumMod val="85000"/>
              <a:lumOff val="15000"/>
            </a:schemeClr>
          </a:solidFill>
        </p:spPr>
        <p:txBody>
          <a:bodyPr wrap="square">
            <a:spAutoFit/>
          </a:bodyPr>
          <a:lstStyle/>
          <a:p>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D4D4D4"/>
                </a:solidFill>
                <a:effectLst/>
                <a:latin typeface="Consolas" panose="020B0609020204030204" pitchFamily="49" charset="0"/>
              </a:rPr>
              <a:t> Persona {</a:t>
            </a:r>
          </a:p>
          <a:p>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String </a:t>
            </a:r>
            <a:r>
              <a:rPr lang="en-US" b="0" dirty="0" err="1">
                <a:solidFill>
                  <a:srgbClr val="D4D4D4"/>
                </a:solidFill>
                <a:effectLst/>
                <a:latin typeface="Consolas" panose="020B0609020204030204" pitchFamily="49" charset="0"/>
              </a:rPr>
              <a:t>nome</a:t>
            </a:r>
            <a:r>
              <a:rPr lang="en-US" b="0" dirty="0">
                <a:solidFill>
                  <a:srgbClr val="569CD6"/>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a:t>
            </a:r>
          </a:p>
        </p:txBody>
      </p:sp>
      <p:sp>
        <p:nvSpPr>
          <p:cNvPr id="9" name="Rectangle 4">
            <a:extLst>
              <a:ext uri="{FF2B5EF4-FFF2-40B4-BE49-F238E27FC236}">
                <a16:creationId xmlns:a16="http://schemas.microsoft.com/office/drawing/2014/main" id="{6872ED55-A1C1-2744-1EED-9B8AEA86FA2B}"/>
              </a:ext>
            </a:extLst>
          </p:cNvPr>
          <p:cNvSpPr>
            <a:spLocks noChangeArrowheads="1"/>
          </p:cNvSpPr>
          <p:nvPr/>
        </p:nvSpPr>
        <p:spPr bwMode="auto">
          <a:xfrm>
            <a:off x="282039" y="2144342"/>
            <a:ext cx="1087191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questo caso,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nome</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a:t>
            </a:r>
            <a:r>
              <a:rPr kumimoji="0" lang="it-IT" altLang="it-IT" sz="2000" b="0" i="0" u="none" strike="noStrike" cap="none" normalizeH="0" baseline="0" dirty="0">
                <a:ln>
                  <a:noFill/>
                </a:ln>
                <a:solidFill>
                  <a:srgbClr val="374151"/>
                </a:solidFill>
                <a:effectLst/>
                <a:latin typeface="Calibri" panose="020F0502020204030204" pitchFamily="34" charset="0"/>
                <a:ea typeface="Calibri" panose="020F0502020204030204" pitchFamily="34" charset="0"/>
                <a:cs typeface="Segoe UI" panose="020B0502040204020203" pitchFamily="34" charset="0"/>
              </a:rPr>
              <a:t>è</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una variabile di istanza di tipo </a:t>
            </a:r>
            <a:r>
              <a:rPr kumimoji="0" lang="it-IT" altLang="it-IT" sz="2000" b="0" i="0" u="none" strike="noStrike" cap="none" normalizeH="0" baseline="0" dirty="0" err="1">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String</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che appartiene all'oggetto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Persona</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Per accedere a questa variabile all'interno dei metodi della classe, si può utilizzare la parola chiave </a:t>
            </a:r>
            <a:r>
              <a:rPr kumimoji="0" lang="it-IT" altLang="it-IT" sz="20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seguita dal nome della variabile. </a:t>
            </a:r>
          </a:p>
        </p:txBody>
      </p:sp>
    </p:spTree>
    <p:extLst>
      <p:ext uri="{BB962C8B-B14F-4D97-AF65-F5344CB8AC3E}">
        <p14:creationId xmlns:p14="http://schemas.microsoft.com/office/powerpoint/2010/main" val="42640639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10" name="CasellaDiTesto 9">
            <a:extLst>
              <a:ext uri="{FF2B5EF4-FFF2-40B4-BE49-F238E27FC236}">
                <a16:creationId xmlns:a16="http://schemas.microsoft.com/office/drawing/2014/main" id="{3001C2ED-C35A-09B9-F588-9AD9DD417BF4}"/>
              </a:ext>
            </a:extLst>
          </p:cNvPr>
          <p:cNvSpPr txBox="1"/>
          <p:nvPr/>
        </p:nvSpPr>
        <p:spPr>
          <a:xfrm>
            <a:off x="3858164" y="1028789"/>
            <a:ext cx="6094562" cy="923330"/>
          </a:xfrm>
          <a:prstGeom prst="rect">
            <a:avLst/>
          </a:prstGeom>
          <a:solidFill>
            <a:schemeClr val="tx1">
              <a:lumMod val="85000"/>
              <a:lumOff val="15000"/>
            </a:schemeClr>
          </a:solidFill>
        </p:spPr>
        <p:txBody>
          <a:bodyPr wrap="square">
            <a:spAutoFit/>
          </a:bodyPr>
          <a:lstStyle/>
          <a:p>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D4D4D4"/>
                </a:solidFill>
                <a:effectLst/>
                <a:latin typeface="Consolas" panose="020B0609020204030204" pitchFamily="49" charset="0"/>
              </a:rPr>
              <a:t> Persona {</a:t>
            </a:r>
          </a:p>
          <a:p>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String </a:t>
            </a:r>
            <a:r>
              <a:rPr lang="en-US" b="0" dirty="0" err="1">
                <a:solidFill>
                  <a:srgbClr val="D4D4D4"/>
                </a:solidFill>
                <a:effectLst/>
                <a:latin typeface="Consolas" panose="020B0609020204030204" pitchFamily="49" charset="0"/>
              </a:rPr>
              <a:t>nome</a:t>
            </a:r>
            <a:r>
              <a:rPr lang="en-US" b="0" dirty="0">
                <a:solidFill>
                  <a:srgbClr val="569CD6"/>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a:t>
            </a:r>
          </a:p>
        </p:txBody>
      </p:sp>
      <p:sp>
        <p:nvSpPr>
          <p:cNvPr id="9" name="Rectangle 4">
            <a:extLst>
              <a:ext uri="{FF2B5EF4-FFF2-40B4-BE49-F238E27FC236}">
                <a16:creationId xmlns:a16="http://schemas.microsoft.com/office/drawing/2014/main" id="{6872ED55-A1C1-2744-1EED-9B8AEA86FA2B}"/>
              </a:ext>
            </a:extLst>
          </p:cNvPr>
          <p:cNvSpPr>
            <a:spLocks noChangeArrowheads="1"/>
          </p:cNvSpPr>
          <p:nvPr/>
        </p:nvSpPr>
        <p:spPr bwMode="auto">
          <a:xfrm>
            <a:off x="282039" y="2144342"/>
            <a:ext cx="1087191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questo caso,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nome</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a:t>
            </a:r>
            <a:r>
              <a:rPr kumimoji="0" lang="it-IT" altLang="it-IT" sz="2000" b="0" i="0" u="none" strike="noStrike" cap="none" normalizeH="0" baseline="0" dirty="0">
                <a:ln>
                  <a:noFill/>
                </a:ln>
                <a:solidFill>
                  <a:srgbClr val="374151"/>
                </a:solidFill>
                <a:effectLst/>
                <a:latin typeface="Calibri" panose="020F0502020204030204" pitchFamily="34" charset="0"/>
                <a:ea typeface="Calibri" panose="020F0502020204030204" pitchFamily="34" charset="0"/>
                <a:cs typeface="Segoe UI" panose="020B0502040204020203" pitchFamily="34" charset="0"/>
              </a:rPr>
              <a:t>è</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una variabile di istanza di tipo </a:t>
            </a:r>
            <a:r>
              <a:rPr kumimoji="0" lang="it-IT" altLang="it-IT" sz="2000" b="0" i="0" u="none" strike="noStrike" cap="none" normalizeH="0" baseline="0" dirty="0" err="1">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String</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che appartiene all'oggetto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Persona</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Per accedere a questa variabile all'interno dei metodi della classe, si può utilizzare la parola chiave </a:t>
            </a:r>
            <a:r>
              <a:rPr kumimoji="0" lang="it-IT" altLang="it-IT" sz="20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seguita dal nome della variabile. </a:t>
            </a:r>
          </a:p>
        </p:txBody>
      </p:sp>
    </p:spTree>
    <p:extLst>
      <p:ext uri="{BB962C8B-B14F-4D97-AF65-F5344CB8AC3E}">
        <p14:creationId xmlns:p14="http://schemas.microsoft.com/office/powerpoint/2010/main" val="12929609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10" name="CasellaDiTesto 9">
            <a:extLst>
              <a:ext uri="{FF2B5EF4-FFF2-40B4-BE49-F238E27FC236}">
                <a16:creationId xmlns:a16="http://schemas.microsoft.com/office/drawing/2014/main" id="{3001C2ED-C35A-09B9-F588-9AD9DD417BF4}"/>
              </a:ext>
            </a:extLst>
          </p:cNvPr>
          <p:cNvSpPr txBox="1"/>
          <p:nvPr/>
        </p:nvSpPr>
        <p:spPr>
          <a:xfrm>
            <a:off x="3858164" y="1028789"/>
            <a:ext cx="6094562" cy="923330"/>
          </a:xfrm>
          <a:prstGeom prst="rect">
            <a:avLst/>
          </a:prstGeom>
          <a:solidFill>
            <a:schemeClr val="tx1">
              <a:lumMod val="85000"/>
              <a:lumOff val="15000"/>
            </a:schemeClr>
          </a:solidFill>
        </p:spPr>
        <p:txBody>
          <a:bodyPr wrap="square">
            <a:spAutoFit/>
          </a:bodyPr>
          <a:lstStyle/>
          <a:p>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D4D4D4"/>
                </a:solidFill>
                <a:effectLst/>
                <a:latin typeface="Consolas" panose="020B0609020204030204" pitchFamily="49" charset="0"/>
              </a:rPr>
              <a:t> Persona {</a:t>
            </a:r>
          </a:p>
          <a:p>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String </a:t>
            </a:r>
            <a:r>
              <a:rPr lang="en-US" b="0" dirty="0" err="1">
                <a:solidFill>
                  <a:srgbClr val="D4D4D4"/>
                </a:solidFill>
                <a:effectLst/>
                <a:latin typeface="Consolas" panose="020B0609020204030204" pitchFamily="49" charset="0"/>
              </a:rPr>
              <a:t>nome</a:t>
            </a:r>
            <a:r>
              <a:rPr lang="en-US" b="0" dirty="0">
                <a:solidFill>
                  <a:srgbClr val="569CD6"/>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a:t>
            </a:r>
          </a:p>
        </p:txBody>
      </p:sp>
      <p:sp>
        <p:nvSpPr>
          <p:cNvPr id="9" name="Rectangle 4">
            <a:extLst>
              <a:ext uri="{FF2B5EF4-FFF2-40B4-BE49-F238E27FC236}">
                <a16:creationId xmlns:a16="http://schemas.microsoft.com/office/drawing/2014/main" id="{6872ED55-A1C1-2744-1EED-9B8AEA86FA2B}"/>
              </a:ext>
            </a:extLst>
          </p:cNvPr>
          <p:cNvSpPr>
            <a:spLocks noChangeArrowheads="1"/>
          </p:cNvSpPr>
          <p:nvPr/>
        </p:nvSpPr>
        <p:spPr bwMode="auto">
          <a:xfrm>
            <a:off x="282039" y="1990454"/>
            <a:ext cx="1087191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questo caso,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nome</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a:t>
            </a:r>
            <a:r>
              <a:rPr kumimoji="0" lang="it-IT" altLang="it-IT" sz="2000" b="0" i="0" u="none" strike="noStrike" cap="none" normalizeH="0" baseline="0" dirty="0">
                <a:ln>
                  <a:noFill/>
                </a:ln>
                <a:solidFill>
                  <a:srgbClr val="374151"/>
                </a:solidFill>
                <a:effectLst/>
                <a:latin typeface="Calibri" panose="020F0502020204030204" pitchFamily="34" charset="0"/>
                <a:ea typeface="Calibri" panose="020F0502020204030204" pitchFamily="34" charset="0"/>
                <a:cs typeface="Segoe UI" panose="020B0502040204020203" pitchFamily="34" charset="0"/>
              </a:rPr>
              <a:t>è</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una variabile di istanza di tipo </a:t>
            </a:r>
            <a:r>
              <a:rPr kumimoji="0" lang="it-IT" altLang="it-IT" sz="2000" b="0" i="0" u="none" strike="noStrike" cap="none" normalizeH="0" baseline="0" dirty="0" err="1">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String</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che appartiene all'oggetto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Persona</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Per accedere a questa variabile all'interno dei metodi della classe, si può utilizzare la parola chiave </a:t>
            </a:r>
            <a:r>
              <a:rPr kumimoji="0" lang="it-IT" altLang="it-IT" sz="20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seguita dal nome della variabile.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Ad esempio:</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544258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10" name="CasellaDiTesto 9">
            <a:extLst>
              <a:ext uri="{FF2B5EF4-FFF2-40B4-BE49-F238E27FC236}">
                <a16:creationId xmlns:a16="http://schemas.microsoft.com/office/drawing/2014/main" id="{3001C2ED-C35A-09B9-F588-9AD9DD417BF4}"/>
              </a:ext>
            </a:extLst>
          </p:cNvPr>
          <p:cNvSpPr txBox="1"/>
          <p:nvPr/>
        </p:nvSpPr>
        <p:spPr>
          <a:xfrm>
            <a:off x="3858164" y="1028789"/>
            <a:ext cx="6094562" cy="923330"/>
          </a:xfrm>
          <a:prstGeom prst="rect">
            <a:avLst/>
          </a:prstGeom>
          <a:solidFill>
            <a:schemeClr val="tx1">
              <a:lumMod val="85000"/>
              <a:lumOff val="15000"/>
            </a:schemeClr>
          </a:solidFill>
        </p:spPr>
        <p:txBody>
          <a:bodyPr wrap="square">
            <a:spAutoFit/>
          </a:bodyPr>
          <a:lstStyle/>
          <a:p>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D4D4D4"/>
                </a:solidFill>
                <a:effectLst/>
                <a:latin typeface="Consolas" panose="020B0609020204030204" pitchFamily="49" charset="0"/>
              </a:rPr>
              <a:t> Persona {</a:t>
            </a:r>
          </a:p>
          <a:p>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String </a:t>
            </a:r>
            <a:r>
              <a:rPr lang="en-US" b="0" dirty="0" err="1">
                <a:solidFill>
                  <a:srgbClr val="D4D4D4"/>
                </a:solidFill>
                <a:effectLst/>
                <a:latin typeface="Consolas" panose="020B0609020204030204" pitchFamily="49" charset="0"/>
              </a:rPr>
              <a:t>nome</a:t>
            </a:r>
            <a:r>
              <a:rPr lang="en-US" b="0" dirty="0">
                <a:solidFill>
                  <a:srgbClr val="569CD6"/>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a:t>
            </a:r>
          </a:p>
        </p:txBody>
      </p:sp>
      <p:sp>
        <p:nvSpPr>
          <p:cNvPr id="9" name="Rectangle 4">
            <a:extLst>
              <a:ext uri="{FF2B5EF4-FFF2-40B4-BE49-F238E27FC236}">
                <a16:creationId xmlns:a16="http://schemas.microsoft.com/office/drawing/2014/main" id="{6872ED55-A1C1-2744-1EED-9B8AEA86FA2B}"/>
              </a:ext>
            </a:extLst>
          </p:cNvPr>
          <p:cNvSpPr>
            <a:spLocks noChangeArrowheads="1"/>
          </p:cNvSpPr>
          <p:nvPr/>
        </p:nvSpPr>
        <p:spPr bwMode="auto">
          <a:xfrm>
            <a:off x="282039" y="1990454"/>
            <a:ext cx="1087191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questo caso,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nome</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a:t>
            </a:r>
            <a:r>
              <a:rPr kumimoji="0" lang="it-IT" altLang="it-IT" sz="2000" b="0" i="0" u="none" strike="noStrike" cap="none" normalizeH="0" baseline="0" dirty="0">
                <a:ln>
                  <a:noFill/>
                </a:ln>
                <a:solidFill>
                  <a:srgbClr val="374151"/>
                </a:solidFill>
                <a:effectLst/>
                <a:latin typeface="Calibri" panose="020F0502020204030204" pitchFamily="34" charset="0"/>
                <a:ea typeface="Calibri" panose="020F0502020204030204" pitchFamily="34" charset="0"/>
                <a:cs typeface="Segoe UI" panose="020B0502040204020203" pitchFamily="34" charset="0"/>
              </a:rPr>
              <a:t>è</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una variabile di istanza di tipo </a:t>
            </a:r>
            <a:r>
              <a:rPr kumimoji="0" lang="it-IT" altLang="it-IT" sz="2000" b="0" i="0" u="none" strike="noStrike" cap="none" normalizeH="0" baseline="0" dirty="0" err="1">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String</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che appartiene all'oggetto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Persona</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Per accedere a questa variabile all'interno dei metodi della classe, si può utilizzare la parola chiave </a:t>
            </a:r>
            <a:r>
              <a:rPr kumimoji="0" lang="it-IT" altLang="it-IT" sz="20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seguita dal nome della variabile.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Ad esempio:</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2" name="CasellaDiTesto 11">
            <a:extLst>
              <a:ext uri="{FF2B5EF4-FFF2-40B4-BE49-F238E27FC236}">
                <a16:creationId xmlns:a16="http://schemas.microsoft.com/office/drawing/2014/main" id="{2E8E1112-B7FD-FE3B-99FE-F0A815C816CF}"/>
              </a:ext>
            </a:extLst>
          </p:cNvPr>
          <p:cNvSpPr txBox="1"/>
          <p:nvPr/>
        </p:nvSpPr>
        <p:spPr>
          <a:xfrm>
            <a:off x="398972" y="3544108"/>
            <a:ext cx="5130560" cy="923330"/>
          </a:xfrm>
          <a:prstGeom prst="rect">
            <a:avLst/>
          </a:prstGeom>
          <a:solidFill>
            <a:schemeClr val="tx1">
              <a:lumMod val="95000"/>
              <a:lumOff val="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Persona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8211630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10" name="CasellaDiTesto 9">
            <a:extLst>
              <a:ext uri="{FF2B5EF4-FFF2-40B4-BE49-F238E27FC236}">
                <a16:creationId xmlns:a16="http://schemas.microsoft.com/office/drawing/2014/main" id="{3001C2ED-C35A-09B9-F588-9AD9DD417BF4}"/>
              </a:ext>
            </a:extLst>
          </p:cNvPr>
          <p:cNvSpPr txBox="1"/>
          <p:nvPr/>
        </p:nvSpPr>
        <p:spPr>
          <a:xfrm>
            <a:off x="3858164" y="1028789"/>
            <a:ext cx="6094562" cy="923330"/>
          </a:xfrm>
          <a:prstGeom prst="rect">
            <a:avLst/>
          </a:prstGeom>
          <a:solidFill>
            <a:schemeClr val="tx1">
              <a:lumMod val="85000"/>
              <a:lumOff val="15000"/>
            </a:schemeClr>
          </a:solidFill>
        </p:spPr>
        <p:txBody>
          <a:bodyPr wrap="square">
            <a:spAutoFit/>
          </a:bodyPr>
          <a:lstStyle/>
          <a:p>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D4D4D4"/>
                </a:solidFill>
                <a:effectLst/>
                <a:latin typeface="Consolas" panose="020B0609020204030204" pitchFamily="49" charset="0"/>
              </a:rPr>
              <a:t> Persona {</a:t>
            </a:r>
          </a:p>
          <a:p>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String </a:t>
            </a:r>
            <a:r>
              <a:rPr lang="en-US" b="0" dirty="0" err="1">
                <a:solidFill>
                  <a:srgbClr val="D4D4D4"/>
                </a:solidFill>
                <a:effectLst/>
                <a:latin typeface="Consolas" panose="020B0609020204030204" pitchFamily="49" charset="0"/>
              </a:rPr>
              <a:t>nome</a:t>
            </a:r>
            <a:r>
              <a:rPr lang="en-US" b="0" dirty="0">
                <a:solidFill>
                  <a:srgbClr val="569CD6"/>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a:t>
            </a:r>
          </a:p>
        </p:txBody>
      </p:sp>
      <p:sp>
        <p:nvSpPr>
          <p:cNvPr id="9" name="Rectangle 4">
            <a:extLst>
              <a:ext uri="{FF2B5EF4-FFF2-40B4-BE49-F238E27FC236}">
                <a16:creationId xmlns:a16="http://schemas.microsoft.com/office/drawing/2014/main" id="{6872ED55-A1C1-2744-1EED-9B8AEA86FA2B}"/>
              </a:ext>
            </a:extLst>
          </p:cNvPr>
          <p:cNvSpPr>
            <a:spLocks noChangeArrowheads="1"/>
          </p:cNvSpPr>
          <p:nvPr/>
        </p:nvSpPr>
        <p:spPr bwMode="auto">
          <a:xfrm>
            <a:off x="282039" y="1990454"/>
            <a:ext cx="1087191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questo caso,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nome</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a:t>
            </a:r>
            <a:r>
              <a:rPr kumimoji="0" lang="it-IT" altLang="it-IT" sz="2000" b="0" i="0" u="none" strike="noStrike" cap="none" normalizeH="0" baseline="0" dirty="0">
                <a:ln>
                  <a:noFill/>
                </a:ln>
                <a:solidFill>
                  <a:srgbClr val="374151"/>
                </a:solidFill>
                <a:effectLst/>
                <a:latin typeface="Calibri" panose="020F0502020204030204" pitchFamily="34" charset="0"/>
                <a:ea typeface="Calibri" panose="020F0502020204030204" pitchFamily="34" charset="0"/>
                <a:cs typeface="Segoe UI" panose="020B0502040204020203" pitchFamily="34" charset="0"/>
              </a:rPr>
              <a:t>è</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una variabile di istanza di tipo </a:t>
            </a:r>
            <a:r>
              <a:rPr kumimoji="0" lang="it-IT" altLang="it-IT" sz="2000" b="0" i="0" u="none" strike="noStrike" cap="none" normalizeH="0" baseline="0" dirty="0" err="1">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String</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che appartiene all'oggetto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Persona</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Per accedere a questa variabile all'interno dei metodi della classe, si può utilizzare la parola chiave </a:t>
            </a:r>
            <a:r>
              <a:rPr kumimoji="0" lang="it-IT" altLang="it-IT" sz="20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seguita dal nome della variabile.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Ad esempio:</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2" name="CasellaDiTesto 11">
            <a:extLst>
              <a:ext uri="{FF2B5EF4-FFF2-40B4-BE49-F238E27FC236}">
                <a16:creationId xmlns:a16="http://schemas.microsoft.com/office/drawing/2014/main" id="{2E8E1112-B7FD-FE3B-99FE-F0A815C816CF}"/>
              </a:ext>
            </a:extLst>
          </p:cNvPr>
          <p:cNvSpPr txBox="1"/>
          <p:nvPr/>
        </p:nvSpPr>
        <p:spPr>
          <a:xfrm>
            <a:off x="398972" y="3544108"/>
            <a:ext cx="5130560" cy="2031325"/>
          </a:xfrm>
          <a:prstGeom prst="rect">
            <a:avLst/>
          </a:prstGeom>
          <a:solidFill>
            <a:schemeClr val="tx1">
              <a:lumMod val="95000"/>
              <a:lumOff val="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Persona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setNome</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.nome</a:t>
            </a:r>
            <a:r>
              <a:rPr lang="it-IT" b="0" dirty="0">
                <a:solidFill>
                  <a:srgbClr val="D4D4D4"/>
                </a:solidFill>
                <a:effectLst/>
                <a:latin typeface="Consolas" panose="020B0609020204030204" pitchFamily="49" charset="0"/>
              </a:rPr>
              <a:t> =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0744666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10" name="CasellaDiTesto 9">
            <a:extLst>
              <a:ext uri="{FF2B5EF4-FFF2-40B4-BE49-F238E27FC236}">
                <a16:creationId xmlns:a16="http://schemas.microsoft.com/office/drawing/2014/main" id="{3001C2ED-C35A-09B9-F588-9AD9DD417BF4}"/>
              </a:ext>
            </a:extLst>
          </p:cNvPr>
          <p:cNvSpPr txBox="1"/>
          <p:nvPr/>
        </p:nvSpPr>
        <p:spPr>
          <a:xfrm>
            <a:off x="3858164" y="1028789"/>
            <a:ext cx="6094562" cy="923330"/>
          </a:xfrm>
          <a:prstGeom prst="rect">
            <a:avLst/>
          </a:prstGeom>
          <a:solidFill>
            <a:schemeClr val="tx1">
              <a:lumMod val="85000"/>
              <a:lumOff val="15000"/>
            </a:schemeClr>
          </a:solidFill>
        </p:spPr>
        <p:txBody>
          <a:bodyPr wrap="square">
            <a:spAutoFit/>
          </a:bodyPr>
          <a:lstStyle/>
          <a:p>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D4D4D4"/>
                </a:solidFill>
                <a:effectLst/>
                <a:latin typeface="Consolas" panose="020B0609020204030204" pitchFamily="49" charset="0"/>
              </a:rPr>
              <a:t> Persona {</a:t>
            </a:r>
          </a:p>
          <a:p>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String </a:t>
            </a:r>
            <a:r>
              <a:rPr lang="en-US" b="0" dirty="0" err="1">
                <a:solidFill>
                  <a:srgbClr val="D4D4D4"/>
                </a:solidFill>
                <a:effectLst/>
                <a:latin typeface="Consolas" panose="020B0609020204030204" pitchFamily="49" charset="0"/>
              </a:rPr>
              <a:t>nome</a:t>
            </a:r>
            <a:r>
              <a:rPr lang="en-US" b="0" dirty="0">
                <a:solidFill>
                  <a:srgbClr val="569CD6"/>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a:t>
            </a:r>
          </a:p>
        </p:txBody>
      </p:sp>
      <p:sp>
        <p:nvSpPr>
          <p:cNvPr id="9" name="Rectangle 4">
            <a:extLst>
              <a:ext uri="{FF2B5EF4-FFF2-40B4-BE49-F238E27FC236}">
                <a16:creationId xmlns:a16="http://schemas.microsoft.com/office/drawing/2014/main" id="{6872ED55-A1C1-2744-1EED-9B8AEA86FA2B}"/>
              </a:ext>
            </a:extLst>
          </p:cNvPr>
          <p:cNvSpPr>
            <a:spLocks noChangeArrowheads="1"/>
          </p:cNvSpPr>
          <p:nvPr/>
        </p:nvSpPr>
        <p:spPr bwMode="auto">
          <a:xfrm>
            <a:off x="282039" y="1990454"/>
            <a:ext cx="1087191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questo caso,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nome</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a:t>
            </a:r>
            <a:r>
              <a:rPr kumimoji="0" lang="it-IT" altLang="it-IT" sz="2000" b="0" i="0" u="none" strike="noStrike" cap="none" normalizeH="0" baseline="0" dirty="0">
                <a:ln>
                  <a:noFill/>
                </a:ln>
                <a:solidFill>
                  <a:srgbClr val="374151"/>
                </a:solidFill>
                <a:effectLst/>
                <a:latin typeface="Calibri" panose="020F0502020204030204" pitchFamily="34" charset="0"/>
                <a:ea typeface="Calibri" panose="020F0502020204030204" pitchFamily="34" charset="0"/>
                <a:cs typeface="Segoe UI" panose="020B0502040204020203" pitchFamily="34" charset="0"/>
              </a:rPr>
              <a:t>è</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una variabile di istanza di tipo </a:t>
            </a:r>
            <a:r>
              <a:rPr kumimoji="0" lang="it-IT" altLang="it-IT" sz="2000" b="0" i="0" u="none" strike="noStrike" cap="none" normalizeH="0" baseline="0" dirty="0" err="1">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String</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che appartiene all'oggetto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Persona</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Per accedere a questa variabile all'interno dei metodi della classe, si può utilizzare la parola chiave </a:t>
            </a:r>
            <a:r>
              <a:rPr kumimoji="0" lang="it-IT" altLang="it-IT" sz="20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seguita dal nome della variabile.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Ad esempio:</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2" name="CasellaDiTesto 11">
            <a:extLst>
              <a:ext uri="{FF2B5EF4-FFF2-40B4-BE49-F238E27FC236}">
                <a16:creationId xmlns:a16="http://schemas.microsoft.com/office/drawing/2014/main" id="{2E8E1112-B7FD-FE3B-99FE-F0A815C816CF}"/>
              </a:ext>
            </a:extLst>
          </p:cNvPr>
          <p:cNvSpPr txBox="1"/>
          <p:nvPr/>
        </p:nvSpPr>
        <p:spPr>
          <a:xfrm>
            <a:off x="398972" y="3544108"/>
            <a:ext cx="5130560" cy="2031325"/>
          </a:xfrm>
          <a:prstGeom prst="rect">
            <a:avLst/>
          </a:prstGeom>
          <a:solidFill>
            <a:schemeClr val="tx1">
              <a:lumMod val="95000"/>
              <a:lumOff val="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Persona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setNome</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.nome</a:t>
            </a:r>
            <a:r>
              <a:rPr lang="it-IT" b="0" dirty="0">
                <a:solidFill>
                  <a:srgbClr val="D4D4D4"/>
                </a:solidFill>
                <a:effectLst/>
                <a:latin typeface="Consolas" panose="020B0609020204030204" pitchFamily="49" charset="0"/>
              </a:rPr>
              <a:t> =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3" name="Rectangle 5">
            <a:extLst>
              <a:ext uri="{FF2B5EF4-FFF2-40B4-BE49-F238E27FC236}">
                <a16:creationId xmlns:a16="http://schemas.microsoft.com/office/drawing/2014/main" id="{69285A30-8AB6-9ABB-FEF2-81984063934D}"/>
              </a:ext>
            </a:extLst>
          </p:cNvPr>
          <p:cNvSpPr>
            <a:spLocks noChangeArrowheads="1"/>
          </p:cNvSpPr>
          <p:nvPr/>
        </p:nvSpPr>
        <p:spPr bwMode="auto">
          <a:xfrm>
            <a:off x="5632367" y="4497722"/>
            <a:ext cx="5710687" cy="553998"/>
          </a:xfrm>
          <a:prstGeom prst="rect">
            <a:avLst/>
          </a:prstGeom>
          <a:solidFill>
            <a:srgbClr val="F7F7F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In questo caso, il metodo </a:t>
            </a:r>
            <a:r>
              <a:rPr kumimoji="0" lang="it-IT" altLang="it-IT" sz="1500" b="1" i="0" u="none" strike="noStrike" cap="none" normalizeH="0" baseline="0" dirty="0" err="1">
                <a:ln>
                  <a:noFill/>
                </a:ln>
                <a:solidFill>
                  <a:srgbClr val="374151"/>
                </a:solidFill>
                <a:effectLst/>
                <a:latin typeface="Söhne Mono"/>
              </a:rPr>
              <a:t>setNome</a:t>
            </a:r>
            <a:r>
              <a:rPr kumimoji="0" lang="it-IT" altLang="it-IT" sz="1500" b="0" i="0" u="none" strike="noStrike" cap="none" normalizeH="0" baseline="0" dirty="0">
                <a:ln>
                  <a:noFill/>
                </a:ln>
                <a:solidFill>
                  <a:srgbClr val="374151"/>
                </a:solidFill>
                <a:effectLst/>
                <a:latin typeface="Söhne"/>
              </a:rPr>
              <a:t> utilizza </a:t>
            </a:r>
            <a:r>
              <a:rPr kumimoji="0" lang="it-IT" altLang="it-IT" sz="1500" b="1" i="0" u="none" strike="noStrike" cap="none" normalizeH="0" baseline="0" dirty="0" err="1">
                <a:ln>
                  <a:noFill/>
                </a:ln>
                <a:solidFill>
                  <a:srgbClr val="374151"/>
                </a:solidFill>
                <a:effectLst/>
                <a:latin typeface="Söhne Mono"/>
              </a:rPr>
              <a:t>this.nome</a:t>
            </a:r>
            <a:r>
              <a:rPr kumimoji="0" lang="it-IT" altLang="it-IT" sz="1500" b="0" i="0" u="none" strike="noStrike" cap="none" normalizeH="0" baseline="0" dirty="0">
                <a:ln>
                  <a:noFill/>
                </a:ln>
                <a:solidFill>
                  <a:srgbClr val="374151"/>
                </a:solidFill>
                <a:effectLst/>
                <a:latin typeface="Söhne"/>
              </a:rPr>
              <a:t> per riferirsi alla variabile di istanza </a:t>
            </a:r>
            <a:r>
              <a:rPr kumimoji="0" lang="it-IT" altLang="it-IT" sz="1500" b="1" i="0" u="none" strike="noStrike" cap="none" normalizeH="0" baseline="0" dirty="0">
                <a:ln>
                  <a:noFill/>
                </a:ln>
                <a:solidFill>
                  <a:srgbClr val="374151"/>
                </a:solidFill>
                <a:effectLst/>
                <a:latin typeface="Söhne Mono"/>
              </a:rPr>
              <a:t>nome</a:t>
            </a:r>
            <a:r>
              <a:rPr kumimoji="0" lang="it-IT" altLang="it-IT" sz="1500" b="0" i="0" u="none" strike="noStrike" cap="none" normalizeH="0" baseline="0" dirty="0">
                <a:ln>
                  <a:noFill/>
                </a:ln>
                <a:solidFill>
                  <a:srgbClr val="374151"/>
                </a:solidFill>
                <a:effectLst/>
                <a:latin typeface="Söhne"/>
              </a:rPr>
              <a:t> dell'oggetto corrente.</a:t>
            </a:r>
            <a:endParaRPr kumimoji="0" lang="it-IT" altLang="it-IT" sz="15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6548161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10" name="CasellaDiTesto 9">
            <a:extLst>
              <a:ext uri="{FF2B5EF4-FFF2-40B4-BE49-F238E27FC236}">
                <a16:creationId xmlns:a16="http://schemas.microsoft.com/office/drawing/2014/main" id="{3001C2ED-C35A-09B9-F588-9AD9DD417BF4}"/>
              </a:ext>
            </a:extLst>
          </p:cNvPr>
          <p:cNvSpPr txBox="1"/>
          <p:nvPr/>
        </p:nvSpPr>
        <p:spPr>
          <a:xfrm>
            <a:off x="3858164" y="1028789"/>
            <a:ext cx="6094562" cy="923330"/>
          </a:xfrm>
          <a:prstGeom prst="rect">
            <a:avLst/>
          </a:prstGeom>
          <a:solidFill>
            <a:schemeClr val="tx1">
              <a:lumMod val="85000"/>
              <a:lumOff val="15000"/>
            </a:schemeClr>
          </a:solidFill>
        </p:spPr>
        <p:txBody>
          <a:bodyPr wrap="square">
            <a:spAutoFit/>
          </a:bodyPr>
          <a:lstStyle/>
          <a:p>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D4D4D4"/>
                </a:solidFill>
                <a:effectLst/>
                <a:latin typeface="Consolas" panose="020B0609020204030204" pitchFamily="49" charset="0"/>
              </a:rPr>
              <a:t> Persona {</a:t>
            </a:r>
          </a:p>
          <a:p>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String </a:t>
            </a:r>
            <a:r>
              <a:rPr lang="en-US" b="0" dirty="0" err="1">
                <a:solidFill>
                  <a:srgbClr val="D4D4D4"/>
                </a:solidFill>
                <a:effectLst/>
                <a:latin typeface="Consolas" panose="020B0609020204030204" pitchFamily="49" charset="0"/>
              </a:rPr>
              <a:t>nome</a:t>
            </a:r>
            <a:r>
              <a:rPr lang="en-US" b="0" dirty="0">
                <a:solidFill>
                  <a:srgbClr val="569CD6"/>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a:t>
            </a:r>
          </a:p>
        </p:txBody>
      </p:sp>
      <p:sp>
        <p:nvSpPr>
          <p:cNvPr id="9" name="Rectangle 4">
            <a:extLst>
              <a:ext uri="{FF2B5EF4-FFF2-40B4-BE49-F238E27FC236}">
                <a16:creationId xmlns:a16="http://schemas.microsoft.com/office/drawing/2014/main" id="{6872ED55-A1C1-2744-1EED-9B8AEA86FA2B}"/>
              </a:ext>
            </a:extLst>
          </p:cNvPr>
          <p:cNvSpPr>
            <a:spLocks noChangeArrowheads="1"/>
          </p:cNvSpPr>
          <p:nvPr/>
        </p:nvSpPr>
        <p:spPr bwMode="auto">
          <a:xfrm>
            <a:off x="282039" y="1990454"/>
            <a:ext cx="1087191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questo caso,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nome</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a:t>
            </a:r>
            <a:r>
              <a:rPr kumimoji="0" lang="it-IT" altLang="it-IT" sz="2000" b="0" i="0" u="none" strike="noStrike" cap="none" normalizeH="0" baseline="0" dirty="0">
                <a:ln>
                  <a:noFill/>
                </a:ln>
                <a:solidFill>
                  <a:srgbClr val="374151"/>
                </a:solidFill>
                <a:effectLst/>
                <a:latin typeface="Calibri" panose="020F0502020204030204" pitchFamily="34" charset="0"/>
                <a:ea typeface="Calibri" panose="020F0502020204030204" pitchFamily="34" charset="0"/>
                <a:cs typeface="Segoe UI" panose="020B0502040204020203" pitchFamily="34" charset="0"/>
              </a:rPr>
              <a:t>è</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una variabile di istanza di tipo </a:t>
            </a:r>
            <a:r>
              <a:rPr kumimoji="0" lang="it-IT" altLang="it-IT" sz="2000" b="0" i="0" u="none" strike="noStrike" cap="none" normalizeH="0" baseline="0" dirty="0" err="1">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String</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che appartiene all'oggetto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Persona</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Per accedere a questa variabile all'interno dei metodi della classe, si può utilizzare la parola chiave </a:t>
            </a:r>
            <a:r>
              <a:rPr kumimoji="0" lang="it-IT" altLang="it-IT" sz="20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seguita dal nome della variabile.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Ad esempio:</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2" name="CasellaDiTesto 11">
            <a:extLst>
              <a:ext uri="{FF2B5EF4-FFF2-40B4-BE49-F238E27FC236}">
                <a16:creationId xmlns:a16="http://schemas.microsoft.com/office/drawing/2014/main" id="{2E8E1112-B7FD-FE3B-99FE-F0A815C816CF}"/>
              </a:ext>
            </a:extLst>
          </p:cNvPr>
          <p:cNvSpPr txBox="1"/>
          <p:nvPr/>
        </p:nvSpPr>
        <p:spPr>
          <a:xfrm>
            <a:off x="398972" y="3544108"/>
            <a:ext cx="5130560" cy="2031325"/>
          </a:xfrm>
          <a:prstGeom prst="rect">
            <a:avLst/>
          </a:prstGeom>
          <a:solidFill>
            <a:schemeClr val="tx1">
              <a:lumMod val="95000"/>
              <a:lumOff val="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Persona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setNome</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.nome</a:t>
            </a:r>
            <a:r>
              <a:rPr lang="it-IT" b="0" dirty="0">
                <a:solidFill>
                  <a:srgbClr val="D4D4D4"/>
                </a:solidFill>
                <a:effectLst/>
                <a:latin typeface="Consolas" panose="020B0609020204030204" pitchFamily="49" charset="0"/>
              </a:rPr>
              <a:t> =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3" name="Rectangle 5">
            <a:extLst>
              <a:ext uri="{FF2B5EF4-FFF2-40B4-BE49-F238E27FC236}">
                <a16:creationId xmlns:a16="http://schemas.microsoft.com/office/drawing/2014/main" id="{69285A30-8AB6-9ABB-FEF2-81984063934D}"/>
              </a:ext>
            </a:extLst>
          </p:cNvPr>
          <p:cNvSpPr>
            <a:spLocks noChangeArrowheads="1"/>
          </p:cNvSpPr>
          <p:nvPr/>
        </p:nvSpPr>
        <p:spPr bwMode="auto">
          <a:xfrm>
            <a:off x="5632367" y="4036057"/>
            <a:ext cx="5710687" cy="1477328"/>
          </a:xfrm>
          <a:prstGeom prst="rect">
            <a:avLst/>
          </a:prstGeom>
          <a:solidFill>
            <a:srgbClr val="F7F7F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In questo caso, il metodo </a:t>
            </a:r>
            <a:r>
              <a:rPr kumimoji="0" lang="it-IT" altLang="it-IT" sz="1500" b="1" i="0" u="none" strike="noStrike" cap="none" normalizeH="0" baseline="0" dirty="0" err="1">
                <a:ln>
                  <a:noFill/>
                </a:ln>
                <a:solidFill>
                  <a:srgbClr val="374151"/>
                </a:solidFill>
                <a:effectLst/>
                <a:latin typeface="Söhne Mono"/>
              </a:rPr>
              <a:t>setNome</a:t>
            </a:r>
            <a:r>
              <a:rPr kumimoji="0" lang="it-IT" altLang="it-IT" sz="1500" b="0" i="0" u="none" strike="noStrike" cap="none" normalizeH="0" baseline="0" dirty="0">
                <a:ln>
                  <a:noFill/>
                </a:ln>
                <a:solidFill>
                  <a:srgbClr val="374151"/>
                </a:solidFill>
                <a:effectLst/>
                <a:latin typeface="Söhne"/>
              </a:rPr>
              <a:t> utilizza </a:t>
            </a:r>
            <a:r>
              <a:rPr kumimoji="0" lang="it-IT" altLang="it-IT" sz="1500" b="1" i="0" u="none" strike="noStrike" cap="none" normalizeH="0" baseline="0" dirty="0" err="1">
                <a:ln>
                  <a:noFill/>
                </a:ln>
                <a:solidFill>
                  <a:srgbClr val="374151"/>
                </a:solidFill>
                <a:effectLst/>
                <a:latin typeface="Söhne Mono"/>
              </a:rPr>
              <a:t>this.nome</a:t>
            </a:r>
            <a:r>
              <a:rPr kumimoji="0" lang="it-IT" altLang="it-IT" sz="1500" b="0" i="0" u="none" strike="noStrike" cap="none" normalizeH="0" baseline="0" dirty="0">
                <a:ln>
                  <a:noFill/>
                </a:ln>
                <a:solidFill>
                  <a:srgbClr val="374151"/>
                </a:solidFill>
                <a:effectLst/>
                <a:latin typeface="Söhne"/>
              </a:rPr>
              <a:t> per riferirsi alla variabile di istanza </a:t>
            </a:r>
            <a:r>
              <a:rPr kumimoji="0" lang="it-IT" altLang="it-IT" sz="1500" b="1" i="0" u="none" strike="noStrike" cap="none" normalizeH="0" baseline="0" dirty="0">
                <a:ln>
                  <a:noFill/>
                </a:ln>
                <a:solidFill>
                  <a:srgbClr val="374151"/>
                </a:solidFill>
                <a:effectLst/>
                <a:latin typeface="Söhne Mono"/>
              </a:rPr>
              <a:t>nome</a:t>
            </a:r>
            <a:r>
              <a:rPr kumimoji="0" lang="it-IT" altLang="it-IT" sz="1500" b="0" i="0" u="none" strike="noStrike" cap="none" normalizeH="0" baseline="0" dirty="0">
                <a:ln>
                  <a:noFill/>
                </a:ln>
                <a:solidFill>
                  <a:srgbClr val="374151"/>
                </a:solidFill>
                <a:effectLst/>
                <a:latin typeface="Söhne"/>
              </a:rPr>
              <a:t> dell'oggetto corrente.</a:t>
            </a:r>
            <a:endParaRPr kumimoji="0" lang="it-IT" altLang="it-IT"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L'utilizzo di </a:t>
            </a:r>
            <a:r>
              <a:rPr kumimoji="0" lang="it-IT" altLang="it-IT" sz="1500" b="1" i="0" u="none" strike="noStrike" cap="none" normalizeH="0" baseline="0" dirty="0" err="1">
                <a:ln>
                  <a:noFill/>
                </a:ln>
                <a:solidFill>
                  <a:srgbClr val="374151"/>
                </a:solidFill>
                <a:effectLst/>
                <a:latin typeface="Söhne Mono"/>
              </a:rPr>
              <a:t>this</a:t>
            </a:r>
            <a:r>
              <a:rPr kumimoji="0" lang="it-IT" altLang="it-IT" sz="1500" b="0" i="0" u="none" strike="noStrike" cap="none" normalizeH="0" baseline="0" dirty="0">
                <a:ln>
                  <a:noFill/>
                </a:ln>
                <a:solidFill>
                  <a:srgbClr val="374151"/>
                </a:solidFill>
                <a:effectLst/>
                <a:latin typeface="Söhne"/>
              </a:rPr>
              <a:t> è particolarmente utile quando ci sono variabili locali con lo stesso nome delle variabili di istanza. In questo modo, si può distinguere tra le due variabili e accedere alla variabile di istanza corretta.</a:t>
            </a:r>
            <a:endParaRPr kumimoji="0" lang="it-IT" altLang="it-IT" sz="15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1577356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10" name="CasellaDiTesto 9">
            <a:extLst>
              <a:ext uri="{FF2B5EF4-FFF2-40B4-BE49-F238E27FC236}">
                <a16:creationId xmlns:a16="http://schemas.microsoft.com/office/drawing/2014/main" id="{3001C2ED-C35A-09B9-F588-9AD9DD417BF4}"/>
              </a:ext>
            </a:extLst>
          </p:cNvPr>
          <p:cNvSpPr txBox="1"/>
          <p:nvPr/>
        </p:nvSpPr>
        <p:spPr>
          <a:xfrm>
            <a:off x="3858164" y="1028789"/>
            <a:ext cx="6094562" cy="923330"/>
          </a:xfrm>
          <a:prstGeom prst="rect">
            <a:avLst/>
          </a:prstGeom>
          <a:solidFill>
            <a:schemeClr val="tx1">
              <a:lumMod val="85000"/>
              <a:lumOff val="15000"/>
            </a:schemeClr>
          </a:solidFill>
        </p:spPr>
        <p:txBody>
          <a:bodyPr wrap="square">
            <a:spAutoFit/>
          </a:bodyPr>
          <a:lstStyle/>
          <a:p>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D4D4D4"/>
                </a:solidFill>
                <a:effectLst/>
                <a:latin typeface="Consolas" panose="020B0609020204030204" pitchFamily="49" charset="0"/>
              </a:rPr>
              <a:t> Persona {</a:t>
            </a:r>
          </a:p>
          <a:p>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String </a:t>
            </a:r>
            <a:r>
              <a:rPr lang="en-US" b="0" dirty="0" err="1">
                <a:solidFill>
                  <a:srgbClr val="D4D4D4"/>
                </a:solidFill>
                <a:effectLst/>
                <a:latin typeface="Consolas" panose="020B0609020204030204" pitchFamily="49" charset="0"/>
              </a:rPr>
              <a:t>nome</a:t>
            </a:r>
            <a:r>
              <a:rPr lang="en-US" b="0" dirty="0">
                <a:solidFill>
                  <a:srgbClr val="569CD6"/>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a:t>
            </a:r>
          </a:p>
        </p:txBody>
      </p:sp>
      <p:sp>
        <p:nvSpPr>
          <p:cNvPr id="9" name="Rectangle 4">
            <a:extLst>
              <a:ext uri="{FF2B5EF4-FFF2-40B4-BE49-F238E27FC236}">
                <a16:creationId xmlns:a16="http://schemas.microsoft.com/office/drawing/2014/main" id="{6872ED55-A1C1-2744-1EED-9B8AEA86FA2B}"/>
              </a:ext>
            </a:extLst>
          </p:cNvPr>
          <p:cNvSpPr>
            <a:spLocks noChangeArrowheads="1"/>
          </p:cNvSpPr>
          <p:nvPr/>
        </p:nvSpPr>
        <p:spPr bwMode="auto">
          <a:xfrm>
            <a:off x="282039" y="1990454"/>
            <a:ext cx="1087191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questo caso,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nome</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a:t>
            </a:r>
            <a:r>
              <a:rPr kumimoji="0" lang="it-IT" altLang="it-IT" sz="2000" b="0" i="0" u="none" strike="noStrike" cap="none" normalizeH="0" baseline="0" dirty="0">
                <a:ln>
                  <a:noFill/>
                </a:ln>
                <a:solidFill>
                  <a:srgbClr val="374151"/>
                </a:solidFill>
                <a:effectLst/>
                <a:latin typeface="Calibri" panose="020F0502020204030204" pitchFamily="34" charset="0"/>
                <a:ea typeface="Calibri" panose="020F0502020204030204" pitchFamily="34" charset="0"/>
                <a:cs typeface="Segoe UI" panose="020B0502040204020203" pitchFamily="34" charset="0"/>
              </a:rPr>
              <a:t>è</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una variabile di istanza di tipo </a:t>
            </a:r>
            <a:r>
              <a:rPr kumimoji="0" lang="it-IT" altLang="it-IT" sz="2000" b="0" i="0" u="none" strike="noStrike" cap="none" normalizeH="0" baseline="0" dirty="0" err="1">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String</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che appartiene all'oggetto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Persona</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Per accedere a questa variabile all'interno dei metodi della classe, si può utilizzare la parola chiave </a:t>
            </a:r>
            <a:r>
              <a:rPr kumimoji="0" lang="it-IT" altLang="it-IT" sz="20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seguita dal nome della variabile.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Ad esempio:</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2" name="CasellaDiTesto 11">
            <a:extLst>
              <a:ext uri="{FF2B5EF4-FFF2-40B4-BE49-F238E27FC236}">
                <a16:creationId xmlns:a16="http://schemas.microsoft.com/office/drawing/2014/main" id="{2E8E1112-B7FD-FE3B-99FE-F0A815C816CF}"/>
              </a:ext>
            </a:extLst>
          </p:cNvPr>
          <p:cNvSpPr txBox="1"/>
          <p:nvPr/>
        </p:nvSpPr>
        <p:spPr>
          <a:xfrm>
            <a:off x="398972" y="3544108"/>
            <a:ext cx="5130560" cy="2031325"/>
          </a:xfrm>
          <a:prstGeom prst="rect">
            <a:avLst/>
          </a:prstGeom>
          <a:solidFill>
            <a:schemeClr val="tx1">
              <a:lumMod val="95000"/>
              <a:lumOff val="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Persona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setNome</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.nome</a:t>
            </a:r>
            <a:r>
              <a:rPr lang="it-IT" b="0" dirty="0">
                <a:solidFill>
                  <a:srgbClr val="D4D4D4"/>
                </a:solidFill>
                <a:effectLst/>
                <a:latin typeface="Consolas" panose="020B0609020204030204" pitchFamily="49" charset="0"/>
              </a:rPr>
              <a:t> =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3" name="Rectangle 5">
            <a:extLst>
              <a:ext uri="{FF2B5EF4-FFF2-40B4-BE49-F238E27FC236}">
                <a16:creationId xmlns:a16="http://schemas.microsoft.com/office/drawing/2014/main" id="{69285A30-8AB6-9ABB-FEF2-81984063934D}"/>
              </a:ext>
            </a:extLst>
          </p:cNvPr>
          <p:cNvSpPr>
            <a:spLocks noChangeArrowheads="1"/>
          </p:cNvSpPr>
          <p:nvPr/>
        </p:nvSpPr>
        <p:spPr bwMode="auto">
          <a:xfrm>
            <a:off x="5632367" y="3574392"/>
            <a:ext cx="5710687" cy="2400657"/>
          </a:xfrm>
          <a:prstGeom prst="rect">
            <a:avLst/>
          </a:prstGeom>
          <a:solidFill>
            <a:srgbClr val="F7F7F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In questo caso, il metodo </a:t>
            </a:r>
            <a:r>
              <a:rPr kumimoji="0" lang="it-IT" altLang="it-IT" sz="1500" b="1" i="0" u="none" strike="noStrike" cap="none" normalizeH="0" baseline="0" dirty="0" err="1">
                <a:ln>
                  <a:noFill/>
                </a:ln>
                <a:solidFill>
                  <a:srgbClr val="374151"/>
                </a:solidFill>
                <a:effectLst/>
                <a:latin typeface="Söhne Mono"/>
              </a:rPr>
              <a:t>setNome</a:t>
            </a:r>
            <a:r>
              <a:rPr kumimoji="0" lang="it-IT" altLang="it-IT" sz="1500" b="0" i="0" u="none" strike="noStrike" cap="none" normalizeH="0" baseline="0" dirty="0">
                <a:ln>
                  <a:noFill/>
                </a:ln>
                <a:solidFill>
                  <a:srgbClr val="374151"/>
                </a:solidFill>
                <a:effectLst/>
                <a:latin typeface="Söhne"/>
              </a:rPr>
              <a:t> utilizza </a:t>
            </a:r>
            <a:r>
              <a:rPr kumimoji="0" lang="it-IT" altLang="it-IT" sz="1500" b="1" i="0" u="none" strike="noStrike" cap="none" normalizeH="0" baseline="0" dirty="0" err="1">
                <a:ln>
                  <a:noFill/>
                </a:ln>
                <a:solidFill>
                  <a:srgbClr val="374151"/>
                </a:solidFill>
                <a:effectLst/>
                <a:latin typeface="Söhne Mono"/>
              </a:rPr>
              <a:t>this.nome</a:t>
            </a:r>
            <a:r>
              <a:rPr kumimoji="0" lang="it-IT" altLang="it-IT" sz="1500" b="0" i="0" u="none" strike="noStrike" cap="none" normalizeH="0" baseline="0" dirty="0">
                <a:ln>
                  <a:noFill/>
                </a:ln>
                <a:solidFill>
                  <a:srgbClr val="374151"/>
                </a:solidFill>
                <a:effectLst/>
                <a:latin typeface="Söhne"/>
              </a:rPr>
              <a:t> per riferirsi alla variabile di istanza </a:t>
            </a:r>
            <a:r>
              <a:rPr kumimoji="0" lang="it-IT" altLang="it-IT" sz="1500" b="1" i="0" u="none" strike="noStrike" cap="none" normalizeH="0" baseline="0" dirty="0">
                <a:ln>
                  <a:noFill/>
                </a:ln>
                <a:solidFill>
                  <a:srgbClr val="374151"/>
                </a:solidFill>
                <a:effectLst/>
                <a:latin typeface="Söhne Mono"/>
              </a:rPr>
              <a:t>nome</a:t>
            </a:r>
            <a:r>
              <a:rPr kumimoji="0" lang="it-IT" altLang="it-IT" sz="1500" b="0" i="0" u="none" strike="noStrike" cap="none" normalizeH="0" baseline="0" dirty="0">
                <a:ln>
                  <a:noFill/>
                </a:ln>
                <a:solidFill>
                  <a:srgbClr val="374151"/>
                </a:solidFill>
                <a:effectLst/>
                <a:latin typeface="Söhne"/>
              </a:rPr>
              <a:t> dell'oggetto corrente.</a:t>
            </a:r>
            <a:endParaRPr kumimoji="0" lang="it-IT" altLang="it-IT"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L'utilizzo di </a:t>
            </a:r>
            <a:r>
              <a:rPr kumimoji="0" lang="it-IT" altLang="it-IT" sz="1500" b="1" i="0" u="none" strike="noStrike" cap="none" normalizeH="0" baseline="0" dirty="0" err="1">
                <a:ln>
                  <a:noFill/>
                </a:ln>
                <a:solidFill>
                  <a:srgbClr val="374151"/>
                </a:solidFill>
                <a:effectLst/>
                <a:latin typeface="Söhne Mono"/>
              </a:rPr>
              <a:t>this</a:t>
            </a:r>
            <a:r>
              <a:rPr kumimoji="0" lang="it-IT" altLang="it-IT" sz="1500" b="0" i="0" u="none" strike="noStrike" cap="none" normalizeH="0" baseline="0" dirty="0">
                <a:ln>
                  <a:noFill/>
                </a:ln>
                <a:solidFill>
                  <a:srgbClr val="374151"/>
                </a:solidFill>
                <a:effectLst/>
                <a:latin typeface="Söhne"/>
              </a:rPr>
              <a:t> è particolarmente utile quando ci sono variabili locali con lo stesso nome delle variabili di istanza. In questo modo, si può distinguere tra le due variabili e accedere alla variabile di istanza corretta.</a:t>
            </a:r>
            <a:endParaRPr kumimoji="0" lang="it-IT" altLang="it-IT"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Le variabili di istanza possono essere dichiarate con diversi livelli di accesso, come pubblico, privato, protetto o pacchetto. Il livello di accesso determina chi può accedere alla variabile dalla classe o dal pacchetto in cui è definita.</a:t>
            </a:r>
            <a:endParaRPr kumimoji="0" lang="it-IT" altLang="it-IT" sz="15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0006201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10" name="CasellaDiTesto 9">
            <a:extLst>
              <a:ext uri="{FF2B5EF4-FFF2-40B4-BE49-F238E27FC236}">
                <a16:creationId xmlns:a16="http://schemas.microsoft.com/office/drawing/2014/main" id="{3001C2ED-C35A-09B9-F588-9AD9DD417BF4}"/>
              </a:ext>
            </a:extLst>
          </p:cNvPr>
          <p:cNvSpPr txBox="1"/>
          <p:nvPr/>
        </p:nvSpPr>
        <p:spPr>
          <a:xfrm>
            <a:off x="3858164" y="1028789"/>
            <a:ext cx="6094562" cy="923330"/>
          </a:xfrm>
          <a:prstGeom prst="rect">
            <a:avLst/>
          </a:prstGeom>
          <a:solidFill>
            <a:schemeClr val="tx1">
              <a:lumMod val="85000"/>
              <a:lumOff val="15000"/>
            </a:schemeClr>
          </a:solidFill>
        </p:spPr>
        <p:txBody>
          <a:bodyPr wrap="square">
            <a:spAutoFit/>
          </a:bodyPr>
          <a:lstStyle/>
          <a:p>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D4D4D4"/>
                </a:solidFill>
                <a:effectLst/>
                <a:latin typeface="Consolas" panose="020B0609020204030204" pitchFamily="49" charset="0"/>
              </a:rPr>
              <a:t> Persona {</a:t>
            </a:r>
          </a:p>
          <a:p>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String </a:t>
            </a:r>
            <a:r>
              <a:rPr lang="en-US" b="0" dirty="0" err="1">
                <a:solidFill>
                  <a:srgbClr val="D4D4D4"/>
                </a:solidFill>
                <a:effectLst/>
                <a:latin typeface="Consolas" panose="020B0609020204030204" pitchFamily="49" charset="0"/>
              </a:rPr>
              <a:t>nome</a:t>
            </a:r>
            <a:r>
              <a:rPr lang="en-US" b="0" dirty="0">
                <a:solidFill>
                  <a:srgbClr val="569CD6"/>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a:t>
            </a:r>
          </a:p>
        </p:txBody>
      </p:sp>
      <p:sp>
        <p:nvSpPr>
          <p:cNvPr id="9" name="Rectangle 4">
            <a:extLst>
              <a:ext uri="{FF2B5EF4-FFF2-40B4-BE49-F238E27FC236}">
                <a16:creationId xmlns:a16="http://schemas.microsoft.com/office/drawing/2014/main" id="{6872ED55-A1C1-2744-1EED-9B8AEA86FA2B}"/>
              </a:ext>
            </a:extLst>
          </p:cNvPr>
          <p:cNvSpPr>
            <a:spLocks noChangeArrowheads="1"/>
          </p:cNvSpPr>
          <p:nvPr/>
        </p:nvSpPr>
        <p:spPr bwMode="auto">
          <a:xfrm>
            <a:off x="282039" y="1990454"/>
            <a:ext cx="1087191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questo caso,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nome</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a:t>
            </a:r>
            <a:r>
              <a:rPr kumimoji="0" lang="it-IT" altLang="it-IT" sz="2000" b="0" i="0" u="none" strike="noStrike" cap="none" normalizeH="0" baseline="0" dirty="0">
                <a:ln>
                  <a:noFill/>
                </a:ln>
                <a:solidFill>
                  <a:srgbClr val="374151"/>
                </a:solidFill>
                <a:effectLst/>
                <a:latin typeface="Calibri" panose="020F0502020204030204" pitchFamily="34" charset="0"/>
                <a:ea typeface="Calibri" panose="020F0502020204030204" pitchFamily="34" charset="0"/>
                <a:cs typeface="Segoe UI" panose="020B0502040204020203" pitchFamily="34" charset="0"/>
              </a:rPr>
              <a:t>è</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una variabile di istanza di tipo </a:t>
            </a:r>
            <a:r>
              <a:rPr kumimoji="0" lang="it-IT" altLang="it-IT" sz="2000" b="0" i="0" u="none" strike="noStrike" cap="none" normalizeH="0" baseline="0" dirty="0" err="1">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String</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che appartiene all'oggetto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Persona</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Per accedere a questa variabile all'interno dei metodi della classe, si può utilizzare la parola chiave </a:t>
            </a:r>
            <a:r>
              <a:rPr kumimoji="0" lang="it-IT" altLang="it-IT" sz="20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seguita dal nome della variabile.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Ad esempio:</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2" name="CasellaDiTesto 11">
            <a:extLst>
              <a:ext uri="{FF2B5EF4-FFF2-40B4-BE49-F238E27FC236}">
                <a16:creationId xmlns:a16="http://schemas.microsoft.com/office/drawing/2014/main" id="{2E8E1112-B7FD-FE3B-99FE-F0A815C816CF}"/>
              </a:ext>
            </a:extLst>
          </p:cNvPr>
          <p:cNvSpPr txBox="1"/>
          <p:nvPr/>
        </p:nvSpPr>
        <p:spPr>
          <a:xfrm>
            <a:off x="398972" y="3544108"/>
            <a:ext cx="5130560" cy="2031325"/>
          </a:xfrm>
          <a:prstGeom prst="rect">
            <a:avLst/>
          </a:prstGeom>
          <a:solidFill>
            <a:schemeClr val="tx1">
              <a:lumMod val="95000"/>
              <a:lumOff val="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Persona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setNome</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.nome</a:t>
            </a:r>
            <a:r>
              <a:rPr lang="it-IT" b="0" dirty="0">
                <a:solidFill>
                  <a:srgbClr val="D4D4D4"/>
                </a:solidFill>
                <a:effectLst/>
                <a:latin typeface="Consolas" panose="020B0609020204030204" pitchFamily="49" charset="0"/>
              </a:rPr>
              <a:t> =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3" name="Rectangle 5">
            <a:extLst>
              <a:ext uri="{FF2B5EF4-FFF2-40B4-BE49-F238E27FC236}">
                <a16:creationId xmlns:a16="http://schemas.microsoft.com/office/drawing/2014/main" id="{69285A30-8AB6-9ABB-FEF2-81984063934D}"/>
              </a:ext>
            </a:extLst>
          </p:cNvPr>
          <p:cNvSpPr>
            <a:spLocks noChangeArrowheads="1"/>
          </p:cNvSpPr>
          <p:nvPr/>
        </p:nvSpPr>
        <p:spPr bwMode="auto">
          <a:xfrm>
            <a:off x="5632367" y="3112727"/>
            <a:ext cx="5710687" cy="3323987"/>
          </a:xfrm>
          <a:prstGeom prst="rect">
            <a:avLst/>
          </a:prstGeom>
          <a:solidFill>
            <a:srgbClr val="F7F7F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In questo caso, il metodo </a:t>
            </a:r>
            <a:r>
              <a:rPr kumimoji="0" lang="it-IT" altLang="it-IT" sz="1500" b="1" i="0" u="none" strike="noStrike" cap="none" normalizeH="0" baseline="0" dirty="0" err="1">
                <a:ln>
                  <a:noFill/>
                </a:ln>
                <a:solidFill>
                  <a:srgbClr val="374151"/>
                </a:solidFill>
                <a:effectLst/>
                <a:latin typeface="Söhne Mono"/>
              </a:rPr>
              <a:t>setNome</a:t>
            </a:r>
            <a:r>
              <a:rPr kumimoji="0" lang="it-IT" altLang="it-IT" sz="1500" b="0" i="0" u="none" strike="noStrike" cap="none" normalizeH="0" baseline="0" dirty="0">
                <a:ln>
                  <a:noFill/>
                </a:ln>
                <a:solidFill>
                  <a:srgbClr val="374151"/>
                </a:solidFill>
                <a:effectLst/>
                <a:latin typeface="Söhne"/>
              </a:rPr>
              <a:t> utilizza </a:t>
            </a:r>
            <a:r>
              <a:rPr kumimoji="0" lang="it-IT" altLang="it-IT" sz="1500" b="1" i="0" u="none" strike="noStrike" cap="none" normalizeH="0" baseline="0" dirty="0" err="1">
                <a:ln>
                  <a:noFill/>
                </a:ln>
                <a:solidFill>
                  <a:srgbClr val="374151"/>
                </a:solidFill>
                <a:effectLst/>
                <a:latin typeface="Söhne Mono"/>
              </a:rPr>
              <a:t>this.nome</a:t>
            </a:r>
            <a:r>
              <a:rPr kumimoji="0" lang="it-IT" altLang="it-IT" sz="1500" b="0" i="0" u="none" strike="noStrike" cap="none" normalizeH="0" baseline="0" dirty="0">
                <a:ln>
                  <a:noFill/>
                </a:ln>
                <a:solidFill>
                  <a:srgbClr val="374151"/>
                </a:solidFill>
                <a:effectLst/>
                <a:latin typeface="Söhne"/>
              </a:rPr>
              <a:t> per riferirsi alla variabile di istanza </a:t>
            </a:r>
            <a:r>
              <a:rPr kumimoji="0" lang="it-IT" altLang="it-IT" sz="1500" b="1" i="0" u="none" strike="noStrike" cap="none" normalizeH="0" baseline="0" dirty="0">
                <a:ln>
                  <a:noFill/>
                </a:ln>
                <a:solidFill>
                  <a:srgbClr val="374151"/>
                </a:solidFill>
                <a:effectLst/>
                <a:latin typeface="Söhne Mono"/>
              </a:rPr>
              <a:t>nome</a:t>
            </a:r>
            <a:r>
              <a:rPr kumimoji="0" lang="it-IT" altLang="it-IT" sz="1500" b="0" i="0" u="none" strike="noStrike" cap="none" normalizeH="0" baseline="0" dirty="0">
                <a:ln>
                  <a:noFill/>
                </a:ln>
                <a:solidFill>
                  <a:srgbClr val="374151"/>
                </a:solidFill>
                <a:effectLst/>
                <a:latin typeface="Söhne"/>
              </a:rPr>
              <a:t> dell'oggetto corrente.</a:t>
            </a:r>
            <a:endParaRPr kumimoji="0" lang="it-IT" altLang="it-IT"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L'utilizzo di </a:t>
            </a:r>
            <a:r>
              <a:rPr kumimoji="0" lang="it-IT" altLang="it-IT" sz="1500" b="1" i="0" u="none" strike="noStrike" cap="none" normalizeH="0" baseline="0" dirty="0" err="1">
                <a:ln>
                  <a:noFill/>
                </a:ln>
                <a:solidFill>
                  <a:srgbClr val="374151"/>
                </a:solidFill>
                <a:effectLst/>
                <a:latin typeface="Söhne Mono"/>
              </a:rPr>
              <a:t>this</a:t>
            </a:r>
            <a:r>
              <a:rPr kumimoji="0" lang="it-IT" altLang="it-IT" sz="1500" b="0" i="0" u="none" strike="noStrike" cap="none" normalizeH="0" baseline="0" dirty="0">
                <a:ln>
                  <a:noFill/>
                </a:ln>
                <a:solidFill>
                  <a:srgbClr val="374151"/>
                </a:solidFill>
                <a:effectLst/>
                <a:latin typeface="Söhne"/>
              </a:rPr>
              <a:t> è particolarmente utile quando ci sono variabili locali con lo stesso nome delle variabili di istanza. In questo modo, si può distinguere tra le due variabili e accedere alla variabile di istanza corretta.</a:t>
            </a:r>
            <a:endParaRPr kumimoji="0" lang="it-IT" altLang="it-IT"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Le variabili di istanza possono essere dichiarate con diversi livelli di accesso, come pubblico, privato, protetto o pacchetto. Il livello di accesso determina chi può accedere alla variabile dalla classe o dal pacchetto in cui è definita.</a:t>
            </a:r>
            <a:endParaRPr kumimoji="0" lang="it-IT" altLang="it-IT"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Inoltre, le variabili di istanza possono essere inizializzate all'interno del costruttore della classe o dichiarate senza un valore iniziale, in tal caso verrà assegnato il valore predefinito per il tipo di dato (ad esempio, 0 per </a:t>
            </a:r>
            <a:r>
              <a:rPr kumimoji="0" lang="it-IT" altLang="it-IT" sz="1500" b="0" i="0" u="none" strike="noStrike" cap="none" normalizeH="0" baseline="0" dirty="0" err="1">
                <a:ln>
                  <a:noFill/>
                </a:ln>
                <a:solidFill>
                  <a:srgbClr val="374151"/>
                </a:solidFill>
                <a:effectLst/>
                <a:latin typeface="Söhne"/>
              </a:rPr>
              <a:t>int</a:t>
            </a:r>
            <a:r>
              <a:rPr kumimoji="0" lang="it-IT" altLang="it-IT" sz="1500" b="0" i="0" u="none" strike="noStrike" cap="none" normalizeH="0" baseline="0" dirty="0">
                <a:ln>
                  <a:noFill/>
                </a:ln>
                <a:solidFill>
                  <a:srgbClr val="374151"/>
                </a:solidFill>
                <a:effectLst/>
                <a:latin typeface="Söhne"/>
              </a:rPr>
              <a:t>, false per </a:t>
            </a:r>
            <a:r>
              <a:rPr kumimoji="0" lang="it-IT" altLang="it-IT" sz="1500" b="0" i="0" u="none" strike="noStrike" cap="none" normalizeH="0" baseline="0" dirty="0" err="1">
                <a:ln>
                  <a:noFill/>
                </a:ln>
                <a:solidFill>
                  <a:srgbClr val="374151"/>
                </a:solidFill>
                <a:effectLst/>
                <a:latin typeface="Söhne"/>
              </a:rPr>
              <a:t>boolean</a:t>
            </a:r>
            <a:r>
              <a:rPr kumimoji="0" lang="it-IT" altLang="it-IT" sz="1500" b="0" i="0" u="none" strike="noStrike" cap="none" normalizeH="0" baseline="0" dirty="0">
                <a:ln>
                  <a:noFill/>
                </a:ln>
                <a:solidFill>
                  <a:srgbClr val="374151"/>
                </a:solidFill>
                <a:effectLst/>
                <a:latin typeface="Söhne"/>
              </a:rPr>
              <a:t>, </a:t>
            </a:r>
            <a:r>
              <a:rPr kumimoji="0" lang="it-IT" altLang="it-IT" sz="1500" b="0" i="0" u="none" strike="noStrike" cap="none" normalizeH="0" baseline="0" dirty="0" err="1">
                <a:ln>
                  <a:noFill/>
                </a:ln>
                <a:solidFill>
                  <a:srgbClr val="374151"/>
                </a:solidFill>
                <a:effectLst/>
                <a:latin typeface="Söhne"/>
              </a:rPr>
              <a:t>null</a:t>
            </a:r>
            <a:r>
              <a:rPr kumimoji="0" lang="it-IT" altLang="it-IT" sz="1500" b="0" i="0" u="none" strike="noStrike" cap="none" normalizeH="0" baseline="0" dirty="0">
                <a:ln>
                  <a:noFill/>
                </a:ln>
                <a:solidFill>
                  <a:srgbClr val="374151"/>
                </a:solidFill>
                <a:effectLst/>
                <a:latin typeface="Söhne"/>
              </a:rPr>
              <a:t> per gli oggetti, ecc.).</a:t>
            </a: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10722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10" name="CasellaDiTesto 9">
            <a:extLst>
              <a:ext uri="{FF2B5EF4-FFF2-40B4-BE49-F238E27FC236}">
                <a16:creationId xmlns:a16="http://schemas.microsoft.com/office/drawing/2014/main" id="{3001C2ED-C35A-09B9-F588-9AD9DD417BF4}"/>
              </a:ext>
            </a:extLst>
          </p:cNvPr>
          <p:cNvSpPr txBox="1"/>
          <p:nvPr/>
        </p:nvSpPr>
        <p:spPr>
          <a:xfrm>
            <a:off x="3858164" y="1028789"/>
            <a:ext cx="6094562" cy="923330"/>
          </a:xfrm>
          <a:prstGeom prst="rect">
            <a:avLst/>
          </a:prstGeom>
          <a:solidFill>
            <a:schemeClr val="tx1">
              <a:lumMod val="85000"/>
              <a:lumOff val="15000"/>
            </a:schemeClr>
          </a:solidFill>
        </p:spPr>
        <p:txBody>
          <a:bodyPr wrap="square">
            <a:spAutoFit/>
          </a:bodyPr>
          <a:lstStyle/>
          <a:p>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D4D4D4"/>
                </a:solidFill>
                <a:effectLst/>
                <a:latin typeface="Consolas" panose="020B0609020204030204" pitchFamily="49" charset="0"/>
              </a:rPr>
              <a:t> Persona {</a:t>
            </a:r>
          </a:p>
          <a:p>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String </a:t>
            </a:r>
            <a:r>
              <a:rPr lang="en-US" b="0" dirty="0" err="1">
                <a:solidFill>
                  <a:srgbClr val="D4D4D4"/>
                </a:solidFill>
                <a:effectLst/>
                <a:latin typeface="Consolas" panose="020B0609020204030204" pitchFamily="49" charset="0"/>
              </a:rPr>
              <a:t>nome</a:t>
            </a:r>
            <a:r>
              <a:rPr lang="en-US" b="0" dirty="0">
                <a:solidFill>
                  <a:srgbClr val="569CD6"/>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a:t>
            </a:r>
          </a:p>
        </p:txBody>
      </p:sp>
      <p:sp>
        <p:nvSpPr>
          <p:cNvPr id="9" name="Rectangle 4">
            <a:extLst>
              <a:ext uri="{FF2B5EF4-FFF2-40B4-BE49-F238E27FC236}">
                <a16:creationId xmlns:a16="http://schemas.microsoft.com/office/drawing/2014/main" id="{6872ED55-A1C1-2744-1EED-9B8AEA86FA2B}"/>
              </a:ext>
            </a:extLst>
          </p:cNvPr>
          <p:cNvSpPr>
            <a:spLocks noChangeArrowheads="1"/>
          </p:cNvSpPr>
          <p:nvPr/>
        </p:nvSpPr>
        <p:spPr bwMode="auto">
          <a:xfrm>
            <a:off x="282039" y="1990454"/>
            <a:ext cx="1087191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questo caso,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nome</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a:t>
            </a:r>
            <a:r>
              <a:rPr kumimoji="0" lang="it-IT" altLang="it-IT" sz="2000" b="0" i="0" u="none" strike="noStrike" cap="none" normalizeH="0" baseline="0" dirty="0">
                <a:ln>
                  <a:noFill/>
                </a:ln>
                <a:solidFill>
                  <a:srgbClr val="374151"/>
                </a:solidFill>
                <a:effectLst/>
                <a:latin typeface="Calibri" panose="020F0502020204030204" pitchFamily="34" charset="0"/>
                <a:ea typeface="Calibri" panose="020F0502020204030204" pitchFamily="34" charset="0"/>
                <a:cs typeface="Segoe UI" panose="020B0502040204020203" pitchFamily="34" charset="0"/>
              </a:rPr>
              <a:t>è</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una variabile di istanza di tipo </a:t>
            </a:r>
            <a:r>
              <a:rPr kumimoji="0" lang="it-IT" altLang="it-IT" sz="2000" b="0" i="0" u="none" strike="noStrike" cap="none" normalizeH="0" baseline="0" dirty="0" err="1">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String</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che appartiene all'oggetto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Persona</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Per accedere a questa variabile all'interno dei metodi della classe, si può utilizzare la parola chiave </a:t>
            </a:r>
            <a:r>
              <a:rPr kumimoji="0" lang="it-IT" altLang="it-IT" sz="20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seguita dal nome della variabile.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Ad esempio:</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2" name="CasellaDiTesto 11">
            <a:extLst>
              <a:ext uri="{FF2B5EF4-FFF2-40B4-BE49-F238E27FC236}">
                <a16:creationId xmlns:a16="http://schemas.microsoft.com/office/drawing/2014/main" id="{2E8E1112-B7FD-FE3B-99FE-F0A815C816CF}"/>
              </a:ext>
            </a:extLst>
          </p:cNvPr>
          <p:cNvSpPr txBox="1"/>
          <p:nvPr/>
        </p:nvSpPr>
        <p:spPr>
          <a:xfrm>
            <a:off x="398972" y="3544108"/>
            <a:ext cx="5130560" cy="2031325"/>
          </a:xfrm>
          <a:prstGeom prst="rect">
            <a:avLst/>
          </a:prstGeom>
          <a:solidFill>
            <a:schemeClr val="tx1">
              <a:lumMod val="95000"/>
              <a:lumOff val="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Persona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setNome</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.nome</a:t>
            </a:r>
            <a:r>
              <a:rPr lang="it-IT" b="0" dirty="0">
                <a:solidFill>
                  <a:srgbClr val="D4D4D4"/>
                </a:solidFill>
                <a:effectLst/>
                <a:latin typeface="Consolas" panose="020B0609020204030204" pitchFamily="49" charset="0"/>
              </a:rPr>
              <a:t> =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3" name="Rectangle 5">
            <a:extLst>
              <a:ext uri="{FF2B5EF4-FFF2-40B4-BE49-F238E27FC236}">
                <a16:creationId xmlns:a16="http://schemas.microsoft.com/office/drawing/2014/main" id="{69285A30-8AB6-9ABB-FEF2-81984063934D}"/>
              </a:ext>
            </a:extLst>
          </p:cNvPr>
          <p:cNvSpPr>
            <a:spLocks noChangeArrowheads="1"/>
          </p:cNvSpPr>
          <p:nvPr/>
        </p:nvSpPr>
        <p:spPr bwMode="auto">
          <a:xfrm>
            <a:off x="5632367" y="2766479"/>
            <a:ext cx="5710687" cy="4016484"/>
          </a:xfrm>
          <a:prstGeom prst="rect">
            <a:avLst/>
          </a:prstGeom>
          <a:solidFill>
            <a:srgbClr val="F7F7F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In questo caso, il metodo </a:t>
            </a:r>
            <a:r>
              <a:rPr kumimoji="0" lang="it-IT" altLang="it-IT" sz="1500" b="1" i="0" u="none" strike="noStrike" cap="none" normalizeH="0" baseline="0" dirty="0" err="1">
                <a:ln>
                  <a:noFill/>
                </a:ln>
                <a:solidFill>
                  <a:srgbClr val="374151"/>
                </a:solidFill>
                <a:effectLst/>
                <a:latin typeface="Söhne Mono"/>
              </a:rPr>
              <a:t>setNome</a:t>
            </a:r>
            <a:r>
              <a:rPr kumimoji="0" lang="it-IT" altLang="it-IT" sz="1500" b="0" i="0" u="none" strike="noStrike" cap="none" normalizeH="0" baseline="0" dirty="0">
                <a:ln>
                  <a:noFill/>
                </a:ln>
                <a:solidFill>
                  <a:srgbClr val="374151"/>
                </a:solidFill>
                <a:effectLst/>
                <a:latin typeface="Söhne"/>
              </a:rPr>
              <a:t> utilizza </a:t>
            </a:r>
            <a:r>
              <a:rPr kumimoji="0" lang="it-IT" altLang="it-IT" sz="1500" b="1" i="0" u="none" strike="noStrike" cap="none" normalizeH="0" baseline="0" dirty="0" err="1">
                <a:ln>
                  <a:noFill/>
                </a:ln>
                <a:solidFill>
                  <a:srgbClr val="374151"/>
                </a:solidFill>
                <a:effectLst/>
                <a:latin typeface="Söhne Mono"/>
              </a:rPr>
              <a:t>this.nome</a:t>
            </a:r>
            <a:r>
              <a:rPr kumimoji="0" lang="it-IT" altLang="it-IT" sz="1500" b="0" i="0" u="none" strike="noStrike" cap="none" normalizeH="0" baseline="0" dirty="0">
                <a:ln>
                  <a:noFill/>
                </a:ln>
                <a:solidFill>
                  <a:srgbClr val="374151"/>
                </a:solidFill>
                <a:effectLst/>
                <a:latin typeface="Söhne"/>
              </a:rPr>
              <a:t> per riferirsi alla variabile di istanza </a:t>
            </a:r>
            <a:r>
              <a:rPr kumimoji="0" lang="it-IT" altLang="it-IT" sz="1500" b="1" i="0" u="none" strike="noStrike" cap="none" normalizeH="0" baseline="0" dirty="0">
                <a:ln>
                  <a:noFill/>
                </a:ln>
                <a:solidFill>
                  <a:srgbClr val="374151"/>
                </a:solidFill>
                <a:effectLst/>
                <a:latin typeface="Söhne Mono"/>
              </a:rPr>
              <a:t>nome</a:t>
            </a:r>
            <a:r>
              <a:rPr kumimoji="0" lang="it-IT" altLang="it-IT" sz="1500" b="0" i="0" u="none" strike="noStrike" cap="none" normalizeH="0" baseline="0" dirty="0">
                <a:ln>
                  <a:noFill/>
                </a:ln>
                <a:solidFill>
                  <a:srgbClr val="374151"/>
                </a:solidFill>
                <a:effectLst/>
                <a:latin typeface="Söhne"/>
              </a:rPr>
              <a:t> dell'oggetto corrente.</a:t>
            </a:r>
            <a:endParaRPr kumimoji="0" lang="it-IT" altLang="it-IT"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L'utilizzo di </a:t>
            </a:r>
            <a:r>
              <a:rPr kumimoji="0" lang="it-IT" altLang="it-IT" sz="1500" b="1" i="0" u="none" strike="noStrike" cap="none" normalizeH="0" baseline="0" dirty="0" err="1">
                <a:ln>
                  <a:noFill/>
                </a:ln>
                <a:solidFill>
                  <a:srgbClr val="374151"/>
                </a:solidFill>
                <a:effectLst/>
                <a:latin typeface="Söhne Mono"/>
              </a:rPr>
              <a:t>this</a:t>
            </a:r>
            <a:r>
              <a:rPr kumimoji="0" lang="it-IT" altLang="it-IT" sz="1500" b="0" i="0" u="none" strike="noStrike" cap="none" normalizeH="0" baseline="0" dirty="0">
                <a:ln>
                  <a:noFill/>
                </a:ln>
                <a:solidFill>
                  <a:srgbClr val="374151"/>
                </a:solidFill>
                <a:effectLst/>
                <a:latin typeface="Söhne"/>
              </a:rPr>
              <a:t> è particolarmente utile quando ci sono variabili locali con lo stesso nome delle variabili di istanza. In questo modo, si può distinguere tra le due variabili e accedere alla variabile di istanza corretta.</a:t>
            </a:r>
            <a:endParaRPr kumimoji="0" lang="it-IT" altLang="it-IT"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Le variabili di istanza possono essere dichiarate con diversi livelli di accesso, come pubblico, privato, protetto o pacchetto. Il livello di accesso determina chi può accedere alla variabile dalla classe o dal pacchetto in cui è definita.</a:t>
            </a:r>
            <a:endParaRPr kumimoji="0" lang="it-IT" altLang="it-IT"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Inoltre, le variabili di istanza possono essere inizializzate all'interno del costruttore della classe o dichiarate senza un valore iniziale, in tal caso verrà assegnato il valore predefinito per il tipo di dato (ad esempio, 0 per </a:t>
            </a:r>
            <a:r>
              <a:rPr kumimoji="0" lang="it-IT" altLang="it-IT" sz="1500" b="0" i="0" u="none" strike="noStrike" cap="none" normalizeH="0" baseline="0" dirty="0" err="1">
                <a:ln>
                  <a:noFill/>
                </a:ln>
                <a:solidFill>
                  <a:srgbClr val="374151"/>
                </a:solidFill>
                <a:effectLst/>
                <a:latin typeface="Söhne"/>
              </a:rPr>
              <a:t>int</a:t>
            </a:r>
            <a:r>
              <a:rPr kumimoji="0" lang="it-IT" altLang="it-IT" sz="1500" b="0" i="0" u="none" strike="noStrike" cap="none" normalizeH="0" baseline="0" dirty="0">
                <a:ln>
                  <a:noFill/>
                </a:ln>
                <a:solidFill>
                  <a:srgbClr val="374151"/>
                </a:solidFill>
                <a:effectLst/>
                <a:latin typeface="Söhne"/>
              </a:rPr>
              <a:t>, false per </a:t>
            </a:r>
            <a:r>
              <a:rPr kumimoji="0" lang="it-IT" altLang="it-IT" sz="1500" b="0" i="0" u="none" strike="noStrike" cap="none" normalizeH="0" baseline="0" dirty="0" err="1">
                <a:ln>
                  <a:noFill/>
                </a:ln>
                <a:solidFill>
                  <a:srgbClr val="374151"/>
                </a:solidFill>
                <a:effectLst/>
                <a:latin typeface="Söhne"/>
              </a:rPr>
              <a:t>boolean</a:t>
            </a:r>
            <a:r>
              <a:rPr kumimoji="0" lang="it-IT" altLang="it-IT" sz="1500" b="0" i="0" u="none" strike="noStrike" cap="none" normalizeH="0" baseline="0" dirty="0">
                <a:ln>
                  <a:noFill/>
                </a:ln>
                <a:solidFill>
                  <a:srgbClr val="374151"/>
                </a:solidFill>
                <a:effectLst/>
                <a:latin typeface="Söhne"/>
              </a:rPr>
              <a:t>, </a:t>
            </a:r>
            <a:r>
              <a:rPr kumimoji="0" lang="it-IT" altLang="it-IT" sz="1500" b="0" i="0" u="none" strike="noStrike" cap="none" normalizeH="0" baseline="0" dirty="0" err="1">
                <a:ln>
                  <a:noFill/>
                </a:ln>
                <a:solidFill>
                  <a:srgbClr val="374151"/>
                </a:solidFill>
                <a:effectLst/>
                <a:latin typeface="Söhne"/>
              </a:rPr>
              <a:t>null</a:t>
            </a:r>
            <a:r>
              <a:rPr kumimoji="0" lang="it-IT" altLang="it-IT" sz="1500" b="0" i="0" u="none" strike="noStrike" cap="none" normalizeH="0" baseline="0" dirty="0">
                <a:ln>
                  <a:noFill/>
                </a:ln>
                <a:solidFill>
                  <a:srgbClr val="374151"/>
                </a:solidFill>
                <a:effectLst/>
                <a:latin typeface="Söhne"/>
              </a:rPr>
              <a:t> per gli oggetti, ecc.).</a:t>
            </a:r>
            <a:endParaRPr kumimoji="0" lang="it-IT" altLang="it-IT"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In sintesi, le variabili di istanza sono utilizzate per mantenere lo stato dell'oggetto e possono essere accedute attraverso la parola chiave </a:t>
            </a:r>
            <a:r>
              <a:rPr kumimoji="0" lang="it-IT" altLang="it-IT" sz="1500" b="1" i="0" u="none" strike="noStrike" cap="none" normalizeH="0" baseline="0" dirty="0" err="1">
                <a:ln>
                  <a:noFill/>
                </a:ln>
                <a:solidFill>
                  <a:srgbClr val="374151"/>
                </a:solidFill>
                <a:effectLst/>
                <a:latin typeface="Söhne Mono"/>
              </a:rPr>
              <a:t>this</a:t>
            </a:r>
            <a:r>
              <a:rPr kumimoji="0" lang="it-IT" altLang="it-IT" sz="1500" b="0" i="0" u="none" strike="noStrike" cap="none" normalizeH="0" baseline="0" dirty="0">
                <a:ln>
                  <a:noFill/>
                </a:ln>
                <a:solidFill>
                  <a:srgbClr val="374151"/>
                </a:solidFill>
                <a:effectLst/>
                <a:latin typeface="Söhne"/>
              </a:rPr>
              <a:t> all'interno dei metodi della classe.</a:t>
            </a: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184638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369332"/>
          </a:xfrm>
          <a:prstGeom prst="rect">
            <a:avLst/>
          </a:prstGeom>
          <a:noFill/>
        </p:spPr>
        <p:txBody>
          <a:bodyPr wrap="square">
            <a:spAutoFit/>
          </a:bodyPr>
          <a:lstStyle/>
          <a:p>
            <a:r>
              <a:rPr lang="it-IT" b="0" i="0">
                <a:solidFill>
                  <a:srgbClr val="050E17"/>
                </a:solidFill>
                <a:effectLst/>
                <a:latin typeface="-apple-system"/>
              </a:rPr>
              <a:t>Proprietà </a:t>
            </a:r>
            <a:r>
              <a:rPr lang="it-IT" b="0" i="0" dirty="0">
                <a:solidFill>
                  <a:srgbClr val="050E17"/>
                </a:solidFill>
                <a:effectLst/>
                <a:latin typeface="-apple-system"/>
              </a:rPr>
              <a:t>o campi di istanza</a:t>
            </a:r>
            <a:endParaRPr lang="it-IT" dirty="0"/>
          </a:p>
        </p:txBody>
      </p:sp>
      <p:sp>
        <p:nvSpPr>
          <p:cNvPr id="10" name="CasellaDiTesto 9">
            <a:extLst>
              <a:ext uri="{FF2B5EF4-FFF2-40B4-BE49-F238E27FC236}">
                <a16:creationId xmlns:a16="http://schemas.microsoft.com/office/drawing/2014/main" id="{3001C2ED-C35A-09B9-F588-9AD9DD417BF4}"/>
              </a:ext>
            </a:extLst>
          </p:cNvPr>
          <p:cNvSpPr txBox="1"/>
          <p:nvPr/>
        </p:nvSpPr>
        <p:spPr>
          <a:xfrm>
            <a:off x="3858164" y="1028789"/>
            <a:ext cx="6094562" cy="923330"/>
          </a:xfrm>
          <a:prstGeom prst="rect">
            <a:avLst/>
          </a:prstGeom>
          <a:solidFill>
            <a:schemeClr val="tx1">
              <a:lumMod val="85000"/>
              <a:lumOff val="15000"/>
            </a:schemeClr>
          </a:solidFill>
        </p:spPr>
        <p:txBody>
          <a:bodyPr wrap="square">
            <a:spAutoFit/>
          </a:bodyPr>
          <a:lstStyle/>
          <a:p>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D4D4D4"/>
                </a:solidFill>
                <a:effectLst/>
                <a:latin typeface="Consolas" panose="020B0609020204030204" pitchFamily="49" charset="0"/>
              </a:rPr>
              <a:t> Persona {</a:t>
            </a:r>
          </a:p>
          <a:p>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public</a:t>
            </a:r>
            <a:r>
              <a:rPr lang="en-US" b="0" dirty="0">
                <a:solidFill>
                  <a:srgbClr val="D4D4D4"/>
                </a:solidFill>
                <a:effectLst/>
                <a:latin typeface="Consolas" panose="020B0609020204030204" pitchFamily="49" charset="0"/>
              </a:rPr>
              <a:t> String </a:t>
            </a:r>
            <a:r>
              <a:rPr lang="en-US" b="0" dirty="0" err="1">
                <a:solidFill>
                  <a:srgbClr val="D4D4D4"/>
                </a:solidFill>
                <a:effectLst/>
                <a:latin typeface="Consolas" panose="020B0609020204030204" pitchFamily="49" charset="0"/>
              </a:rPr>
              <a:t>nome</a:t>
            </a:r>
            <a:r>
              <a:rPr lang="en-US" b="0" dirty="0">
                <a:solidFill>
                  <a:srgbClr val="569CD6"/>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a:t>
            </a:r>
          </a:p>
        </p:txBody>
      </p:sp>
      <p:sp>
        <p:nvSpPr>
          <p:cNvPr id="9" name="Rectangle 4">
            <a:extLst>
              <a:ext uri="{FF2B5EF4-FFF2-40B4-BE49-F238E27FC236}">
                <a16:creationId xmlns:a16="http://schemas.microsoft.com/office/drawing/2014/main" id="{6872ED55-A1C1-2744-1EED-9B8AEA86FA2B}"/>
              </a:ext>
            </a:extLst>
          </p:cNvPr>
          <p:cNvSpPr>
            <a:spLocks noChangeArrowheads="1"/>
          </p:cNvSpPr>
          <p:nvPr/>
        </p:nvSpPr>
        <p:spPr bwMode="auto">
          <a:xfrm>
            <a:off x="282039" y="1990454"/>
            <a:ext cx="1087191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questo caso,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nome</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a:t>
            </a:r>
            <a:r>
              <a:rPr kumimoji="0" lang="it-IT" altLang="it-IT" sz="2000" b="0" i="0" u="none" strike="noStrike" cap="none" normalizeH="0" baseline="0" dirty="0">
                <a:ln>
                  <a:noFill/>
                </a:ln>
                <a:solidFill>
                  <a:srgbClr val="374151"/>
                </a:solidFill>
                <a:effectLst/>
                <a:latin typeface="Calibri" panose="020F0502020204030204" pitchFamily="34" charset="0"/>
                <a:ea typeface="Calibri" panose="020F0502020204030204" pitchFamily="34" charset="0"/>
                <a:cs typeface="Segoe UI" panose="020B0502040204020203" pitchFamily="34" charset="0"/>
              </a:rPr>
              <a:t>è</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una variabile di istanza di tipo </a:t>
            </a:r>
            <a:r>
              <a:rPr kumimoji="0" lang="it-IT" altLang="it-IT" sz="2000" b="0" i="0" u="none" strike="noStrike" cap="none" normalizeH="0" baseline="0" dirty="0" err="1">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String</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che appartiene all'oggetto </a:t>
            </a:r>
            <a:r>
              <a:rPr kumimoji="0" lang="it-IT" altLang="it-IT" sz="2000" b="1" i="0" u="none" strike="noStrike" cap="none" normalizeH="0" baseline="0" dirty="0">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Persona</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Per accedere a questa variabile all'interno dei metodi della classe, si può utilizzare la parola chiave </a:t>
            </a:r>
            <a:r>
              <a:rPr kumimoji="0" lang="it-IT" altLang="it-IT" sz="20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seguita dal nome della variabile.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Ad esempio:</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2" name="CasellaDiTesto 11">
            <a:extLst>
              <a:ext uri="{FF2B5EF4-FFF2-40B4-BE49-F238E27FC236}">
                <a16:creationId xmlns:a16="http://schemas.microsoft.com/office/drawing/2014/main" id="{2E8E1112-B7FD-FE3B-99FE-F0A815C816CF}"/>
              </a:ext>
            </a:extLst>
          </p:cNvPr>
          <p:cNvSpPr txBox="1"/>
          <p:nvPr/>
        </p:nvSpPr>
        <p:spPr>
          <a:xfrm>
            <a:off x="398972" y="3544108"/>
            <a:ext cx="5130560" cy="2031325"/>
          </a:xfrm>
          <a:prstGeom prst="rect">
            <a:avLst/>
          </a:prstGeom>
          <a:solidFill>
            <a:schemeClr val="tx1">
              <a:lumMod val="95000"/>
              <a:lumOff val="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Persona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setNome</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nome) {</a:t>
            </a:r>
          </a:p>
          <a:p>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this</a:t>
            </a:r>
            <a:r>
              <a:rPr lang="it-IT" b="0" dirty="0" err="1">
                <a:solidFill>
                  <a:srgbClr val="D4D4D4"/>
                </a:solidFill>
                <a:effectLst/>
                <a:latin typeface="Consolas" panose="020B0609020204030204" pitchFamily="49" charset="0"/>
              </a:rPr>
              <a:t>.nome</a:t>
            </a:r>
            <a:r>
              <a:rPr lang="it-IT" b="0" dirty="0">
                <a:solidFill>
                  <a:srgbClr val="D4D4D4"/>
                </a:solidFill>
                <a:effectLst/>
                <a:latin typeface="Consolas" panose="020B0609020204030204" pitchFamily="49" charset="0"/>
              </a:rPr>
              <a:t> = nome</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13" name="Rectangle 5">
            <a:extLst>
              <a:ext uri="{FF2B5EF4-FFF2-40B4-BE49-F238E27FC236}">
                <a16:creationId xmlns:a16="http://schemas.microsoft.com/office/drawing/2014/main" id="{69285A30-8AB6-9ABB-FEF2-81984063934D}"/>
              </a:ext>
            </a:extLst>
          </p:cNvPr>
          <p:cNvSpPr>
            <a:spLocks noChangeArrowheads="1"/>
          </p:cNvSpPr>
          <p:nvPr/>
        </p:nvSpPr>
        <p:spPr bwMode="auto">
          <a:xfrm>
            <a:off x="5632367" y="2766479"/>
            <a:ext cx="5710687" cy="4016484"/>
          </a:xfrm>
          <a:prstGeom prst="rect">
            <a:avLst/>
          </a:prstGeom>
          <a:solidFill>
            <a:srgbClr val="F7F7F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In questo caso, il metodo </a:t>
            </a:r>
            <a:r>
              <a:rPr kumimoji="0" lang="it-IT" altLang="it-IT" sz="1500" b="1" i="0" u="none" strike="noStrike" cap="none" normalizeH="0" baseline="0" dirty="0" err="1">
                <a:ln>
                  <a:noFill/>
                </a:ln>
                <a:solidFill>
                  <a:srgbClr val="374151"/>
                </a:solidFill>
                <a:effectLst/>
                <a:latin typeface="Söhne Mono"/>
              </a:rPr>
              <a:t>setNome</a:t>
            </a:r>
            <a:r>
              <a:rPr kumimoji="0" lang="it-IT" altLang="it-IT" sz="1500" b="0" i="0" u="none" strike="noStrike" cap="none" normalizeH="0" baseline="0" dirty="0">
                <a:ln>
                  <a:noFill/>
                </a:ln>
                <a:solidFill>
                  <a:srgbClr val="374151"/>
                </a:solidFill>
                <a:effectLst/>
                <a:latin typeface="Söhne"/>
              </a:rPr>
              <a:t> utilizza </a:t>
            </a:r>
            <a:r>
              <a:rPr kumimoji="0" lang="it-IT" altLang="it-IT" sz="1500" b="1" i="0" u="none" strike="noStrike" cap="none" normalizeH="0" baseline="0" dirty="0" err="1">
                <a:ln>
                  <a:noFill/>
                </a:ln>
                <a:solidFill>
                  <a:srgbClr val="374151"/>
                </a:solidFill>
                <a:effectLst/>
                <a:latin typeface="Söhne Mono"/>
              </a:rPr>
              <a:t>this.nome</a:t>
            </a:r>
            <a:r>
              <a:rPr kumimoji="0" lang="it-IT" altLang="it-IT" sz="1500" b="0" i="0" u="none" strike="noStrike" cap="none" normalizeH="0" baseline="0" dirty="0">
                <a:ln>
                  <a:noFill/>
                </a:ln>
                <a:solidFill>
                  <a:srgbClr val="374151"/>
                </a:solidFill>
                <a:effectLst/>
                <a:latin typeface="Söhne"/>
              </a:rPr>
              <a:t> per riferirsi alla variabile di istanza </a:t>
            </a:r>
            <a:r>
              <a:rPr kumimoji="0" lang="it-IT" altLang="it-IT" sz="1500" b="1" i="0" u="none" strike="noStrike" cap="none" normalizeH="0" baseline="0" dirty="0">
                <a:ln>
                  <a:noFill/>
                </a:ln>
                <a:solidFill>
                  <a:srgbClr val="374151"/>
                </a:solidFill>
                <a:effectLst/>
                <a:latin typeface="Söhne Mono"/>
              </a:rPr>
              <a:t>nome</a:t>
            </a:r>
            <a:r>
              <a:rPr kumimoji="0" lang="it-IT" altLang="it-IT" sz="1500" b="0" i="0" u="none" strike="noStrike" cap="none" normalizeH="0" baseline="0" dirty="0">
                <a:ln>
                  <a:noFill/>
                </a:ln>
                <a:solidFill>
                  <a:srgbClr val="374151"/>
                </a:solidFill>
                <a:effectLst/>
                <a:latin typeface="Söhne"/>
              </a:rPr>
              <a:t> dell'oggetto corrente.</a:t>
            </a:r>
            <a:endParaRPr kumimoji="0" lang="it-IT" altLang="it-IT"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L'utilizzo di </a:t>
            </a:r>
            <a:r>
              <a:rPr kumimoji="0" lang="it-IT" altLang="it-IT" sz="1500" b="1" i="0" u="none" strike="noStrike" cap="none" normalizeH="0" baseline="0" dirty="0" err="1">
                <a:ln>
                  <a:noFill/>
                </a:ln>
                <a:solidFill>
                  <a:srgbClr val="374151"/>
                </a:solidFill>
                <a:effectLst/>
                <a:latin typeface="Söhne Mono"/>
              </a:rPr>
              <a:t>this</a:t>
            </a:r>
            <a:r>
              <a:rPr kumimoji="0" lang="it-IT" altLang="it-IT" sz="1500" b="0" i="0" u="none" strike="noStrike" cap="none" normalizeH="0" baseline="0" dirty="0">
                <a:ln>
                  <a:noFill/>
                </a:ln>
                <a:solidFill>
                  <a:srgbClr val="374151"/>
                </a:solidFill>
                <a:effectLst/>
                <a:latin typeface="Söhne"/>
              </a:rPr>
              <a:t> è particolarmente utile quando ci sono variabili locali con lo stesso nome delle variabili di istanza. In questo modo, si può distinguere tra le due variabili e accedere alla variabile di istanza corretta.</a:t>
            </a:r>
            <a:endParaRPr kumimoji="0" lang="it-IT" altLang="it-IT"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Le variabili di istanza possono essere dichiarate con diversi livelli di accesso, come pubblico, privato, protetto o pacchetto. Il livello di accesso determina chi può accedere alla variabile dalla classe o dal pacchetto in cui è definita.</a:t>
            </a:r>
            <a:endParaRPr kumimoji="0" lang="it-IT" altLang="it-IT"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Inoltre, le variabili di istanza possono essere inizializzate all'interno del costruttore della classe o dichiarate senza un valore iniziale, in tal caso verrà assegnato il valore predefinito per il tipo di dato (ad esempio, 0 per </a:t>
            </a:r>
            <a:r>
              <a:rPr kumimoji="0" lang="it-IT" altLang="it-IT" sz="1500" b="0" i="0" u="none" strike="noStrike" cap="none" normalizeH="0" baseline="0" dirty="0" err="1">
                <a:ln>
                  <a:noFill/>
                </a:ln>
                <a:solidFill>
                  <a:srgbClr val="374151"/>
                </a:solidFill>
                <a:effectLst/>
                <a:latin typeface="Söhne"/>
              </a:rPr>
              <a:t>int</a:t>
            </a:r>
            <a:r>
              <a:rPr kumimoji="0" lang="it-IT" altLang="it-IT" sz="1500" b="0" i="0" u="none" strike="noStrike" cap="none" normalizeH="0" baseline="0" dirty="0">
                <a:ln>
                  <a:noFill/>
                </a:ln>
                <a:solidFill>
                  <a:srgbClr val="374151"/>
                </a:solidFill>
                <a:effectLst/>
                <a:latin typeface="Söhne"/>
              </a:rPr>
              <a:t>, false per </a:t>
            </a:r>
            <a:r>
              <a:rPr kumimoji="0" lang="it-IT" altLang="it-IT" sz="1500" b="0" i="0" u="none" strike="noStrike" cap="none" normalizeH="0" baseline="0" dirty="0" err="1">
                <a:ln>
                  <a:noFill/>
                </a:ln>
                <a:solidFill>
                  <a:srgbClr val="374151"/>
                </a:solidFill>
                <a:effectLst/>
                <a:latin typeface="Söhne"/>
              </a:rPr>
              <a:t>boolean</a:t>
            </a:r>
            <a:r>
              <a:rPr kumimoji="0" lang="it-IT" altLang="it-IT" sz="1500" b="0" i="0" u="none" strike="noStrike" cap="none" normalizeH="0" baseline="0" dirty="0">
                <a:ln>
                  <a:noFill/>
                </a:ln>
                <a:solidFill>
                  <a:srgbClr val="374151"/>
                </a:solidFill>
                <a:effectLst/>
                <a:latin typeface="Söhne"/>
              </a:rPr>
              <a:t>, </a:t>
            </a:r>
            <a:r>
              <a:rPr kumimoji="0" lang="it-IT" altLang="it-IT" sz="1500" b="0" i="0" u="none" strike="noStrike" cap="none" normalizeH="0" baseline="0" dirty="0" err="1">
                <a:ln>
                  <a:noFill/>
                </a:ln>
                <a:solidFill>
                  <a:srgbClr val="374151"/>
                </a:solidFill>
                <a:effectLst/>
                <a:latin typeface="Söhne"/>
              </a:rPr>
              <a:t>null</a:t>
            </a:r>
            <a:r>
              <a:rPr kumimoji="0" lang="it-IT" altLang="it-IT" sz="1500" b="0" i="0" u="none" strike="noStrike" cap="none" normalizeH="0" baseline="0" dirty="0">
                <a:ln>
                  <a:noFill/>
                </a:ln>
                <a:solidFill>
                  <a:srgbClr val="374151"/>
                </a:solidFill>
                <a:effectLst/>
                <a:latin typeface="Söhne"/>
              </a:rPr>
              <a:t> per gli oggetti, ecc.).</a:t>
            </a:r>
            <a:endParaRPr kumimoji="0" lang="it-IT" altLang="it-IT"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In sintesi, le variabili di istanza sono utilizzate per mantenere lo stato dell'oggetto e possono essere accedute attraverso la parola chiave </a:t>
            </a:r>
            <a:r>
              <a:rPr kumimoji="0" lang="it-IT" altLang="it-IT" sz="1500" b="1" i="0" u="none" strike="noStrike" cap="none" normalizeH="0" baseline="0" dirty="0" err="1">
                <a:ln>
                  <a:noFill/>
                </a:ln>
                <a:solidFill>
                  <a:srgbClr val="374151"/>
                </a:solidFill>
                <a:effectLst/>
                <a:latin typeface="Söhne Mono"/>
              </a:rPr>
              <a:t>this</a:t>
            </a:r>
            <a:r>
              <a:rPr kumimoji="0" lang="it-IT" altLang="it-IT" sz="1500" b="0" i="0" u="none" strike="noStrike" cap="none" normalizeH="0" baseline="0" dirty="0">
                <a:ln>
                  <a:noFill/>
                </a:ln>
                <a:solidFill>
                  <a:srgbClr val="374151"/>
                </a:solidFill>
                <a:effectLst/>
                <a:latin typeface="Söhne"/>
              </a:rPr>
              <a:t> all'interno dei metodi della classe.</a:t>
            </a: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
        <p:nvSpPr>
          <p:cNvPr id="3" name="CasellaDiTesto 2">
            <a:extLst>
              <a:ext uri="{FF2B5EF4-FFF2-40B4-BE49-F238E27FC236}">
                <a16:creationId xmlns:a16="http://schemas.microsoft.com/office/drawing/2014/main" id="{AC07AF34-B1FD-4C25-A88F-E18528097534}"/>
              </a:ext>
            </a:extLst>
          </p:cNvPr>
          <p:cNvSpPr txBox="1"/>
          <p:nvPr/>
        </p:nvSpPr>
        <p:spPr>
          <a:xfrm>
            <a:off x="282038" y="5667556"/>
            <a:ext cx="5247493" cy="1077218"/>
          </a:xfrm>
          <a:prstGeom prst="rect">
            <a:avLst/>
          </a:prstGeom>
          <a:solidFill>
            <a:schemeClr val="accent4">
              <a:lumMod val="60000"/>
              <a:lumOff val="40000"/>
            </a:schemeClr>
          </a:solidFill>
          <a:ln>
            <a:solidFill>
              <a:srgbClr val="C00000"/>
            </a:solidFill>
          </a:ln>
        </p:spPr>
        <p:txBody>
          <a:bodyPr wrap="square">
            <a:spAutoFit/>
          </a:bodyPr>
          <a:lstStyle/>
          <a:p>
            <a:r>
              <a:rPr lang="it-IT" sz="1600" b="0" i="0" dirty="0">
                <a:solidFill>
                  <a:srgbClr val="343541"/>
                </a:solidFill>
                <a:effectLst/>
                <a:latin typeface="Söhne"/>
              </a:rPr>
              <a:t>Il </a:t>
            </a:r>
            <a:r>
              <a:rPr lang="it-IT" sz="1600" b="1" i="0" dirty="0" err="1">
                <a:solidFill>
                  <a:srgbClr val="343541"/>
                </a:solidFill>
                <a:effectLst/>
                <a:latin typeface="Söhne"/>
              </a:rPr>
              <a:t>this</a:t>
            </a:r>
            <a:r>
              <a:rPr lang="it-IT" sz="1600" b="0" i="0" dirty="0">
                <a:solidFill>
                  <a:srgbClr val="343541"/>
                </a:solidFill>
                <a:effectLst/>
                <a:latin typeface="Söhne"/>
              </a:rPr>
              <a:t> </a:t>
            </a:r>
            <a:r>
              <a:rPr lang="it-IT" sz="1600" b="0" i="0" dirty="0" err="1">
                <a:solidFill>
                  <a:srgbClr val="343541"/>
                </a:solidFill>
                <a:effectLst/>
                <a:latin typeface="Söhne"/>
              </a:rPr>
              <a:t>é</a:t>
            </a:r>
            <a:r>
              <a:rPr lang="it-IT" sz="1600" b="0" i="0" dirty="0">
                <a:solidFill>
                  <a:srgbClr val="343541"/>
                </a:solidFill>
                <a:effectLst/>
                <a:latin typeface="Söhne"/>
              </a:rPr>
              <a:t> generalmente usato all'interno di metodi che verranno chiamato da un oggetto generato dalla classe della quale il metodo è scritto, e corrisponde ad un puntatore all'oggetto suddetto</a:t>
            </a:r>
            <a:endParaRPr lang="it-IT" sz="1600" dirty="0"/>
          </a:p>
        </p:txBody>
      </p:sp>
    </p:spTree>
    <p:extLst>
      <p:ext uri="{BB962C8B-B14F-4D97-AF65-F5344CB8AC3E}">
        <p14:creationId xmlns:p14="http://schemas.microsoft.com/office/powerpoint/2010/main" val="6490093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82039" y="1415276"/>
            <a:ext cx="8053477" cy="523220"/>
          </a:xfrm>
          <a:prstGeom prst="rect">
            <a:avLst/>
          </a:prstGeom>
          <a:noFill/>
        </p:spPr>
        <p:txBody>
          <a:bodyPr wrap="square">
            <a:spAutoFit/>
          </a:bodyPr>
          <a:lstStyle/>
          <a:p>
            <a:r>
              <a:rPr lang="it-IT" sz="1400" dirty="0"/>
              <a:t>Abbiamo già parlato, accennandone ampiamente, dei metodi delle classi.</a:t>
            </a:r>
          </a:p>
          <a:p>
            <a:r>
              <a:rPr lang="it-IT" sz="1400" dirty="0"/>
              <a:t>Adesso approfondiamo l’argomento.</a:t>
            </a:r>
          </a:p>
        </p:txBody>
      </p:sp>
    </p:spTree>
    <p:extLst>
      <p:ext uri="{BB962C8B-B14F-4D97-AF65-F5344CB8AC3E}">
        <p14:creationId xmlns:p14="http://schemas.microsoft.com/office/powerpoint/2010/main" val="24583657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82039" y="1415276"/>
            <a:ext cx="8053477" cy="523220"/>
          </a:xfrm>
          <a:prstGeom prst="rect">
            <a:avLst/>
          </a:prstGeom>
          <a:noFill/>
        </p:spPr>
        <p:txBody>
          <a:bodyPr wrap="square">
            <a:spAutoFit/>
          </a:bodyPr>
          <a:lstStyle/>
          <a:p>
            <a:r>
              <a:rPr lang="it-IT" sz="1400" dirty="0"/>
              <a:t>Abbiamo già parlato, accennandone ampiamente, dei metodi delle classi.</a:t>
            </a:r>
          </a:p>
          <a:p>
            <a:r>
              <a:rPr lang="it-IT" sz="1400" dirty="0"/>
              <a:t>Adesso approfondiamo l’argomento.</a:t>
            </a:r>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938496"/>
            <a:ext cx="8053477" cy="1169551"/>
          </a:xfrm>
          <a:prstGeom prst="rect">
            <a:avLst/>
          </a:prstGeom>
          <a:noFill/>
        </p:spPr>
        <p:txBody>
          <a:bodyPr wrap="square">
            <a:spAutoFit/>
          </a:bodyPr>
          <a:lstStyle/>
          <a:p>
            <a:r>
              <a:rPr lang="it-IT" sz="1400" dirty="0"/>
              <a:t>Un metodo è essenzialmente una funzione di una classe, che consente alla classe stessa od ai suoi oggetti di eseguire un qualche compito.</a:t>
            </a:r>
          </a:p>
          <a:p>
            <a:endParaRPr lang="it-IT" sz="1400" dirty="0"/>
          </a:p>
          <a:p>
            <a:endParaRPr lang="it-IT" sz="1400" dirty="0"/>
          </a:p>
          <a:p>
            <a:endParaRPr lang="it-IT" sz="1400" dirty="0"/>
          </a:p>
        </p:txBody>
      </p:sp>
    </p:spTree>
    <p:extLst>
      <p:ext uri="{BB962C8B-B14F-4D97-AF65-F5344CB8AC3E}">
        <p14:creationId xmlns:p14="http://schemas.microsoft.com/office/powerpoint/2010/main" val="252492629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82039" y="1415276"/>
            <a:ext cx="8053477" cy="523220"/>
          </a:xfrm>
          <a:prstGeom prst="rect">
            <a:avLst/>
          </a:prstGeom>
          <a:noFill/>
        </p:spPr>
        <p:txBody>
          <a:bodyPr wrap="square">
            <a:spAutoFit/>
          </a:bodyPr>
          <a:lstStyle/>
          <a:p>
            <a:r>
              <a:rPr lang="it-IT" sz="1400" dirty="0"/>
              <a:t>Abbiamo già parlato, accennandone ampiamente, dei metodi delle classi.</a:t>
            </a:r>
          </a:p>
          <a:p>
            <a:r>
              <a:rPr lang="it-IT" sz="1400" dirty="0"/>
              <a:t>Adesso approfondiamo l’argomento.</a:t>
            </a:r>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938496"/>
            <a:ext cx="8053477" cy="1384995"/>
          </a:xfrm>
          <a:prstGeom prst="rect">
            <a:avLst/>
          </a:prstGeom>
          <a:noFill/>
        </p:spPr>
        <p:txBody>
          <a:bodyPr wrap="square">
            <a:spAutoFit/>
          </a:bodyPr>
          <a:lstStyle/>
          <a:p>
            <a:r>
              <a:rPr lang="it-IT" sz="1400" dirty="0"/>
              <a:t>Un metodo è essenzialmente una funzione di una classe, che consente alla classe stessa od ai suoi oggetti di eseguire un qualche compito.</a:t>
            </a:r>
          </a:p>
          <a:p>
            <a:r>
              <a:rPr lang="it-IT" sz="1400" dirty="0"/>
              <a:t>Es.</a:t>
            </a:r>
          </a:p>
          <a:p>
            <a:endParaRPr lang="it-IT" sz="1400" dirty="0"/>
          </a:p>
          <a:p>
            <a:endParaRPr lang="it-IT" sz="1400" dirty="0"/>
          </a:p>
          <a:p>
            <a:endParaRPr lang="it-IT" sz="1400" dirty="0"/>
          </a:p>
        </p:txBody>
      </p:sp>
      <p:sp>
        <p:nvSpPr>
          <p:cNvPr id="7" name="CasellaDiTesto 6">
            <a:extLst>
              <a:ext uri="{FF2B5EF4-FFF2-40B4-BE49-F238E27FC236}">
                <a16:creationId xmlns:a16="http://schemas.microsoft.com/office/drawing/2014/main" id="{EB3DB230-9693-AF6F-3416-1AEE5CFF9E90}"/>
              </a:ext>
            </a:extLst>
          </p:cNvPr>
          <p:cNvSpPr txBox="1"/>
          <p:nvPr/>
        </p:nvSpPr>
        <p:spPr>
          <a:xfrm>
            <a:off x="268856" y="2669693"/>
            <a:ext cx="8066659" cy="569708"/>
          </a:xfrm>
          <a:prstGeom prst="rect">
            <a:avLst/>
          </a:prstGeom>
          <a:solidFill>
            <a:schemeClr val="tx1">
              <a:lumMod val="85000"/>
              <a:lumOff val="15000"/>
            </a:schemeClr>
          </a:solidFill>
        </p:spPr>
        <p:txBody>
          <a:bodyPr wrap="square">
            <a:spAutoFit/>
          </a:bodyPr>
          <a:lstStyle/>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Sommatore sum =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Sommatore()</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Sum.scriviSomma</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5</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10</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176670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82039" y="1415276"/>
            <a:ext cx="8053477" cy="523220"/>
          </a:xfrm>
          <a:prstGeom prst="rect">
            <a:avLst/>
          </a:prstGeom>
          <a:noFill/>
        </p:spPr>
        <p:txBody>
          <a:bodyPr wrap="square">
            <a:spAutoFit/>
          </a:bodyPr>
          <a:lstStyle/>
          <a:p>
            <a:r>
              <a:rPr lang="it-IT" sz="1400" dirty="0"/>
              <a:t>Abbiamo già parlato, accennandone ampiamente, dei metodi delle classi.</a:t>
            </a:r>
          </a:p>
          <a:p>
            <a:r>
              <a:rPr lang="it-IT" sz="1400" dirty="0"/>
              <a:t>Adesso approfondiamo l’argomento.</a:t>
            </a:r>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938496"/>
            <a:ext cx="8053477" cy="1815882"/>
          </a:xfrm>
          <a:prstGeom prst="rect">
            <a:avLst/>
          </a:prstGeom>
          <a:noFill/>
        </p:spPr>
        <p:txBody>
          <a:bodyPr wrap="square">
            <a:spAutoFit/>
          </a:bodyPr>
          <a:lstStyle/>
          <a:p>
            <a:r>
              <a:rPr lang="it-IT" sz="1400" dirty="0"/>
              <a:t>Un metodo è essenzialmente una funzione di una classe, che consente alla classe stessa od ai suoi oggetti di eseguire un qualche compito.</a:t>
            </a:r>
          </a:p>
          <a:p>
            <a:r>
              <a:rPr lang="it-IT" sz="1400" dirty="0"/>
              <a:t>Es.</a:t>
            </a:r>
          </a:p>
          <a:p>
            <a:endParaRPr lang="it-IT" sz="1400" dirty="0"/>
          </a:p>
          <a:p>
            <a:endParaRPr lang="it-IT" sz="1400" dirty="0"/>
          </a:p>
          <a:p>
            <a:endParaRPr lang="it-IT" sz="1400" dirty="0"/>
          </a:p>
          <a:p>
            <a:r>
              <a:rPr lang="it-IT" sz="1400" dirty="0"/>
              <a:t>Ecco un esempio di metodo (</a:t>
            </a:r>
            <a:r>
              <a:rPr lang="it-IT" sz="1400" dirty="0" err="1"/>
              <a:t>scriviSomma</a:t>
            </a:r>
            <a:r>
              <a:rPr lang="it-IT" sz="1400" dirty="0"/>
              <a:t> – non è un metodo di Java, lo abbiamo immaginato ad hoc per l’esempio) che riceve in ingresso due valori </a:t>
            </a:r>
            <a:r>
              <a:rPr lang="it-IT" sz="1400" dirty="0" err="1"/>
              <a:t>numeridi</a:t>
            </a:r>
            <a:r>
              <a:rPr lang="it-IT" sz="1400" dirty="0"/>
              <a:t> (in questo caso, 5 e 10) e scrive a video la somma (15).</a:t>
            </a:r>
          </a:p>
        </p:txBody>
      </p:sp>
      <p:sp>
        <p:nvSpPr>
          <p:cNvPr id="7" name="CasellaDiTesto 6">
            <a:extLst>
              <a:ext uri="{FF2B5EF4-FFF2-40B4-BE49-F238E27FC236}">
                <a16:creationId xmlns:a16="http://schemas.microsoft.com/office/drawing/2014/main" id="{EB3DB230-9693-AF6F-3416-1AEE5CFF9E90}"/>
              </a:ext>
            </a:extLst>
          </p:cNvPr>
          <p:cNvSpPr txBox="1"/>
          <p:nvPr/>
        </p:nvSpPr>
        <p:spPr>
          <a:xfrm>
            <a:off x="268856" y="2669693"/>
            <a:ext cx="8066659" cy="569708"/>
          </a:xfrm>
          <a:prstGeom prst="rect">
            <a:avLst/>
          </a:prstGeom>
          <a:solidFill>
            <a:schemeClr val="tx1">
              <a:lumMod val="85000"/>
              <a:lumOff val="15000"/>
            </a:schemeClr>
          </a:solidFill>
        </p:spPr>
        <p:txBody>
          <a:bodyPr wrap="square">
            <a:spAutoFit/>
          </a:bodyPr>
          <a:lstStyle/>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Sommatore sum =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Sommatore()</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Sum.scriviSomma</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5</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10</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4706752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82039" y="1415276"/>
            <a:ext cx="8053477" cy="523220"/>
          </a:xfrm>
          <a:prstGeom prst="rect">
            <a:avLst/>
          </a:prstGeom>
          <a:noFill/>
        </p:spPr>
        <p:txBody>
          <a:bodyPr wrap="square">
            <a:spAutoFit/>
          </a:bodyPr>
          <a:lstStyle/>
          <a:p>
            <a:r>
              <a:rPr lang="it-IT" sz="1400" dirty="0"/>
              <a:t>Abbiamo già parlato, accennandone ampiamente, dei metodi delle classi.</a:t>
            </a:r>
          </a:p>
          <a:p>
            <a:r>
              <a:rPr lang="it-IT" sz="1400" dirty="0"/>
              <a:t>Adesso approfondiamo l’argomento.</a:t>
            </a:r>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938496"/>
            <a:ext cx="8053477" cy="2246769"/>
          </a:xfrm>
          <a:prstGeom prst="rect">
            <a:avLst/>
          </a:prstGeom>
          <a:noFill/>
        </p:spPr>
        <p:txBody>
          <a:bodyPr wrap="square">
            <a:spAutoFit/>
          </a:bodyPr>
          <a:lstStyle/>
          <a:p>
            <a:r>
              <a:rPr lang="it-IT" sz="1400" dirty="0"/>
              <a:t>Un metodo è essenzialmente una funzione di una classe, che consente alla classe stessa od ai suoi oggetti di eseguire un qualche compito.</a:t>
            </a:r>
          </a:p>
          <a:p>
            <a:r>
              <a:rPr lang="it-IT" sz="1400" dirty="0"/>
              <a:t>Es.</a:t>
            </a:r>
          </a:p>
          <a:p>
            <a:endParaRPr lang="it-IT" sz="1400" dirty="0"/>
          </a:p>
          <a:p>
            <a:endParaRPr lang="it-IT" sz="1400" dirty="0"/>
          </a:p>
          <a:p>
            <a:endParaRPr lang="it-IT" sz="1400" dirty="0"/>
          </a:p>
          <a:p>
            <a:r>
              <a:rPr lang="it-IT" sz="1400" dirty="0"/>
              <a:t>Ecco un esempio di metodo (</a:t>
            </a:r>
            <a:r>
              <a:rPr lang="it-IT" sz="1400" dirty="0" err="1"/>
              <a:t>scriviSomma</a:t>
            </a:r>
            <a:r>
              <a:rPr lang="it-IT" sz="1400" dirty="0"/>
              <a:t> – non è un metodo di Java, lo abbiamo immaginato ad hoc per l’esempio) che riceve in ingresso due valori </a:t>
            </a:r>
            <a:r>
              <a:rPr lang="it-IT" sz="1400" dirty="0" err="1"/>
              <a:t>numeridi</a:t>
            </a:r>
            <a:r>
              <a:rPr lang="it-IT" sz="1400" dirty="0"/>
              <a:t> (in questo caso, 5 e 10) e scrive a video la somma (15).</a:t>
            </a:r>
          </a:p>
          <a:p>
            <a:r>
              <a:rPr lang="it-IT" sz="1400" dirty="0"/>
              <a:t>Il metodo, come vedremo (ed abbiamo già accennato) è dinamico e richiede che venga istanziato un oggetto di tipo Sommatore (la nostra classe).</a:t>
            </a:r>
          </a:p>
        </p:txBody>
      </p:sp>
      <p:sp>
        <p:nvSpPr>
          <p:cNvPr id="7" name="CasellaDiTesto 6">
            <a:extLst>
              <a:ext uri="{FF2B5EF4-FFF2-40B4-BE49-F238E27FC236}">
                <a16:creationId xmlns:a16="http://schemas.microsoft.com/office/drawing/2014/main" id="{EB3DB230-9693-AF6F-3416-1AEE5CFF9E90}"/>
              </a:ext>
            </a:extLst>
          </p:cNvPr>
          <p:cNvSpPr txBox="1"/>
          <p:nvPr/>
        </p:nvSpPr>
        <p:spPr>
          <a:xfrm>
            <a:off x="268856" y="2669693"/>
            <a:ext cx="8066659" cy="569708"/>
          </a:xfrm>
          <a:prstGeom prst="rect">
            <a:avLst/>
          </a:prstGeom>
          <a:solidFill>
            <a:schemeClr val="tx1">
              <a:lumMod val="85000"/>
              <a:lumOff val="15000"/>
            </a:schemeClr>
          </a:solidFill>
        </p:spPr>
        <p:txBody>
          <a:bodyPr wrap="square">
            <a:spAutoFit/>
          </a:bodyPr>
          <a:lstStyle/>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Sommatore sum =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Sommatore()</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Sum.scriviSomma</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5</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10</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7561411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82039" y="1415276"/>
            <a:ext cx="8053477" cy="523220"/>
          </a:xfrm>
          <a:prstGeom prst="rect">
            <a:avLst/>
          </a:prstGeom>
          <a:noFill/>
        </p:spPr>
        <p:txBody>
          <a:bodyPr wrap="square">
            <a:spAutoFit/>
          </a:bodyPr>
          <a:lstStyle/>
          <a:p>
            <a:r>
              <a:rPr lang="it-IT" sz="1400" dirty="0"/>
              <a:t>Abbiamo già parlato, accennandone ampiamente, dei metodi delle classi.</a:t>
            </a:r>
          </a:p>
          <a:p>
            <a:r>
              <a:rPr lang="it-IT" sz="1400" dirty="0"/>
              <a:t>Adesso approfondiamo l’argomento.</a:t>
            </a:r>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938496"/>
            <a:ext cx="8053477" cy="2677656"/>
          </a:xfrm>
          <a:prstGeom prst="rect">
            <a:avLst/>
          </a:prstGeom>
          <a:noFill/>
        </p:spPr>
        <p:txBody>
          <a:bodyPr wrap="square">
            <a:spAutoFit/>
          </a:bodyPr>
          <a:lstStyle/>
          <a:p>
            <a:r>
              <a:rPr lang="it-IT" sz="1400" dirty="0"/>
              <a:t>Un metodo è essenzialmente una funzione di una classe, che consente alla classe stessa od ai suoi oggetti di eseguire un qualche compito.</a:t>
            </a:r>
          </a:p>
          <a:p>
            <a:r>
              <a:rPr lang="it-IT" sz="1400" dirty="0"/>
              <a:t>Es.</a:t>
            </a:r>
          </a:p>
          <a:p>
            <a:endParaRPr lang="it-IT" sz="1400" dirty="0"/>
          </a:p>
          <a:p>
            <a:endParaRPr lang="it-IT" sz="1400" dirty="0"/>
          </a:p>
          <a:p>
            <a:endParaRPr lang="it-IT" sz="1400" dirty="0"/>
          </a:p>
          <a:p>
            <a:r>
              <a:rPr lang="it-IT" sz="1400" dirty="0"/>
              <a:t>Ecco un esempio di metodo (</a:t>
            </a:r>
            <a:r>
              <a:rPr lang="it-IT" sz="1400" dirty="0" err="1"/>
              <a:t>scriviSomma</a:t>
            </a:r>
            <a:r>
              <a:rPr lang="it-IT" sz="1400" dirty="0"/>
              <a:t> – non è un metodo di Java, lo abbiamo immaginato ad hoc per l’esempio) che riceve in ingresso due valori </a:t>
            </a:r>
            <a:r>
              <a:rPr lang="it-IT" sz="1400" dirty="0" err="1"/>
              <a:t>numeridi</a:t>
            </a:r>
            <a:r>
              <a:rPr lang="it-IT" sz="1400" dirty="0"/>
              <a:t> (in questo caso, 5 e 10) e scrive a video la somma (15).</a:t>
            </a:r>
          </a:p>
          <a:p>
            <a:r>
              <a:rPr lang="it-IT" sz="1400" dirty="0"/>
              <a:t>Il metodo, come vedremo (ed abbiamo già accennato) è dinamico e richiede che venga istanziato un oggetto di tipo Sommatore (la nostra classe).</a:t>
            </a:r>
          </a:p>
          <a:p>
            <a:r>
              <a:rPr lang="it-IT" sz="1400" dirty="0"/>
              <a:t>I metodi, in generale, dovrebbero ritornare anche un valore.</a:t>
            </a:r>
          </a:p>
          <a:p>
            <a:r>
              <a:rPr lang="it-IT" sz="1400" dirty="0"/>
              <a:t>Il concetto di ritorno del valore richiama alla memoria il concetto di funzione matematica.</a:t>
            </a:r>
          </a:p>
        </p:txBody>
      </p:sp>
      <p:sp>
        <p:nvSpPr>
          <p:cNvPr id="7" name="CasellaDiTesto 6">
            <a:extLst>
              <a:ext uri="{FF2B5EF4-FFF2-40B4-BE49-F238E27FC236}">
                <a16:creationId xmlns:a16="http://schemas.microsoft.com/office/drawing/2014/main" id="{EB3DB230-9693-AF6F-3416-1AEE5CFF9E90}"/>
              </a:ext>
            </a:extLst>
          </p:cNvPr>
          <p:cNvSpPr txBox="1"/>
          <p:nvPr/>
        </p:nvSpPr>
        <p:spPr>
          <a:xfrm>
            <a:off x="268856" y="2669693"/>
            <a:ext cx="8066659" cy="569708"/>
          </a:xfrm>
          <a:prstGeom prst="rect">
            <a:avLst/>
          </a:prstGeom>
          <a:solidFill>
            <a:schemeClr val="tx1">
              <a:lumMod val="85000"/>
              <a:lumOff val="15000"/>
            </a:schemeClr>
          </a:solidFill>
        </p:spPr>
        <p:txBody>
          <a:bodyPr wrap="square">
            <a:spAutoFit/>
          </a:bodyPr>
          <a:lstStyle/>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Sommatore sum =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Sommatore()</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Sum.scriviSomma</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5</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10</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370950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82039" y="1415276"/>
            <a:ext cx="8053477" cy="523220"/>
          </a:xfrm>
          <a:prstGeom prst="rect">
            <a:avLst/>
          </a:prstGeom>
          <a:noFill/>
        </p:spPr>
        <p:txBody>
          <a:bodyPr wrap="square">
            <a:spAutoFit/>
          </a:bodyPr>
          <a:lstStyle/>
          <a:p>
            <a:r>
              <a:rPr lang="it-IT" sz="1400" dirty="0"/>
              <a:t>Abbiamo già parlato, accennandone ampiamente, dei metodi delle classi.</a:t>
            </a:r>
          </a:p>
          <a:p>
            <a:r>
              <a:rPr lang="it-IT" sz="1400" dirty="0"/>
              <a:t>Adesso approfondiamo l’argomento.</a:t>
            </a:r>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938496"/>
            <a:ext cx="8053477" cy="3108543"/>
          </a:xfrm>
          <a:prstGeom prst="rect">
            <a:avLst/>
          </a:prstGeom>
          <a:noFill/>
        </p:spPr>
        <p:txBody>
          <a:bodyPr wrap="square">
            <a:spAutoFit/>
          </a:bodyPr>
          <a:lstStyle/>
          <a:p>
            <a:r>
              <a:rPr lang="it-IT" sz="1400" dirty="0"/>
              <a:t>Un metodo è essenzialmente una funzione di una classe, che consente alla classe stessa od ai suoi oggetti di eseguire un qualche compito.</a:t>
            </a:r>
          </a:p>
          <a:p>
            <a:r>
              <a:rPr lang="it-IT" sz="1400" dirty="0"/>
              <a:t>Es.</a:t>
            </a:r>
          </a:p>
          <a:p>
            <a:endParaRPr lang="it-IT" sz="1400" dirty="0"/>
          </a:p>
          <a:p>
            <a:endParaRPr lang="it-IT" sz="1400" dirty="0"/>
          </a:p>
          <a:p>
            <a:endParaRPr lang="it-IT" sz="1400" dirty="0"/>
          </a:p>
          <a:p>
            <a:r>
              <a:rPr lang="it-IT" sz="1400" dirty="0"/>
              <a:t>Ecco un esempio di metodo (</a:t>
            </a:r>
            <a:r>
              <a:rPr lang="it-IT" sz="1400" dirty="0" err="1"/>
              <a:t>scriviSomma</a:t>
            </a:r>
            <a:r>
              <a:rPr lang="it-IT" sz="1400" dirty="0"/>
              <a:t> – non è un metodo di Java, lo abbiamo immaginato ad hoc per l’esempio) che riceve in ingresso due valori </a:t>
            </a:r>
            <a:r>
              <a:rPr lang="it-IT" sz="1400" dirty="0" err="1"/>
              <a:t>numeridi</a:t>
            </a:r>
            <a:r>
              <a:rPr lang="it-IT" sz="1400" dirty="0"/>
              <a:t> (in questo caso, 5 e 10) e scrive a video la somma (15).</a:t>
            </a:r>
          </a:p>
          <a:p>
            <a:r>
              <a:rPr lang="it-IT" sz="1400" dirty="0"/>
              <a:t>Il metodo, come vedremo (ed abbiamo già accennato) è dinamico e richiede che venga istanziato un oggetto di tipo Sommatore (la nostra classe).</a:t>
            </a:r>
          </a:p>
          <a:p>
            <a:r>
              <a:rPr lang="it-IT" sz="1400" dirty="0"/>
              <a:t>I metodi, in generale, dovrebbero ritornare anche un valore.</a:t>
            </a:r>
          </a:p>
          <a:p>
            <a:r>
              <a:rPr lang="it-IT" sz="1400" dirty="0"/>
              <a:t>Il concetto di ritorno del valore richiama alla memoria il concetto di funzione matematica.</a:t>
            </a:r>
          </a:p>
          <a:p>
            <a:r>
              <a:rPr lang="it-IT" sz="1400" dirty="0"/>
              <a:t>Si può immaginare che il metodo/funzione dia un valore per risultato a fine esecuzione e che questo sostituisca la funzione stessa. </a:t>
            </a:r>
            <a:endParaRPr lang="it-IT" sz="1400" b="0" i="0" dirty="0">
              <a:solidFill>
                <a:srgbClr val="050E17"/>
              </a:solidFill>
              <a:effectLst/>
              <a:latin typeface="-apple-system"/>
            </a:endParaRPr>
          </a:p>
        </p:txBody>
      </p:sp>
      <p:sp>
        <p:nvSpPr>
          <p:cNvPr id="7" name="CasellaDiTesto 6">
            <a:extLst>
              <a:ext uri="{FF2B5EF4-FFF2-40B4-BE49-F238E27FC236}">
                <a16:creationId xmlns:a16="http://schemas.microsoft.com/office/drawing/2014/main" id="{EB3DB230-9693-AF6F-3416-1AEE5CFF9E90}"/>
              </a:ext>
            </a:extLst>
          </p:cNvPr>
          <p:cNvSpPr txBox="1"/>
          <p:nvPr/>
        </p:nvSpPr>
        <p:spPr>
          <a:xfrm>
            <a:off x="268856" y="2669693"/>
            <a:ext cx="8066659" cy="569708"/>
          </a:xfrm>
          <a:prstGeom prst="rect">
            <a:avLst/>
          </a:prstGeom>
          <a:solidFill>
            <a:schemeClr val="tx1">
              <a:lumMod val="85000"/>
              <a:lumOff val="15000"/>
            </a:schemeClr>
          </a:solidFill>
        </p:spPr>
        <p:txBody>
          <a:bodyPr wrap="square">
            <a:spAutoFit/>
          </a:bodyPr>
          <a:lstStyle/>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Sommatore sum =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Sommatore()</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Sum.scriviSomma</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5</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10</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330359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82039" y="1415276"/>
            <a:ext cx="8053477" cy="523220"/>
          </a:xfrm>
          <a:prstGeom prst="rect">
            <a:avLst/>
          </a:prstGeom>
          <a:noFill/>
        </p:spPr>
        <p:txBody>
          <a:bodyPr wrap="square">
            <a:spAutoFit/>
          </a:bodyPr>
          <a:lstStyle/>
          <a:p>
            <a:r>
              <a:rPr lang="it-IT" sz="1400" dirty="0"/>
              <a:t>Abbiamo già parlato, accennandone ampiamente, dei metodi delle classi.</a:t>
            </a:r>
          </a:p>
          <a:p>
            <a:r>
              <a:rPr lang="it-IT" sz="1400" dirty="0"/>
              <a:t>Adesso approfondiamo l’argomento.</a:t>
            </a:r>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938496"/>
            <a:ext cx="8053477" cy="3539430"/>
          </a:xfrm>
          <a:prstGeom prst="rect">
            <a:avLst/>
          </a:prstGeom>
          <a:noFill/>
        </p:spPr>
        <p:txBody>
          <a:bodyPr wrap="square">
            <a:spAutoFit/>
          </a:bodyPr>
          <a:lstStyle/>
          <a:p>
            <a:r>
              <a:rPr lang="it-IT" sz="1400" dirty="0"/>
              <a:t>Un metodo è essenzialmente una funzione di una classe, che consente alla classe stessa od ai suoi oggetti di eseguire un qualche compito.</a:t>
            </a:r>
          </a:p>
          <a:p>
            <a:r>
              <a:rPr lang="it-IT" sz="1400" dirty="0"/>
              <a:t>Es.</a:t>
            </a:r>
          </a:p>
          <a:p>
            <a:endParaRPr lang="it-IT" sz="1400" dirty="0"/>
          </a:p>
          <a:p>
            <a:endParaRPr lang="it-IT" sz="1400" dirty="0"/>
          </a:p>
          <a:p>
            <a:endParaRPr lang="it-IT" sz="1400" dirty="0"/>
          </a:p>
          <a:p>
            <a:r>
              <a:rPr lang="it-IT" sz="1400" dirty="0"/>
              <a:t>Ecco un esempio di metodo (</a:t>
            </a:r>
            <a:r>
              <a:rPr lang="it-IT" sz="1400" dirty="0" err="1"/>
              <a:t>scriviSomma</a:t>
            </a:r>
            <a:r>
              <a:rPr lang="it-IT" sz="1400" dirty="0"/>
              <a:t> – non è un metodo di Java, lo abbiamo immaginato ad hoc per l’esempio) che riceve in ingresso due valori </a:t>
            </a:r>
            <a:r>
              <a:rPr lang="it-IT" sz="1400" dirty="0" err="1"/>
              <a:t>numeridi</a:t>
            </a:r>
            <a:r>
              <a:rPr lang="it-IT" sz="1400" dirty="0"/>
              <a:t> (in questo caso, 5 e 10) e scrive a video la somma (15).</a:t>
            </a:r>
          </a:p>
          <a:p>
            <a:r>
              <a:rPr lang="it-IT" sz="1400" dirty="0"/>
              <a:t>Il metodo, come vedremo (ed abbiamo già accennato) è dinamico e richiede che venga istanziato un oggetto di tipo Sommatore (la nostra classe).</a:t>
            </a:r>
          </a:p>
          <a:p>
            <a:r>
              <a:rPr lang="it-IT" sz="1400" dirty="0"/>
              <a:t>I metodi, in generale, dovrebbero ritornare anche un valore.</a:t>
            </a:r>
          </a:p>
          <a:p>
            <a:r>
              <a:rPr lang="it-IT" sz="1400" dirty="0"/>
              <a:t>Il concetto di ritorno del valore richiama alla memoria il concetto di funzione matematica.</a:t>
            </a:r>
          </a:p>
          <a:p>
            <a:r>
              <a:rPr lang="it-IT" sz="1400" dirty="0"/>
              <a:t>Si può immaginare che il metodo/funzione dia un valore per risultato a fine esecuzione e che questo sostituisca la funzione stessa. </a:t>
            </a:r>
          </a:p>
          <a:p>
            <a:r>
              <a:rPr lang="it-IT" sz="1400" b="0" i="0" dirty="0">
                <a:solidFill>
                  <a:srgbClr val="050E17"/>
                </a:solidFill>
                <a:effectLst/>
                <a:latin typeface="-apple-system"/>
              </a:rPr>
              <a:t>Più in generale, si dice che in programmazione, il concetto di "valore di ritorno" si riferisce al valore che una funzione o un metodo restituisce dopo aver eseguito un'operazione.</a:t>
            </a:r>
          </a:p>
        </p:txBody>
      </p:sp>
      <p:sp>
        <p:nvSpPr>
          <p:cNvPr id="7" name="CasellaDiTesto 6">
            <a:extLst>
              <a:ext uri="{FF2B5EF4-FFF2-40B4-BE49-F238E27FC236}">
                <a16:creationId xmlns:a16="http://schemas.microsoft.com/office/drawing/2014/main" id="{EB3DB230-9693-AF6F-3416-1AEE5CFF9E90}"/>
              </a:ext>
            </a:extLst>
          </p:cNvPr>
          <p:cNvSpPr txBox="1"/>
          <p:nvPr/>
        </p:nvSpPr>
        <p:spPr>
          <a:xfrm>
            <a:off x="268856" y="2669693"/>
            <a:ext cx="8066659" cy="569708"/>
          </a:xfrm>
          <a:prstGeom prst="rect">
            <a:avLst/>
          </a:prstGeom>
          <a:solidFill>
            <a:schemeClr val="tx1">
              <a:lumMod val="85000"/>
              <a:lumOff val="15000"/>
            </a:schemeClr>
          </a:solidFill>
        </p:spPr>
        <p:txBody>
          <a:bodyPr wrap="square">
            <a:spAutoFit/>
          </a:bodyPr>
          <a:lstStyle/>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Sommatore sum =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Sommatore()</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Sum.scriviSomma</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5</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10</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598495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82039" y="1415276"/>
            <a:ext cx="8053477" cy="523220"/>
          </a:xfrm>
          <a:prstGeom prst="rect">
            <a:avLst/>
          </a:prstGeom>
          <a:noFill/>
        </p:spPr>
        <p:txBody>
          <a:bodyPr wrap="square">
            <a:spAutoFit/>
          </a:bodyPr>
          <a:lstStyle/>
          <a:p>
            <a:r>
              <a:rPr lang="it-IT" sz="1400" dirty="0"/>
              <a:t>Abbiamo già parlato, accennandone ampiamente, dei metodi delle classi.</a:t>
            </a:r>
          </a:p>
          <a:p>
            <a:r>
              <a:rPr lang="it-IT" sz="1400" dirty="0"/>
              <a:t>Adesso approfondiamo l’argomento.</a:t>
            </a:r>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938496"/>
            <a:ext cx="8053477" cy="3970318"/>
          </a:xfrm>
          <a:prstGeom prst="rect">
            <a:avLst/>
          </a:prstGeom>
          <a:noFill/>
        </p:spPr>
        <p:txBody>
          <a:bodyPr wrap="square">
            <a:spAutoFit/>
          </a:bodyPr>
          <a:lstStyle/>
          <a:p>
            <a:r>
              <a:rPr lang="it-IT" sz="1400" dirty="0"/>
              <a:t>Un metodo è essenzialmente una funzione di una classe, che consente alla classe stessa od ai suoi oggetti di eseguire un qualche compito.</a:t>
            </a:r>
          </a:p>
          <a:p>
            <a:r>
              <a:rPr lang="it-IT" sz="1400" dirty="0"/>
              <a:t>Es.</a:t>
            </a:r>
          </a:p>
          <a:p>
            <a:endParaRPr lang="it-IT" sz="1400" dirty="0"/>
          </a:p>
          <a:p>
            <a:endParaRPr lang="it-IT" sz="1400" dirty="0"/>
          </a:p>
          <a:p>
            <a:endParaRPr lang="it-IT" sz="1400" dirty="0"/>
          </a:p>
          <a:p>
            <a:r>
              <a:rPr lang="it-IT" sz="1400" dirty="0"/>
              <a:t>Ecco un esempio di metodo (</a:t>
            </a:r>
            <a:r>
              <a:rPr lang="it-IT" sz="1400" dirty="0" err="1"/>
              <a:t>scriviSomma</a:t>
            </a:r>
            <a:r>
              <a:rPr lang="it-IT" sz="1400" dirty="0"/>
              <a:t> – non è un metodo di Java, lo abbiamo immaginato ad hoc per l’esempio) che riceve in ingresso due valori </a:t>
            </a:r>
            <a:r>
              <a:rPr lang="it-IT" sz="1400" dirty="0" err="1"/>
              <a:t>numeridi</a:t>
            </a:r>
            <a:r>
              <a:rPr lang="it-IT" sz="1400" dirty="0"/>
              <a:t> (in questo caso, 5 e 10) e scrive a video la somma (15).</a:t>
            </a:r>
          </a:p>
          <a:p>
            <a:r>
              <a:rPr lang="it-IT" sz="1400" dirty="0"/>
              <a:t>Il metodo, come vedremo (ed abbiamo già accennato) è dinamico e richiede che venga istanziato un oggetto di tipo Sommatore (la nostra classe).</a:t>
            </a:r>
          </a:p>
          <a:p>
            <a:r>
              <a:rPr lang="it-IT" sz="1400" dirty="0"/>
              <a:t>I metodi, in generale, dovrebbero ritornare anche un valore.</a:t>
            </a:r>
          </a:p>
          <a:p>
            <a:r>
              <a:rPr lang="it-IT" sz="1400" dirty="0"/>
              <a:t>Il concetto di ritorno del valore richiama alla memoria il concetto di funzione matematica.</a:t>
            </a:r>
          </a:p>
          <a:p>
            <a:r>
              <a:rPr lang="it-IT" sz="1400" dirty="0"/>
              <a:t>Si può immaginare che il metodo/funzione dia un valore per risultato a fine esecuzione e che questo sostituisca la funzione stessa. </a:t>
            </a:r>
          </a:p>
          <a:p>
            <a:r>
              <a:rPr lang="it-IT" sz="1400" b="0" i="0" dirty="0">
                <a:solidFill>
                  <a:srgbClr val="050E17"/>
                </a:solidFill>
                <a:effectLst/>
                <a:latin typeface="-apple-system"/>
              </a:rPr>
              <a:t>Più in generale, si dice che in programmazione, il concetto di "valore di ritorno" si riferisce al valore che una funzione o un metodo restituisce dopo aver eseguito un'operazione.</a:t>
            </a:r>
          </a:p>
          <a:p>
            <a:r>
              <a:rPr lang="it-IT" sz="1400" b="0" i="0" dirty="0">
                <a:solidFill>
                  <a:srgbClr val="050E17"/>
                </a:solidFill>
                <a:effectLst/>
                <a:latin typeface="-apple-system"/>
              </a:rPr>
              <a:t>Quando si chiama una funzione o un metodo, è possibile che si desideri ottenere un valore di ritorno dalla funzione o dal metodo per utilizzarlo in altre parti del programma.</a:t>
            </a:r>
            <a:endParaRPr lang="it-IT" sz="1400" dirty="0">
              <a:solidFill>
                <a:srgbClr val="050E17"/>
              </a:solidFill>
              <a:latin typeface="-apple-system"/>
            </a:endParaRPr>
          </a:p>
        </p:txBody>
      </p:sp>
      <p:sp>
        <p:nvSpPr>
          <p:cNvPr id="7" name="CasellaDiTesto 6">
            <a:extLst>
              <a:ext uri="{FF2B5EF4-FFF2-40B4-BE49-F238E27FC236}">
                <a16:creationId xmlns:a16="http://schemas.microsoft.com/office/drawing/2014/main" id="{EB3DB230-9693-AF6F-3416-1AEE5CFF9E90}"/>
              </a:ext>
            </a:extLst>
          </p:cNvPr>
          <p:cNvSpPr txBox="1"/>
          <p:nvPr/>
        </p:nvSpPr>
        <p:spPr>
          <a:xfrm>
            <a:off x="268856" y="2669693"/>
            <a:ext cx="8066659" cy="569708"/>
          </a:xfrm>
          <a:prstGeom prst="rect">
            <a:avLst/>
          </a:prstGeom>
          <a:solidFill>
            <a:schemeClr val="tx1">
              <a:lumMod val="85000"/>
              <a:lumOff val="15000"/>
            </a:schemeClr>
          </a:solidFill>
        </p:spPr>
        <p:txBody>
          <a:bodyPr wrap="square">
            <a:spAutoFit/>
          </a:bodyPr>
          <a:lstStyle/>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Sommatore sum =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Sommatore()</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Sum.scriviSomma</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5</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10</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108243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82039" y="1415276"/>
            <a:ext cx="8053477" cy="523220"/>
          </a:xfrm>
          <a:prstGeom prst="rect">
            <a:avLst/>
          </a:prstGeom>
          <a:noFill/>
        </p:spPr>
        <p:txBody>
          <a:bodyPr wrap="square">
            <a:spAutoFit/>
          </a:bodyPr>
          <a:lstStyle/>
          <a:p>
            <a:r>
              <a:rPr lang="it-IT" sz="1400" dirty="0"/>
              <a:t>Abbiamo già parlato, accennandone ampiamente, dei metodi delle classi.</a:t>
            </a:r>
          </a:p>
          <a:p>
            <a:r>
              <a:rPr lang="it-IT" sz="1400" dirty="0"/>
              <a:t>Adesso approfondiamo l’argomento.</a:t>
            </a:r>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938496"/>
            <a:ext cx="8053477" cy="4401205"/>
          </a:xfrm>
          <a:prstGeom prst="rect">
            <a:avLst/>
          </a:prstGeom>
          <a:noFill/>
        </p:spPr>
        <p:txBody>
          <a:bodyPr wrap="square">
            <a:spAutoFit/>
          </a:bodyPr>
          <a:lstStyle/>
          <a:p>
            <a:r>
              <a:rPr lang="it-IT" sz="1400" dirty="0"/>
              <a:t>Un metodo è essenzialmente una funzione di una classe, che consente alla classe stessa od ai suoi oggetti di eseguire un qualche compito.</a:t>
            </a:r>
          </a:p>
          <a:p>
            <a:r>
              <a:rPr lang="it-IT" sz="1400" dirty="0"/>
              <a:t>Es.</a:t>
            </a:r>
          </a:p>
          <a:p>
            <a:endParaRPr lang="it-IT" sz="1400" dirty="0"/>
          </a:p>
          <a:p>
            <a:endParaRPr lang="it-IT" sz="1400" dirty="0"/>
          </a:p>
          <a:p>
            <a:endParaRPr lang="it-IT" sz="1400" dirty="0"/>
          </a:p>
          <a:p>
            <a:r>
              <a:rPr lang="it-IT" sz="1400" dirty="0"/>
              <a:t>Ecco un esempio di metodo (</a:t>
            </a:r>
            <a:r>
              <a:rPr lang="it-IT" sz="1400" dirty="0" err="1"/>
              <a:t>scriviSomma</a:t>
            </a:r>
            <a:r>
              <a:rPr lang="it-IT" sz="1400" dirty="0"/>
              <a:t> – non è un metodo di Java, lo abbiamo immaginato ad hoc per l’esempio) che riceve in ingresso due valori </a:t>
            </a:r>
            <a:r>
              <a:rPr lang="it-IT" sz="1400" dirty="0" err="1"/>
              <a:t>numeridi</a:t>
            </a:r>
            <a:r>
              <a:rPr lang="it-IT" sz="1400" dirty="0"/>
              <a:t> (in questo caso, 5 e 10) e scrive a video la somma (15).</a:t>
            </a:r>
          </a:p>
          <a:p>
            <a:r>
              <a:rPr lang="it-IT" sz="1400" dirty="0"/>
              <a:t>Il metodo, come vedremo (ed abbiamo già accennato) è dinamico e richiede che venga istanziato un oggetto di tipo Sommatore (la nostra classe).</a:t>
            </a:r>
          </a:p>
          <a:p>
            <a:r>
              <a:rPr lang="it-IT" sz="1400" dirty="0"/>
              <a:t>I metodi, in generale, dovrebbero ritornare anche un valore.</a:t>
            </a:r>
          </a:p>
          <a:p>
            <a:r>
              <a:rPr lang="it-IT" sz="1400" dirty="0"/>
              <a:t>Il concetto di ritorno del valore richiama alla memoria il concetto di funzione matematica.</a:t>
            </a:r>
          </a:p>
          <a:p>
            <a:r>
              <a:rPr lang="it-IT" sz="1400" dirty="0"/>
              <a:t>Si può immaginare che il metodo/funzione dia un valore per risultato a fine esecuzione e che questo sostituisca la funzione stessa. </a:t>
            </a:r>
          </a:p>
          <a:p>
            <a:r>
              <a:rPr lang="it-IT" sz="1400" b="0" i="0" dirty="0">
                <a:solidFill>
                  <a:srgbClr val="050E17"/>
                </a:solidFill>
                <a:effectLst/>
                <a:latin typeface="-apple-system"/>
              </a:rPr>
              <a:t>Più in generale, si dice che in programmazione, il concetto di "valore di ritorno" si riferisce al valore che una funzione o un metodo restituisce dopo aver eseguito un'operazione.</a:t>
            </a:r>
          </a:p>
          <a:p>
            <a:r>
              <a:rPr lang="it-IT" sz="1400" b="0" i="0" dirty="0">
                <a:solidFill>
                  <a:srgbClr val="050E17"/>
                </a:solidFill>
                <a:effectLst/>
                <a:latin typeface="-apple-system"/>
              </a:rPr>
              <a:t>Quando si chiama una funzione o un metodo, è possibile che si desideri ottenere un valore di ritorno dalla funzione o dal metodo per utilizzarlo in altre parti del programma.</a:t>
            </a:r>
            <a:endParaRPr lang="it-IT" sz="1400" dirty="0">
              <a:solidFill>
                <a:srgbClr val="050E17"/>
              </a:solidFill>
              <a:latin typeface="-apple-system"/>
            </a:endParaRPr>
          </a:p>
          <a:p>
            <a:r>
              <a:rPr lang="it-IT" sz="1400" b="0" i="0" dirty="0">
                <a:solidFill>
                  <a:srgbClr val="050E17"/>
                </a:solidFill>
                <a:effectLst/>
                <a:latin typeface="-apple-system"/>
              </a:rPr>
              <a:t>Nell’esempio di prima, l’oggetto sum potrebbe contenere una funzione che non scriva a video ma restituisca la somma</a:t>
            </a:r>
          </a:p>
        </p:txBody>
      </p:sp>
      <p:sp>
        <p:nvSpPr>
          <p:cNvPr id="7" name="CasellaDiTesto 6">
            <a:extLst>
              <a:ext uri="{FF2B5EF4-FFF2-40B4-BE49-F238E27FC236}">
                <a16:creationId xmlns:a16="http://schemas.microsoft.com/office/drawing/2014/main" id="{EB3DB230-9693-AF6F-3416-1AEE5CFF9E90}"/>
              </a:ext>
            </a:extLst>
          </p:cNvPr>
          <p:cNvSpPr txBox="1"/>
          <p:nvPr/>
        </p:nvSpPr>
        <p:spPr>
          <a:xfrm>
            <a:off x="268856" y="2669693"/>
            <a:ext cx="8066659" cy="569708"/>
          </a:xfrm>
          <a:prstGeom prst="rect">
            <a:avLst/>
          </a:prstGeom>
          <a:solidFill>
            <a:schemeClr val="tx1">
              <a:lumMod val="85000"/>
              <a:lumOff val="15000"/>
            </a:schemeClr>
          </a:solidFill>
        </p:spPr>
        <p:txBody>
          <a:bodyPr wrap="square">
            <a:spAutoFit/>
          </a:bodyPr>
          <a:lstStyle/>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Sommatore sum =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Sommatore()</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Sum.scriviSomma</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5</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10</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6579537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82039" y="1415276"/>
            <a:ext cx="8053477" cy="523220"/>
          </a:xfrm>
          <a:prstGeom prst="rect">
            <a:avLst/>
          </a:prstGeom>
          <a:noFill/>
        </p:spPr>
        <p:txBody>
          <a:bodyPr wrap="square">
            <a:spAutoFit/>
          </a:bodyPr>
          <a:lstStyle/>
          <a:p>
            <a:r>
              <a:rPr lang="it-IT" sz="1400" dirty="0"/>
              <a:t>Abbiamo già parlato, accennandone ampiamente, dei metodi delle classi.</a:t>
            </a:r>
          </a:p>
          <a:p>
            <a:r>
              <a:rPr lang="it-IT" sz="1400" dirty="0"/>
              <a:t>Adesso approfondiamo l’argomento.</a:t>
            </a:r>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938496"/>
            <a:ext cx="8053477" cy="4401205"/>
          </a:xfrm>
          <a:prstGeom prst="rect">
            <a:avLst/>
          </a:prstGeom>
          <a:noFill/>
        </p:spPr>
        <p:txBody>
          <a:bodyPr wrap="square">
            <a:spAutoFit/>
          </a:bodyPr>
          <a:lstStyle/>
          <a:p>
            <a:r>
              <a:rPr lang="it-IT" sz="1400" dirty="0"/>
              <a:t>Un metodo è essenzialmente una funzione di una classe, che consente alla classe stessa od ai suoi oggetti di eseguire un qualche compito.</a:t>
            </a:r>
          </a:p>
          <a:p>
            <a:r>
              <a:rPr lang="it-IT" sz="1400" dirty="0"/>
              <a:t>Es.</a:t>
            </a:r>
          </a:p>
          <a:p>
            <a:endParaRPr lang="it-IT" sz="1400" dirty="0"/>
          </a:p>
          <a:p>
            <a:endParaRPr lang="it-IT" sz="1400" dirty="0"/>
          </a:p>
          <a:p>
            <a:endParaRPr lang="it-IT" sz="1400" dirty="0"/>
          </a:p>
          <a:p>
            <a:r>
              <a:rPr lang="it-IT" sz="1400" dirty="0"/>
              <a:t>Ecco un esempio di metodo (</a:t>
            </a:r>
            <a:r>
              <a:rPr lang="it-IT" sz="1400" dirty="0" err="1"/>
              <a:t>scriviSomma</a:t>
            </a:r>
            <a:r>
              <a:rPr lang="it-IT" sz="1400" dirty="0"/>
              <a:t> – non è un metodo di Java, lo abbiamo immaginato ad hoc per l’esempio) che riceve in ingresso due valori </a:t>
            </a:r>
            <a:r>
              <a:rPr lang="it-IT" sz="1400" dirty="0" err="1"/>
              <a:t>numeridi</a:t>
            </a:r>
            <a:r>
              <a:rPr lang="it-IT" sz="1400" dirty="0"/>
              <a:t> (in questo caso, 5 e 10) e scrive a video la somma (15).</a:t>
            </a:r>
          </a:p>
          <a:p>
            <a:r>
              <a:rPr lang="it-IT" sz="1400" dirty="0"/>
              <a:t>Il metodo, come vedremo (ed abbiamo già accennato) è dinamico e richiede che venga istanziato un oggetto di tipo Sommatore (la nostra classe).</a:t>
            </a:r>
          </a:p>
          <a:p>
            <a:r>
              <a:rPr lang="it-IT" sz="1400" dirty="0"/>
              <a:t>I metodi, in generale, dovrebbero ritornare anche un valore.</a:t>
            </a:r>
          </a:p>
          <a:p>
            <a:r>
              <a:rPr lang="it-IT" sz="1400" dirty="0"/>
              <a:t>Il concetto di ritorno del valore richiama alla memoria il concetto di funzione matematica.</a:t>
            </a:r>
          </a:p>
          <a:p>
            <a:r>
              <a:rPr lang="it-IT" sz="1400" dirty="0"/>
              <a:t>Si può immaginare che il metodo/funzione dia un valore per risultato a fine esecuzione e che questo sostituisca la funzione stessa. </a:t>
            </a:r>
          </a:p>
          <a:p>
            <a:r>
              <a:rPr lang="it-IT" sz="1400" b="0" i="0" dirty="0">
                <a:solidFill>
                  <a:srgbClr val="050E17"/>
                </a:solidFill>
                <a:effectLst/>
                <a:latin typeface="-apple-system"/>
              </a:rPr>
              <a:t>Più in generale, si dice che in programmazione, il concetto di "valore di ritorno" si riferisce al valore che una funzione o un metodo restituisce dopo aver eseguito un'operazione.</a:t>
            </a:r>
          </a:p>
          <a:p>
            <a:r>
              <a:rPr lang="it-IT" sz="1400" b="0" i="0" dirty="0">
                <a:solidFill>
                  <a:srgbClr val="050E17"/>
                </a:solidFill>
                <a:effectLst/>
                <a:latin typeface="-apple-system"/>
              </a:rPr>
              <a:t>Quando si chiama una funzione o un metodo, è possibile che si desideri ottenere un valore di ritorno dalla funzione o dal metodo per utilizzarlo in altre parti del programma.</a:t>
            </a:r>
            <a:endParaRPr lang="it-IT" sz="1400" dirty="0">
              <a:solidFill>
                <a:srgbClr val="050E17"/>
              </a:solidFill>
              <a:latin typeface="-apple-system"/>
            </a:endParaRPr>
          </a:p>
          <a:p>
            <a:r>
              <a:rPr lang="it-IT" sz="1400" b="0" i="0" dirty="0">
                <a:solidFill>
                  <a:srgbClr val="050E17"/>
                </a:solidFill>
                <a:effectLst/>
                <a:latin typeface="-apple-system"/>
              </a:rPr>
              <a:t>Nell’esempio di prima, l’oggetto sum potrebbe contenere una funzione che non scriva a video ma restituisca la somma</a:t>
            </a:r>
          </a:p>
        </p:txBody>
      </p:sp>
      <p:sp>
        <p:nvSpPr>
          <p:cNvPr id="7" name="CasellaDiTesto 6">
            <a:extLst>
              <a:ext uri="{FF2B5EF4-FFF2-40B4-BE49-F238E27FC236}">
                <a16:creationId xmlns:a16="http://schemas.microsoft.com/office/drawing/2014/main" id="{EB3DB230-9693-AF6F-3416-1AEE5CFF9E90}"/>
              </a:ext>
            </a:extLst>
          </p:cNvPr>
          <p:cNvSpPr txBox="1"/>
          <p:nvPr/>
        </p:nvSpPr>
        <p:spPr>
          <a:xfrm>
            <a:off x="268856" y="2669693"/>
            <a:ext cx="8066659" cy="569708"/>
          </a:xfrm>
          <a:prstGeom prst="rect">
            <a:avLst/>
          </a:prstGeom>
          <a:solidFill>
            <a:schemeClr val="tx1">
              <a:lumMod val="85000"/>
              <a:lumOff val="15000"/>
            </a:schemeClr>
          </a:solidFill>
        </p:spPr>
        <p:txBody>
          <a:bodyPr wrap="square">
            <a:spAutoFit/>
          </a:bodyPr>
          <a:lstStyle/>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Sommatore sum =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Sommatore()</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Sum.scriviSomma</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5</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10</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CasellaDiTesto 11">
            <a:extLst>
              <a:ext uri="{FF2B5EF4-FFF2-40B4-BE49-F238E27FC236}">
                <a16:creationId xmlns:a16="http://schemas.microsoft.com/office/drawing/2014/main" id="{5C70C27B-1581-6159-0E87-F276B609B337}"/>
              </a:ext>
            </a:extLst>
          </p:cNvPr>
          <p:cNvSpPr txBox="1"/>
          <p:nvPr/>
        </p:nvSpPr>
        <p:spPr>
          <a:xfrm>
            <a:off x="1258625" y="6054847"/>
            <a:ext cx="4607944" cy="569708"/>
          </a:xfrm>
          <a:prstGeom prst="rect">
            <a:avLst/>
          </a:prstGeom>
          <a:solidFill>
            <a:schemeClr val="tx1">
              <a:lumMod val="85000"/>
              <a:lumOff val="15000"/>
            </a:schemeClr>
          </a:solidFill>
        </p:spPr>
        <p:txBody>
          <a:bodyPr wrap="square">
            <a:spAutoFit/>
          </a:bodyPr>
          <a:lstStyle/>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Sommatore sum =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Sommatore()</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 =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Sum</a:t>
            </a:r>
            <a:r>
              <a:rPr lang="it-IT"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somma</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5</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10</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636745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6" name="CasellaDiTesto 5">
            <a:extLst>
              <a:ext uri="{FF2B5EF4-FFF2-40B4-BE49-F238E27FC236}">
                <a16:creationId xmlns:a16="http://schemas.microsoft.com/office/drawing/2014/main" id="{AA5D42C3-AFDD-B77B-A87D-875C69D67416}"/>
              </a:ext>
            </a:extLst>
          </p:cNvPr>
          <p:cNvSpPr txBox="1"/>
          <p:nvPr/>
        </p:nvSpPr>
        <p:spPr>
          <a:xfrm>
            <a:off x="282039" y="1415276"/>
            <a:ext cx="8053477" cy="523220"/>
          </a:xfrm>
          <a:prstGeom prst="rect">
            <a:avLst/>
          </a:prstGeom>
          <a:noFill/>
        </p:spPr>
        <p:txBody>
          <a:bodyPr wrap="square">
            <a:spAutoFit/>
          </a:bodyPr>
          <a:lstStyle/>
          <a:p>
            <a:r>
              <a:rPr lang="it-IT" sz="1400" dirty="0"/>
              <a:t>Abbiamo già parlato, accennandone ampiamente, dei metodi delle classi.</a:t>
            </a:r>
          </a:p>
          <a:p>
            <a:r>
              <a:rPr lang="it-IT" sz="1400" dirty="0"/>
              <a:t>Adesso approfondiamo l’argomento.</a:t>
            </a:r>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938496"/>
            <a:ext cx="8053477" cy="4401205"/>
          </a:xfrm>
          <a:prstGeom prst="rect">
            <a:avLst/>
          </a:prstGeom>
          <a:noFill/>
        </p:spPr>
        <p:txBody>
          <a:bodyPr wrap="square">
            <a:spAutoFit/>
          </a:bodyPr>
          <a:lstStyle/>
          <a:p>
            <a:r>
              <a:rPr lang="it-IT" sz="1400" dirty="0"/>
              <a:t>Un metodo è essenzialmente una funzione di una classe, che consente alla classe stessa od ai suoi oggetti di eseguire un qualche compito.</a:t>
            </a:r>
          </a:p>
          <a:p>
            <a:r>
              <a:rPr lang="it-IT" sz="1400" dirty="0"/>
              <a:t>Es.</a:t>
            </a:r>
          </a:p>
          <a:p>
            <a:endParaRPr lang="it-IT" sz="1400" dirty="0"/>
          </a:p>
          <a:p>
            <a:endParaRPr lang="it-IT" sz="1400" dirty="0"/>
          </a:p>
          <a:p>
            <a:endParaRPr lang="it-IT" sz="1400" dirty="0"/>
          </a:p>
          <a:p>
            <a:r>
              <a:rPr lang="it-IT" sz="1400" dirty="0"/>
              <a:t>Ecco un esempio di metodo (</a:t>
            </a:r>
            <a:r>
              <a:rPr lang="it-IT" sz="1400" dirty="0" err="1"/>
              <a:t>scriviSomma</a:t>
            </a:r>
            <a:r>
              <a:rPr lang="it-IT" sz="1400" dirty="0"/>
              <a:t> – non è un metodo di Java, lo abbiamo immaginato ad hoc per l’esempio) che riceve in ingresso due valori </a:t>
            </a:r>
            <a:r>
              <a:rPr lang="it-IT" sz="1400" dirty="0" err="1"/>
              <a:t>numeridi</a:t>
            </a:r>
            <a:r>
              <a:rPr lang="it-IT" sz="1400" dirty="0"/>
              <a:t> (in questo caso, 5 e 10) e scrive a video la somma (15).</a:t>
            </a:r>
          </a:p>
          <a:p>
            <a:r>
              <a:rPr lang="it-IT" sz="1400" dirty="0"/>
              <a:t>Il metodo, come vedremo (ed abbiamo già accennato) è dinamico e richiede che venga istanziato un oggetto di tipo Sommatore (la nostra classe).</a:t>
            </a:r>
          </a:p>
          <a:p>
            <a:r>
              <a:rPr lang="it-IT" sz="1400" dirty="0"/>
              <a:t>I metodi, in generale, dovrebbero ritornare anche un valore.</a:t>
            </a:r>
          </a:p>
          <a:p>
            <a:r>
              <a:rPr lang="it-IT" sz="1400" dirty="0"/>
              <a:t>Il concetto di ritorno del valore richiama alla memoria il concetto di funzione matematica.</a:t>
            </a:r>
          </a:p>
          <a:p>
            <a:r>
              <a:rPr lang="it-IT" sz="1400" dirty="0"/>
              <a:t>Si può immaginare che il metodo/funzione dia un valore per risultato a fine esecuzione e che questo sostituisca la funzione stessa. </a:t>
            </a:r>
          </a:p>
          <a:p>
            <a:r>
              <a:rPr lang="it-IT" sz="1400" b="0" i="0" dirty="0">
                <a:solidFill>
                  <a:srgbClr val="050E17"/>
                </a:solidFill>
                <a:effectLst/>
                <a:latin typeface="-apple-system"/>
              </a:rPr>
              <a:t>Più in generale, si dice che in programmazione, il concetto di "valore di ritorno" si riferisce al valore che una funzione o un metodo restituisce dopo aver eseguito un'operazione.</a:t>
            </a:r>
          </a:p>
          <a:p>
            <a:r>
              <a:rPr lang="it-IT" sz="1400" b="0" i="0" dirty="0">
                <a:solidFill>
                  <a:srgbClr val="050E17"/>
                </a:solidFill>
                <a:effectLst/>
                <a:latin typeface="-apple-system"/>
              </a:rPr>
              <a:t>Quando si chiama una funzione o un metodo, è possibile che si desideri ottenere un valore di ritorno dalla funzione o dal metodo per utilizzarlo in altre parti del programma.</a:t>
            </a:r>
            <a:endParaRPr lang="it-IT" sz="1400" dirty="0">
              <a:solidFill>
                <a:srgbClr val="050E17"/>
              </a:solidFill>
              <a:latin typeface="-apple-system"/>
            </a:endParaRPr>
          </a:p>
          <a:p>
            <a:r>
              <a:rPr lang="it-IT" sz="1400" b="0" i="0" dirty="0">
                <a:solidFill>
                  <a:srgbClr val="050E17"/>
                </a:solidFill>
                <a:effectLst/>
                <a:latin typeface="-apple-system"/>
              </a:rPr>
              <a:t>Nell’esempio di prima, l’oggetto sum potrebbe contenere una funzione che non scriva a video ma restituisca la somma</a:t>
            </a:r>
          </a:p>
        </p:txBody>
      </p:sp>
      <p:sp>
        <p:nvSpPr>
          <p:cNvPr id="7" name="CasellaDiTesto 6">
            <a:extLst>
              <a:ext uri="{FF2B5EF4-FFF2-40B4-BE49-F238E27FC236}">
                <a16:creationId xmlns:a16="http://schemas.microsoft.com/office/drawing/2014/main" id="{EB3DB230-9693-AF6F-3416-1AEE5CFF9E90}"/>
              </a:ext>
            </a:extLst>
          </p:cNvPr>
          <p:cNvSpPr txBox="1"/>
          <p:nvPr/>
        </p:nvSpPr>
        <p:spPr>
          <a:xfrm>
            <a:off x="268856" y="2669693"/>
            <a:ext cx="8066659" cy="569708"/>
          </a:xfrm>
          <a:prstGeom prst="rect">
            <a:avLst/>
          </a:prstGeom>
          <a:solidFill>
            <a:schemeClr val="tx1">
              <a:lumMod val="85000"/>
              <a:lumOff val="15000"/>
            </a:schemeClr>
          </a:solidFill>
        </p:spPr>
        <p:txBody>
          <a:bodyPr wrap="square">
            <a:spAutoFit/>
          </a:bodyPr>
          <a:lstStyle/>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Sommatore sum =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Sommatore()</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Sum.scriviSomma</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5</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10</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CasellaDiTesto 11">
            <a:extLst>
              <a:ext uri="{FF2B5EF4-FFF2-40B4-BE49-F238E27FC236}">
                <a16:creationId xmlns:a16="http://schemas.microsoft.com/office/drawing/2014/main" id="{5C70C27B-1581-6159-0E87-F276B609B337}"/>
              </a:ext>
            </a:extLst>
          </p:cNvPr>
          <p:cNvSpPr txBox="1"/>
          <p:nvPr/>
        </p:nvSpPr>
        <p:spPr>
          <a:xfrm>
            <a:off x="1258625" y="6054847"/>
            <a:ext cx="4607944" cy="569708"/>
          </a:xfrm>
          <a:prstGeom prst="rect">
            <a:avLst/>
          </a:prstGeom>
          <a:solidFill>
            <a:schemeClr val="tx1">
              <a:lumMod val="85000"/>
              <a:lumOff val="15000"/>
            </a:schemeClr>
          </a:solidFill>
        </p:spPr>
        <p:txBody>
          <a:bodyPr wrap="square">
            <a:spAutoFit/>
          </a:bodyPr>
          <a:lstStyle/>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Sommatore sum =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Sommatore()</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 =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Sum</a:t>
            </a:r>
            <a:r>
              <a:rPr lang="it-IT" kern="0" dirty="0" err="1">
                <a:solidFill>
                  <a:srgbClr val="D4D4D4"/>
                </a:solidFill>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somma</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5</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10</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CasellaDiTesto 13">
            <a:extLst>
              <a:ext uri="{FF2B5EF4-FFF2-40B4-BE49-F238E27FC236}">
                <a16:creationId xmlns:a16="http://schemas.microsoft.com/office/drawing/2014/main" id="{7047CB81-3E00-F092-336B-801450ECAB41}"/>
              </a:ext>
            </a:extLst>
          </p:cNvPr>
          <p:cNvSpPr txBox="1"/>
          <p:nvPr/>
        </p:nvSpPr>
        <p:spPr>
          <a:xfrm>
            <a:off x="5866569" y="6062702"/>
            <a:ext cx="6094562" cy="553998"/>
          </a:xfrm>
          <a:prstGeom prst="rect">
            <a:avLst/>
          </a:prstGeom>
          <a:noFill/>
        </p:spPr>
        <p:txBody>
          <a:bodyPr wrap="square">
            <a:spAutoFit/>
          </a:bodyPr>
          <a:lstStyle/>
          <a:p>
            <a:r>
              <a:rPr lang="it-IT" sz="1500" b="0" i="0" dirty="0">
                <a:solidFill>
                  <a:srgbClr val="050E17"/>
                </a:solidFill>
                <a:effectLst/>
                <a:latin typeface="-apple-system"/>
              </a:rPr>
              <a:t>In questo esempio, il metodo somma non scrive nulla ma restituisce un valore, che in questo caso finisce nella variabile s .</a:t>
            </a:r>
          </a:p>
        </p:txBody>
      </p:sp>
    </p:spTree>
    <p:extLst>
      <p:ext uri="{BB962C8B-B14F-4D97-AF65-F5344CB8AC3E}">
        <p14:creationId xmlns:p14="http://schemas.microsoft.com/office/powerpoint/2010/main" val="216055372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5276"/>
            <a:ext cx="11581410" cy="646331"/>
          </a:xfrm>
          <a:prstGeom prst="rect">
            <a:avLst/>
          </a:prstGeom>
          <a:noFill/>
        </p:spPr>
        <p:txBody>
          <a:bodyPr wrap="square">
            <a:spAutoFit/>
          </a:bodyPr>
          <a:lstStyle/>
          <a:p>
            <a:r>
              <a:rPr lang="it-IT" dirty="0"/>
              <a:t>In Java, un metodo è una funzione definita all'interno di una classe che esegue un'operazione specifica su un oggetto della classe o restituisce un valore.</a:t>
            </a:r>
          </a:p>
        </p:txBody>
      </p:sp>
    </p:spTree>
    <p:extLst>
      <p:ext uri="{BB962C8B-B14F-4D97-AF65-F5344CB8AC3E}">
        <p14:creationId xmlns:p14="http://schemas.microsoft.com/office/powerpoint/2010/main" val="29609030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5276"/>
            <a:ext cx="11581410" cy="923330"/>
          </a:xfrm>
          <a:prstGeom prst="rect">
            <a:avLst/>
          </a:prstGeom>
          <a:noFill/>
        </p:spPr>
        <p:txBody>
          <a:bodyPr wrap="square">
            <a:spAutoFit/>
          </a:bodyPr>
          <a:lstStyle/>
          <a:p>
            <a:r>
              <a:rPr lang="it-IT" dirty="0"/>
              <a:t>In Java, un metodo è una funzione definita all'interno di una classe che esegue un'operazione specifica su un oggetto della classe o restituisce un valore.</a:t>
            </a:r>
          </a:p>
          <a:p>
            <a:r>
              <a:rPr lang="it-IT" dirty="0"/>
              <a:t>La struttura di un metodo in Java è composta da diversi elementi, tra cui:</a:t>
            </a:r>
          </a:p>
        </p:txBody>
      </p:sp>
    </p:spTree>
    <p:extLst>
      <p:ext uri="{BB962C8B-B14F-4D97-AF65-F5344CB8AC3E}">
        <p14:creationId xmlns:p14="http://schemas.microsoft.com/office/powerpoint/2010/main" val="242709698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5276"/>
            <a:ext cx="11581410" cy="1200329"/>
          </a:xfrm>
          <a:prstGeom prst="rect">
            <a:avLst/>
          </a:prstGeom>
          <a:noFill/>
        </p:spPr>
        <p:txBody>
          <a:bodyPr wrap="square">
            <a:spAutoFit/>
          </a:bodyPr>
          <a:lstStyle/>
          <a:p>
            <a:r>
              <a:rPr lang="it-IT" dirty="0"/>
              <a:t>In Java, un metodo è una funzione definita all'interno di una classe che esegue un'operazione specifica su un oggetto della classe o restituisce un valore.</a:t>
            </a:r>
          </a:p>
          <a:p>
            <a:r>
              <a:rPr lang="it-IT" dirty="0"/>
              <a:t>La struttura di un metodo in Java è composta da diversi elementi, tra cui:</a:t>
            </a:r>
          </a:p>
          <a:p>
            <a:pPr marL="285750" indent="-285750">
              <a:buFont typeface="Arial" panose="020B0604020202020204" pitchFamily="34" charset="0"/>
              <a:buChar char="•"/>
            </a:pPr>
            <a:r>
              <a:rPr lang="it-IT" dirty="0"/>
              <a:t>Nome: il nome del metodo deve essere univoco all'interno della classe e deve iniziare con una lettera minuscola.</a:t>
            </a:r>
          </a:p>
        </p:txBody>
      </p:sp>
    </p:spTree>
    <p:extLst>
      <p:ext uri="{BB962C8B-B14F-4D97-AF65-F5344CB8AC3E}">
        <p14:creationId xmlns:p14="http://schemas.microsoft.com/office/powerpoint/2010/main" val="88494277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5276"/>
            <a:ext cx="11581410" cy="1754326"/>
          </a:xfrm>
          <a:prstGeom prst="rect">
            <a:avLst/>
          </a:prstGeom>
          <a:noFill/>
        </p:spPr>
        <p:txBody>
          <a:bodyPr wrap="square">
            <a:spAutoFit/>
          </a:bodyPr>
          <a:lstStyle/>
          <a:p>
            <a:r>
              <a:rPr lang="it-IT" dirty="0"/>
              <a:t>In Java, un metodo è una funzione definita all'interno di una classe che esegue un'operazione specifica su un oggetto della classe o restituisce un valore.</a:t>
            </a:r>
          </a:p>
          <a:p>
            <a:r>
              <a:rPr lang="it-IT" dirty="0"/>
              <a:t>La struttura di un metodo in Java è composta da diversi elementi, tra cui:</a:t>
            </a:r>
          </a:p>
          <a:p>
            <a:pPr marL="285750" indent="-285750">
              <a:buFont typeface="Arial" panose="020B0604020202020204" pitchFamily="34" charset="0"/>
              <a:buChar char="•"/>
            </a:pPr>
            <a:r>
              <a:rPr lang="it-IT" dirty="0"/>
              <a:t>Nome: il nome del metodo deve essere univoco all'interno della classe e deve iniziare con una lettera minuscola.</a:t>
            </a:r>
          </a:p>
          <a:p>
            <a:pPr marL="285750" indent="-285750">
              <a:buFont typeface="Arial" panose="020B0604020202020204" pitchFamily="34" charset="0"/>
              <a:buChar char="•"/>
            </a:pPr>
            <a:r>
              <a:rPr lang="it-IT" dirty="0"/>
              <a:t>Parametri: i parametri sono valori che vengono passati al metodo per eseguire l'operazione. I parametri sono specificati all'interno delle parentesi tonde dopo il nome del metodo e possono essere di qualsiasi tipo.</a:t>
            </a:r>
          </a:p>
        </p:txBody>
      </p:sp>
    </p:spTree>
    <p:extLst>
      <p:ext uri="{BB962C8B-B14F-4D97-AF65-F5344CB8AC3E}">
        <p14:creationId xmlns:p14="http://schemas.microsoft.com/office/powerpoint/2010/main" val="74744854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5276"/>
            <a:ext cx="11581410" cy="2308324"/>
          </a:xfrm>
          <a:prstGeom prst="rect">
            <a:avLst/>
          </a:prstGeom>
          <a:noFill/>
        </p:spPr>
        <p:txBody>
          <a:bodyPr wrap="square">
            <a:spAutoFit/>
          </a:bodyPr>
          <a:lstStyle/>
          <a:p>
            <a:r>
              <a:rPr lang="it-IT" dirty="0"/>
              <a:t>In Java, un metodo è una funzione definita all'interno di una classe che esegue un'operazione specifica su un oggetto della classe o restituisce un valore.</a:t>
            </a:r>
          </a:p>
          <a:p>
            <a:r>
              <a:rPr lang="it-IT" dirty="0"/>
              <a:t>La struttura di un metodo in Java è composta da diversi elementi, tra cui:</a:t>
            </a:r>
          </a:p>
          <a:p>
            <a:pPr marL="285750" indent="-285750">
              <a:buFont typeface="Arial" panose="020B0604020202020204" pitchFamily="34" charset="0"/>
              <a:buChar char="•"/>
            </a:pPr>
            <a:r>
              <a:rPr lang="it-IT" dirty="0"/>
              <a:t>Nome: il nome del metodo deve essere univoco all'interno della classe e deve iniziare con una lettera minuscola.</a:t>
            </a:r>
          </a:p>
          <a:p>
            <a:pPr marL="285750" indent="-285750">
              <a:buFont typeface="Arial" panose="020B0604020202020204" pitchFamily="34" charset="0"/>
              <a:buChar char="•"/>
            </a:pPr>
            <a:r>
              <a:rPr lang="it-IT" dirty="0"/>
              <a:t>Parametri: i parametri sono valori che vengono passati al metodo per eseguire l'operazione. I parametri sono specificati all'interno delle parentesi tonde dopo il nome del metodo e possono essere di qualsiasi tipo.</a:t>
            </a:r>
          </a:p>
          <a:p>
            <a:pPr marL="285750" indent="-285750">
              <a:buFont typeface="Arial" panose="020B0604020202020204" pitchFamily="34" charset="0"/>
              <a:buChar char="•"/>
            </a:pPr>
            <a:r>
              <a:rPr lang="it-IT" dirty="0"/>
              <a:t>Tipo di ritorno: il tipo di ritorno indica il tipo di valore che il metodo restituisce dopo aver eseguito l'operazione. Se il metodo non restituisce un valore, il tipo di ritorno deve essere </a:t>
            </a:r>
            <a:r>
              <a:rPr lang="it-IT" dirty="0" err="1"/>
              <a:t>void</a:t>
            </a:r>
            <a:r>
              <a:rPr lang="it-IT" dirty="0"/>
              <a:t>.</a:t>
            </a:r>
          </a:p>
        </p:txBody>
      </p:sp>
    </p:spTree>
    <p:extLst>
      <p:ext uri="{BB962C8B-B14F-4D97-AF65-F5344CB8AC3E}">
        <p14:creationId xmlns:p14="http://schemas.microsoft.com/office/powerpoint/2010/main" val="235188711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5276"/>
            <a:ext cx="11581410" cy="2862322"/>
          </a:xfrm>
          <a:prstGeom prst="rect">
            <a:avLst/>
          </a:prstGeom>
          <a:noFill/>
        </p:spPr>
        <p:txBody>
          <a:bodyPr wrap="square">
            <a:spAutoFit/>
          </a:bodyPr>
          <a:lstStyle/>
          <a:p>
            <a:r>
              <a:rPr lang="it-IT" dirty="0"/>
              <a:t>In Java, un metodo è una funzione definita all'interno di una classe che esegue un'operazione specifica su un oggetto della classe o restituisce un valore.</a:t>
            </a:r>
          </a:p>
          <a:p>
            <a:r>
              <a:rPr lang="it-IT" dirty="0"/>
              <a:t>La struttura di un metodo in Java è composta da diversi elementi, tra cui:</a:t>
            </a:r>
          </a:p>
          <a:p>
            <a:pPr marL="285750" indent="-285750">
              <a:buFont typeface="Arial" panose="020B0604020202020204" pitchFamily="34" charset="0"/>
              <a:buChar char="•"/>
            </a:pPr>
            <a:r>
              <a:rPr lang="it-IT" dirty="0"/>
              <a:t>Nome: il nome del metodo deve essere univoco all'interno della classe e deve iniziare con una lettera minuscola.</a:t>
            </a:r>
          </a:p>
          <a:p>
            <a:pPr marL="285750" indent="-285750">
              <a:buFont typeface="Arial" panose="020B0604020202020204" pitchFamily="34" charset="0"/>
              <a:buChar char="•"/>
            </a:pPr>
            <a:r>
              <a:rPr lang="it-IT" dirty="0"/>
              <a:t>Parametri: i parametri sono valori che vengono passati al metodo per eseguire l'operazione. I parametri sono specificati all'interno delle parentesi tonde dopo il nome del metodo e possono essere di qualsiasi tipo.</a:t>
            </a:r>
          </a:p>
          <a:p>
            <a:pPr marL="285750" indent="-285750">
              <a:buFont typeface="Arial" panose="020B0604020202020204" pitchFamily="34" charset="0"/>
              <a:buChar char="•"/>
            </a:pPr>
            <a:r>
              <a:rPr lang="it-IT" dirty="0"/>
              <a:t>Tipo di ritorno: il tipo di ritorno indica il tipo di valore che il metodo restituisce dopo aver eseguito l'operazione. Se il metodo non restituisce un valore, il tipo di ritorno deve essere </a:t>
            </a:r>
            <a:r>
              <a:rPr lang="it-IT" dirty="0" err="1"/>
              <a:t>void</a:t>
            </a:r>
            <a:r>
              <a:rPr lang="it-IT" dirty="0"/>
              <a:t>.</a:t>
            </a:r>
          </a:p>
          <a:p>
            <a:pPr marL="285750" indent="-285750">
              <a:buFont typeface="Arial" panose="020B0604020202020204" pitchFamily="34" charset="0"/>
              <a:buChar char="•"/>
            </a:pPr>
            <a:r>
              <a:rPr lang="it-IT" dirty="0"/>
              <a:t>Modificatori di accesso: i modificatori di accesso, come public, private e </a:t>
            </a:r>
            <a:r>
              <a:rPr lang="it-IT" dirty="0" err="1"/>
              <a:t>protected</a:t>
            </a:r>
            <a:r>
              <a:rPr lang="it-IT" dirty="0"/>
              <a:t>, vengono utilizzati per specificare l'accesso al metodo.</a:t>
            </a:r>
          </a:p>
        </p:txBody>
      </p:sp>
    </p:spTree>
    <p:extLst>
      <p:ext uri="{BB962C8B-B14F-4D97-AF65-F5344CB8AC3E}">
        <p14:creationId xmlns:p14="http://schemas.microsoft.com/office/powerpoint/2010/main" val="3888191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5276"/>
            <a:ext cx="11581410" cy="3416320"/>
          </a:xfrm>
          <a:prstGeom prst="rect">
            <a:avLst/>
          </a:prstGeom>
          <a:noFill/>
        </p:spPr>
        <p:txBody>
          <a:bodyPr wrap="square">
            <a:spAutoFit/>
          </a:bodyPr>
          <a:lstStyle/>
          <a:p>
            <a:r>
              <a:rPr lang="it-IT" dirty="0"/>
              <a:t>In Java, un metodo è una funzione definita all'interno di una classe che esegue un'operazione specifica su un oggetto della classe o restituisce un valore.</a:t>
            </a:r>
          </a:p>
          <a:p>
            <a:r>
              <a:rPr lang="it-IT" dirty="0"/>
              <a:t>La struttura di un metodo in Java è composta da diversi elementi, tra cui:</a:t>
            </a:r>
          </a:p>
          <a:p>
            <a:pPr marL="285750" indent="-285750">
              <a:buFont typeface="Arial" panose="020B0604020202020204" pitchFamily="34" charset="0"/>
              <a:buChar char="•"/>
            </a:pPr>
            <a:r>
              <a:rPr lang="it-IT" dirty="0"/>
              <a:t>Nome: il nome del metodo deve essere univoco all'interno della classe e deve iniziare con una lettera minuscola.</a:t>
            </a:r>
          </a:p>
          <a:p>
            <a:pPr marL="285750" indent="-285750">
              <a:buFont typeface="Arial" panose="020B0604020202020204" pitchFamily="34" charset="0"/>
              <a:buChar char="•"/>
            </a:pPr>
            <a:r>
              <a:rPr lang="it-IT" dirty="0"/>
              <a:t>Parametri: i parametri sono valori che vengono passati al metodo per eseguire l'operazione. I parametri sono specificati all'interno delle parentesi tonde dopo il nome del metodo e possono essere di qualsiasi tipo.</a:t>
            </a:r>
          </a:p>
          <a:p>
            <a:pPr marL="285750" indent="-285750">
              <a:buFont typeface="Arial" panose="020B0604020202020204" pitchFamily="34" charset="0"/>
              <a:buChar char="•"/>
            </a:pPr>
            <a:r>
              <a:rPr lang="it-IT" dirty="0"/>
              <a:t>Tipo di ritorno: il tipo di ritorno indica il tipo di valore che il metodo restituisce dopo aver eseguito l'operazione. Se il metodo non restituisce un valore, il tipo di ritorno deve essere </a:t>
            </a:r>
            <a:r>
              <a:rPr lang="it-IT" dirty="0" err="1"/>
              <a:t>void</a:t>
            </a:r>
            <a:r>
              <a:rPr lang="it-IT" dirty="0"/>
              <a:t>.</a:t>
            </a:r>
          </a:p>
          <a:p>
            <a:pPr marL="285750" indent="-285750">
              <a:buFont typeface="Arial" panose="020B0604020202020204" pitchFamily="34" charset="0"/>
              <a:buChar char="•"/>
            </a:pPr>
            <a:r>
              <a:rPr lang="it-IT" dirty="0"/>
              <a:t>Modificatori di accesso: i modificatori di accesso, come public, private e </a:t>
            </a:r>
            <a:r>
              <a:rPr lang="it-IT" dirty="0" err="1"/>
              <a:t>protected</a:t>
            </a:r>
            <a:r>
              <a:rPr lang="it-IT" dirty="0"/>
              <a:t>, vengono utilizzati per specificare l'accesso al metodo.</a:t>
            </a:r>
          </a:p>
          <a:p>
            <a:pPr marL="285750" indent="-285750">
              <a:buFont typeface="Arial" panose="020B0604020202020204" pitchFamily="34" charset="0"/>
              <a:buChar char="•"/>
            </a:pPr>
            <a:r>
              <a:rPr lang="it-IT" dirty="0"/>
              <a:t>Implementazione: l'implementazione del metodo contiene il codice che viene eseguito quando il metodo viene chiamato.</a:t>
            </a:r>
          </a:p>
        </p:txBody>
      </p:sp>
    </p:spTree>
    <p:extLst>
      <p:ext uri="{BB962C8B-B14F-4D97-AF65-F5344CB8AC3E}">
        <p14:creationId xmlns:p14="http://schemas.microsoft.com/office/powerpoint/2010/main" val="116820249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5276"/>
            <a:ext cx="11581410" cy="3970318"/>
          </a:xfrm>
          <a:prstGeom prst="rect">
            <a:avLst/>
          </a:prstGeom>
          <a:noFill/>
        </p:spPr>
        <p:txBody>
          <a:bodyPr wrap="square">
            <a:spAutoFit/>
          </a:bodyPr>
          <a:lstStyle/>
          <a:p>
            <a:r>
              <a:rPr lang="it-IT" dirty="0"/>
              <a:t>In Java, un metodo è una funzione definita all'interno di una classe che esegue un'operazione specifica su un oggetto della classe o restituisce un valore.</a:t>
            </a:r>
          </a:p>
          <a:p>
            <a:r>
              <a:rPr lang="it-IT" dirty="0"/>
              <a:t>La struttura di un metodo in Java è composta da diversi elementi, tra cui:</a:t>
            </a:r>
          </a:p>
          <a:p>
            <a:pPr marL="285750" indent="-285750">
              <a:buFont typeface="Arial" panose="020B0604020202020204" pitchFamily="34" charset="0"/>
              <a:buChar char="•"/>
            </a:pPr>
            <a:r>
              <a:rPr lang="it-IT" dirty="0"/>
              <a:t>Nome: il nome del metodo deve essere univoco all'interno della classe e deve iniziare con una lettera minuscola.</a:t>
            </a:r>
          </a:p>
          <a:p>
            <a:pPr marL="285750" indent="-285750">
              <a:buFont typeface="Arial" panose="020B0604020202020204" pitchFamily="34" charset="0"/>
              <a:buChar char="•"/>
            </a:pPr>
            <a:r>
              <a:rPr lang="it-IT" dirty="0"/>
              <a:t>Parametri: i parametri sono valori che vengono passati al metodo per eseguire l'operazione. I parametri sono specificati all'interno delle parentesi tonde dopo il nome del metodo e possono essere di qualsiasi tipo.</a:t>
            </a:r>
          </a:p>
          <a:p>
            <a:pPr marL="285750" indent="-285750">
              <a:buFont typeface="Arial" panose="020B0604020202020204" pitchFamily="34" charset="0"/>
              <a:buChar char="•"/>
            </a:pPr>
            <a:r>
              <a:rPr lang="it-IT" dirty="0"/>
              <a:t>Tipo di ritorno: il tipo di ritorno indica il tipo di valore che il metodo restituisce dopo aver eseguito l'operazione. Se il metodo non restituisce un valore, il tipo di ritorno deve essere </a:t>
            </a:r>
            <a:r>
              <a:rPr lang="it-IT" dirty="0" err="1"/>
              <a:t>void</a:t>
            </a:r>
            <a:r>
              <a:rPr lang="it-IT" dirty="0"/>
              <a:t>.</a:t>
            </a:r>
          </a:p>
          <a:p>
            <a:pPr marL="285750" indent="-285750">
              <a:buFont typeface="Arial" panose="020B0604020202020204" pitchFamily="34" charset="0"/>
              <a:buChar char="•"/>
            </a:pPr>
            <a:r>
              <a:rPr lang="it-IT" dirty="0"/>
              <a:t>Modificatori di accesso: i modificatori di accesso, come public, private e </a:t>
            </a:r>
            <a:r>
              <a:rPr lang="it-IT" dirty="0" err="1"/>
              <a:t>protected</a:t>
            </a:r>
            <a:r>
              <a:rPr lang="it-IT" dirty="0"/>
              <a:t>, vengono utilizzati per specificare l'accesso al metodo.</a:t>
            </a:r>
          </a:p>
          <a:p>
            <a:pPr marL="285750" indent="-285750">
              <a:buFont typeface="Arial" panose="020B0604020202020204" pitchFamily="34" charset="0"/>
              <a:buChar char="•"/>
            </a:pPr>
            <a:r>
              <a:rPr lang="it-IT" dirty="0"/>
              <a:t>Implementazione: l'implementazione del metodo contiene il codice che viene eseguito quando il metodo viene chiamato.</a:t>
            </a:r>
          </a:p>
          <a:p>
            <a:r>
              <a:rPr lang="it-IT" dirty="0"/>
              <a:t>Ad esempio, il seguente codice definisce un metodo </a:t>
            </a:r>
            <a:r>
              <a:rPr lang="it-IT" dirty="0" err="1"/>
              <a:t>calcolaSomma</a:t>
            </a:r>
            <a:r>
              <a:rPr lang="it-IT" dirty="0"/>
              <a:t>() nella classe </a:t>
            </a:r>
            <a:r>
              <a:rPr lang="it-IT" dirty="0" err="1"/>
              <a:t>MyClass</a:t>
            </a:r>
            <a:r>
              <a:rPr lang="it-IT" dirty="0"/>
              <a:t> che accetta due parametri interi e restituisce la loro somma:</a:t>
            </a:r>
            <a:endParaRPr lang="it-IT" b="0" i="0" dirty="0">
              <a:solidFill>
                <a:srgbClr val="050E17"/>
              </a:solidFill>
              <a:effectLst/>
              <a:latin typeface="-apple-system"/>
            </a:endParaRPr>
          </a:p>
        </p:txBody>
      </p:sp>
    </p:spTree>
    <p:extLst>
      <p:ext uri="{BB962C8B-B14F-4D97-AF65-F5344CB8AC3E}">
        <p14:creationId xmlns:p14="http://schemas.microsoft.com/office/powerpoint/2010/main" val="405584511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316138" y="467234"/>
            <a:ext cx="6094562" cy="369332"/>
          </a:xfrm>
          <a:prstGeom prst="rect">
            <a:avLst/>
          </a:prstGeom>
          <a:noFill/>
        </p:spPr>
        <p:txBody>
          <a:bodyPr wrap="square">
            <a:spAutoFit/>
          </a:bodyPr>
          <a:lstStyle/>
          <a:p>
            <a:pPr algn="ctr"/>
            <a:r>
              <a:rPr lang="it-IT" b="0" i="0" dirty="0">
                <a:solidFill>
                  <a:srgbClr val="050E17"/>
                </a:solidFill>
                <a:effectLst/>
                <a:latin typeface="-apple-system"/>
              </a:rPr>
              <a:t>Parliamo dei metodi delle classi</a:t>
            </a:r>
            <a:endParaRPr lang="it-IT"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282039" y="1415276"/>
            <a:ext cx="11581410" cy="3970318"/>
          </a:xfrm>
          <a:prstGeom prst="rect">
            <a:avLst/>
          </a:prstGeom>
          <a:noFill/>
        </p:spPr>
        <p:txBody>
          <a:bodyPr wrap="square">
            <a:spAutoFit/>
          </a:bodyPr>
          <a:lstStyle/>
          <a:p>
            <a:r>
              <a:rPr lang="it-IT" dirty="0"/>
              <a:t>In Java, un metodo è una funzione definita all'interno di una classe che esegue un'operazione specifica su un oggetto della classe o restituisce un valore.</a:t>
            </a:r>
          </a:p>
          <a:p>
            <a:r>
              <a:rPr lang="it-IT" dirty="0"/>
              <a:t>La struttura di un metodo in Java è composta da diversi elementi, tra cui:</a:t>
            </a:r>
          </a:p>
          <a:p>
            <a:pPr marL="285750" indent="-285750">
              <a:buFont typeface="Arial" panose="020B0604020202020204" pitchFamily="34" charset="0"/>
              <a:buChar char="•"/>
            </a:pPr>
            <a:r>
              <a:rPr lang="it-IT" dirty="0"/>
              <a:t>Nome: il nome del metodo deve essere univoco all'interno della classe e deve iniziare con una lettera minuscola.</a:t>
            </a:r>
          </a:p>
          <a:p>
            <a:pPr marL="285750" indent="-285750">
              <a:buFont typeface="Arial" panose="020B0604020202020204" pitchFamily="34" charset="0"/>
              <a:buChar char="•"/>
            </a:pPr>
            <a:r>
              <a:rPr lang="it-IT" dirty="0"/>
              <a:t>Parametri: i parametri sono valori che vengono passati al metodo per eseguire l'operazione. I parametri sono specificati all'interno delle parentesi tonde dopo il nome del metodo e possono essere di qualsiasi tipo.</a:t>
            </a:r>
          </a:p>
          <a:p>
            <a:pPr marL="285750" indent="-285750">
              <a:buFont typeface="Arial" panose="020B0604020202020204" pitchFamily="34" charset="0"/>
              <a:buChar char="•"/>
            </a:pPr>
            <a:r>
              <a:rPr lang="it-IT" dirty="0"/>
              <a:t>Tipo di ritorno: il tipo di ritorno indica il tipo di valore che il metodo restituisce dopo aver eseguito l'operazione. Se il metodo non restituisce un valore, il tipo di ritorno deve essere </a:t>
            </a:r>
            <a:r>
              <a:rPr lang="it-IT" dirty="0" err="1"/>
              <a:t>void</a:t>
            </a:r>
            <a:r>
              <a:rPr lang="it-IT" dirty="0"/>
              <a:t>.</a:t>
            </a:r>
          </a:p>
          <a:p>
            <a:pPr marL="285750" indent="-285750">
              <a:buFont typeface="Arial" panose="020B0604020202020204" pitchFamily="34" charset="0"/>
              <a:buChar char="•"/>
            </a:pPr>
            <a:r>
              <a:rPr lang="it-IT" dirty="0"/>
              <a:t>Modificatori di accesso: i modificatori di accesso, come public, private e </a:t>
            </a:r>
            <a:r>
              <a:rPr lang="it-IT" dirty="0" err="1"/>
              <a:t>protected</a:t>
            </a:r>
            <a:r>
              <a:rPr lang="it-IT" dirty="0"/>
              <a:t>, vengono utilizzati per specificare l'accesso al metodo.</a:t>
            </a:r>
          </a:p>
          <a:p>
            <a:pPr marL="285750" indent="-285750">
              <a:buFont typeface="Arial" panose="020B0604020202020204" pitchFamily="34" charset="0"/>
              <a:buChar char="•"/>
            </a:pPr>
            <a:r>
              <a:rPr lang="it-IT" dirty="0"/>
              <a:t>Implementazione: l'implementazione del metodo contiene il codice che viene eseguito quando il metodo viene chiamato.</a:t>
            </a:r>
          </a:p>
          <a:p>
            <a:r>
              <a:rPr lang="it-IT" dirty="0"/>
              <a:t>Ad esempio, il seguente codice definisce un metodo </a:t>
            </a:r>
            <a:r>
              <a:rPr lang="it-IT" dirty="0" err="1"/>
              <a:t>calcolaSomma</a:t>
            </a:r>
            <a:r>
              <a:rPr lang="it-IT" dirty="0"/>
              <a:t>() nella classe </a:t>
            </a:r>
            <a:r>
              <a:rPr lang="it-IT" dirty="0" err="1"/>
              <a:t>MyClass</a:t>
            </a:r>
            <a:r>
              <a:rPr lang="it-IT" dirty="0"/>
              <a:t> che accetta due parametri interi e restituisce la loro somma:</a:t>
            </a:r>
            <a:endParaRPr lang="it-IT" b="0" i="0" dirty="0">
              <a:solidFill>
                <a:srgbClr val="050E17"/>
              </a:solidFill>
              <a:effectLst/>
              <a:latin typeface="-apple-system"/>
            </a:endParaRPr>
          </a:p>
        </p:txBody>
      </p:sp>
      <p:sp>
        <p:nvSpPr>
          <p:cNvPr id="10" name="CasellaDiTesto 9">
            <a:extLst>
              <a:ext uri="{FF2B5EF4-FFF2-40B4-BE49-F238E27FC236}">
                <a16:creationId xmlns:a16="http://schemas.microsoft.com/office/drawing/2014/main" id="{EDDFB0C3-E55A-C71E-D90C-294997FF8E2D}"/>
              </a:ext>
            </a:extLst>
          </p:cNvPr>
          <p:cNvSpPr txBox="1"/>
          <p:nvPr/>
        </p:nvSpPr>
        <p:spPr>
          <a:xfrm>
            <a:off x="3095231" y="5069814"/>
            <a:ext cx="8601964" cy="1698222"/>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5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MyClass</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calcolaSomma</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 {</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5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 = a + b</a:t>
            </a:r>
            <a:r>
              <a:rPr lang="it-IT"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5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a:t>
            </a:r>
            <a:r>
              <a:rPr lang="it-IT"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0911880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0" i="0" dirty="0">
                <a:solidFill>
                  <a:srgbClr val="050E17"/>
                </a:solidFill>
                <a:effectLst/>
                <a:latin typeface="-apple-system"/>
              </a:rPr>
              <a:t>Parliamo dei metodi delle classi</a:t>
            </a:r>
            <a:endParaRPr lang="it-IT" dirty="0"/>
          </a:p>
        </p:txBody>
      </p:sp>
      <p:sp>
        <p:nvSpPr>
          <p:cNvPr id="10" name="CasellaDiTesto 9">
            <a:extLst>
              <a:ext uri="{FF2B5EF4-FFF2-40B4-BE49-F238E27FC236}">
                <a16:creationId xmlns:a16="http://schemas.microsoft.com/office/drawing/2014/main" id="{EDDFB0C3-E55A-C71E-D90C-294997FF8E2D}"/>
              </a:ext>
            </a:extLst>
          </p:cNvPr>
          <p:cNvSpPr txBox="1"/>
          <p:nvPr/>
        </p:nvSpPr>
        <p:spPr>
          <a:xfrm>
            <a:off x="3884446" y="846005"/>
            <a:ext cx="6553964" cy="1698222"/>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5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MyClass</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calcolaSomma</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 {</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5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 = a + b</a:t>
            </a:r>
            <a:r>
              <a:rPr lang="it-IT"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5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a:t>
            </a:r>
            <a:r>
              <a:rPr lang="it-IT"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3692916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0" i="0" dirty="0">
                <a:solidFill>
                  <a:srgbClr val="050E17"/>
                </a:solidFill>
                <a:effectLst/>
                <a:latin typeface="-apple-system"/>
              </a:rPr>
              <a:t>Parliamo dei metodi delle classi</a:t>
            </a:r>
            <a:endParaRPr lang="it-IT"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472044" y="2769064"/>
            <a:ext cx="11581410" cy="646331"/>
          </a:xfrm>
          <a:prstGeom prst="rect">
            <a:avLst/>
          </a:prstGeom>
          <a:noFill/>
        </p:spPr>
        <p:txBody>
          <a:bodyPr wrap="square">
            <a:spAutoFit/>
          </a:bodyPr>
          <a:lstStyle/>
          <a:p>
            <a:r>
              <a:rPr lang="it-IT" b="0" i="0" dirty="0">
                <a:solidFill>
                  <a:srgbClr val="050E17"/>
                </a:solidFill>
                <a:effectLst/>
                <a:latin typeface="-apple-system"/>
              </a:rPr>
              <a:t>In questo esempio, viene creato un nuovo oggetto </a:t>
            </a:r>
            <a:r>
              <a:rPr lang="it-IT" b="0" i="0" dirty="0" err="1">
                <a:solidFill>
                  <a:srgbClr val="050E17"/>
                </a:solidFill>
                <a:effectLst/>
                <a:latin typeface="-apple-system"/>
              </a:rPr>
              <a:t>MyClass</a:t>
            </a:r>
            <a:r>
              <a:rPr lang="it-IT" b="0" i="0" dirty="0">
                <a:solidFill>
                  <a:srgbClr val="050E17"/>
                </a:solidFill>
                <a:effectLst/>
                <a:latin typeface="-apple-system"/>
              </a:rPr>
              <a:t> e viene chiamato il metodo </a:t>
            </a:r>
            <a:r>
              <a:rPr lang="it-IT" b="0" i="0" dirty="0" err="1">
                <a:solidFill>
                  <a:srgbClr val="050E17"/>
                </a:solidFill>
                <a:effectLst/>
                <a:latin typeface="-apple-system"/>
              </a:rPr>
              <a:t>calcolaSomma</a:t>
            </a:r>
            <a:r>
              <a:rPr lang="it-IT" b="0" i="0" dirty="0">
                <a:solidFill>
                  <a:srgbClr val="050E17"/>
                </a:solidFill>
                <a:effectLst/>
                <a:latin typeface="-apple-system"/>
              </a:rPr>
              <a:t>() passando i valori 5 e 10 come parametri. Il risultato viene assegnato alla variabile risultato e viene stampato sulla console.</a:t>
            </a:r>
          </a:p>
        </p:txBody>
      </p:sp>
      <p:sp>
        <p:nvSpPr>
          <p:cNvPr id="10" name="CasellaDiTesto 9">
            <a:extLst>
              <a:ext uri="{FF2B5EF4-FFF2-40B4-BE49-F238E27FC236}">
                <a16:creationId xmlns:a16="http://schemas.microsoft.com/office/drawing/2014/main" id="{EDDFB0C3-E55A-C71E-D90C-294997FF8E2D}"/>
              </a:ext>
            </a:extLst>
          </p:cNvPr>
          <p:cNvSpPr txBox="1"/>
          <p:nvPr/>
        </p:nvSpPr>
        <p:spPr>
          <a:xfrm>
            <a:off x="3884446" y="846005"/>
            <a:ext cx="6553964" cy="1698222"/>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5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MyClass</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calcolaSomma</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 {</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5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 = a + b</a:t>
            </a:r>
            <a:r>
              <a:rPr lang="it-IT"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5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a:t>
            </a:r>
            <a:r>
              <a:rPr lang="it-IT"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715443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metodi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0" i="0" dirty="0">
                <a:solidFill>
                  <a:srgbClr val="050E17"/>
                </a:solidFill>
                <a:effectLst/>
                <a:latin typeface="-apple-system"/>
              </a:rPr>
              <a:t>Parliamo dei metodi delle classi</a:t>
            </a:r>
            <a:endParaRPr lang="it-IT" dirty="0"/>
          </a:p>
        </p:txBody>
      </p:sp>
      <p:sp>
        <p:nvSpPr>
          <p:cNvPr id="2" name="CasellaDiTesto 1">
            <a:extLst>
              <a:ext uri="{FF2B5EF4-FFF2-40B4-BE49-F238E27FC236}">
                <a16:creationId xmlns:a16="http://schemas.microsoft.com/office/drawing/2014/main" id="{A8B6C04B-17C4-3C44-7489-AFF2EC539298}"/>
              </a:ext>
            </a:extLst>
          </p:cNvPr>
          <p:cNvSpPr txBox="1"/>
          <p:nvPr/>
        </p:nvSpPr>
        <p:spPr>
          <a:xfrm>
            <a:off x="472044" y="2769064"/>
            <a:ext cx="11581410" cy="1477328"/>
          </a:xfrm>
          <a:prstGeom prst="rect">
            <a:avLst/>
          </a:prstGeom>
          <a:noFill/>
        </p:spPr>
        <p:txBody>
          <a:bodyPr wrap="square">
            <a:spAutoFit/>
          </a:bodyPr>
          <a:lstStyle/>
          <a:p>
            <a:r>
              <a:rPr lang="it-IT" b="0" i="0" dirty="0">
                <a:solidFill>
                  <a:srgbClr val="050E17"/>
                </a:solidFill>
                <a:effectLst/>
                <a:latin typeface="-apple-system"/>
              </a:rPr>
              <a:t>In questo esempio, viene creato un nuovo oggetto </a:t>
            </a:r>
            <a:r>
              <a:rPr lang="it-IT" b="0" i="0" dirty="0" err="1">
                <a:solidFill>
                  <a:srgbClr val="050E17"/>
                </a:solidFill>
                <a:effectLst/>
                <a:latin typeface="-apple-system"/>
              </a:rPr>
              <a:t>MyClass</a:t>
            </a:r>
            <a:r>
              <a:rPr lang="it-IT" b="0" i="0" dirty="0">
                <a:solidFill>
                  <a:srgbClr val="050E17"/>
                </a:solidFill>
                <a:effectLst/>
                <a:latin typeface="-apple-system"/>
              </a:rPr>
              <a:t> e viene chiamato il metodo </a:t>
            </a:r>
            <a:r>
              <a:rPr lang="it-IT" b="0" i="0" dirty="0" err="1">
                <a:solidFill>
                  <a:srgbClr val="050E17"/>
                </a:solidFill>
                <a:effectLst/>
                <a:latin typeface="-apple-system"/>
              </a:rPr>
              <a:t>calcolaSomma</a:t>
            </a:r>
            <a:r>
              <a:rPr lang="it-IT" b="0" i="0" dirty="0">
                <a:solidFill>
                  <a:srgbClr val="050E17"/>
                </a:solidFill>
                <a:effectLst/>
                <a:latin typeface="-apple-system"/>
              </a:rPr>
              <a:t>() passando i valori 5 e 10 come parametri. Il risultato viene assegnato alla variabile risultato e viene stampato sulla console.</a:t>
            </a:r>
          </a:p>
          <a:p>
            <a:endParaRPr lang="it-IT" b="0" i="0" dirty="0">
              <a:solidFill>
                <a:srgbClr val="050E17"/>
              </a:solidFill>
              <a:effectLst/>
              <a:latin typeface="-apple-system"/>
            </a:endParaRPr>
          </a:p>
          <a:p>
            <a:r>
              <a:rPr lang="it-IT" b="0" i="0" dirty="0">
                <a:solidFill>
                  <a:srgbClr val="050E17"/>
                </a:solidFill>
                <a:effectLst/>
                <a:latin typeface="-apple-system"/>
              </a:rPr>
              <a:t>In generale, i metodi sono una parte fondamentale della programmazione Java e vengono utilizzati per eseguire operazioni su oggetti, calcolare valori, accedere ai dati e così via.</a:t>
            </a:r>
          </a:p>
        </p:txBody>
      </p:sp>
      <p:sp>
        <p:nvSpPr>
          <p:cNvPr id="10" name="CasellaDiTesto 9">
            <a:extLst>
              <a:ext uri="{FF2B5EF4-FFF2-40B4-BE49-F238E27FC236}">
                <a16:creationId xmlns:a16="http://schemas.microsoft.com/office/drawing/2014/main" id="{EDDFB0C3-E55A-C71E-D90C-294997FF8E2D}"/>
              </a:ext>
            </a:extLst>
          </p:cNvPr>
          <p:cNvSpPr txBox="1"/>
          <p:nvPr/>
        </p:nvSpPr>
        <p:spPr>
          <a:xfrm>
            <a:off x="3884446" y="846005"/>
            <a:ext cx="6553964" cy="1698222"/>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class </a:t>
            </a:r>
            <a:r>
              <a:rPr lang="en-GB" sz="15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MyClass</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calcolaSomma</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 {</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5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 = a + b</a:t>
            </a:r>
            <a:r>
              <a:rPr lang="it-IT"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5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somma</a:t>
            </a:r>
            <a:r>
              <a:rPr lang="it-IT" sz="15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5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15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CasellaDiTesto 10">
            <a:extLst>
              <a:ext uri="{FF2B5EF4-FFF2-40B4-BE49-F238E27FC236}">
                <a16:creationId xmlns:a16="http://schemas.microsoft.com/office/drawing/2014/main" id="{4C10BBEF-EA04-1631-7DA6-C11A94700771}"/>
              </a:ext>
            </a:extLst>
          </p:cNvPr>
          <p:cNvSpPr txBox="1"/>
          <p:nvPr/>
        </p:nvSpPr>
        <p:spPr>
          <a:xfrm>
            <a:off x="398546" y="5839711"/>
            <a:ext cx="10910095" cy="369332"/>
          </a:xfrm>
          <a:prstGeom prst="rect">
            <a:avLst/>
          </a:prstGeom>
          <a:noFill/>
        </p:spPr>
        <p:txBody>
          <a:bodyPr wrap="square">
            <a:spAutoFit/>
          </a:bodyPr>
          <a:lstStyle/>
          <a:p>
            <a:endParaRPr lang="it-IT" dirty="0"/>
          </a:p>
        </p:txBody>
      </p:sp>
    </p:spTree>
    <p:extLst>
      <p:ext uri="{BB962C8B-B14F-4D97-AF65-F5344CB8AC3E}">
        <p14:creationId xmlns:p14="http://schemas.microsoft.com/office/powerpoint/2010/main" val="333983793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400110"/>
          </a:xfrm>
          <a:prstGeom prst="rect">
            <a:avLst/>
          </a:prstGeom>
          <a:noFill/>
        </p:spPr>
        <p:txBody>
          <a:bodyPr wrap="square">
            <a:spAutoFit/>
          </a:bodyPr>
          <a:lstStyle/>
          <a:p>
            <a:r>
              <a:rPr lang="it-IT" sz="2000" b="1" i="0" dirty="0">
                <a:solidFill>
                  <a:srgbClr val="050E17"/>
                </a:solidFill>
                <a:effectLst/>
                <a:latin typeface="-apple-system"/>
              </a:rPr>
              <a:t>Il </a:t>
            </a:r>
            <a:r>
              <a:rPr lang="it-IT" sz="2000" b="1" i="0" dirty="0" err="1">
                <a:solidFill>
                  <a:srgbClr val="050E17"/>
                </a:solidFill>
                <a:effectLst/>
                <a:latin typeface="-apple-system"/>
              </a:rPr>
              <a:t>this</a:t>
            </a:r>
            <a:r>
              <a:rPr lang="it-IT" sz="2000" b="1" i="0" dirty="0">
                <a:solidFill>
                  <a:srgbClr val="050E17"/>
                </a:solidFill>
                <a:effectLst/>
                <a:latin typeface="-apple-system"/>
              </a:rPr>
              <a:t> in metodi di istanza</a:t>
            </a:r>
            <a:endParaRPr lang="it-IT" sz="2000" b="1" dirty="0"/>
          </a:p>
        </p:txBody>
      </p:sp>
      <p:sp>
        <p:nvSpPr>
          <p:cNvPr id="9" name="Rectangle 4">
            <a:extLst>
              <a:ext uri="{FF2B5EF4-FFF2-40B4-BE49-F238E27FC236}">
                <a16:creationId xmlns:a16="http://schemas.microsoft.com/office/drawing/2014/main" id="{6872ED55-A1C1-2744-1EED-9B8AEA86FA2B}"/>
              </a:ext>
            </a:extLst>
          </p:cNvPr>
          <p:cNvSpPr>
            <a:spLocks/>
          </p:cNvSpPr>
          <p:nvPr/>
        </p:nvSpPr>
        <p:spPr bwMode="auto">
          <a:xfrm>
            <a:off x="4019910" y="881687"/>
            <a:ext cx="7323144"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In una classe i metodi scritti possono chiamare altri metodi della classe. Più specificamente i metodi di istanza possono chiamare altri metodi (di </a:t>
            </a:r>
            <a:r>
              <a:rPr lang="it-IT" altLang="it-IT" sz="1500" dirty="0" err="1">
                <a:solidFill>
                  <a:srgbClr val="374151"/>
                </a:solidFill>
                <a:latin typeface="Segoe UI" panose="020B0502040204020203" pitchFamily="34" charset="0"/>
                <a:ea typeface="Calibri" panose="020F0502020204030204" pitchFamily="34" charset="0"/>
                <a:cs typeface="Segoe UI" panose="020B0502040204020203" pitchFamily="34" charset="0"/>
              </a:rPr>
              <a:t>isanza</a:t>
            </a: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 o meno, anche se non abbiamo ancora visto gli altri metodi – quelli statici)</a:t>
            </a:r>
            <a:endPar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endParaRPr>
          </a:p>
        </p:txBody>
      </p:sp>
    </p:spTree>
    <p:extLst>
      <p:ext uri="{BB962C8B-B14F-4D97-AF65-F5344CB8AC3E}">
        <p14:creationId xmlns:p14="http://schemas.microsoft.com/office/powerpoint/2010/main" val="12912940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400110"/>
          </a:xfrm>
          <a:prstGeom prst="rect">
            <a:avLst/>
          </a:prstGeom>
          <a:noFill/>
        </p:spPr>
        <p:txBody>
          <a:bodyPr wrap="square">
            <a:spAutoFit/>
          </a:bodyPr>
          <a:lstStyle/>
          <a:p>
            <a:r>
              <a:rPr lang="it-IT" sz="2000" b="1" i="0" dirty="0">
                <a:solidFill>
                  <a:srgbClr val="050E17"/>
                </a:solidFill>
                <a:effectLst/>
                <a:latin typeface="-apple-system"/>
              </a:rPr>
              <a:t>Il </a:t>
            </a:r>
            <a:r>
              <a:rPr lang="it-IT" sz="2000" b="1" i="0" dirty="0" err="1">
                <a:solidFill>
                  <a:srgbClr val="050E17"/>
                </a:solidFill>
                <a:effectLst/>
                <a:latin typeface="-apple-system"/>
              </a:rPr>
              <a:t>this</a:t>
            </a:r>
            <a:r>
              <a:rPr lang="it-IT" sz="2000" b="1" i="0" dirty="0">
                <a:solidFill>
                  <a:srgbClr val="050E17"/>
                </a:solidFill>
                <a:effectLst/>
                <a:latin typeface="-apple-system"/>
              </a:rPr>
              <a:t> in metodi di istanza</a:t>
            </a:r>
            <a:endParaRPr lang="it-IT" sz="2000" b="1" dirty="0"/>
          </a:p>
        </p:txBody>
      </p:sp>
      <p:sp>
        <p:nvSpPr>
          <p:cNvPr id="9" name="Rectangle 4">
            <a:extLst>
              <a:ext uri="{FF2B5EF4-FFF2-40B4-BE49-F238E27FC236}">
                <a16:creationId xmlns:a16="http://schemas.microsoft.com/office/drawing/2014/main" id="{6872ED55-A1C1-2744-1EED-9B8AEA86FA2B}"/>
              </a:ext>
            </a:extLst>
          </p:cNvPr>
          <p:cNvSpPr>
            <a:spLocks noGrp="1" noRot="1" noMove="1" noResize="1" noEditPoints="1" noAdjustHandles="1" noChangeArrowheads="1" noChangeShapeType="1"/>
          </p:cNvSpPr>
          <p:nvPr/>
        </p:nvSpPr>
        <p:spPr bwMode="auto">
          <a:xfrm>
            <a:off x="4019909" y="880964"/>
            <a:ext cx="732314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In una classe i metodi scritti possono chiamare altri metodi della classe. Più specificamente i metodi di istanza possono chiamare altri metodi (di </a:t>
            </a:r>
            <a:r>
              <a:rPr lang="it-IT" altLang="it-IT" sz="1500" dirty="0" err="1">
                <a:solidFill>
                  <a:srgbClr val="374151"/>
                </a:solidFill>
                <a:latin typeface="Segoe UI" panose="020B0502040204020203" pitchFamily="34" charset="0"/>
                <a:ea typeface="Calibri" panose="020F0502020204030204" pitchFamily="34" charset="0"/>
                <a:cs typeface="Segoe UI" panose="020B0502040204020203" pitchFamily="34" charset="0"/>
              </a:rPr>
              <a:t>isanza</a:t>
            </a: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 o meno, anche se non abbiamo ancora visto gli altri metodi – quelli statici)</a:t>
            </a:r>
            <a:endPar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ciò, il </a:t>
            </a:r>
            <a:r>
              <a:rPr kumimoji="0" lang="it-IT" altLang="it-IT" sz="15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può essere usato anche per fare riferimento, all’interno del codice di un metodo ad altri metodi della stessa classe, quando si fa riferimento a metodi di istanza, riferimento che possono fare solo (a loro volta) altri metodi di istanza. </a:t>
            </a: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
        <p:nvSpPr>
          <p:cNvPr id="10" name="CasellaDiTesto 9">
            <a:extLst>
              <a:ext uri="{FF2B5EF4-FFF2-40B4-BE49-F238E27FC236}">
                <a16:creationId xmlns:a16="http://schemas.microsoft.com/office/drawing/2014/main" id="{4347E606-E393-22CC-7CEE-62855821AA48}"/>
              </a:ext>
            </a:extLst>
          </p:cNvPr>
          <p:cNvSpPr txBox="1"/>
          <p:nvPr/>
        </p:nvSpPr>
        <p:spPr>
          <a:xfrm>
            <a:off x="282039" y="2365902"/>
            <a:ext cx="1356980" cy="369332"/>
          </a:xfrm>
          <a:prstGeom prst="rect">
            <a:avLst/>
          </a:prstGeom>
          <a:noFill/>
        </p:spPr>
        <p:txBody>
          <a:bodyPr wrap="square">
            <a:spAutoFit/>
          </a:bodyPr>
          <a:lstStyle/>
          <a:p>
            <a:r>
              <a:rPr lang="it-IT" dirty="0"/>
              <a:t>In generale:</a:t>
            </a:r>
          </a:p>
        </p:txBody>
      </p:sp>
    </p:spTree>
    <p:extLst>
      <p:ext uri="{BB962C8B-B14F-4D97-AF65-F5344CB8AC3E}">
        <p14:creationId xmlns:p14="http://schemas.microsoft.com/office/powerpoint/2010/main" val="125296034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400110"/>
          </a:xfrm>
          <a:prstGeom prst="rect">
            <a:avLst/>
          </a:prstGeom>
          <a:noFill/>
        </p:spPr>
        <p:txBody>
          <a:bodyPr wrap="square">
            <a:spAutoFit/>
          </a:bodyPr>
          <a:lstStyle/>
          <a:p>
            <a:r>
              <a:rPr lang="it-IT" sz="2000" b="1" i="0" dirty="0">
                <a:solidFill>
                  <a:srgbClr val="050E17"/>
                </a:solidFill>
                <a:effectLst/>
                <a:latin typeface="-apple-system"/>
              </a:rPr>
              <a:t>Il </a:t>
            </a:r>
            <a:r>
              <a:rPr lang="it-IT" sz="2000" b="1" i="0" dirty="0" err="1">
                <a:solidFill>
                  <a:srgbClr val="050E17"/>
                </a:solidFill>
                <a:effectLst/>
                <a:latin typeface="-apple-system"/>
              </a:rPr>
              <a:t>this</a:t>
            </a:r>
            <a:r>
              <a:rPr lang="it-IT" sz="2000" b="1" i="0" dirty="0">
                <a:solidFill>
                  <a:srgbClr val="050E17"/>
                </a:solidFill>
                <a:effectLst/>
                <a:latin typeface="-apple-system"/>
              </a:rPr>
              <a:t> in metodi di istanza</a:t>
            </a:r>
            <a:endParaRPr lang="it-IT" sz="2000" b="1" dirty="0"/>
          </a:p>
        </p:txBody>
      </p:sp>
      <p:sp>
        <p:nvSpPr>
          <p:cNvPr id="9" name="Rectangle 4">
            <a:extLst>
              <a:ext uri="{FF2B5EF4-FFF2-40B4-BE49-F238E27FC236}">
                <a16:creationId xmlns:a16="http://schemas.microsoft.com/office/drawing/2014/main" id="{6872ED55-A1C1-2744-1EED-9B8AEA86FA2B}"/>
              </a:ext>
            </a:extLst>
          </p:cNvPr>
          <p:cNvSpPr>
            <a:spLocks noGrp="1" noRot="1" noMove="1" noResize="1" noEditPoints="1" noAdjustHandles="1" noChangeArrowheads="1" noChangeShapeType="1"/>
          </p:cNvSpPr>
          <p:nvPr/>
        </p:nvSpPr>
        <p:spPr bwMode="auto">
          <a:xfrm>
            <a:off x="4019909" y="880964"/>
            <a:ext cx="732314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In una classe i metodi scritti possono chiamare altri metodi della classe. Più specificamente i metodi di istanza possono chiamare altri metodi (di </a:t>
            </a:r>
            <a:r>
              <a:rPr lang="it-IT" altLang="it-IT" sz="1500" dirty="0" err="1">
                <a:solidFill>
                  <a:srgbClr val="374151"/>
                </a:solidFill>
                <a:latin typeface="Segoe UI" panose="020B0502040204020203" pitchFamily="34" charset="0"/>
                <a:ea typeface="Calibri" panose="020F0502020204030204" pitchFamily="34" charset="0"/>
                <a:cs typeface="Segoe UI" panose="020B0502040204020203" pitchFamily="34" charset="0"/>
              </a:rPr>
              <a:t>isanza</a:t>
            </a: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 o meno, anche se non abbiamo ancora visto gli altri metodi – quelli statici)</a:t>
            </a:r>
            <a:endPar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ciò, il </a:t>
            </a:r>
            <a:r>
              <a:rPr kumimoji="0" lang="it-IT" altLang="it-IT" sz="15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può essere usato anche per fare riferimento, all’interno del codice di un metodo ad altri metodi della stessa classe, quando si fa riferimento a metodi di istanza, riferimento che possono fare solo (a loro volta) altri metodi di istanza. </a:t>
            </a: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1085A955-9ABE-05A3-DC01-61D3B9780FBE}"/>
              </a:ext>
            </a:extLst>
          </p:cNvPr>
          <p:cNvSpPr>
            <a:spLocks/>
          </p:cNvSpPr>
          <p:nvPr/>
        </p:nvSpPr>
        <p:spPr bwMode="auto">
          <a:xfrm>
            <a:off x="333798" y="2798696"/>
            <a:ext cx="5031833" cy="1015663"/>
          </a:xfrm>
          <a:prstGeom prst="rect">
            <a:avLst/>
          </a:prstGeom>
          <a:solidFill>
            <a:srgbClr val="F7F7F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In Java, la parola chiave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utilizzata all'interno di un metodo di istanza per riferirsi ad altri metodi della stessa classe.</a:t>
            </a:r>
            <a:endParaRPr kumimoji="0" lang="it-IT" altLang="it-IT" sz="2000" b="0" i="0" u="none" strike="noStrike" cap="none" normalizeH="0" baseline="0" dirty="0">
              <a:ln>
                <a:noFill/>
              </a:ln>
              <a:solidFill>
                <a:schemeClr val="tx1"/>
              </a:solidFill>
              <a:effectLst/>
            </a:endParaRPr>
          </a:p>
        </p:txBody>
      </p:sp>
      <p:sp>
        <p:nvSpPr>
          <p:cNvPr id="10" name="CasellaDiTesto 9">
            <a:extLst>
              <a:ext uri="{FF2B5EF4-FFF2-40B4-BE49-F238E27FC236}">
                <a16:creationId xmlns:a16="http://schemas.microsoft.com/office/drawing/2014/main" id="{4347E606-E393-22CC-7CEE-62855821AA48}"/>
              </a:ext>
            </a:extLst>
          </p:cNvPr>
          <p:cNvSpPr txBox="1"/>
          <p:nvPr/>
        </p:nvSpPr>
        <p:spPr>
          <a:xfrm>
            <a:off x="282039" y="2365902"/>
            <a:ext cx="1356980" cy="369332"/>
          </a:xfrm>
          <a:prstGeom prst="rect">
            <a:avLst/>
          </a:prstGeom>
          <a:noFill/>
        </p:spPr>
        <p:txBody>
          <a:bodyPr wrap="square">
            <a:spAutoFit/>
          </a:bodyPr>
          <a:lstStyle/>
          <a:p>
            <a:r>
              <a:rPr lang="it-IT" dirty="0"/>
              <a:t>In generale:</a:t>
            </a:r>
          </a:p>
        </p:txBody>
      </p:sp>
    </p:spTree>
    <p:extLst>
      <p:ext uri="{BB962C8B-B14F-4D97-AF65-F5344CB8AC3E}">
        <p14:creationId xmlns:p14="http://schemas.microsoft.com/office/powerpoint/2010/main" val="238861460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400110"/>
          </a:xfrm>
          <a:prstGeom prst="rect">
            <a:avLst/>
          </a:prstGeom>
          <a:noFill/>
        </p:spPr>
        <p:txBody>
          <a:bodyPr wrap="square">
            <a:spAutoFit/>
          </a:bodyPr>
          <a:lstStyle/>
          <a:p>
            <a:r>
              <a:rPr lang="it-IT" sz="2000" b="1" i="0" dirty="0">
                <a:solidFill>
                  <a:srgbClr val="050E17"/>
                </a:solidFill>
                <a:effectLst/>
                <a:latin typeface="-apple-system"/>
              </a:rPr>
              <a:t>Il </a:t>
            </a:r>
            <a:r>
              <a:rPr lang="it-IT" sz="2000" b="1" i="0" dirty="0" err="1">
                <a:solidFill>
                  <a:srgbClr val="050E17"/>
                </a:solidFill>
                <a:effectLst/>
                <a:latin typeface="-apple-system"/>
              </a:rPr>
              <a:t>this</a:t>
            </a:r>
            <a:r>
              <a:rPr lang="it-IT" sz="2000" b="1" i="0" dirty="0">
                <a:solidFill>
                  <a:srgbClr val="050E17"/>
                </a:solidFill>
                <a:effectLst/>
                <a:latin typeface="-apple-system"/>
              </a:rPr>
              <a:t> in metodi di istanza</a:t>
            </a:r>
            <a:endParaRPr lang="it-IT" sz="2000" b="1" dirty="0"/>
          </a:p>
        </p:txBody>
      </p:sp>
      <p:sp>
        <p:nvSpPr>
          <p:cNvPr id="9" name="Rectangle 4">
            <a:extLst>
              <a:ext uri="{FF2B5EF4-FFF2-40B4-BE49-F238E27FC236}">
                <a16:creationId xmlns:a16="http://schemas.microsoft.com/office/drawing/2014/main" id="{6872ED55-A1C1-2744-1EED-9B8AEA86FA2B}"/>
              </a:ext>
            </a:extLst>
          </p:cNvPr>
          <p:cNvSpPr>
            <a:spLocks noGrp="1" noRot="1" noMove="1" noResize="1" noEditPoints="1" noAdjustHandles="1" noChangeArrowheads="1" noChangeShapeType="1"/>
          </p:cNvSpPr>
          <p:nvPr/>
        </p:nvSpPr>
        <p:spPr bwMode="auto">
          <a:xfrm>
            <a:off x="4019909" y="880964"/>
            <a:ext cx="732314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In una classe i metodi scritti possono chiamare altri metodi della classe. Più specificamente i metodi di istanza possono chiamare altri metodi (di </a:t>
            </a:r>
            <a:r>
              <a:rPr lang="it-IT" altLang="it-IT" sz="1500" dirty="0" err="1">
                <a:solidFill>
                  <a:srgbClr val="374151"/>
                </a:solidFill>
                <a:latin typeface="Segoe UI" panose="020B0502040204020203" pitchFamily="34" charset="0"/>
                <a:ea typeface="Calibri" panose="020F0502020204030204" pitchFamily="34" charset="0"/>
                <a:cs typeface="Segoe UI" panose="020B0502040204020203" pitchFamily="34" charset="0"/>
              </a:rPr>
              <a:t>isanza</a:t>
            </a: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 o meno, anche se non abbiamo ancora visto gli altri metodi – quelli statici)</a:t>
            </a:r>
            <a:endPar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ciò, il </a:t>
            </a:r>
            <a:r>
              <a:rPr kumimoji="0" lang="it-IT" altLang="it-IT" sz="15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può essere usato anche per fare riferimento, all’interno del codice di un metodo ad altri metodi della stessa classe, quando si fa riferimento a metodi di istanza, riferimento che possono fare solo (a loro volta) altri metodi di istanza. </a:t>
            </a: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1085A955-9ABE-05A3-DC01-61D3B9780FBE}"/>
              </a:ext>
            </a:extLst>
          </p:cNvPr>
          <p:cNvSpPr>
            <a:spLocks/>
          </p:cNvSpPr>
          <p:nvPr/>
        </p:nvSpPr>
        <p:spPr bwMode="auto">
          <a:xfrm>
            <a:off x="359677" y="2735234"/>
            <a:ext cx="5031833" cy="2246769"/>
          </a:xfrm>
          <a:prstGeom prst="rect">
            <a:avLst/>
          </a:prstGeom>
          <a:solidFill>
            <a:srgbClr val="F7F7F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In Java, la parola chiave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utilizzata all'interno di un metodo di istanza per riferirsi ad altri metodi della stessa classe.</a:t>
            </a:r>
            <a:endParaRPr kumimoji="0" lang="it-IT" altLang="it-IT"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Tuttavia, è importante notare che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utilizzato solo per riferirsi ai metodi di istanza, ovvero quei metodi che operano su una specifica istanza della classe.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0" name="CasellaDiTesto 9">
            <a:extLst>
              <a:ext uri="{FF2B5EF4-FFF2-40B4-BE49-F238E27FC236}">
                <a16:creationId xmlns:a16="http://schemas.microsoft.com/office/drawing/2014/main" id="{4347E606-E393-22CC-7CEE-62855821AA48}"/>
              </a:ext>
            </a:extLst>
          </p:cNvPr>
          <p:cNvSpPr txBox="1"/>
          <p:nvPr/>
        </p:nvSpPr>
        <p:spPr>
          <a:xfrm>
            <a:off x="282039" y="2365902"/>
            <a:ext cx="1356980" cy="369332"/>
          </a:xfrm>
          <a:prstGeom prst="rect">
            <a:avLst/>
          </a:prstGeom>
          <a:noFill/>
        </p:spPr>
        <p:txBody>
          <a:bodyPr wrap="square">
            <a:spAutoFit/>
          </a:bodyPr>
          <a:lstStyle/>
          <a:p>
            <a:r>
              <a:rPr lang="it-IT" dirty="0"/>
              <a:t>In generale:</a:t>
            </a:r>
          </a:p>
        </p:txBody>
      </p:sp>
    </p:spTree>
    <p:extLst>
      <p:ext uri="{BB962C8B-B14F-4D97-AF65-F5344CB8AC3E}">
        <p14:creationId xmlns:p14="http://schemas.microsoft.com/office/powerpoint/2010/main" val="389800098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400110"/>
          </a:xfrm>
          <a:prstGeom prst="rect">
            <a:avLst/>
          </a:prstGeom>
          <a:noFill/>
        </p:spPr>
        <p:txBody>
          <a:bodyPr wrap="square">
            <a:spAutoFit/>
          </a:bodyPr>
          <a:lstStyle/>
          <a:p>
            <a:r>
              <a:rPr lang="it-IT" sz="2000" b="1" i="0" dirty="0">
                <a:solidFill>
                  <a:srgbClr val="050E17"/>
                </a:solidFill>
                <a:effectLst/>
                <a:latin typeface="-apple-system"/>
              </a:rPr>
              <a:t>Il </a:t>
            </a:r>
            <a:r>
              <a:rPr lang="it-IT" sz="2000" b="1" i="0" dirty="0" err="1">
                <a:solidFill>
                  <a:srgbClr val="050E17"/>
                </a:solidFill>
                <a:effectLst/>
                <a:latin typeface="-apple-system"/>
              </a:rPr>
              <a:t>this</a:t>
            </a:r>
            <a:r>
              <a:rPr lang="it-IT" sz="2000" b="1" i="0" dirty="0">
                <a:solidFill>
                  <a:srgbClr val="050E17"/>
                </a:solidFill>
                <a:effectLst/>
                <a:latin typeface="-apple-system"/>
              </a:rPr>
              <a:t> in metodi di istanza</a:t>
            </a:r>
            <a:endParaRPr lang="it-IT" sz="2000" b="1" dirty="0"/>
          </a:p>
        </p:txBody>
      </p:sp>
      <p:sp>
        <p:nvSpPr>
          <p:cNvPr id="9" name="Rectangle 4">
            <a:extLst>
              <a:ext uri="{FF2B5EF4-FFF2-40B4-BE49-F238E27FC236}">
                <a16:creationId xmlns:a16="http://schemas.microsoft.com/office/drawing/2014/main" id="{6872ED55-A1C1-2744-1EED-9B8AEA86FA2B}"/>
              </a:ext>
            </a:extLst>
          </p:cNvPr>
          <p:cNvSpPr>
            <a:spLocks noGrp="1" noRot="1" noMove="1" noResize="1" noEditPoints="1" noAdjustHandles="1" noChangeArrowheads="1" noChangeShapeType="1"/>
          </p:cNvSpPr>
          <p:nvPr/>
        </p:nvSpPr>
        <p:spPr bwMode="auto">
          <a:xfrm>
            <a:off x="4019909" y="880964"/>
            <a:ext cx="732314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In una classe i metodi scritti possono chiamare altri metodi della classe. Più specificamente i metodi di istanza possono chiamare altri metodi (di </a:t>
            </a:r>
            <a:r>
              <a:rPr lang="it-IT" altLang="it-IT" sz="1500" dirty="0" err="1">
                <a:solidFill>
                  <a:srgbClr val="374151"/>
                </a:solidFill>
                <a:latin typeface="Segoe UI" panose="020B0502040204020203" pitchFamily="34" charset="0"/>
                <a:ea typeface="Calibri" panose="020F0502020204030204" pitchFamily="34" charset="0"/>
                <a:cs typeface="Segoe UI" panose="020B0502040204020203" pitchFamily="34" charset="0"/>
              </a:rPr>
              <a:t>isanza</a:t>
            </a: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 o meno, anche se non abbiamo ancora visto gli altri metodi – quelli statici)</a:t>
            </a:r>
            <a:endPar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ciò, il </a:t>
            </a:r>
            <a:r>
              <a:rPr kumimoji="0" lang="it-IT" altLang="it-IT" sz="15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può essere usato anche per fare riferimento, all’interno del codice di un metodo ad altri metodi della stessa classe, quando si fa riferimento a metodi di istanza, riferimento che possono fare solo (a loro volta) altri metodi di istanza. </a:t>
            </a: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1085A955-9ABE-05A3-DC01-61D3B9780FBE}"/>
              </a:ext>
            </a:extLst>
          </p:cNvPr>
          <p:cNvSpPr>
            <a:spLocks noGrp="1" noRot="1" noMove="1" noResize="1" noEditPoints="1" noAdjustHandles="1" noChangeArrowheads="1" noChangeShapeType="1"/>
          </p:cNvSpPr>
          <p:nvPr/>
        </p:nvSpPr>
        <p:spPr bwMode="auto">
          <a:xfrm>
            <a:off x="282039" y="2735234"/>
            <a:ext cx="5031833" cy="3170099"/>
          </a:xfrm>
          <a:prstGeom prst="rect">
            <a:avLst/>
          </a:prstGeom>
          <a:solidFill>
            <a:srgbClr val="F7F7F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In Java, la parola chiave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utilizzata all'interno di un metodo di istanza per riferirsi ad altri metodi della stessa classe.</a:t>
            </a:r>
            <a:endParaRPr kumimoji="0" lang="it-IT" altLang="it-IT"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Tuttavia, è importante notare che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utilizzato solo per riferirsi ai metodi di istanza, ovvero quei metodi che operano su una specifica istanza della classe. I metodi di istanza sono associati all'oggetto e possono accedere alle variabili di istanza e ai metodi di istanza della stessa classe.</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0" name="CasellaDiTesto 9">
            <a:extLst>
              <a:ext uri="{FF2B5EF4-FFF2-40B4-BE49-F238E27FC236}">
                <a16:creationId xmlns:a16="http://schemas.microsoft.com/office/drawing/2014/main" id="{4347E606-E393-22CC-7CEE-62855821AA48}"/>
              </a:ext>
            </a:extLst>
          </p:cNvPr>
          <p:cNvSpPr txBox="1"/>
          <p:nvPr/>
        </p:nvSpPr>
        <p:spPr>
          <a:xfrm>
            <a:off x="282039" y="2365902"/>
            <a:ext cx="1356980" cy="369332"/>
          </a:xfrm>
          <a:prstGeom prst="rect">
            <a:avLst/>
          </a:prstGeom>
          <a:noFill/>
        </p:spPr>
        <p:txBody>
          <a:bodyPr wrap="square">
            <a:spAutoFit/>
          </a:bodyPr>
          <a:lstStyle/>
          <a:p>
            <a:r>
              <a:rPr lang="it-IT" dirty="0"/>
              <a:t>In generale:</a:t>
            </a:r>
          </a:p>
        </p:txBody>
      </p:sp>
    </p:spTree>
    <p:extLst>
      <p:ext uri="{BB962C8B-B14F-4D97-AF65-F5344CB8AC3E}">
        <p14:creationId xmlns:p14="http://schemas.microsoft.com/office/powerpoint/2010/main" val="207306102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400110"/>
          </a:xfrm>
          <a:prstGeom prst="rect">
            <a:avLst/>
          </a:prstGeom>
          <a:noFill/>
        </p:spPr>
        <p:txBody>
          <a:bodyPr wrap="square">
            <a:spAutoFit/>
          </a:bodyPr>
          <a:lstStyle/>
          <a:p>
            <a:r>
              <a:rPr lang="it-IT" sz="2000" b="1" i="0" dirty="0">
                <a:solidFill>
                  <a:srgbClr val="050E17"/>
                </a:solidFill>
                <a:effectLst/>
                <a:latin typeface="-apple-system"/>
              </a:rPr>
              <a:t>Il </a:t>
            </a:r>
            <a:r>
              <a:rPr lang="it-IT" sz="2000" b="1" i="0" dirty="0" err="1">
                <a:solidFill>
                  <a:srgbClr val="050E17"/>
                </a:solidFill>
                <a:effectLst/>
                <a:latin typeface="-apple-system"/>
              </a:rPr>
              <a:t>this</a:t>
            </a:r>
            <a:r>
              <a:rPr lang="it-IT" sz="2000" b="1" i="0" dirty="0">
                <a:solidFill>
                  <a:srgbClr val="050E17"/>
                </a:solidFill>
                <a:effectLst/>
                <a:latin typeface="-apple-system"/>
              </a:rPr>
              <a:t> in metodi di istanza</a:t>
            </a:r>
            <a:endParaRPr lang="it-IT" sz="2000" b="1" dirty="0"/>
          </a:p>
        </p:txBody>
      </p:sp>
      <p:sp>
        <p:nvSpPr>
          <p:cNvPr id="9" name="Rectangle 4">
            <a:extLst>
              <a:ext uri="{FF2B5EF4-FFF2-40B4-BE49-F238E27FC236}">
                <a16:creationId xmlns:a16="http://schemas.microsoft.com/office/drawing/2014/main" id="{6872ED55-A1C1-2744-1EED-9B8AEA86FA2B}"/>
              </a:ext>
            </a:extLst>
          </p:cNvPr>
          <p:cNvSpPr>
            <a:spLocks noGrp="1" noRot="1" noMove="1" noResize="1" noEditPoints="1" noAdjustHandles="1" noChangeArrowheads="1" noChangeShapeType="1"/>
          </p:cNvSpPr>
          <p:nvPr/>
        </p:nvSpPr>
        <p:spPr bwMode="auto">
          <a:xfrm>
            <a:off x="4019909" y="880964"/>
            <a:ext cx="732314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In una classe i metodi scritti possono chiamare altri metodi della classe. Più specificamente i metodi di istanza possono chiamare altri metodi (di </a:t>
            </a:r>
            <a:r>
              <a:rPr lang="it-IT" altLang="it-IT" sz="1500" dirty="0" err="1">
                <a:solidFill>
                  <a:srgbClr val="374151"/>
                </a:solidFill>
                <a:latin typeface="Segoe UI" panose="020B0502040204020203" pitchFamily="34" charset="0"/>
                <a:ea typeface="Calibri" panose="020F0502020204030204" pitchFamily="34" charset="0"/>
                <a:cs typeface="Segoe UI" panose="020B0502040204020203" pitchFamily="34" charset="0"/>
              </a:rPr>
              <a:t>isanza</a:t>
            </a: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 o meno, anche se non abbiamo ancora visto gli altri metodi – quelli statici)</a:t>
            </a:r>
            <a:endPar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ciò, il </a:t>
            </a:r>
            <a:r>
              <a:rPr kumimoji="0" lang="it-IT" altLang="it-IT" sz="15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può essere usato anche per fare riferimento, all’interno del codice di un metodo ad altri metodi della stessa classe, quando si fa riferimento a metodi di istanza, riferimento che possono fare solo (a loro volta) altri metodi di istanza. </a:t>
            </a: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1085A955-9ABE-05A3-DC01-61D3B9780FBE}"/>
              </a:ext>
            </a:extLst>
          </p:cNvPr>
          <p:cNvSpPr>
            <a:spLocks noGrp="1" noRot="1" noMove="1" noResize="1" noEditPoints="1" noAdjustHandles="1" noChangeArrowheads="1" noChangeShapeType="1"/>
          </p:cNvSpPr>
          <p:nvPr/>
        </p:nvSpPr>
        <p:spPr bwMode="auto">
          <a:xfrm>
            <a:off x="282039" y="2735234"/>
            <a:ext cx="5031833" cy="3170099"/>
          </a:xfrm>
          <a:prstGeom prst="rect">
            <a:avLst/>
          </a:prstGeom>
          <a:solidFill>
            <a:srgbClr val="F7F7F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In Java, la parola chiave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utilizzata all'interno di un metodo di istanza per riferirsi ad altri metodi della stessa classe.</a:t>
            </a:r>
            <a:endParaRPr kumimoji="0" lang="it-IT" altLang="it-IT"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Tuttavia, è importante notare che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utilizzato solo per riferirsi ai metodi di istanza, ovvero quei metodi che operano su una specifica istanza della classe. I metodi di istanza sono associati all'oggetto e possono accedere alle variabili di istanza e ai metodi di istanza della stessa classe.</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0" name="CasellaDiTesto 9">
            <a:extLst>
              <a:ext uri="{FF2B5EF4-FFF2-40B4-BE49-F238E27FC236}">
                <a16:creationId xmlns:a16="http://schemas.microsoft.com/office/drawing/2014/main" id="{4347E606-E393-22CC-7CEE-62855821AA48}"/>
              </a:ext>
            </a:extLst>
          </p:cNvPr>
          <p:cNvSpPr txBox="1"/>
          <p:nvPr/>
        </p:nvSpPr>
        <p:spPr>
          <a:xfrm>
            <a:off x="282039" y="2365902"/>
            <a:ext cx="1356980" cy="369332"/>
          </a:xfrm>
          <a:prstGeom prst="rect">
            <a:avLst/>
          </a:prstGeom>
          <a:noFill/>
        </p:spPr>
        <p:txBody>
          <a:bodyPr wrap="square">
            <a:spAutoFit/>
          </a:bodyPr>
          <a:lstStyle/>
          <a:p>
            <a:r>
              <a:rPr lang="it-IT" dirty="0"/>
              <a:t>In generale:</a:t>
            </a:r>
          </a:p>
        </p:txBody>
      </p:sp>
      <p:sp>
        <p:nvSpPr>
          <p:cNvPr id="19" name="CasellaDiTesto 18">
            <a:extLst>
              <a:ext uri="{FF2B5EF4-FFF2-40B4-BE49-F238E27FC236}">
                <a16:creationId xmlns:a16="http://schemas.microsoft.com/office/drawing/2014/main" id="{7CE9300D-8A2B-D0B3-08EF-41E412037F5F}"/>
              </a:ext>
            </a:extLst>
          </p:cNvPr>
          <p:cNvSpPr txBox="1">
            <a:spLocks noGrp="1" noRot="1" noMove="1" noResize="1" noEditPoints="1" noAdjustHandles="1" noChangeArrowheads="1" noChangeShapeType="1"/>
          </p:cNvSpPr>
          <p:nvPr/>
        </p:nvSpPr>
        <p:spPr>
          <a:xfrm>
            <a:off x="5523062" y="2625397"/>
            <a:ext cx="5596387" cy="646331"/>
          </a:xfrm>
          <a:prstGeom prst="rect">
            <a:avLst/>
          </a:prstGeom>
          <a:noFill/>
        </p:spPr>
        <p:txBody>
          <a:bodyPr wrap="square">
            <a:spAutoFit/>
          </a:bodyPr>
          <a:lstStyle/>
          <a:p>
            <a:r>
              <a:rPr lang="it-IT" dirty="0"/>
              <a:t>Ad esempio, supponiamo di avere una classe </a:t>
            </a:r>
            <a:r>
              <a:rPr lang="it-IT" b="1" dirty="0"/>
              <a:t>Persona</a:t>
            </a:r>
            <a:r>
              <a:rPr lang="it-IT" dirty="0"/>
              <a:t> così strutturata:</a:t>
            </a:r>
          </a:p>
        </p:txBody>
      </p:sp>
    </p:spTree>
    <p:extLst>
      <p:ext uri="{BB962C8B-B14F-4D97-AF65-F5344CB8AC3E}">
        <p14:creationId xmlns:p14="http://schemas.microsoft.com/office/powerpoint/2010/main" val="128499369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400110"/>
          </a:xfrm>
          <a:prstGeom prst="rect">
            <a:avLst/>
          </a:prstGeom>
          <a:noFill/>
        </p:spPr>
        <p:txBody>
          <a:bodyPr wrap="square">
            <a:spAutoFit/>
          </a:bodyPr>
          <a:lstStyle/>
          <a:p>
            <a:r>
              <a:rPr lang="it-IT" sz="2000" b="1" i="0" dirty="0">
                <a:solidFill>
                  <a:srgbClr val="050E17"/>
                </a:solidFill>
                <a:effectLst/>
                <a:latin typeface="-apple-system"/>
              </a:rPr>
              <a:t>Il </a:t>
            </a:r>
            <a:r>
              <a:rPr lang="it-IT" sz="2000" b="1" i="0" dirty="0" err="1">
                <a:solidFill>
                  <a:srgbClr val="050E17"/>
                </a:solidFill>
                <a:effectLst/>
                <a:latin typeface="-apple-system"/>
              </a:rPr>
              <a:t>this</a:t>
            </a:r>
            <a:r>
              <a:rPr lang="it-IT" sz="2000" b="1" i="0" dirty="0">
                <a:solidFill>
                  <a:srgbClr val="050E17"/>
                </a:solidFill>
                <a:effectLst/>
                <a:latin typeface="-apple-system"/>
              </a:rPr>
              <a:t> in metodi di istanza</a:t>
            </a:r>
            <a:endParaRPr lang="it-IT" sz="2000" b="1" dirty="0"/>
          </a:p>
        </p:txBody>
      </p:sp>
      <p:sp>
        <p:nvSpPr>
          <p:cNvPr id="9" name="Rectangle 4">
            <a:extLst>
              <a:ext uri="{FF2B5EF4-FFF2-40B4-BE49-F238E27FC236}">
                <a16:creationId xmlns:a16="http://schemas.microsoft.com/office/drawing/2014/main" id="{6872ED55-A1C1-2744-1EED-9B8AEA86FA2B}"/>
              </a:ext>
            </a:extLst>
          </p:cNvPr>
          <p:cNvSpPr>
            <a:spLocks noGrp="1" noRot="1" noMove="1" noResize="1" noEditPoints="1" noAdjustHandles="1" noChangeArrowheads="1" noChangeShapeType="1"/>
          </p:cNvSpPr>
          <p:nvPr/>
        </p:nvSpPr>
        <p:spPr bwMode="auto">
          <a:xfrm>
            <a:off x="4019909" y="880964"/>
            <a:ext cx="732314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In una classe i metodi scritti possono chiamare altri metodi della classe. Più specificamente i metodi di istanza possono chiamare altri metodi (di </a:t>
            </a:r>
            <a:r>
              <a:rPr lang="it-IT" altLang="it-IT" sz="1500" dirty="0" err="1">
                <a:solidFill>
                  <a:srgbClr val="374151"/>
                </a:solidFill>
                <a:latin typeface="Segoe UI" panose="020B0502040204020203" pitchFamily="34" charset="0"/>
                <a:ea typeface="Calibri" panose="020F0502020204030204" pitchFamily="34" charset="0"/>
                <a:cs typeface="Segoe UI" panose="020B0502040204020203" pitchFamily="34" charset="0"/>
              </a:rPr>
              <a:t>isanza</a:t>
            </a: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 o meno, anche se non abbiamo ancora visto gli altri metodi – quelli statici)</a:t>
            </a:r>
            <a:endPar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ciò, il </a:t>
            </a:r>
            <a:r>
              <a:rPr kumimoji="0" lang="it-IT" altLang="it-IT" sz="15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può essere usato anche per fare riferimento, all’interno del codice di un metodo ad altri metodi della stessa classe, quando si fa riferimento a metodi di istanza, riferimento che possono fare solo (a loro volta) altri metodi di istanza. </a:t>
            </a: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1085A955-9ABE-05A3-DC01-61D3B9780FBE}"/>
              </a:ext>
            </a:extLst>
          </p:cNvPr>
          <p:cNvSpPr>
            <a:spLocks noGrp="1" noRot="1" noMove="1" noResize="1" noEditPoints="1" noAdjustHandles="1" noChangeArrowheads="1" noChangeShapeType="1"/>
          </p:cNvSpPr>
          <p:nvPr/>
        </p:nvSpPr>
        <p:spPr bwMode="auto">
          <a:xfrm>
            <a:off x="282039" y="2735234"/>
            <a:ext cx="5031833" cy="3170099"/>
          </a:xfrm>
          <a:prstGeom prst="rect">
            <a:avLst/>
          </a:prstGeom>
          <a:solidFill>
            <a:srgbClr val="F7F7F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In Java, la parola chiave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utilizzata all'interno di un metodo di istanza per riferirsi ad altri metodi della stessa classe.</a:t>
            </a:r>
            <a:endParaRPr kumimoji="0" lang="it-IT" altLang="it-IT"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Tuttavia, è importante notare che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utilizzato solo per riferirsi ai metodi di istanza, ovvero quei metodi che operano su una specifica istanza della classe. I metodi di istanza sono associati all'oggetto e possono accedere alle variabili di istanza e ai metodi di istanza della stessa classe.</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0" name="CasellaDiTesto 9">
            <a:extLst>
              <a:ext uri="{FF2B5EF4-FFF2-40B4-BE49-F238E27FC236}">
                <a16:creationId xmlns:a16="http://schemas.microsoft.com/office/drawing/2014/main" id="{4347E606-E393-22CC-7CEE-62855821AA48}"/>
              </a:ext>
            </a:extLst>
          </p:cNvPr>
          <p:cNvSpPr txBox="1"/>
          <p:nvPr/>
        </p:nvSpPr>
        <p:spPr>
          <a:xfrm>
            <a:off x="282039" y="2365902"/>
            <a:ext cx="1356980" cy="369332"/>
          </a:xfrm>
          <a:prstGeom prst="rect">
            <a:avLst/>
          </a:prstGeom>
          <a:noFill/>
        </p:spPr>
        <p:txBody>
          <a:bodyPr wrap="square">
            <a:spAutoFit/>
          </a:bodyPr>
          <a:lstStyle/>
          <a:p>
            <a:r>
              <a:rPr lang="it-IT" dirty="0"/>
              <a:t>In generale:</a:t>
            </a:r>
          </a:p>
        </p:txBody>
      </p:sp>
      <p:sp>
        <p:nvSpPr>
          <p:cNvPr id="17" name="CasellaDiTesto 16">
            <a:extLst>
              <a:ext uri="{FF2B5EF4-FFF2-40B4-BE49-F238E27FC236}">
                <a16:creationId xmlns:a16="http://schemas.microsoft.com/office/drawing/2014/main" id="{16AFA763-38A3-4938-5F83-1FD22CAF46A5}"/>
              </a:ext>
            </a:extLst>
          </p:cNvPr>
          <p:cNvSpPr txBox="1">
            <a:spLocks noGrp="1" noRot="1" noMove="1" noResize="1" noEditPoints="1" noAdjustHandles="1" noChangeArrowheads="1" noChangeShapeType="1"/>
          </p:cNvSpPr>
          <p:nvPr/>
        </p:nvSpPr>
        <p:spPr>
          <a:xfrm>
            <a:off x="5609326" y="3271728"/>
            <a:ext cx="5432486" cy="553998"/>
          </a:xfrm>
          <a:prstGeom prst="rect">
            <a:avLst/>
          </a:prstGeom>
          <a:solidFill>
            <a:schemeClr val="tx1">
              <a:lumMod val="95000"/>
              <a:lumOff val="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a:t>
            </a:r>
          </a:p>
        </p:txBody>
      </p:sp>
      <p:sp>
        <p:nvSpPr>
          <p:cNvPr id="19" name="CasellaDiTesto 18">
            <a:extLst>
              <a:ext uri="{FF2B5EF4-FFF2-40B4-BE49-F238E27FC236}">
                <a16:creationId xmlns:a16="http://schemas.microsoft.com/office/drawing/2014/main" id="{7CE9300D-8A2B-D0B3-08EF-41E412037F5F}"/>
              </a:ext>
            </a:extLst>
          </p:cNvPr>
          <p:cNvSpPr txBox="1">
            <a:spLocks noGrp="1" noRot="1" noMove="1" noResize="1" noEditPoints="1" noAdjustHandles="1" noChangeArrowheads="1" noChangeShapeType="1"/>
          </p:cNvSpPr>
          <p:nvPr/>
        </p:nvSpPr>
        <p:spPr>
          <a:xfrm>
            <a:off x="5523062" y="2625397"/>
            <a:ext cx="5596387" cy="646331"/>
          </a:xfrm>
          <a:prstGeom prst="rect">
            <a:avLst/>
          </a:prstGeom>
          <a:noFill/>
        </p:spPr>
        <p:txBody>
          <a:bodyPr wrap="square">
            <a:spAutoFit/>
          </a:bodyPr>
          <a:lstStyle/>
          <a:p>
            <a:r>
              <a:rPr lang="it-IT" dirty="0"/>
              <a:t>Ad esempio, supponiamo di avere una classe </a:t>
            </a:r>
            <a:r>
              <a:rPr lang="it-IT" b="1" dirty="0"/>
              <a:t>Persona</a:t>
            </a:r>
            <a:r>
              <a:rPr lang="it-IT" dirty="0"/>
              <a:t> così strutturata:</a:t>
            </a:r>
          </a:p>
        </p:txBody>
      </p:sp>
    </p:spTree>
    <p:extLst>
      <p:ext uri="{BB962C8B-B14F-4D97-AF65-F5344CB8AC3E}">
        <p14:creationId xmlns:p14="http://schemas.microsoft.com/office/powerpoint/2010/main" val="427263350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400110"/>
          </a:xfrm>
          <a:prstGeom prst="rect">
            <a:avLst/>
          </a:prstGeom>
          <a:noFill/>
        </p:spPr>
        <p:txBody>
          <a:bodyPr wrap="square">
            <a:spAutoFit/>
          </a:bodyPr>
          <a:lstStyle/>
          <a:p>
            <a:r>
              <a:rPr lang="it-IT" sz="2000" b="1" i="0" dirty="0">
                <a:solidFill>
                  <a:srgbClr val="050E17"/>
                </a:solidFill>
                <a:effectLst/>
                <a:latin typeface="-apple-system"/>
              </a:rPr>
              <a:t>Il </a:t>
            </a:r>
            <a:r>
              <a:rPr lang="it-IT" sz="2000" b="1" i="0" dirty="0" err="1">
                <a:solidFill>
                  <a:srgbClr val="050E17"/>
                </a:solidFill>
                <a:effectLst/>
                <a:latin typeface="-apple-system"/>
              </a:rPr>
              <a:t>this</a:t>
            </a:r>
            <a:r>
              <a:rPr lang="it-IT" sz="2000" b="1" i="0" dirty="0">
                <a:solidFill>
                  <a:srgbClr val="050E17"/>
                </a:solidFill>
                <a:effectLst/>
                <a:latin typeface="-apple-system"/>
              </a:rPr>
              <a:t> in metodi di istanza</a:t>
            </a:r>
            <a:endParaRPr lang="it-IT" sz="2000" b="1" dirty="0"/>
          </a:p>
        </p:txBody>
      </p:sp>
      <p:sp>
        <p:nvSpPr>
          <p:cNvPr id="9" name="Rectangle 4">
            <a:extLst>
              <a:ext uri="{FF2B5EF4-FFF2-40B4-BE49-F238E27FC236}">
                <a16:creationId xmlns:a16="http://schemas.microsoft.com/office/drawing/2014/main" id="{6872ED55-A1C1-2744-1EED-9B8AEA86FA2B}"/>
              </a:ext>
            </a:extLst>
          </p:cNvPr>
          <p:cNvSpPr>
            <a:spLocks noGrp="1" noRot="1" noMove="1" noResize="1" noEditPoints="1" noAdjustHandles="1" noChangeArrowheads="1" noChangeShapeType="1"/>
          </p:cNvSpPr>
          <p:nvPr/>
        </p:nvSpPr>
        <p:spPr bwMode="auto">
          <a:xfrm>
            <a:off x="4019909" y="880964"/>
            <a:ext cx="732314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In una classe i metodi scritti possono chiamare altri metodi della classe. Più specificamente i metodi di istanza possono chiamare altri metodi (di </a:t>
            </a:r>
            <a:r>
              <a:rPr lang="it-IT" altLang="it-IT" sz="1500" dirty="0" err="1">
                <a:solidFill>
                  <a:srgbClr val="374151"/>
                </a:solidFill>
                <a:latin typeface="Segoe UI" panose="020B0502040204020203" pitchFamily="34" charset="0"/>
                <a:ea typeface="Calibri" panose="020F0502020204030204" pitchFamily="34" charset="0"/>
                <a:cs typeface="Segoe UI" panose="020B0502040204020203" pitchFamily="34" charset="0"/>
              </a:rPr>
              <a:t>isanza</a:t>
            </a: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 o meno, anche se non abbiamo ancora visto gli altri metodi – quelli statici)</a:t>
            </a:r>
            <a:endPar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ciò, il </a:t>
            </a:r>
            <a:r>
              <a:rPr kumimoji="0" lang="it-IT" altLang="it-IT" sz="15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può essere usato anche per fare riferimento, all’interno del codice di un metodo ad altri metodi della stessa classe, quando si fa riferimento a metodi di istanza, riferimento che possono fare solo (a loro volta) altri metodi di istanza. </a:t>
            </a: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1085A955-9ABE-05A3-DC01-61D3B9780FBE}"/>
              </a:ext>
            </a:extLst>
          </p:cNvPr>
          <p:cNvSpPr>
            <a:spLocks noGrp="1" noRot="1" noMove="1" noResize="1" noEditPoints="1" noAdjustHandles="1" noChangeArrowheads="1" noChangeShapeType="1"/>
          </p:cNvSpPr>
          <p:nvPr/>
        </p:nvSpPr>
        <p:spPr bwMode="auto">
          <a:xfrm>
            <a:off x="282039" y="2735234"/>
            <a:ext cx="5031833" cy="3170099"/>
          </a:xfrm>
          <a:prstGeom prst="rect">
            <a:avLst/>
          </a:prstGeom>
          <a:solidFill>
            <a:srgbClr val="F7F7F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In Java, la parola chiave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utilizzata all'interno di un metodo di istanza per riferirsi ad altri metodi della stessa classe.</a:t>
            </a:r>
            <a:endParaRPr kumimoji="0" lang="it-IT" altLang="it-IT"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Tuttavia, è importante notare che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utilizzato solo per riferirsi ai metodi di istanza, ovvero quei metodi che operano su una specifica istanza della classe. I metodi di istanza sono associati all'oggetto e possono accedere alle variabili di istanza e ai metodi di istanza della stessa classe.</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0" name="CasellaDiTesto 9">
            <a:extLst>
              <a:ext uri="{FF2B5EF4-FFF2-40B4-BE49-F238E27FC236}">
                <a16:creationId xmlns:a16="http://schemas.microsoft.com/office/drawing/2014/main" id="{4347E606-E393-22CC-7CEE-62855821AA48}"/>
              </a:ext>
            </a:extLst>
          </p:cNvPr>
          <p:cNvSpPr txBox="1"/>
          <p:nvPr/>
        </p:nvSpPr>
        <p:spPr>
          <a:xfrm>
            <a:off x="282039" y="2365902"/>
            <a:ext cx="1356980" cy="369332"/>
          </a:xfrm>
          <a:prstGeom prst="rect">
            <a:avLst/>
          </a:prstGeom>
          <a:noFill/>
        </p:spPr>
        <p:txBody>
          <a:bodyPr wrap="square">
            <a:spAutoFit/>
          </a:bodyPr>
          <a:lstStyle/>
          <a:p>
            <a:r>
              <a:rPr lang="it-IT" dirty="0"/>
              <a:t>In generale:</a:t>
            </a:r>
          </a:p>
        </p:txBody>
      </p:sp>
      <p:sp>
        <p:nvSpPr>
          <p:cNvPr id="17" name="CasellaDiTesto 16">
            <a:extLst>
              <a:ext uri="{FF2B5EF4-FFF2-40B4-BE49-F238E27FC236}">
                <a16:creationId xmlns:a16="http://schemas.microsoft.com/office/drawing/2014/main" id="{16AFA763-38A3-4938-5F83-1FD22CAF46A5}"/>
              </a:ext>
            </a:extLst>
          </p:cNvPr>
          <p:cNvSpPr txBox="1">
            <a:spLocks noGrp="1" noRot="1" noMove="1" noResize="1" noEditPoints="1" noAdjustHandles="1" noChangeArrowheads="1" noChangeShapeType="1"/>
          </p:cNvSpPr>
          <p:nvPr/>
        </p:nvSpPr>
        <p:spPr>
          <a:xfrm>
            <a:off x="5609326" y="3271728"/>
            <a:ext cx="5432486" cy="1015663"/>
          </a:xfrm>
          <a:prstGeom prst="rect">
            <a:avLst/>
          </a:prstGeom>
          <a:solidFill>
            <a:schemeClr val="tx1">
              <a:lumMod val="95000"/>
              <a:lumOff val="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pPr algn="just"/>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19" name="CasellaDiTesto 18">
            <a:extLst>
              <a:ext uri="{FF2B5EF4-FFF2-40B4-BE49-F238E27FC236}">
                <a16:creationId xmlns:a16="http://schemas.microsoft.com/office/drawing/2014/main" id="{7CE9300D-8A2B-D0B3-08EF-41E412037F5F}"/>
              </a:ext>
            </a:extLst>
          </p:cNvPr>
          <p:cNvSpPr txBox="1">
            <a:spLocks noGrp="1" noRot="1" noMove="1" noResize="1" noEditPoints="1" noAdjustHandles="1" noChangeArrowheads="1" noChangeShapeType="1"/>
          </p:cNvSpPr>
          <p:nvPr/>
        </p:nvSpPr>
        <p:spPr>
          <a:xfrm>
            <a:off x="5523062" y="2625397"/>
            <a:ext cx="5596387" cy="646331"/>
          </a:xfrm>
          <a:prstGeom prst="rect">
            <a:avLst/>
          </a:prstGeom>
          <a:noFill/>
        </p:spPr>
        <p:txBody>
          <a:bodyPr wrap="square">
            <a:spAutoFit/>
          </a:bodyPr>
          <a:lstStyle/>
          <a:p>
            <a:r>
              <a:rPr lang="it-IT" dirty="0"/>
              <a:t>Ad esempio, supponiamo di avere una classe </a:t>
            </a:r>
            <a:r>
              <a:rPr lang="it-IT" b="1" dirty="0"/>
              <a:t>Persona</a:t>
            </a:r>
            <a:r>
              <a:rPr lang="it-IT" dirty="0"/>
              <a:t> così strutturata:</a:t>
            </a:r>
          </a:p>
        </p:txBody>
      </p:sp>
    </p:spTree>
    <p:extLst>
      <p:ext uri="{BB962C8B-B14F-4D97-AF65-F5344CB8AC3E}">
        <p14:creationId xmlns:p14="http://schemas.microsoft.com/office/powerpoint/2010/main" val="145201017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400110"/>
          </a:xfrm>
          <a:prstGeom prst="rect">
            <a:avLst/>
          </a:prstGeom>
          <a:noFill/>
        </p:spPr>
        <p:txBody>
          <a:bodyPr wrap="square">
            <a:spAutoFit/>
          </a:bodyPr>
          <a:lstStyle/>
          <a:p>
            <a:r>
              <a:rPr lang="it-IT" sz="2000" b="1" i="0" dirty="0">
                <a:solidFill>
                  <a:srgbClr val="050E17"/>
                </a:solidFill>
                <a:effectLst/>
                <a:latin typeface="-apple-system"/>
              </a:rPr>
              <a:t>Il </a:t>
            </a:r>
            <a:r>
              <a:rPr lang="it-IT" sz="2000" b="1" i="0" dirty="0" err="1">
                <a:solidFill>
                  <a:srgbClr val="050E17"/>
                </a:solidFill>
                <a:effectLst/>
                <a:latin typeface="-apple-system"/>
              </a:rPr>
              <a:t>this</a:t>
            </a:r>
            <a:r>
              <a:rPr lang="it-IT" sz="2000" b="1" i="0" dirty="0">
                <a:solidFill>
                  <a:srgbClr val="050E17"/>
                </a:solidFill>
                <a:effectLst/>
                <a:latin typeface="-apple-system"/>
              </a:rPr>
              <a:t> in metodi di istanza</a:t>
            </a:r>
            <a:endParaRPr lang="it-IT" sz="2000" b="1" dirty="0"/>
          </a:p>
        </p:txBody>
      </p:sp>
      <p:sp>
        <p:nvSpPr>
          <p:cNvPr id="9" name="Rectangle 4">
            <a:extLst>
              <a:ext uri="{FF2B5EF4-FFF2-40B4-BE49-F238E27FC236}">
                <a16:creationId xmlns:a16="http://schemas.microsoft.com/office/drawing/2014/main" id="{6872ED55-A1C1-2744-1EED-9B8AEA86FA2B}"/>
              </a:ext>
            </a:extLst>
          </p:cNvPr>
          <p:cNvSpPr>
            <a:spLocks noGrp="1" noRot="1" noMove="1" noResize="1" noEditPoints="1" noAdjustHandles="1" noChangeArrowheads="1" noChangeShapeType="1"/>
          </p:cNvSpPr>
          <p:nvPr/>
        </p:nvSpPr>
        <p:spPr bwMode="auto">
          <a:xfrm>
            <a:off x="4019909" y="880964"/>
            <a:ext cx="732314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In una classe i metodi scritti possono chiamare altri metodi della classe. Più specificamente i metodi di istanza possono chiamare altri metodi (di </a:t>
            </a:r>
            <a:r>
              <a:rPr lang="it-IT" altLang="it-IT" sz="1500" dirty="0" err="1">
                <a:solidFill>
                  <a:srgbClr val="374151"/>
                </a:solidFill>
                <a:latin typeface="Segoe UI" panose="020B0502040204020203" pitchFamily="34" charset="0"/>
                <a:ea typeface="Calibri" panose="020F0502020204030204" pitchFamily="34" charset="0"/>
                <a:cs typeface="Segoe UI" panose="020B0502040204020203" pitchFamily="34" charset="0"/>
              </a:rPr>
              <a:t>isanza</a:t>
            </a: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 o meno, anche se non abbiamo ancora visto gli altri metodi – quelli statici)</a:t>
            </a:r>
            <a:endPar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ciò, il </a:t>
            </a:r>
            <a:r>
              <a:rPr kumimoji="0" lang="it-IT" altLang="it-IT" sz="15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può essere usato anche per fare riferimento, all’interno del codice di un metodo ad altri metodi della stessa classe, quando si fa riferimento a metodi di istanza, riferimento che possono fare solo (a loro volta) altri metodi di istanza. </a:t>
            </a: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1085A955-9ABE-05A3-DC01-61D3B9780FBE}"/>
              </a:ext>
            </a:extLst>
          </p:cNvPr>
          <p:cNvSpPr>
            <a:spLocks noGrp="1" noRot="1" noMove="1" noResize="1" noEditPoints="1" noAdjustHandles="1" noChangeArrowheads="1" noChangeShapeType="1"/>
          </p:cNvSpPr>
          <p:nvPr/>
        </p:nvSpPr>
        <p:spPr bwMode="auto">
          <a:xfrm>
            <a:off x="282039" y="2735234"/>
            <a:ext cx="5031833" cy="3170099"/>
          </a:xfrm>
          <a:prstGeom prst="rect">
            <a:avLst/>
          </a:prstGeom>
          <a:solidFill>
            <a:srgbClr val="F7F7F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In Java, la parola chiave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utilizzata all'interno di un metodo di istanza per riferirsi ad altri metodi della stessa classe.</a:t>
            </a:r>
            <a:endParaRPr kumimoji="0" lang="it-IT" altLang="it-IT"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Tuttavia, è importante notare che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utilizzato solo per riferirsi ai metodi di istanza, ovvero quei metodi che operano su una specifica istanza della classe. I metodi di istanza sono associati all'oggetto e possono accedere alle variabili di istanza e ai metodi di istanza della stessa classe.</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0" name="CasellaDiTesto 9">
            <a:extLst>
              <a:ext uri="{FF2B5EF4-FFF2-40B4-BE49-F238E27FC236}">
                <a16:creationId xmlns:a16="http://schemas.microsoft.com/office/drawing/2014/main" id="{4347E606-E393-22CC-7CEE-62855821AA48}"/>
              </a:ext>
            </a:extLst>
          </p:cNvPr>
          <p:cNvSpPr txBox="1"/>
          <p:nvPr/>
        </p:nvSpPr>
        <p:spPr>
          <a:xfrm>
            <a:off x="282039" y="2365902"/>
            <a:ext cx="1356980" cy="369332"/>
          </a:xfrm>
          <a:prstGeom prst="rect">
            <a:avLst/>
          </a:prstGeom>
          <a:noFill/>
        </p:spPr>
        <p:txBody>
          <a:bodyPr wrap="square">
            <a:spAutoFit/>
          </a:bodyPr>
          <a:lstStyle/>
          <a:p>
            <a:r>
              <a:rPr lang="it-IT" dirty="0"/>
              <a:t>In generale:</a:t>
            </a:r>
          </a:p>
        </p:txBody>
      </p:sp>
      <p:sp>
        <p:nvSpPr>
          <p:cNvPr id="17" name="CasellaDiTesto 16">
            <a:extLst>
              <a:ext uri="{FF2B5EF4-FFF2-40B4-BE49-F238E27FC236}">
                <a16:creationId xmlns:a16="http://schemas.microsoft.com/office/drawing/2014/main" id="{16AFA763-38A3-4938-5F83-1FD22CAF46A5}"/>
              </a:ext>
            </a:extLst>
          </p:cNvPr>
          <p:cNvSpPr txBox="1">
            <a:spLocks noGrp="1" noRot="1" noMove="1" noResize="1" noEditPoints="1" noAdjustHandles="1" noChangeArrowheads="1" noChangeShapeType="1"/>
          </p:cNvSpPr>
          <p:nvPr/>
        </p:nvSpPr>
        <p:spPr>
          <a:xfrm>
            <a:off x="5609326" y="3271728"/>
            <a:ext cx="5432486" cy="1708160"/>
          </a:xfrm>
          <a:prstGeom prst="rect">
            <a:avLst/>
          </a:prstGeom>
          <a:solidFill>
            <a:schemeClr val="tx1">
              <a:lumMod val="95000"/>
              <a:lumOff val="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pPr algn="just"/>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    </a:t>
            </a:r>
          </a:p>
          <a:p>
            <a:r>
              <a:rPr lang="it-IT" sz="1500" b="0" dirty="0">
                <a:solidFill>
                  <a:srgbClr val="D4D4D4"/>
                </a:solidFill>
                <a:effectLst/>
                <a:latin typeface="Consolas" panose="020B0609020204030204" pitchFamily="49" charset="0"/>
              </a:rPr>
              <a:t>}</a:t>
            </a:r>
          </a:p>
        </p:txBody>
      </p:sp>
      <p:sp>
        <p:nvSpPr>
          <p:cNvPr id="19" name="CasellaDiTesto 18">
            <a:extLst>
              <a:ext uri="{FF2B5EF4-FFF2-40B4-BE49-F238E27FC236}">
                <a16:creationId xmlns:a16="http://schemas.microsoft.com/office/drawing/2014/main" id="{7CE9300D-8A2B-D0B3-08EF-41E412037F5F}"/>
              </a:ext>
            </a:extLst>
          </p:cNvPr>
          <p:cNvSpPr txBox="1">
            <a:spLocks noGrp="1" noRot="1" noMove="1" noResize="1" noEditPoints="1" noAdjustHandles="1" noChangeArrowheads="1" noChangeShapeType="1"/>
          </p:cNvSpPr>
          <p:nvPr/>
        </p:nvSpPr>
        <p:spPr>
          <a:xfrm>
            <a:off x="5523062" y="2625397"/>
            <a:ext cx="5596387" cy="646331"/>
          </a:xfrm>
          <a:prstGeom prst="rect">
            <a:avLst/>
          </a:prstGeom>
          <a:noFill/>
        </p:spPr>
        <p:txBody>
          <a:bodyPr wrap="square">
            <a:spAutoFit/>
          </a:bodyPr>
          <a:lstStyle/>
          <a:p>
            <a:r>
              <a:rPr lang="it-IT" dirty="0"/>
              <a:t>Ad esempio, supponiamo di avere una classe </a:t>
            </a:r>
            <a:r>
              <a:rPr lang="it-IT" b="1" dirty="0"/>
              <a:t>Persona</a:t>
            </a:r>
            <a:r>
              <a:rPr lang="it-IT" dirty="0"/>
              <a:t> così strutturata:</a:t>
            </a:r>
          </a:p>
        </p:txBody>
      </p:sp>
    </p:spTree>
    <p:extLst>
      <p:ext uri="{BB962C8B-B14F-4D97-AF65-F5344CB8AC3E}">
        <p14:creationId xmlns:p14="http://schemas.microsoft.com/office/powerpoint/2010/main" val="404454344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a:t>
            </a:r>
            <a:r>
              <a:rPr lang="it-IT" sz="18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proprietà </a:t>
            </a: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400110"/>
          </a:xfrm>
          <a:prstGeom prst="rect">
            <a:avLst/>
          </a:prstGeom>
          <a:noFill/>
        </p:spPr>
        <p:txBody>
          <a:bodyPr wrap="square">
            <a:spAutoFit/>
          </a:bodyPr>
          <a:lstStyle/>
          <a:p>
            <a:r>
              <a:rPr lang="it-IT" sz="2000" b="1" i="0" dirty="0">
                <a:solidFill>
                  <a:srgbClr val="050E17"/>
                </a:solidFill>
                <a:effectLst/>
                <a:latin typeface="-apple-system"/>
              </a:rPr>
              <a:t>Il </a:t>
            </a:r>
            <a:r>
              <a:rPr lang="it-IT" sz="2000" b="1" i="0" dirty="0" err="1">
                <a:solidFill>
                  <a:srgbClr val="050E17"/>
                </a:solidFill>
                <a:effectLst/>
                <a:latin typeface="-apple-system"/>
              </a:rPr>
              <a:t>this</a:t>
            </a:r>
            <a:r>
              <a:rPr lang="it-IT" sz="2000" b="1" i="0" dirty="0">
                <a:solidFill>
                  <a:srgbClr val="050E17"/>
                </a:solidFill>
                <a:effectLst/>
                <a:latin typeface="-apple-system"/>
              </a:rPr>
              <a:t> in metodi di istanza</a:t>
            </a:r>
            <a:endParaRPr lang="it-IT" sz="2000" b="1" dirty="0"/>
          </a:p>
        </p:txBody>
      </p:sp>
      <p:sp>
        <p:nvSpPr>
          <p:cNvPr id="9" name="Rectangle 4">
            <a:extLst>
              <a:ext uri="{FF2B5EF4-FFF2-40B4-BE49-F238E27FC236}">
                <a16:creationId xmlns:a16="http://schemas.microsoft.com/office/drawing/2014/main" id="{6872ED55-A1C1-2744-1EED-9B8AEA86FA2B}"/>
              </a:ext>
            </a:extLst>
          </p:cNvPr>
          <p:cNvSpPr>
            <a:spLocks noGrp="1" noRot="1" noMove="1" noResize="1" noEditPoints="1" noAdjustHandles="1" noChangeArrowheads="1" noChangeShapeType="1"/>
          </p:cNvSpPr>
          <p:nvPr/>
        </p:nvSpPr>
        <p:spPr bwMode="auto">
          <a:xfrm>
            <a:off x="4019909" y="880964"/>
            <a:ext cx="732314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In una classe i metodi scritti possono chiamare altri metodi della classe. Più specificamente i metodi di istanza possono chiamare altri metodi (di </a:t>
            </a:r>
            <a:r>
              <a:rPr lang="it-IT" altLang="it-IT" sz="1500" dirty="0" err="1">
                <a:solidFill>
                  <a:srgbClr val="374151"/>
                </a:solidFill>
                <a:latin typeface="Segoe UI" panose="020B0502040204020203" pitchFamily="34" charset="0"/>
                <a:ea typeface="Calibri" panose="020F0502020204030204" pitchFamily="34" charset="0"/>
                <a:cs typeface="Segoe UI" panose="020B0502040204020203" pitchFamily="34" charset="0"/>
              </a:rPr>
              <a:t>isanza</a:t>
            </a: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 o meno, anche se non abbiamo ancora visto gli altri metodi – quelli statici)</a:t>
            </a:r>
            <a:endPar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ciò, il </a:t>
            </a:r>
            <a:r>
              <a:rPr kumimoji="0" lang="it-IT" altLang="it-IT" sz="15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può essere usato anche per fare riferimento, all’interno del codice di un metodo ad altri metodi della stessa classe, quando si fa riferimento a metodi di istanza, riferimento che possono fare solo (a loro volta) altri metodi di istanza. </a:t>
            </a: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1085A955-9ABE-05A3-DC01-61D3B9780FBE}"/>
              </a:ext>
            </a:extLst>
          </p:cNvPr>
          <p:cNvSpPr>
            <a:spLocks noGrp="1" noRot="1" noMove="1" noResize="1" noEditPoints="1" noAdjustHandles="1" noChangeArrowheads="1" noChangeShapeType="1"/>
          </p:cNvSpPr>
          <p:nvPr/>
        </p:nvSpPr>
        <p:spPr bwMode="auto">
          <a:xfrm>
            <a:off x="282039" y="2735234"/>
            <a:ext cx="5031833" cy="3170099"/>
          </a:xfrm>
          <a:prstGeom prst="rect">
            <a:avLst/>
          </a:prstGeom>
          <a:solidFill>
            <a:srgbClr val="F7F7F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In Java, la parola chiave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utilizzata all'interno di un metodo di istanza per riferirsi ad altri metodi della stessa classe.</a:t>
            </a:r>
            <a:endParaRPr kumimoji="0" lang="it-IT" altLang="it-IT"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Tuttavia, è importante notare che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utilizzato solo per riferirsi ai metodi di istanza, ovvero quei metodi che operano su una specifica istanza della classe. I metodi di istanza sono associati all'oggetto e possono accedere alle variabili di istanza e ai metodi di istanza della stessa classe.</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0" name="CasellaDiTesto 9">
            <a:extLst>
              <a:ext uri="{FF2B5EF4-FFF2-40B4-BE49-F238E27FC236}">
                <a16:creationId xmlns:a16="http://schemas.microsoft.com/office/drawing/2014/main" id="{4347E606-E393-22CC-7CEE-62855821AA48}"/>
              </a:ext>
            </a:extLst>
          </p:cNvPr>
          <p:cNvSpPr txBox="1"/>
          <p:nvPr/>
        </p:nvSpPr>
        <p:spPr>
          <a:xfrm>
            <a:off x="282039" y="2365902"/>
            <a:ext cx="1356980" cy="369332"/>
          </a:xfrm>
          <a:prstGeom prst="rect">
            <a:avLst/>
          </a:prstGeom>
          <a:noFill/>
        </p:spPr>
        <p:txBody>
          <a:bodyPr wrap="square">
            <a:spAutoFit/>
          </a:bodyPr>
          <a:lstStyle/>
          <a:p>
            <a:r>
              <a:rPr lang="it-IT" dirty="0"/>
              <a:t>In generale:</a:t>
            </a:r>
          </a:p>
        </p:txBody>
      </p:sp>
      <p:sp>
        <p:nvSpPr>
          <p:cNvPr id="17" name="CasellaDiTesto 16">
            <a:extLst>
              <a:ext uri="{FF2B5EF4-FFF2-40B4-BE49-F238E27FC236}">
                <a16:creationId xmlns:a16="http://schemas.microsoft.com/office/drawing/2014/main" id="{16AFA763-38A3-4938-5F83-1FD22CAF46A5}"/>
              </a:ext>
            </a:extLst>
          </p:cNvPr>
          <p:cNvSpPr txBox="1">
            <a:spLocks noGrp="1" noRot="1" noMove="1" noResize="1" noEditPoints="1" noAdjustHandles="1" noChangeArrowheads="1" noChangeShapeType="1"/>
          </p:cNvSpPr>
          <p:nvPr/>
        </p:nvSpPr>
        <p:spPr>
          <a:xfrm>
            <a:off x="5609326" y="3271728"/>
            <a:ext cx="5432486" cy="2400657"/>
          </a:xfrm>
          <a:prstGeom prst="rect">
            <a:avLst/>
          </a:prstGeom>
          <a:solidFill>
            <a:schemeClr val="tx1">
              <a:lumMod val="95000"/>
              <a:lumOff val="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pPr algn="just"/>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.età</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    </a:t>
            </a:r>
          </a:p>
          <a:p>
            <a:r>
              <a:rPr lang="it-IT" sz="1500" b="0" dirty="0">
                <a:solidFill>
                  <a:srgbClr val="D4D4D4"/>
                </a:solidFill>
                <a:effectLst/>
                <a:latin typeface="Consolas" panose="020B0609020204030204" pitchFamily="49" charset="0"/>
              </a:rPr>
              <a:t>}</a:t>
            </a:r>
          </a:p>
        </p:txBody>
      </p:sp>
      <p:sp>
        <p:nvSpPr>
          <p:cNvPr id="19" name="CasellaDiTesto 18">
            <a:extLst>
              <a:ext uri="{FF2B5EF4-FFF2-40B4-BE49-F238E27FC236}">
                <a16:creationId xmlns:a16="http://schemas.microsoft.com/office/drawing/2014/main" id="{7CE9300D-8A2B-D0B3-08EF-41E412037F5F}"/>
              </a:ext>
            </a:extLst>
          </p:cNvPr>
          <p:cNvSpPr txBox="1">
            <a:spLocks noGrp="1" noRot="1" noMove="1" noResize="1" noEditPoints="1" noAdjustHandles="1" noChangeArrowheads="1" noChangeShapeType="1"/>
          </p:cNvSpPr>
          <p:nvPr/>
        </p:nvSpPr>
        <p:spPr>
          <a:xfrm>
            <a:off x="5523062" y="2625397"/>
            <a:ext cx="5596387" cy="646331"/>
          </a:xfrm>
          <a:prstGeom prst="rect">
            <a:avLst/>
          </a:prstGeom>
          <a:noFill/>
        </p:spPr>
        <p:txBody>
          <a:bodyPr wrap="square">
            <a:spAutoFit/>
          </a:bodyPr>
          <a:lstStyle/>
          <a:p>
            <a:r>
              <a:rPr lang="it-IT" dirty="0"/>
              <a:t>Ad esempio, supponiamo di avere una classe </a:t>
            </a:r>
            <a:r>
              <a:rPr lang="it-IT" b="1" dirty="0"/>
              <a:t>Persona</a:t>
            </a:r>
            <a:r>
              <a:rPr lang="it-IT" dirty="0"/>
              <a:t> così strutturata:</a:t>
            </a:r>
          </a:p>
        </p:txBody>
      </p:sp>
    </p:spTree>
    <p:extLst>
      <p:ext uri="{BB962C8B-B14F-4D97-AF65-F5344CB8AC3E}">
        <p14:creationId xmlns:p14="http://schemas.microsoft.com/office/powerpoint/2010/main" val="356655332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670055"/>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950898" y="467234"/>
            <a:ext cx="5459802" cy="400110"/>
          </a:xfrm>
          <a:prstGeom prst="rect">
            <a:avLst/>
          </a:prstGeom>
          <a:noFill/>
        </p:spPr>
        <p:txBody>
          <a:bodyPr wrap="square">
            <a:spAutoFit/>
          </a:bodyPr>
          <a:lstStyle/>
          <a:p>
            <a:r>
              <a:rPr lang="it-IT" sz="2000" b="1" i="0" dirty="0">
                <a:solidFill>
                  <a:srgbClr val="050E17"/>
                </a:solidFill>
                <a:effectLst/>
                <a:latin typeface="-apple-system"/>
              </a:rPr>
              <a:t>Il </a:t>
            </a:r>
            <a:r>
              <a:rPr lang="it-IT" sz="2000" b="1" i="0" dirty="0" err="1">
                <a:solidFill>
                  <a:srgbClr val="050E17"/>
                </a:solidFill>
                <a:effectLst/>
                <a:latin typeface="-apple-system"/>
              </a:rPr>
              <a:t>this</a:t>
            </a:r>
            <a:r>
              <a:rPr lang="it-IT" sz="2000" b="1" i="0" dirty="0">
                <a:solidFill>
                  <a:srgbClr val="050E17"/>
                </a:solidFill>
                <a:effectLst/>
                <a:latin typeface="-apple-system"/>
              </a:rPr>
              <a:t> in metodi di istanza</a:t>
            </a:r>
            <a:endParaRPr lang="it-IT" sz="2000" b="1" dirty="0"/>
          </a:p>
        </p:txBody>
      </p:sp>
      <p:sp>
        <p:nvSpPr>
          <p:cNvPr id="9" name="Rectangle 4">
            <a:extLst>
              <a:ext uri="{FF2B5EF4-FFF2-40B4-BE49-F238E27FC236}">
                <a16:creationId xmlns:a16="http://schemas.microsoft.com/office/drawing/2014/main" id="{6872ED55-A1C1-2744-1EED-9B8AEA86FA2B}"/>
              </a:ext>
            </a:extLst>
          </p:cNvPr>
          <p:cNvSpPr>
            <a:spLocks noChangeArrowheads="1"/>
          </p:cNvSpPr>
          <p:nvPr/>
        </p:nvSpPr>
        <p:spPr bwMode="auto">
          <a:xfrm>
            <a:off x="4019909" y="880964"/>
            <a:ext cx="732314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In una classe i metodi scritti possono chiamare altri metodi della classe. Più specificamente i metodi di istanza possono chiamare altri metodi (di </a:t>
            </a:r>
            <a:r>
              <a:rPr lang="it-IT" altLang="it-IT" sz="1500" dirty="0" err="1">
                <a:solidFill>
                  <a:srgbClr val="374151"/>
                </a:solidFill>
                <a:latin typeface="Segoe UI" panose="020B0502040204020203" pitchFamily="34" charset="0"/>
                <a:ea typeface="Calibri" panose="020F0502020204030204" pitchFamily="34" charset="0"/>
                <a:cs typeface="Segoe UI" panose="020B0502040204020203" pitchFamily="34" charset="0"/>
              </a:rPr>
              <a:t>isanza</a:t>
            </a:r>
            <a:r>
              <a:rPr lang="it-IT" altLang="it-IT" sz="1500" dirty="0">
                <a:solidFill>
                  <a:srgbClr val="374151"/>
                </a:solidFill>
                <a:latin typeface="Segoe UI" panose="020B0502040204020203" pitchFamily="34" charset="0"/>
                <a:ea typeface="Calibri" panose="020F0502020204030204" pitchFamily="34" charset="0"/>
                <a:cs typeface="Segoe UI" panose="020B0502040204020203" pitchFamily="34" charset="0"/>
              </a:rPr>
              <a:t> o meno, anche se non abbiamo ancora visto gli altri metodi – quelli statici)</a:t>
            </a:r>
            <a:endPar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In ciò, il </a:t>
            </a:r>
            <a:r>
              <a:rPr kumimoji="0" lang="it-IT" altLang="it-IT" sz="1500" b="1" i="0" u="none" strike="noStrike" cap="none" normalizeH="0" baseline="0" dirty="0" err="1">
                <a:ln>
                  <a:noFill/>
                </a:ln>
                <a:solidFill>
                  <a:srgbClr val="000000"/>
                </a:solidFill>
                <a:effectLst/>
                <a:latin typeface="Ubuntu Mono" panose="020B0509030602030204" pitchFamily="49" charset="0"/>
                <a:ea typeface="Calibri" panose="020F0502020204030204" pitchFamily="34" charset="0"/>
                <a:cs typeface="Courier New" panose="02070309020205020404" pitchFamily="49" charset="0"/>
              </a:rPr>
              <a:t>this</a:t>
            </a:r>
            <a:r>
              <a:rPr kumimoji="0" lang="it-IT" altLang="it-IT" sz="1500" b="0" i="0" u="none" strike="noStrike" cap="none" normalizeH="0" baseline="0" dirty="0">
                <a:ln>
                  <a:noFill/>
                </a:ln>
                <a:solidFill>
                  <a:srgbClr val="374151"/>
                </a:solidFill>
                <a:effectLst/>
                <a:latin typeface="Segoe UI" panose="020B0502040204020203" pitchFamily="34" charset="0"/>
                <a:ea typeface="Calibri" panose="020F0502020204030204" pitchFamily="34" charset="0"/>
                <a:cs typeface="Segoe UI" panose="020B0502040204020203" pitchFamily="34" charset="0"/>
              </a:rPr>
              <a:t> può essere usato anche per fare riferimento, all’interno del codice di un metodo ad altri metodi della stessa classe, quando si fa riferimento a metodi di istanza, riferimento che possono fare solo (a loro volta) altri metodi di istanza. </a:t>
            </a: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1085A955-9ABE-05A3-DC01-61D3B9780FBE}"/>
              </a:ext>
            </a:extLst>
          </p:cNvPr>
          <p:cNvSpPr>
            <a:spLocks noChangeArrowheads="1"/>
          </p:cNvSpPr>
          <p:nvPr/>
        </p:nvSpPr>
        <p:spPr bwMode="auto">
          <a:xfrm>
            <a:off x="282039" y="2735234"/>
            <a:ext cx="5031833" cy="3170099"/>
          </a:xfrm>
          <a:prstGeom prst="rect">
            <a:avLst/>
          </a:prstGeom>
          <a:solidFill>
            <a:srgbClr val="F7F7F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In Java, la parola chiave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utilizzata all'interno di un metodo di istanza per riferirsi ad altri metodi della stessa classe.</a:t>
            </a:r>
            <a:endParaRPr kumimoji="0" lang="it-IT" altLang="it-IT"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374151"/>
                </a:solidFill>
                <a:effectLst/>
                <a:latin typeface="Söhne"/>
              </a:rPr>
              <a:t>Tuttavia, è importante notare che </a:t>
            </a:r>
            <a:r>
              <a:rPr kumimoji="0" lang="it-IT" altLang="it-IT" sz="2000" b="1" i="0" u="none" strike="noStrike" cap="none" normalizeH="0" baseline="0" dirty="0" err="1">
                <a:ln>
                  <a:noFill/>
                </a:ln>
                <a:solidFill>
                  <a:srgbClr val="374151"/>
                </a:solidFill>
                <a:effectLst/>
                <a:latin typeface="Söhne Mono"/>
              </a:rPr>
              <a:t>this</a:t>
            </a:r>
            <a:r>
              <a:rPr kumimoji="0" lang="it-IT" altLang="it-IT" sz="2000" b="0" i="0" u="none" strike="noStrike" cap="none" normalizeH="0" baseline="0" dirty="0">
                <a:ln>
                  <a:noFill/>
                </a:ln>
                <a:solidFill>
                  <a:srgbClr val="374151"/>
                </a:solidFill>
                <a:effectLst/>
                <a:latin typeface="Söhne"/>
              </a:rPr>
              <a:t> può essere utilizzato solo per riferirsi ai metodi di istanza, ovvero quei metodi che operano su una specifica istanza della classe. I metodi di istanza sono associati all'oggetto e possono accedere alle variabili di istanza e ai metodi di istanza della stessa classe.</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0" name="CasellaDiTesto 9">
            <a:extLst>
              <a:ext uri="{FF2B5EF4-FFF2-40B4-BE49-F238E27FC236}">
                <a16:creationId xmlns:a16="http://schemas.microsoft.com/office/drawing/2014/main" id="{4347E606-E393-22CC-7CEE-62855821AA48}"/>
              </a:ext>
            </a:extLst>
          </p:cNvPr>
          <p:cNvSpPr txBox="1"/>
          <p:nvPr/>
        </p:nvSpPr>
        <p:spPr>
          <a:xfrm>
            <a:off x="282039" y="2365902"/>
            <a:ext cx="1356980" cy="369332"/>
          </a:xfrm>
          <a:prstGeom prst="rect">
            <a:avLst/>
          </a:prstGeom>
          <a:noFill/>
        </p:spPr>
        <p:txBody>
          <a:bodyPr wrap="square">
            <a:spAutoFit/>
          </a:bodyPr>
          <a:lstStyle/>
          <a:p>
            <a:r>
              <a:rPr lang="it-IT" dirty="0"/>
              <a:t>In generale:</a:t>
            </a:r>
          </a:p>
        </p:txBody>
      </p:sp>
      <p:sp>
        <p:nvSpPr>
          <p:cNvPr id="17" name="CasellaDiTesto 16">
            <a:extLst>
              <a:ext uri="{FF2B5EF4-FFF2-40B4-BE49-F238E27FC236}">
                <a16:creationId xmlns:a16="http://schemas.microsoft.com/office/drawing/2014/main" id="{16AFA763-38A3-4938-5F83-1FD22CAF46A5}"/>
              </a:ext>
            </a:extLst>
          </p:cNvPr>
          <p:cNvSpPr txBox="1"/>
          <p:nvPr/>
        </p:nvSpPr>
        <p:spPr>
          <a:xfrm>
            <a:off x="5609326" y="3271728"/>
            <a:ext cx="5432486" cy="3323987"/>
          </a:xfrm>
          <a:prstGeom prst="rect">
            <a:avLst/>
          </a:prstGeom>
          <a:solidFill>
            <a:schemeClr val="tx1">
              <a:lumMod val="95000"/>
              <a:lumOff val="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pPr algn="just"/>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.età</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stampaDettagli</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System.out.println</a:t>
            </a:r>
            <a:r>
              <a:rPr lang="it-IT" sz="1500" b="0" dirty="0">
                <a:solidFill>
                  <a:srgbClr val="D4D4D4"/>
                </a:solidFill>
                <a:effectLst/>
                <a:latin typeface="Consolas" panose="020B0609020204030204" pitchFamily="49" charset="0"/>
              </a:rPr>
              <a:t>(</a:t>
            </a:r>
            <a:r>
              <a:rPr lang="it-IT" sz="1500" b="0" dirty="0">
                <a:solidFill>
                  <a:srgbClr val="CE9178"/>
                </a:solidFill>
                <a:effectLst/>
                <a:latin typeface="Consolas" panose="020B0609020204030204" pitchFamily="49" charset="0"/>
              </a:rPr>
              <a:t>"Nome: "</a:t>
            </a:r>
            <a:r>
              <a:rPr lang="it-IT" sz="1500" b="0" dirty="0">
                <a:solidFill>
                  <a:srgbClr val="D4D4D4"/>
                </a:solidFill>
                <a:effectLst/>
                <a:latin typeface="Consolas" panose="020B0609020204030204" pitchFamily="49" charset="0"/>
              </a:rPr>
              <a:t> +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System.out.println</a:t>
            </a:r>
            <a:r>
              <a:rPr lang="it-IT" sz="1500" b="0" dirty="0">
                <a:solidFill>
                  <a:srgbClr val="D4D4D4"/>
                </a:solidFill>
                <a:effectLst/>
                <a:latin typeface="Consolas" panose="020B0609020204030204" pitchFamily="49" charset="0"/>
              </a:rPr>
              <a:t>(</a:t>
            </a:r>
            <a:r>
              <a:rPr lang="it-IT" sz="1500" b="0" dirty="0">
                <a:solidFill>
                  <a:srgbClr val="CE9178"/>
                </a:solidFill>
                <a:effectLst/>
                <a:latin typeface="Consolas" panose="020B0609020204030204" pitchFamily="49" charset="0"/>
              </a:rPr>
              <a:t>"Età: "</a:t>
            </a:r>
            <a:r>
              <a:rPr lang="it-IT" sz="1500" b="0" dirty="0">
                <a:solidFill>
                  <a:srgbClr val="D4D4D4"/>
                </a:solidFill>
                <a:effectLst/>
                <a:latin typeface="Consolas" panose="020B0609020204030204" pitchFamily="49" charset="0"/>
              </a:rPr>
              <a:t> +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19" name="CasellaDiTesto 18">
            <a:extLst>
              <a:ext uri="{FF2B5EF4-FFF2-40B4-BE49-F238E27FC236}">
                <a16:creationId xmlns:a16="http://schemas.microsoft.com/office/drawing/2014/main" id="{7CE9300D-8A2B-D0B3-08EF-41E412037F5F}"/>
              </a:ext>
            </a:extLst>
          </p:cNvPr>
          <p:cNvSpPr txBox="1"/>
          <p:nvPr/>
        </p:nvSpPr>
        <p:spPr>
          <a:xfrm>
            <a:off x="5523062" y="2625397"/>
            <a:ext cx="5596387" cy="646331"/>
          </a:xfrm>
          <a:prstGeom prst="rect">
            <a:avLst/>
          </a:prstGeom>
          <a:noFill/>
        </p:spPr>
        <p:txBody>
          <a:bodyPr wrap="square">
            <a:spAutoFit/>
          </a:bodyPr>
          <a:lstStyle/>
          <a:p>
            <a:r>
              <a:rPr lang="it-IT" dirty="0"/>
              <a:t>Ad esempio, supponiamo di avere una classe </a:t>
            </a:r>
            <a:r>
              <a:rPr lang="it-IT" b="1" dirty="0"/>
              <a:t>Persona</a:t>
            </a:r>
            <a:r>
              <a:rPr lang="it-IT" dirty="0"/>
              <a:t> così strutturata:</a:t>
            </a:r>
          </a:p>
        </p:txBody>
      </p:sp>
    </p:spTree>
    <p:extLst>
      <p:ext uri="{BB962C8B-B14F-4D97-AF65-F5344CB8AC3E}">
        <p14:creationId xmlns:p14="http://schemas.microsoft.com/office/powerpoint/2010/main" val="5793121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526871" cy="369332"/>
          </a:xfrm>
          <a:prstGeom prst="rect">
            <a:avLst/>
          </a:prstGeom>
          <a:noFill/>
        </p:spPr>
        <p:txBody>
          <a:bodyPr wrap="square">
            <a:spAutoFit/>
          </a:bodyPr>
          <a:lstStyle/>
          <a:p>
            <a:r>
              <a:rPr lang="it-IT" sz="1800" b="1" i="0" dirty="0">
                <a:solidFill>
                  <a:srgbClr val="050E17"/>
                </a:solidFill>
                <a:effectLst/>
                <a:latin typeface="-apple-system"/>
              </a:rPr>
              <a:t>Il </a:t>
            </a:r>
            <a:r>
              <a:rPr lang="it-IT" sz="1800" b="1" i="0" dirty="0" err="1">
                <a:solidFill>
                  <a:srgbClr val="050E17"/>
                </a:solidFill>
                <a:effectLst/>
                <a:latin typeface="-apple-system"/>
              </a:rPr>
              <a:t>this</a:t>
            </a:r>
            <a:r>
              <a:rPr lang="it-IT" sz="1800" b="1" i="0" dirty="0">
                <a:solidFill>
                  <a:srgbClr val="050E17"/>
                </a:solidFill>
                <a:effectLst/>
                <a:latin typeface="-apple-system"/>
              </a:rPr>
              <a:t> in metodi di istanza</a:t>
            </a:r>
            <a:endParaRPr lang="it-IT" sz="1800" b="1" dirty="0"/>
          </a:p>
        </p:txBody>
      </p:sp>
      <p:sp>
        <p:nvSpPr>
          <p:cNvPr id="2" name="CasellaDiTesto 1">
            <a:extLst>
              <a:ext uri="{FF2B5EF4-FFF2-40B4-BE49-F238E27FC236}">
                <a16:creationId xmlns:a16="http://schemas.microsoft.com/office/drawing/2014/main" id="{8534B46D-3010-FBF5-41F6-0593EF11BB3D}"/>
              </a:ext>
            </a:extLst>
          </p:cNvPr>
          <p:cNvSpPr txBox="1"/>
          <p:nvPr/>
        </p:nvSpPr>
        <p:spPr>
          <a:xfrm>
            <a:off x="282039" y="1428356"/>
            <a:ext cx="5432486" cy="3323987"/>
          </a:xfrm>
          <a:prstGeom prst="rect">
            <a:avLst/>
          </a:prstGeom>
          <a:solidFill>
            <a:schemeClr val="tx1">
              <a:lumMod val="95000"/>
              <a:lumOff val="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pPr algn="just"/>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.età</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stampaDettagli</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System.out.println</a:t>
            </a:r>
            <a:r>
              <a:rPr lang="it-IT" sz="1500" b="0" dirty="0">
                <a:solidFill>
                  <a:srgbClr val="D4D4D4"/>
                </a:solidFill>
                <a:effectLst/>
                <a:latin typeface="Consolas" panose="020B0609020204030204" pitchFamily="49" charset="0"/>
              </a:rPr>
              <a:t>(</a:t>
            </a:r>
            <a:r>
              <a:rPr lang="it-IT" sz="1500" b="0" dirty="0">
                <a:solidFill>
                  <a:srgbClr val="CE9178"/>
                </a:solidFill>
                <a:effectLst/>
                <a:latin typeface="Consolas" panose="020B0609020204030204" pitchFamily="49" charset="0"/>
              </a:rPr>
              <a:t>"Nome: "</a:t>
            </a:r>
            <a:r>
              <a:rPr lang="it-IT" sz="1500" b="0" dirty="0">
                <a:solidFill>
                  <a:srgbClr val="D4D4D4"/>
                </a:solidFill>
                <a:effectLst/>
                <a:latin typeface="Consolas" panose="020B0609020204030204" pitchFamily="49" charset="0"/>
              </a:rPr>
              <a:t> +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System.out.println</a:t>
            </a:r>
            <a:r>
              <a:rPr lang="it-IT" sz="1500" b="0" dirty="0">
                <a:solidFill>
                  <a:srgbClr val="D4D4D4"/>
                </a:solidFill>
                <a:effectLst/>
                <a:latin typeface="Consolas" panose="020B0609020204030204" pitchFamily="49" charset="0"/>
              </a:rPr>
              <a:t>(</a:t>
            </a:r>
            <a:r>
              <a:rPr lang="it-IT" sz="1500" b="0" dirty="0">
                <a:solidFill>
                  <a:srgbClr val="CE9178"/>
                </a:solidFill>
                <a:effectLst/>
                <a:latin typeface="Consolas" panose="020B0609020204030204" pitchFamily="49" charset="0"/>
              </a:rPr>
              <a:t>"Età: "</a:t>
            </a:r>
            <a:r>
              <a:rPr lang="it-IT" sz="1500" b="0" dirty="0">
                <a:solidFill>
                  <a:srgbClr val="D4D4D4"/>
                </a:solidFill>
                <a:effectLst/>
                <a:latin typeface="Consolas" panose="020B0609020204030204" pitchFamily="49" charset="0"/>
              </a:rPr>
              <a:t> +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3B4D0B04-9654-A348-593B-09BA65A775E4}"/>
              </a:ext>
            </a:extLst>
          </p:cNvPr>
          <p:cNvSpPr txBox="1"/>
          <p:nvPr/>
        </p:nvSpPr>
        <p:spPr>
          <a:xfrm>
            <a:off x="5958892" y="1428356"/>
            <a:ext cx="6094562" cy="923330"/>
          </a:xfrm>
          <a:prstGeom prst="rect">
            <a:avLst/>
          </a:prstGeom>
          <a:noFill/>
        </p:spPr>
        <p:txBody>
          <a:bodyPr wrap="square">
            <a:spAutoFit/>
          </a:bodyPr>
          <a:lstStyle/>
          <a:p>
            <a:r>
              <a:rPr lang="it-IT" dirty="0"/>
              <a:t>In questo caso, il metodo </a:t>
            </a:r>
            <a:r>
              <a:rPr lang="it-IT" dirty="0" err="1"/>
              <a:t>stampaDettagli</a:t>
            </a:r>
            <a:r>
              <a:rPr lang="it-IT" dirty="0"/>
              <a:t> utilizza </a:t>
            </a:r>
            <a:r>
              <a:rPr lang="it-IT" dirty="0" err="1"/>
              <a:t>this.metodoPrivato</a:t>
            </a:r>
            <a:r>
              <a:rPr lang="it-IT" dirty="0"/>
              <a:t>() per riferirsi al metodo privato </a:t>
            </a:r>
            <a:r>
              <a:rPr lang="it-IT" dirty="0" err="1"/>
              <a:t>metodoPrivato</a:t>
            </a:r>
            <a:r>
              <a:rPr lang="it-IT" dirty="0"/>
              <a:t> della stessa classe.</a:t>
            </a:r>
          </a:p>
        </p:txBody>
      </p:sp>
    </p:spTree>
    <p:extLst>
      <p:ext uri="{BB962C8B-B14F-4D97-AF65-F5344CB8AC3E}">
        <p14:creationId xmlns:p14="http://schemas.microsoft.com/office/powerpoint/2010/main" val="286758361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526871" cy="369332"/>
          </a:xfrm>
          <a:prstGeom prst="rect">
            <a:avLst/>
          </a:prstGeom>
          <a:noFill/>
        </p:spPr>
        <p:txBody>
          <a:bodyPr wrap="square">
            <a:spAutoFit/>
          </a:bodyPr>
          <a:lstStyle/>
          <a:p>
            <a:r>
              <a:rPr lang="it-IT" sz="1800" b="1" i="0" dirty="0">
                <a:solidFill>
                  <a:srgbClr val="050E17"/>
                </a:solidFill>
                <a:effectLst/>
                <a:latin typeface="-apple-system"/>
              </a:rPr>
              <a:t>Il </a:t>
            </a:r>
            <a:r>
              <a:rPr lang="it-IT" sz="1800" b="1" i="0" dirty="0" err="1">
                <a:solidFill>
                  <a:srgbClr val="050E17"/>
                </a:solidFill>
                <a:effectLst/>
                <a:latin typeface="-apple-system"/>
              </a:rPr>
              <a:t>this</a:t>
            </a:r>
            <a:r>
              <a:rPr lang="it-IT" sz="1800" b="1" i="0" dirty="0">
                <a:solidFill>
                  <a:srgbClr val="050E17"/>
                </a:solidFill>
                <a:effectLst/>
                <a:latin typeface="-apple-system"/>
              </a:rPr>
              <a:t> in metodi di istanza</a:t>
            </a:r>
            <a:endParaRPr lang="it-IT" sz="1800" b="1" dirty="0"/>
          </a:p>
        </p:txBody>
      </p:sp>
      <p:sp>
        <p:nvSpPr>
          <p:cNvPr id="2" name="CasellaDiTesto 1">
            <a:extLst>
              <a:ext uri="{FF2B5EF4-FFF2-40B4-BE49-F238E27FC236}">
                <a16:creationId xmlns:a16="http://schemas.microsoft.com/office/drawing/2014/main" id="{8534B46D-3010-FBF5-41F6-0593EF11BB3D}"/>
              </a:ext>
            </a:extLst>
          </p:cNvPr>
          <p:cNvSpPr txBox="1"/>
          <p:nvPr/>
        </p:nvSpPr>
        <p:spPr>
          <a:xfrm>
            <a:off x="282039" y="1428356"/>
            <a:ext cx="5432486" cy="3323987"/>
          </a:xfrm>
          <a:prstGeom prst="rect">
            <a:avLst/>
          </a:prstGeom>
          <a:solidFill>
            <a:schemeClr val="tx1">
              <a:lumMod val="95000"/>
              <a:lumOff val="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pPr algn="just"/>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.età</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stampaDettagli</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System.out.println</a:t>
            </a:r>
            <a:r>
              <a:rPr lang="it-IT" sz="1500" b="0" dirty="0">
                <a:solidFill>
                  <a:srgbClr val="D4D4D4"/>
                </a:solidFill>
                <a:effectLst/>
                <a:latin typeface="Consolas" panose="020B0609020204030204" pitchFamily="49" charset="0"/>
              </a:rPr>
              <a:t>(</a:t>
            </a:r>
            <a:r>
              <a:rPr lang="it-IT" sz="1500" b="0" dirty="0">
                <a:solidFill>
                  <a:srgbClr val="CE9178"/>
                </a:solidFill>
                <a:effectLst/>
                <a:latin typeface="Consolas" panose="020B0609020204030204" pitchFamily="49" charset="0"/>
              </a:rPr>
              <a:t>"Nome: "</a:t>
            </a:r>
            <a:r>
              <a:rPr lang="it-IT" sz="1500" b="0" dirty="0">
                <a:solidFill>
                  <a:srgbClr val="D4D4D4"/>
                </a:solidFill>
                <a:effectLst/>
                <a:latin typeface="Consolas" panose="020B0609020204030204" pitchFamily="49" charset="0"/>
              </a:rPr>
              <a:t> +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System.out.println</a:t>
            </a:r>
            <a:r>
              <a:rPr lang="it-IT" sz="1500" b="0" dirty="0">
                <a:solidFill>
                  <a:srgbClr val="D4D4D4"/>
                </a:solidFill>
                <a:effectLst/>
                <a:latin typeface="Consolas" panose="020B0609020204030204" pitchFamily="49" charset="0"/>
              </a:rPr>
              <a:t>(</a:t>
            </a:r>
            <a:r>
              <a:rPr lang="it-IT" sz="1500" b="0" dirty="0">
                <a:solidFill>
                  <a:srgbClr val="CE9178"/>
                </a:solidFill>
                <a:effectLst/>
                <a:latin typeface="Consolas" panose="020B0609020204030204" pitchFamily="49" charset="0"/>
              </a:rPr>
              <a:t>"Età: "</a:t>
            </a:r>
            <a:r>
              <a:rPr lang="it-IT" sz="1500" b="0" dirty="0">
                <a:solidFill>
                  <a:srgbClr val="D4D4D4"/>
                </a:solidFill>
                <a:effectLst/>
                <a:latin typeface="Consolas" panose="020B0609020204030204" pitchFamily="49" charset="0"/>
              </a:rPr>
              <a:t> +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3B4D0B04-9654-A348-593B-09BA65A775E4}"/>
              </a:ext>
            </a:extLst>
          </p:cNvPr>
          <p:cNvSpPr txBox="1"/>
          <p:nvPr/>
        </p:nvSpPr>
        <p:spPr>
          <a:xfrm>
            <a:off x="5958892" y="1428356"/>
            <a:ext cx="6094562" cy="923330"/>
          </a:xfrm>
          <a:prstGeom prst="rect">
            <a:avLst/>
          </a:prstGeom>
          <a:noFill/>
        </p:spPr>
        <p:txBody>
          <a:bodyPr wrap="square">
            <a:spAutoFit/>
          </a:bodyPr>
          <a:lstStyle/>
          <a:p>
            <a:r>
              <a:rPr lang="it-IT" dirty="0"/>
              <a:t>In questo caso, il metodo </a:t>
            </a:r>
            <a:r>
              <a:rPr lang="it-IT" dirty="0" err="1"/>
              <a:t>stampaDettagli</a:t>
            </a:r>
            <a:r>
              <a:rPr lang="it-IT" dirty="0"/>
              <a:t> utilizza </a:t>
            </a:r>
            <a:r>
              <a:rPr lang="it-IT" dirty="0" err="1"/>
              <a:t>this.metodoPrivato</a:t>
            </a:r>
            <a:r>
              <a:rPr lang="it-IT" dirty="0"/>
              <a:t>() per riferirsi al metodo privato </a:t>
            </a:r>
            <a:r>
              <a:rPr lang="it-IT" dirty="0" err="1"/>
              <a:t>metodoPrivato</a:t>
            </a:r>
            <a:r>
              <a:rPr lang="it-IT" dirty="0"/>
              <a:t> della stessa classe.</a:t>
            </a:r>
          </a:p>
        </p:txBody>
      </p:sp>
      <p:sp>
        <p:nvSpPr>
          <p:cNvPr id="3" name="CasellaDiTesto 2">
            <a:extLst>
              <a:ext uri="{FF2B5EF4-FFF2-40B4-BE49-F238E27FC236}">
                <a16:creationId xmlns:a16="http://schemas.microsoft.com/office/drawing/2014/main" id="{3001A096-FDD2-F41F-5316-680CE546147B}"/>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Tree>
    <p:extLst>
      <p:ext uri="{BB962C8B-B14F-4D97-AF65-F5344CB8AC3E}">
        <p14:creationId xmlns:p14="http://schemas.microsoft.com/office/powerpoint/2010/main" val="191767940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526871" cy="369332"/>
          </a:xfrm>
          <a:prstGeom prst="rect">
            <a:avLst/>
          </a:prstGeom>
          <a:noFill/>
        </p:spPr>
        <p:txBody>
          <a:bodyPr wrap="square">
            <a:spAutoFit/>
          </a:bodyPr>
          <a:lstStyle/>
          <a:p>
            <a:r>
              <a:rPr lang="it-IT" sz="1800" b="1" i="0" dirty="0">
                <a:solidFill>
                  <a:srgbClr val="050E17"/>
                </a:solidFill>
                <a:effectLst/>
                <a:latin typeface="-apple-system"/>
              </a:rPr>
              <a:t>Il </a:t>
            </a:r>
            <a:r>
              <a:rPr lang="it-IT" sz="1800" b="1" i="0" dirty="0" err="1">
                <a:solidFill>
                  <a:srgbClr val="050E17"/>
                </a:solidFill>
                <a:effectLst/>
                <a:latin typeface="-apple-system"/>
              </a:rPr>
              <a:t>this</a:t>
            </a:r>
            <a:r>
              <a:rPr lang="it-IT" sz="1800" b="1" i="0" dirty="0">
                <a:solidFill>
                  <a:srgbClr val="050E17"/>
                </a:solidFill>
                <a:effectLst/>
                <a:latin typeface="-apple-system"/>
              </a:rPr>
              <a:t> in metodi di istanza</a:t>
            </a:r>
            <a:endParaRPr lang="it-IT" sz="1800" b="1" dirty="0"/>
          </a:p>
        </p:txBody>
      </p:sp>
      <p:sp>
        <p:nvSpPr>
          <p:cNvPr id="2" name="CasellaDiTesto 1">
            <a:extLst>
              <a:ext uri="{FF2B5EF4-FFF2-40B4-BE49-F238E27FC236}">
                <a16:creationId xmlns:a16="http://schemas.microsoft.com/office/drawing/2014/main" id="{8534B46D-3010-FBF5-41F6-0593EF11BB3D}"/>
              </a:ext>
            </a:extLst>
          </p:cNvPr>
          <p:cNvSpPr txBox="1"/>
          <p:nvPr/>
        </p:nvSpPr>
        <p:spPr>
          <a:xfrm>
            <a:off x="282039" y="1428356"/>
            <a:ext cx="5432486" cy="3323987"/>
          </a:xfrm>
          <a:prstGeom prst="rect">
            <a:avLst/>
          </a:prstGeom>
          <a:solidFill>
            <a:schemeClr val="tx1">
              <a:lumMod val="95000"/>
              <a:lumOff val="5000"/>
            </a:schemeClr>
          </a:solidFill>
        </p:spPr>
        <p:txBody>
          <a:bodyPr wrap="square">
            <a:spAutoFit/>
          </a:bodyPr>
          <a:lstStyle/>
          <a:p>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class</a:t>
            </a:r>
            <a:r>
              <a:rPr lang="it-IT" sz="1500" b="0" dirty="0">
                <a:solidFill>
                  <a:srgbClr val="D4D4D4"/>
                </a:solidFill>
                <a:effectLst/>
                <a:latin typeface="Consolas" panose="020B0609020204030204" pitchFamily="49" charset="0"/>
              </a:rPr>
              <a:t> Persona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pPr algn="just"/>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setNome</a:t>
            </a:r>
            <a:r>
              <a:rPr lang="it-IT" sz="1500" b="0" dirty="0">
                <a:solidFill>
                  <a:srgbClr val="D4D4D4"/>
                </a:solidFill>
                <a:effectLst/>
                <a:latin typeface="Consolas" panose="020B0609020204030204" pitchFamily="49" charset="0"/>
              </a:rPr>
              <a:t>(</a:t>
            </a:r>
            <a:r>
              <a:rPr lang="it-IT" sz="1500" b="0" dirty="0" err="1">
                <a:solidFill>
                  <a:srgbClr val="D4D4D4"/>
                </a:solidFill>
                <a:effectLst/>
                <a:latin typeface="Consolas" panose="020B0609020204030204" pitchFamily="49" charset="0"/>
              </a:rPr>
              <a:t>String</a:t>
            </a:r>
            <a:r>
              <a:rPr lang="it-IT" sz="1500" b="0" dirty="0">
                <a:solidFill>
                  <a:srgbClr val="D4D4D4"/>
                </a:solidFill>
                <a:effectLst/>
                <a:latin typeface="Consolas" panose="020B0609020204030204" pitchFamily="49" charset="0"/>
              </a:rPr>
              <a:t> nome)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 = nome</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setEta</a:t>
            </a:r>
            <a:r>
              <a:rPr lang="it-IT" sz="1500" b="0" dirty="0">
                <a:solidFill>
                  <a:srgbClr val="D4D4D4"/>
                </a:solidFill>
                <a:effectLst/>
                <a:latin typeface="Consolas" panose="020B0609020204030204" pitchFamily="49" charset="0"/>
              </a:rPr>
              <a:t>(</a:t>
            </a:r>
            <a:r>
              <a:rPr lang="it-IT" sz="1500" b="0" dirty="0" err="1">
                <a:solidFill>
                  <a:srgbClr val="569CD6"/>
                </a:solidFill>
                <a:effectLst/>
                <a:latin typeface="Consolas" panose="020B0609020204030204" pitchFamily="49" charset="0"/>
              </a:rPr>
              <a:t>int</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.età</a:t>
            </a:r>
            <a:r>
              <a:rPr lang="it-IT" sz="1500" b="0" dirty="0">
                <a:solidFill>
                  <a:srgbClr val="D4D4D4"/>
                </a:solidFill>
                <a:effectLst/>
                <a:latin typeface="Consolas" panose="020B0609020204030204" pitchFamily="49" charset="0"/>
              </a:rPr>
              <a:t> = </a:t>
            </a:r>
            <a:r>
              <a:rPr lang="it-IT" sz="1500" b="0" dirty="0" err="1">
                <a:solidFill>
                  <a:srgbClr val="D4D4D4"/>
                </a:solidFill>
                <a:effectLst/>
                <a:latin typeface="Consolas" panose="020B0609020204030204" pitchFamily="49" charset="0"/>
              </a:rPr>
              <a:t>eta</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    </a:t>
            </a:r>
          </a:p>
          <a:p>
            <a:r>
              <a:rPr lang="it-IT" sz="1500" b="0" dirty="0">
                <a:solidFill>
                  <a:srgbClr val="D4D4D4"/>
                </a:solidFill>
                <a:effectLst/>
                <a:latin typeface="Consolas" panose="020B0609020204030204" pitchFamily="49" charset="0"/>
              </a:rPr>
              <a:t>    </a:t>
            </a:r>
            <a:r>
              <a:rPr lang="it-IT" sz="1500" b="0" dirty="0">
                <a:solidFill>
                  <a:srgbClr val="569CD6"/>
                </a:solidFill>
                <a:effectLst/>
                <a:latin typeface="Consolas" panose="020B0609020204030204" pitchFamily="49" charset="0"/>
              </a:rPr>
              <a:t>public</a:t>
            </a:r>
            <a:r>
              <a:rPr lang="it-IT" sz="1500" b="0" dirty="0">
                <a:solidFill>
                  <a:srgbClr val="D4D4D4"/>
                </a:solidFill>
                <a:effectLst/>
                <a:latin typeface="Consolas" panose="020B0609020204030204" pitchFamily="49" charset="0"/>
              </a:rPr>
              <a:t> </a:t>
            </a:r>
            <a:r>
              <a:rPr lang="it-IT" sz="1500" b="0" dirty="0" err="1">
                <a:solidFill>
                  <a:srgbClr val="569CD6"/>
                </a:solidFill>
                <a:effectLst/>
                <a:latin typeface="Consolas" panose="020B0609020204030204" pitchFamily="49" charset="0"/>
              </a:rPr>
              <a:t>void</a:t>
            </a:r>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stampaDettagli</a:t>
            </a:r>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System.out.println</a:t>
            </a:r>
            <a:r>
              <a:rPr lang="it-IT" sz="1500" b="0" dirty="0">
                <a:solidFill>
                  <a:srgbClr val="D4D4D4"/>
                </a:solidFill>
                <a:effectLst/>
                <a:latin typeface="Consolas" panose="020B0609020204030204" pitchFamily="49" charset="0"/>
              </a:rPr>
              <a:t>(</a:t>
            </a:r>
            <a:r>
              <a:rPr lang="it-IT" sz="1500" b="0" dirty="0">
                <a:solidFill>
                  <a:srgbClr val="CE9178"/>
                </a:solidFill>
                <a:effectLst/>
                <a:latin typeface="Consolas" panose="020B0609020204030204" pitchFamily="49" charset="0"/>
              </a:rPr>
              <a:t>"Nome: "</a:t>
            </a:r>
            <a:r>
              <a:rPr lang="it-IT" sz="1500" b="0" dirty="0">
                <a:solidFill>
                  <a:srgbClr val="D4D4D4"/>
                </a:solidFill>
                <a:effectLst/>
                <a:latin typeface="Consolas" panose="020B0609020204030204" pitchFamily="49" charset="0"/>
              </a:rPr>
              <a:t> +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.nome</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r>
              <a:rPr lang="it-IT" sz="1500" b="0" dirty="0" err="1">
                <a:solidFill>
                  <a:srgbClr val="D4D4D4"/>
                </a:solidFill>
                <a:effectLst/>
                <a:latin typeface="Consolas" panose="020B0609020204030204" pitchFamily="49" charset="0"/>
              </a:rPr>
              <a:t>System.out.println</a:t>
            </a:r>
            <a:r>
              <a:rPr lang="it-IT" sz="1500" b="0" dirty="0">
                <a:solidFill>
                  <a:srgbClr val="D4D4D4"/>
                </a:solidFill>
                <a:effectLst/>
                <a:latin typeface="Consolas" panose="020B0609020204030204" pitchFamily="49" charset="0"/>
              </a:rPr>
              <a:t>(</a:t>
            </a:r>
            <a:r>
              <a:rPr lang="it-IT" sz="1500" b="0" dirty="0">
                <a:solidFill>
                  <a:srgbClr val="CE9178"/>
                </a:solidFill>
                <a:effectLst/>
                <a:latin typeface="Consolas" panose="020B0609020204030204" pitchFamily="49" charset="0"/>
              </a:rPr>
              <a:t>"Età: "</a:t>
            </a:r>
            <a:r>
              <a:rPr lang="it-IT" sz="1500" b="0" dirty="0">
                <a:solidFill>
                  <a:srgbClr val="D4D4D4"/>
                </a:solidFill>
                <a:effectLst/>
                <a:latin typeface="Consolas" panose="020B0609020204030204" pitchFamily="49" charset="0"/>
              </a:rPr>
              <a:t> + </a:t>
            </a:r>
            <a:r>
              <a:rPr lang="it-IT" sz="1500" b="0" dirty="0" err="1">
                <a:solidFill>
                  <a:srgbClr val="569CD6"/>
                </a:solidFill>
                <a:effectLst/>
                <a:latin typeface="Consolas" panose="020B0609020204030204" pitchFamily="49" charset="0"/>
              </a:rPr>
              <a:t>this</a:t>
            </a:r>
            <a:r>
              <a:rPr lang="it-IT" sz="1500" b="0" dirty="0" err="1">
                <a:solidFill>
                  <a:srgbClr val="D4D4D4"/>
                </a:solidFill>
                <a:effectLst/>
                <a:latin typeface="Consolas" panose="020B0609020204030204" pitchFamily="49" charset="0"/>
              </a:rPr>
              <a:t>.eta</a:t>
            </a:r>
            <a:r>
              <a:rPr lang="it-IT" sz="1500" b="0" dirty="0">
                <a:solidFill>
                  <a:srgbClr val="D4D4D4"/>
                </a:solidFill>
                <a:effectLst/>
                <a:latin typeface="Consolas" panose="020B0609020204030204" pitchFamily="49" charset="0"/>
              </a:rPr>
              <a:t>)</a:t>
            </a:r>
            <a:r>
              <a:rPr lang="it-IT" sz="1500" b="0" dirty="0">
                <a:solidFill>
                  <a:srgbClr val="569CD6"/>
                </a:solidFill>
                <a:effectLst/>
                <a:latin typeface="Consolas" panose="020B0609020204030204" pitchFamily="49" charset="0"/>
              </a:rPr>
              <a:t>;</a:t>
            </a:r>
            <a:endParaRPr lang="it-IT" sz="1500" b="0" dirty="0">
              <a:solidFill>
                <a:srgbClr val="D4D4D4"/>
              </a:solidFill>
              <a:effectLst/>
              <a:latin typeface="Consolas" panose="020B0609020204030204" pitchFamily="49" charset="0"/>
            </a:endParaRPr>
          </a:p>
          <a:p>
            <a:r>
              <a:rPr lang="it-IT" sz="1500" b="0" dirty="0">
                <a:solidFill>
                  <a:srgbClr val="D4D4D4"/>
                </a:solidFill>
                <a:effectLst/>
                <a:latin typeface="Consolas" panose="020B0609020204030204" pitchFamily="49" charset="0"/>
              </a:rPr>
              <a:t>    }</a:t>
            </a:r>
          </a:p>
          <a:p>
            <a:r>
              <a:rPr lang="it-IT" sz="1500" b="0" dirty="0">
                <a:solidFill>
                  <a:srgbClr val="D4D4D4"/>
                </a:solidFill>
                <a:effectLst/>
                <a:latin typeface="Consolas" panose="020B0609020204030204" pitchFamily="49" charset="0"/>
              </a:rPr>
              <a:t>}</a:t>
            </a:r>
          </a:p>
        </p:txBody>
      </p:sp>
      <p:sp>
        <p:nvSpPr>
          <p:cNvPr id="6" name="CasellaDiTesto 5">
            <a:extLst>
              <a:ext uri="{FF2B5EF4-FFF2-40B4-BE49-F238E27FC236}">
                <a16:creationId xmlns:a16="http://schemas.microsoft.com/office/drawing/2014/main" id="{3B4D0B04-9654-A348-593B-09BA65A775E4}"/>
              </a:ext>
            </a:extLst>
          </p:cNvPr>
          <p:cNvSpPr txBox="1"/>
          <p:nvPr/>
        </p:nvSpPr>
        <p:spPr>
          <a:xfrm>
            <a:off x="5958892" y="1428356"/>
            <a:ext cx="6094562" cy="2031325"/>
          </a:xfrm>
          <a:prstGeom prst="rect">
            <a:avLst/>
          </a:prstGeom>
          <a:noFill/>
        </p:spPr>
        <p:txBody>
          <a:bodyPr wrap="square">
            <a:spAutoFit/>
          </a:bodyPr>
          <a:lstStyle/>
          <a:p>
            <a:r>
              <a:rPr lang="it-IT" dirty="0"/>
              <a:t>In questo caso, il metodo </a:t>
            </a:r>
            <a:r>
              <a:rPr lang="it-IT" dirty="0" err="1"/>
              <a:t>stampaDettagli</a:t>
            </a:r>
            <a:r>
              <a:rPr lang="it-IT" dirty="0"/>
              <a:t> utilizza </a:t>
            </a:r>
            <a:r>
              <a:rPr lang="it-IT" dirty="0" err="1"/>
              <a:t>this.metodoPrivato</a:t>
            </a:r>
            <a:r>
              <a:rPr lang="it-IT" dirty="0"/>
              <a:t>() per riferirsi al metodo privato </a:t>
            </a:r>
            <a:r>
              <a:rPr lang="it-IT" dirty="0" err="1"/>
              <a:t>metodoPrivato</a:t>
            </a:r>
            <a:r>
              <a:rPr lang="it-IT" dirty="0"/>
              <a:t> della stessa classe.</a:t>
            </a:r>
          </a:p>
          <a:p>
            <a:endParaRPr lang="it-IT" dirty="0"/>
          </a:p>
          <a:p>
            <a:r>
              <a:rPr lang="it-IT" dirty="0"/>
              <a:t>In sintesi, </a:t>
            </a:r>
            <a:r>
              <a:rPr lang="it-IT" dirty="0" err="1"/>
              <a:t>this</a:t>
            </a:r>
            <a:r>
              <a:rPr lang="it-IT" dirty="0"/>
              <a:t> può essere utilizzato all'interno dei metodi di istanza per riferirsi ad altri metodi della stessa classe, ma solo se questi sono metodi di istanza.</a:t>
            </a:r>
          </a:p>
        </p:txBody>
      </p:sp>
      <p:sp>
        <p:nvSpPr>
          <p:cNvPr id="7" name="CasellaDiTesto 6">
            <a:extLst>
              <a:ext uri="{FF2B5EF4-FFF2-40B4-BE49-F238E27FC236}">
                <a16:creationId xmlns:a16="http://schemas.microsoft.com/office/drawing/2014/main" id="{68E8F1B7-2A87-3A4A-C01A-F0EDDD3E059E}"/>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Tree>
    <p:extLst>
      <p:ext uri="{BB962C8B-B14F-4D97-AF65-F5344CB8AC3E}">
        <p14:creationId xmlns:p14="http://schemas.microsoft.com/office/powerpoint/2010/main" val="416344685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dirty="0"/>
              <a:t>Quando il </a:t>
            </a:r>
            <a:r>
              <a:rPr lang="it-IT" b="1" dirty="0" err="1"/>
              <a:t>this</a:t>
            </a:r>
            <a:r>
              <a:rPr lang="it-IT" b="1" dirty="0"/>
              <a:t> è opzionale e quando no</a:t>
            </a:r>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923330"/>
          </a:xfrm>
          <a:prstGeom prst="rect">
            <a:avLst/>
          </a:prstGeom>
          <a:noFill/>
        </p:spPr>
        <p:txBody>
          <a:bodyPr wrap="square">
            <a:spAutoFit/>
          </a:bodyPr>
          <a:lstStyle/>
          <a:p>
            <a:r>
              <a:rPr lang="it-IT" i="0" dirty="0">
                <a:solidFill>
                  <a:srgbClr val="050E17"/>
                </a:solidFill>
                <a:effectLst/>
                <a:latin typeface="-apple-system"/>
              </a:rPr>
              <a:t>In Java, quando non viene specificato il </a:t>
            </a:r>
            <a:r>
              <a:rPr lang="it-IT" i="0" dirty="0" err="1">
                <a:solidFill>
                  <a:srgbClr val="050E17"/>
                </a:solidFill>
                <a:effectLst/>
                <a:latin typeface="-apple-system"/>
              </a:rPr>
              <a:t>this</a:t>
            </a:r>
            <a:r>
              <a:rPr lang="it-IT" i="0" dirty="0">
                <a:solidFill>
                  <a:srgbClr val="050E17"/>
                </a:solidFill>
                <a:effectLst/>
                <a:latin typeface="-apple-system"/>
              </a:rPr>
              <a:t> in un metodo, il compilatore cerca una variabile locale con lo stesso nome del campo della classe. Se la variabile locale esiste, il compilatore utilizza quella variabile invece del campo della classe, il che può causare confusione e comportare risultati inattesi.</a:t>
            </a:r>
          </a:p>
        </p:txBody>
      </p:sp>
      <p:sp>
        <p:nvSpPr>
          <p:cNvPr id="2" name="CasellaDiTesto 1">
            <a:extLst>
              <a:ext uri="{FF2B5EF4-FFF2-40B4-BE49-F238E27FC236}">
                <a16:creationId xmlns:a16="http://schemas.microsoft.com/office/drawing/2014/main" id="{17268E73-3910-5790-9206-DBF79D58F096}"/>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Tree>
    <p:extLst>
      <p:ext uri="{BB962C8B-B14F-4D97-AF65-F5344CB8AC3E}">
        <p14:creationId xmlns:p14="http://schemas.microsoft.com/office/powerpoint/2010/main" val="415974218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dirty="0"/>
              <a:t>Quando il </a:t>
            </a:r>
            <a:r>
              <a:rPr lang="it-IT" b="1" dirty="0" err="1"/>
              <a:t>this</a:t>
            </a:r>
            <a:r>
              <a:rPr lang="it-IT" b="1" dirty="0"/>
              <a:t> è opzionale e quando no</a:t>
            </a:r>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923330"/>
          </a:xfrm>
          <a:prstGeom prst="rect">
            <a:avLst/>
          </a:prstGeom>
          <a:noFill/>
        </p:spPr>
        <p:txBody>
          <a:bodyPr wrap="square">
            <a:spAutoFit/>
          </a:bodyPr>
          <a:lstStyle/>
          <a:p>
            <a:r>
              <a:rPr lang="it-IT" i="0" dirty="0">
                <a:solidFill>
                  <a:srgbClr val="050E17"/>
                </a:solidFill>
                <a:effectLst/>
                <a:latin typeface="-apple-system"/>
              </a:rPr>
              <a:t>In Java, quando non viene specificato il </a:t>
            </a:r>
            <a:r>
              <a:rPr lang="it-IT" i="0" dirty="0" err="1">
                <a:solidFill>
                  <a:srgbClr val="050E17"/>
                </a:solidFill>
                <a:effectLst/>
                <a:latin typeface="-apple-system"/>
              </a:rPr>
              <a:t>this</a:t>
            </a:r>
            <a:r>
              <a:rPr lang="it-IT" i="0" dirty="0">
                <a:solidFill>
                  <a:srgbClr val="050E17"/>
                </a:solidFill>
                <a:effectLst/>
                <a:latin typeface="-apple-system"/>
              </a:rPr>
              <a:t> in un metodo, il compilatore cerca una variabile locale con lo stesso nome del campo della classe. Se la variabile locale esiste, il compilatore utilizza quella variabile invece del campo della classe, il che può causare confusione e comportare risultati inattesi.</a:t>
            </a:r>
          </a:p>
        </p:txBody>
      </p:sp>
      <p:sp>
        <p:nvSpPr>
          <p:cNvPr id="2" name="CasellaDiTesto 1">
            <a:extLst>
              <a:ext uri="{FF2B5EF4-FFF2-40B4-BE49-F238E27FC236}">
                <a16:creationId xmlns:a16="http://schemas.microsoft.com/office/drawing/2014/main" id="{17268E73-3910-5790-9206-DBF79D58F096}"/>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Tree>
    <p:extLst>
      <p:ext uri="{BB962C8B-B14F-4D97-AF65-F5344CB8AC3E}">
        <p14:creationId xmlns:p14="http://schemas.microsoft.com/office/powerpoint/2010/main" val="394825810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dirty="0"/>
              <a:t>Quando il </a:t>
            </a:r>
            <a:r>
              <a:rPr lang="it-IT" b="1" dirty="0" err="1"/>
              <a:t>this</a:t>
            </a:r>
            <a:r>
              <a:rPr lang="it-IT" b="1" dirty="0"/>
              <a:t> è opzionale e quando no</a:t>
            </a:r>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1754326"/>
          </a:xfrm>
          <a:prstGeom prst="rect">
            <a:avLst/>
          </a:prstGeom>
          <a:noFill/>
        </p:spPr>
        <p:txBody>
          <a:bodyPr wrap="square">
            <a:spAutoFit/>
          </a:bodyPr>
          <a:lstStyle/>
          <a:p>
            <a:r>
              <a:rPr lang="it-IT" i="0" dirty="0">
                <a:solidFill>
                  <a:srgbClr val="050E17"/>
                </a:solidFill>
                <a:effectLst/>
                <a:latin typeface="-apple-system"/>
              </a:rPr>
              <a:t>In Java, quando non viene specificato il </a:t>
            </a:r>
            <a:r>
              <a:rPr lang="it-IT" i="0" dirty="0" err="1">
                <a:solidFill>
                  <a:srgbClr val="050E17"/>
                </a:solidFill>
                <a:effectLst/>
                <a:latin typeface="-apple-system"/>
              </a:rPr>
              <a:t>this</a:t>
            </a:r>
            <a:r>
              <a:rPr lang="it-IT" i="0" dirty="0">
                <a:solidFill>
                  <a:srgbClr val="050E17"/>
                </a:solidFill>
                <a:effectLst/>
                <a:latin typeface="-apple-system"/>
              </a:rPr>
              <a:t> in un metodo, il compilatore cerca una variabile locale con lo stesso nome del campo della classe. Se la variabile locale esiste, il compilatore utilizza quella variabile invece del campo della classe, il che può causare confusione e comportare risultati inattesi.</a:t>
            </a:r>
          </a:p>
          <a:p>
            <a:endParaRPr lang="it-IT" i="0" dirty="0">
              <a:solidFill>
                <a:srgbClr val="050E17"/>
              </a:solidFill>
              <a:effectLst/>
              <a:latin typeface="-apple-system"/>
            </a:endParaRPr>
          </a:p>
          <a:p>
            <a:r>
              <a:rPr lang="it-IT" i="0" dirty="0">
                <a:solidFill>
                  <a:srgbClr val="050E17"/>
                </a:solidFill>
                <a:effectLst/>
                <a:latin typeface="-apple-system"/>
              </a:rPr>
              <a:t>L'uso del </a:t>
            </a:r>
            <a:r>
              <a:rPr lang="it-IT" i="0" dirty="0" err="1">
                <a:solidFill>
                  <a:srgbClr val="050E17"/>
                </a:solidFill>
                <a:effectLst/>
                <a:latin typeface="-apple-system"/>
              </a:rPr>
              <a:t>this</a:t>
            </a:r>
            <a:r>
              <a:rPr lang="it-IT" i="0" dirty="0">
                <a:solidFill>
                  <a:srgbClr val="050E17"/>
                </a:solidFill>
                <a:effectLst/>
                <a:latin typeface="-apple-system"/>
              </a:rPr>
              <a:t> è necessario quando si vuole fare riferimento esplicitamente al campo della classe anziché alla variabile locale con lo stesso nome.</a:t>
            </a:r>
          </a:p>
        </p:txBody>
      </p:sp>
      <p:sp>
        <p:nvSpPr>
          <p:cNvPr id="2" name="CasellaDiTesto 1">
            <a:extLst>
              <a:ext uri="{FF2B5EF4-FFF2-40B4-BE49-F238E27FC236}">
                <a16:creationId xmlns:a16="http://schemas.microsoft.com/office/drawing/2014/main" id="{17268E73-3910-5790-9206-DBF79D58F096}"/>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Tree>
    <p:extLst>
      <p:ext uri="{BB962C8B-B14F-4D97-AF65-F5344CB8AC3E}">
        <p14:creationId xmlns:p14="http://schemas.microsoft.com/office/powerpoint/2010/main" val="40633474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dirty="0"/>
              <a:t>Quando il </a:t>
            </a:r>
            <a:r>
              <a:rPr lang="it-IT" b="1" dirty="0" err="1"/>
              <a:t>this</a:t>
            </a:r>
            <a:r>
              <a:rPr lang="it-IT" b="1" dirty="0"/>
              <a:t> è opzionale e quando no</a:t>
            </a:r>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2031325"/>
          </a:xfrm>
          <a:prstGeom prst="rect">
            <a:avLst/>
          </a:prstGeom>
          <a:noFill/>
        </p:spPr>
        <p:txBody>
          <a:bodyPr wrap="square">
            <a:spAutoFit/>
          </a:bodyPr>
          <a:lstStyle/>
          <a:p>
            <a:r>
              <a:rPr lang="it-IT" i="0" dirty="0">
                <a:solidFill>
                  <a:srgbClr val="050E17"/>
                </a:solidFill>
                <a:effectLst/>
                <a:latin typeface="-apple-system"/>
              </a:rPr>
              <a:t>In Java, quando non viene specificato il </a:t>
            </a:r>
            <a:r>
              <a:rPr lang="it-IT" i="0" dirty="0" err="1">
                <a:solidFill>
                  <a:srgbClr val="050E17"/>
                </a:solidFill>
                <a:effectLst/>
                <a:latin typeface="-apple-system"/>
              </a:rPr>
              <a:t>this</a:t>
            </a:r>
            <a:r>
              <a:rPr lang="it-IT" i="0" dirty="0">
                <a:solidFill>
                  <a:srgbClr val="050E17"/>
                </a:solidFill>
                <a:effectLst/>
                <a:latin typeface="-apple-system"/>
              </a:rPr>
              <a:t> in un metodo, il compilatore cerca una variabile locale con lo stesso nome del campo della classe. Se la variabile locale esiste, il compilatore utilizza quella variabile invece del campo della classe, il che può causare confusione e comportare risultati inattesi.</a:t>
            </a:r>
          </a:p>
          <a:p>
            <a:endParaRPr lang="it-IT" i="0" dirty="0">
              <a:solidFill>
                <a:srgbClr val="050E17"/>
              </a:solidFill>
              <a:effectLst/>
              <a:latin typeface="-apple-system"/>
            </a:endParaRPr>
          </a:p>
          <a:p>
            <a:r>
              <a:rPr lang="it-IT" i="0" dirty="0">
                <a:solidFill>
                  <a:srgbClr val="050E17"/>
                </a:solidFill>
                <a:effectLst/>
                <a:latin typeface="-apple-system"/>
              </a:rPr>
              <a:t>L'uso del </a:t>
            </a:r>
            <a:r>
              <a:rPr lang="it-IT" i="0" dirty="0" err="1">
                <a:solidFill>
                  <a:srgbClr val="050E17"/>
                </a:solidFill>
                <a:effectLst/>
                <a:latin typeface="-apple-system"/>
              </a:rPr>
              <a:t>this</a:t>
            </a:r>
            <a:r>
              <a:rPr lang="it-IT" i="0" dirty="0">
                <a:solidFill>
                  <a:srgbClr val="050E17"/>
                </a:solidFill>
                <a:effectLst/>
                <a:latin typeface="-apple-system"/>
              </a:rPr>
              <a:t> è necessario quando si vuole fare riferimento esplicitamente al campo della classe anziché alla variabile locale con lo stesso nome. In questo modo si evita la confusione e si garantisce che il campo della classe venga utilizzato nel modo desiderato.</a:t>
            </a:r>
          </a:p>
        </p:txBody>
      </p:sp>
      <p:sp>
        <p:nvSpPr>
          <p:cNvPr id="2" name="CasellaDiTesto 1">
            <a:extLst>
              <a:ext uri="{FF2B5EF4-FFF2-40B4-BE49-F238E27FC236}">
                <a16:creationId xmlns:a16="http://schemas.microsoft.com/office/drawing/2014/main" id="{17268E73-3910-5790-9206-DBF79D58F096}"/>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Tree>
    <p:extLst>
      <p:ext uri="{BB962C8B-B14F-4D97-AF65-F5344CB8AC3E}">
        <p14:creationId xmlns:p14="http://schemas.microsoft.com/office/powerpoint/2010/main" val="203280230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dirty="0"/>
              <a:t>Quando il </a:t>
            </a:r>
            <a:r>
              <a:rPr lang="it-IT" b="1" dirty="0" err="1"/>
              <a:t>this</a:t>
            </a:r>
            <a:r>
              <a:rPr lang="it-IT" b="1" dirty="0"/>
              <a:t> è opzionale e quando no</a:t>
            </a:r>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2862322"/>
          </a:xfrm>
          <a:prstGeom prst="rect">
            <a:avLst/>
          </a:prstGeom>
          <a:noFill/>
        </p:spPr>
        <p:txBody>
          <a:bodyPr wrap="square">
            <a:spAutoFit/>
          </a:bodyPr>
          <a:lstStyle/>
          <a:p>
            <a:r>
              <a:rPr lang="it-IT" i="0" dirty="0">
                <a:solidFill>
                  <a:srgbClr val="050E17"/>
                </a:solidFill>
                <a:effectLst/>
                <a:latin typeface="-apple-system"/>
              </a:rPr>
              <a:t>In Java, quando non viene specificato il </a:t>
            </a:r>
            <a:r>
              <a:rPr lang="it-IT" i="0" dirty="0" err="1">
                <a:solidFill>
                  <a:srgbClr val="050E17"/>
                </a:solidFill>
                <a:effectLst/>
                <a:latin typeface="-apple-system"/>
              </a:rPr>
              <a:t>this</a:t>
            </a:r>
            <a:r>
              <a:rPr lang="it-IT" i="0" dirty="0">
                <a:solidFill>
                  <a:srgbClr val="050E17"/>
                </a:solidFill>
                <a:effectLst/>
                <a:latin typeface="-apple-system"/>
              </a:rPr>
              <a:t> in un metodo, il compilatore cerca una variabile locale con lo stesso nome del campo della classe. Se la variabile locale esiste, il compilatore utilizza quella variabile invece del campo della classe, il che può causare confusione e comportare risultati inattesi.</a:t>
            </a:r>
          </a:p>
          <a:p>
            <a:endParaRPr lang="it-IT" i="0" dirty="0">
              <a:solidFill>
                <a:srgbClr val="050E17"/>
              </a:solidFill>
              <a:effectLst/>
              <a:latin typeface="-apple-system"/>
            </a:endParaRPr>
          </a:p>
          <a:p>
            <a:r>
              <a:rPr lang="it-IT" i="0" dirty="0">
                <a:solidFill>
                  <a:srgbClr val="050E17"/>
                </a:solidFill>
                <a:effectLst/>
                <a:latin typeface="-apple-system"/>
              </a:rPr>
              <a:t>L'uso del </a:t>
            </a:r>
            <a:r>
              <a:rPr lang="it-IT" i="0" dirty="0" err="1">
                <a:solidFill>
                  <a:srgbClr val="050E17"/>
                </a:solidFill>
                <a:effectLst/>
                <a:latin typeface="-apple-system"/>
              </a:rPr>
              <a:t>this</a:t>
            </a:r>
            <a:r>
              <a:rPr lang="it-IT" i="0" dirty="0">
                <a:solidFill>
                  <a:srgbClr val="050E17"/>
                </a:solidFill>
                <a:effectLst/>
                <a:latin typeface="-apple-system"/>
              </a:rPr>
              <a:t> è necessario quando si vuole fare riferimento esplicitamente al campo della classe anziché alla variabile locale con lo stesso nome. In questo modo si evita la confusione e si garantisce che il campo della classe venga utilizzato nel modo desiderato.</a:t>
            </a:r>
          </a:p>
          <a:p>
            <a:endParaRPr lang="it-IT" i="0" dirty="0">
              <a:solidFill>
                <a:srgbClr val="050E17"/>
              </a:solidFill>
              <a:effectLst/>
              <a:latin typeface="-apple-system"/>
            </a:endParaRPr>
          </a:p>
          <a:p>
            <a:r>
              <a:rPr lang="it-IT" i="0" dirty="0">
                <a:solidFill>
                  <a:srgbClr val="050E17"/>
                </a:solidFill>
                <a:effectLst/>
                <a:latin typeface="-apple-system"/>
              </a:rPr>
              <a:t>Ad esempio, se abbiamo un campo della classe name e vogliamo utilizzarlo in un metodo chiamato </a:t>
            </a:r>
            <a:r>
              <a:rPr lang="it-IT" i="0" dirty="0" err="1">
                <a:solidFill>
                  <a:srgbClr val="050E17"/>
                </a:solidFill>
                <a:effectLst/>
                <a:latin typeface="-apple-system"/>
              </a:rPr>
              <a:t>printName</a:t>
            </a:r>
            <a:r>
              <a:rPr lang="it-IT" i="0" dirty="0">
                <a:solidFill>
                  <a:srgbClr val="050E17"/>
                </a:solidFill>
                <a:effectLst/>
                <a:latin typeface="-apple-system"/>
              </a:rPr>
              <a:t>(), possiamo scrivere il metodo in due modi differenti:</a:t>
            </a:r>
          </a:p>
        </p:txBody>
      </p:sp>
      <p:sp>
        <p:nvSpPr>
          <p:cNvPr id="2" name="CasellaDiTesto 1">
            <a:extLst>
              <a:ext uri="{FF2B5EF4-FFF2-40B4-BE49-F238E27FC236}">
                <a16:creationId xmlns:a16="http://schemas.microsoft.com/office/drawing/2014/main" id="{17268E73-3910-5790-9206-DBF79D58F096}"/>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Tree>
    <p:extLst>
      <p:ext uri="{BB962C8B-B14F-4D97-AF65-F5344CB8AC3E}">
        <p14:creationId xmlns:p14="http://schemas.microsoft.com/office/powerpoint/2010/main" val="54301148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dirty="0"/>
              <a:t>Quando il </a:t>
            </a:r>
            <a:r>
              <a:rPr lang="it-IT" b="1" dirty="0" err="1"/>
              <a:t>this</a:t>
            </a:r>
            <a:r>
              <a:rPr lang="it-IT" b="1" dirty="0"/>
              <a:t> è opzionale e quando no</a:t>
            </a:r>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2862322"/>
          </a:xfrm>
          <a:prstGeom prst="rect">
            <a:avLst/>
          </a:prstGeom>
          <a:noFill/>
        </p:spPr>
        <p:txBody>
          <a:bodyPr wrap="square">
            <a:spAutoFit/>
          </a:bodyPr>
          <a:lstStyle/>
          <a:p>
            <a:r>
              <a:rPr lang="it-IT" i="0" dirty="0">
                <a:solidFill>
                  <a:srgbClr val="050E17"/>
                </a:solidFill>
                <a:effectLst/>
                <a:latin typeface="-apple-system"/>
              </a:rPr>
              <a:t>In Java, quando non viene specificato il </a:t>
            </a:r>
            <a:r>
              <a:rPr lang="it-IT" i="0" dirty="0" err="1">
                <a:solidFill>
                  <a:srgbClr val="050E17"/>
                </a:solidFill>
                <a:effectLst/>
                <a:latin typeface="-apple-system"/>
              </a:rPr>
              <a:t>this</a:t>
            </a:r>
            <a:r>
              <a:rPr lang="it-IT" i="0" dirty="0">
                <a:solidFill>
                  <a:srgbClr val="050E17"/>
                </a:solidFill>
                <a:effectLst/>
                <a:latin typeface="-apple-system"/>
              </a:rPr>
              <a:t> in un metodo, il compilatore cerca una variabile locale con lo stesso nome del campo della classe. Se la variabile locale esiste, il compilatore utilizza quella variabile invece del campo della classe, il che può causare confusione e comportare risultati inattesi.</a:t>
            </a:r>
          </a:p>
          <a:p>
            <a:endParaRPr lang="it-IT" i="0" dirty="0">
              <a:solidFill>
                <a:srgbClr val="050E17"/>
              </a:solidFill>
              <a:effectLst/>
              <a:latin typeface="-apple-system"/>
            </a:endParaRPr>
          </a:p>
          <a:p>
            <a:r>
              <a:rPr lang="it-IT" i="0" dirty="0">
                <a:solidFill>
                  <a:srgbClr val="050E17"/>
                </a:solidFill>
                <a:effectLst/>
                <a:latin typeface="-apple-system"/>
              </a:rPr>
              <a:t>L'uso del </a:t>
            </a:r>
            <a:r>
              <a:rPr lang="it-IT" i="0" dirty="0" err="1">
                <a:solidFill>
                  <a:srgbClr val="050E17"/>
                </a:solidFill>
                <a:effectLst/>
                <a:latin typeface="-apple-system"/>
              </a:rPr>
              <a:t>this</a:t>
            </a:r>
            <a:r>
              <a:rPr lang="it-IT" i="0" dirty="0">
                <a:solidFill>
                  <a:srgbClr val="050E17"/>
                </a:solidFill>
                <a:effectLst/>
                <a:latin typeface="-apple-system"/>
              </a:rPr>
              <a:t> è necessario quando si vuole fare riferimento esplicitamente al campo della classe anziché alla variabile locale con lo stesso nome. In questo modo si evita la confusione e si garantisce che il campo della classe venga utilizzato nel modo desiderato.</a:t>
            </a:r>
          </a:p>
          <a:p>
            <a:endParaRPr lang="it-IT" i="0" dirty="0">
              <a:solidFill>
                <a:srgbClr val="050E17"/>
              </a:solidFill>
              <a:effectLst/>
              <a:latin typeface="-apple-system"/>
            </a:endParaRPr>
          </a:p>
          <a:p>
            <a:r>
              <a:rPr lang="it-IT" i="0" dirty="0">
                <a:solidFill>
                  <a:srgbClr val="050E17"/>
                </a:solidFill>
                <a:effectLst/>
                <a:latin typeface="-apple-system"/>
              </a:rPr>
              <a:t>Ad esempio, se abbiamo un campo della classe name e vogliamo utilizzarlo in un metodo chiamato </a:t>
            </a:r>
            <a:r>
              <a:rPr lang="it-IT" i="0" dirty="0" err="1">
                <a:solidFill>
                  <a:srgbClr val="050E17"/>
                </a:solidFill>
                <a:effectLst/>
                <a:latin typeface="-apple-system"/>
              </a:rPr>
              <a:t>printName</a:t>
            </a:r>
            <a:r>
              <a:rPr lang="it-IT" i="0" dirty="0">
                <a:solidFill>
                  <a:srgbClr val="050E17"/>
                </a:solidFill>
                <a:effectLst/>
                <a:latin typeface="-apple-system"/>
              </a:rPr>
              <a:t>(), possiamo scrivere il metodo in due modi differenti:</a:t>
            </a:r>
          </a:p>
        </p:txBody>
      </p:sp>
      <p:sp>
        <p:nvSpPr>
          <p:cNvPr id="2" name="CasellaDiTesto 1">
            <a:extLst>
              <a:ext uri="{FF2B5EF4-FFF2-40B4-BE49-F238E27FC236}">
                <a16:creationId xmlns:a16="http://schemas.microsoft.com/office/drawing/2014/main" id="{17268E73-3910-5790-9206-DBF79D58F096}"/>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
        <p:nvSpPr>
          <p:cNvPr id="7" name="CasellaDiTesto 6">
            <a:extLst>
              <a:ext uri="{FF2B5EF4-FFF2-40B4-BE49-F238E27FC236}">
                <a16:creationId xmlns:a16="http://schemas.microsoft.com/office/drawing/2014/main" id="{9A7988C5-D5E3-BE40-B004-52F3386F3053}"/>
              </a:ext>
            </a:extLst>
          </p:cNvPr>
          <p:cNvSpPr txBox="1"/>
          <p:nvPr/>
        </p:nvSpPr>
        <p:spPr>
          <a:xfrm>
            <a:off x="872538" y="4322877"/>
            <a:ext cx="9974405" cy="738664"/>
          </a:xfrm>
          <a:prstGeom prst="rect">
            <a:avLst/>
          </a:prstGeom>
          <a:solidFill>
            <a:schemeClr val="tx1">
              <a:lumMod val="85000"/>
              <a:lumOff val="15000"/>
            </a:schemeClr>
          </a:solidFill>
        </p:spPr>
        <p:txBody>
          <a:bodyPr wrap="square">
            <a:spAutoFit/>
          </a:bodyPr>
          <a:lstStyle/>
          <a:p>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a:t>
            </a:r>
            <a:r>
              <a:rPr lang="it-IT" sz="1400" b="0" dirty="0" err="1">
                <a:solidFill>
                  <a:srgbClr val="569CD6"/>
                </a:solidFill>
                <a:effectLst/>
                <a:latin typeface="Consolas" panose="020B0609020204030204" pitchFamily="49" charset="0"/>
              </a:rPr>
              <a:t>void</a:t>
            </a:r>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printName</a:t>
            </a:r>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System.out.println</a:t>
            </a:r>
            <a:r>
              <a:rPr lang="it-IT" sz="1400" b="0" dirty="0">
                <a:solidFill>
                  <a:srgbClr val="D4D4D4"/>
                </a:solidFill>
                <a:effectLst/>
                <a:latin typeface="Consolas" panose="020B0609020204030204" pitchFamily="49" charset="0"/>
              </a:rPr>
              <a:t>(</a:t>
            </a:r>
            <a:r>
              <a:rPr lang="it-IT" sz="1400" b="0" dirty="0">
                <a:solidFill>
                  <a:srgbClr val="569CD6"/>
                </a:solidFill>
                <a:effectLst/>
                <a:latin typeface="Consolas" panose="020B0609020204030204" pitchFamily="49" charset="0"/>
              </a:rPr>
              <a:t>this</a:t>
            </a:r>
            <a:r>
              <a:rPr lang="it-IT" sz="1400" b="0" dirty="0">
                <a:solidFill>
                  <a:srgbClr val="D4D4D4"/>
                </a:solidFill>
                <a:effectLst/>
                <a:latin typeface="Consolas" panose="020B0609020204030204" pitchFamily="49" charset="0"/>
              </a:rPr>
              <a:t>.name)</a:t>
            </a:r>
            <a:r>
              <a:rPr lang="it-IT" sz="1400" b="0" dirty="0">
                <a:solidFill>
                  <a:srgbClr val="569CD6"/>
                </a:solidFill>
                <a:effectLst/>
                <a:latin typeface="Consolas" panose="020B0609020204030204" pitchFamily="49" charset="0"/>
              </a:rPr>
              <a:t>;</a:t>
            </a:r>
            <a:r>
              <a:rPr lang="it-IT" sz="1400" b="0" dirty="0">
                <a:solidFill>
                  <a:srgbClr val="D4D4D4"/>
                </a:solidFill>
                <a:effectLst/>
                <a:latin typeface="Consolas" panose="020B0609020204030204" pitchFamily="49" charset="0"/>
              </a:rPr>
              <a:t> </a:t>
            </a:r>
            <a:r>
              <a:rPr lang="it-IT" sz="1400" b="0" dirty="0">
                <a:solidFill>
                  <a:srgbClr val="6A9955"/>
                </a:solidFill>
                <a:effectLst/>
                <a:latin typeface="Consolas" panose="020B0609020204030204" pitchFamily="49" charset="0"/>
              </a:rPr>
              <a:t>// il campo name viene utilizzato con </a:t>
            </a:r>
            <a:r>
              <a:rPr lang="it-IT" sz="1400" b="0" dirty="0" err="1">
                <a:solidFill>
                  <a:srgbClr val="6A9955"/>
                </a:solidFill>
                <a:effectLst/>
                <a:latin typeface="Consolas" panose="020B0609020204030204" pitchFamily="49" charset="0"/>
              </a:rPr>
              <a:t>this</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26956451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dirty="0"/>
              <a:t>Quando il </a:t>
            </a:r>
            <a:r>
              <a:rPr lang="it-IT" b="1" dirty="0" err="1"/>
              <a:t>this</a:t>
            </a:r>
            <a:r>
              <a:rPr lang="it-IT" b="1" dirty="0"/>
              <a:t> è opzionale e quando no</a:t>
            </a:r>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2862322"/>
          </a:xfrm>
          <a:prstGeom prst="rect">
            <a:avLst/>
          </a:prstGeom>
          <a:noFill/>
        </p:spPr>
        <p:txBody>
          <a:bodyPr wrap="square">
            <a:spAutoFit/>
          </a:bodyPr>
          <a:lstStyle/>
          <a:p>
            <a:r>
              <a:rPr lang="it-IT" i="0" dirty="0">
                <a:solidFill>
                  <a:srgbClr val="050E17"/>
                </a:solidFill>
                <a:effectLst/>
                <a:latin typeface="-apple-system"/>
              </a:rPr>
              <a:t>In Java, quando non viene specificato il </a:t>
            </a:r>
            <a:r>
              <a:rPr lang="it-IT" i="0" dirty="0" err="1">
                <a:solidFill>
                  <a:srgbClr val="050E17"/>
                </a:solidFill>
                <a:effectLst/>
                <a:latin typeface="-apple-system"/>
              </a:rPr>
              <a:t>this</a:t>
            </a:r>
            <a:r>
              <a:rPr lang="it-IT" i="0" dirty="0">
                <a:solidFill>
                  <a:srgbClr val="050E17"/>
                </a:solidFill>
                <a:effectLst/>
                <a:latin typeface="-apple-system"/>
              </a:rPr>
              <a:t> in un metodo, il compilatore cerca una variabile locale con lo stesso nome del campo della classe. Se la variabile locale esiste, il compilatore utilizza quella variabile invece del campo della classe, il che può causare confusione e comportare risultati inattesi.</a:t>
            </a:r>
          </a:p>
          <a:p>
            <a:endParaRPr lang="it-IT" i="0" dirty="0">
              <a:solidFill>
                <a:srgbClr val="050E17"/>
              </a:solidFill>
              <a:effectLst/>
              <a:latin typeface="-apple-system"/>
            </a:endParaRPr>
          </a:p>
          <a:p>
            <a:r>
              <a:rPr lang="it-IT" i="0" dirty="0">
                <a:solidFill>
                  <a:srgbClr val="050E17"/>
                </a:solidFill>
                <a:effectLst/>
                <a:latin typeface="-apple-system"/>
              </a:rPr>
              <a:t>L'uso del </a:t>
            </a:r>
            <a:r>
              <a:rPr lang="it-IT" i="0" dirty="0" err="1">
                <a:solidFill>
                  <a:srgbClr val="050E17"/>
                </a:solidFill>
                <a:effectLst/>
                <a:latin typeface="-apple-system"/>
              </a:rPr>
              <a:t>this</a:t>
            </a:r>
            <a:r>
              <a:rPr lang="it-IT" i="0" dirty="0">
                <a:solidFill>
                  <a:srgbClr val="050E17"/>
                </a:solidFill>
                <a:effectLst/>
                <a:latin typeface="-apple-system"/>
              </a:rPr>
              <a:t> è necessario quando si vuole fare riferimento esplicitamente al campo della classe anziché alla variabile locale con lo stesso nome. In questo modo si evita la confusione e si garantisce che il campo della classe venga utilizzato nel modo desiderato.</a:t>
            </a:r>
          </a:p>
          <a:p>
            <a:endParaRPr lang="it-IT" i="0" dirty="0">
              <a:solidFill>
                <a:srgbClr val="050E17"/>
              </a:solidFill>
              <a:effectLst/>
              <a:latin typeface="-apple-system"/>
            </a:endParaRPr>
          </a:p>
          <a:p>
            <a:r>
              <a:rPr lang="it-IT" i="0" dirty="0">
                <a:solidFill>
                  <a:srgbClr val="050E17"/>
                </a:solidFill>
                <a:effectLst/>
                <a:latin typeface="-apple-system"/>
              </a:rPr>
              <a:t>Ad esempio, se abbiamo un campo della classe name e vogliamo utilizzarlo in un metodo chiamato </a:t>
            </a:r>
            <a:r>
              <a:rPr lang="it-IT" i="0" dirty="0" err="1">
                <a:solidFill>
                  <a:srgbClr val="050E17"/>
                </a:solidFill>
                <a:effectLst/>
                <a:latin typeface="-apple-system"/>
              </a:rPr>
              <a:t>printName</a:t>
            </a:r>
            <a:r>
              <a:rPr lang="it-IT" i="0" dirty="0">
                <a:solidFill>
                  <a:srgbClr val="050E17"/>
                </a:solidFill>
                <a:effectLst/>
                <a:latin typeface="-apple-system"/>
              </a:rPr>
              <a:t>(), possiamo scrivere il metodo in due modi differenti:</a:t>
            </a:r>
          </a:p>
        </p:txBody>
      </p:sp>
      <p:sp>
        <p:nvSpPr>
          <p:cNvPr id="2" name="CasellaDiTesto 1">
            <a:extLst>
              <a:ext uri="{FF2B5EF4-FFF2-40B4-BE49-F238E27FC236}">
                <a16:creationId xmlns:a16="http://schemas.microsoft.com/office/drawing/2014/main" id="{17268E73-3910-5790-9206-DBF79D58F096}"/>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
        <p:nvSpPr>
          <p:cNvPr id="7" name="CasellaDiTesto 6">
            <a:extLst>
              <a:ext uri="{FF2B5EF4-FFF2-40B4-BE49-F238E27FC236}">
                <a16:creationId xmlns:a16="http://schemas.microsoft.com/office/drawing/2014/main" id="{9A7988C5-D5E3-BE40-B004-52F3386F3053}"/>
              </a:ext>
            </a:extLst>
          </p:cNvPr>
          <p:cNvSpPr txBox="1"/>
          <p:nvPr/>
        </p:nvSpPr>
        <p:spPr>
          <a:xfrm>
            <a:off x="872538" y="4322877"/>
            <a:ext cx="9974405" cy="738664"/>
          </a:xfrm>
          <a:prstGeom prst="rect">
            <a:avLst/>
          </a:prstGeom>
          <a:solidFill>
            <a:schemeClr val="tx1">
              <a:lumMod val="85000"/>
              <a:lumOff val="15000"/>
            </a:schemeClr>
          </a:solidFill>
        </p:spPr>
        <p:txBody>
          <a:bodyPr wrap="square">
            <a:spAutoFit/>
          </a:bodyPr>
          <a:lstStyle/>
          <a:p>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a:t>
            </a:r>
            <a:r>
              <a:rPr lang="it-IT" sz="1400" b="0" dirty="0" err="1">
                <a:solidFill>
                  <a:srgbClr val="569CD6"/>
                </a:solidFill>
                <a:effectLst/>
                <a:latin typeface="Consolas" panose="020B0609020204030204" pitchFamily="49" charset="0"/>
              </a:rPr>
              <a:t>void</a:t>
            </a:r>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printName</a:t>
            </a:r>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System.out.println</a:t>
            </a:r>
            <a:r>
              <a:rPr lang="it-IT" sz="1400" b="0" dirty="0">
                <a:solidFill>
                  <a:srgbClr val="D4D4D4"/>
                </a:solidFill>
                <a:effectLst/>
                <a:latin typeface="Consolas" panose="020B0609020204030204" pitchFamily="49" charset="0"/>
              </a:rPr>
              <a:t>(</a:t>
            </a:r>
            <a:r>
              <a:rPr lang="it-IT" sz="1400" b="0" dirty="0">
                <a:solidFill>
                  <a:srgbClr val="569CD6"/>
                </a:solidFill>
                <a:effectLst/>
                <a:latin typeface="Consolas" panose="020B0609020204030204" pitchFamily="49" charset="0"/>
              </a:rPr>
              <a:t>this</a:t>
            </a:r>
            <a:r>
              <a:rPr lang="it-IT" sz="1400" b="0" dirty="0">
                <a:solidFill>
                  <a:srgbClr val="D4D4D4"/>
                </a:solidFill>
                <a:effectLst/>
                <a:latin typeface="Consolas" panose="020B0609020204030204" pitchFamily="49" charset="0"/>
              </a:rPr>
              <a:t>.name)</a:t>
            </a:r>
            <a:r>
              <a:rPr lang="it-IT" sz="1400" b="0" dirty="0">
                <a:solidFill>
                  <a:srgbClr val="569CD6"/>
                </a:solidFill>
                <a:effectLst/>
                <a:latin typeface="Consolas" panose="020B0609020204030204" pitchFamily="49" charset="0"/>
              </a:rPr>
              <a:t>;</a:t>
            </a:r>
            <a:r>
              <a:rPr lang="it-IT" sz="1400" b="0" dirty="0">
                <a:solidFill>
                  <a:srgbClr val="D4D4D4"/>
                </a:solidFill>
                <a:effectLst/>
                <a:latin typeface="Consolas" panose="020B0609020204030204" pitchFamily="49" charset="0"/>
              </a:rPr>
              <a:t> </a:t>
            </a:r>
            <a:r>
              <a:rPr lang="it-IT" sz="1400" b="0" dirty="0">
                <a:solidFill>
                  <a:srgbClr val="6A9955"/>
                </a:solidFill>
                <a:effectLst/>
                <a:latin typeface="Consolas" panose="020B0609020204030204" pitchFamily="49" charset="0"/>
              </a:rPr>
              <a:t>// il campo name viene utilizzato con </a:t>
            </a:r>
            <a:r>
              <a:rPr lang="it-IT" sz="1400" b="0" dirty="0" err="1">
                <a:solidFill>
                  <a:srgbClr val="6A9955"/>
                </a:solidFill>
                <a:effectLst/>
                <a:latin typeface="Consolas" panose="020B0609020204030204" pitchFamily="49" charset="0"/>
              </a:rPr>
              <a:t>this</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a:t>
            </a:r>
          </a:p>
        </p:txBody>
      </p:sp>
      <p:sp>
        <p:nvSpPr>
          <p:cNvPr id="10" name="CasellaDiTesto 9">
            <a:extLst>
              <a:ext uri="{FF2B5EF4-FFF2-40B4-BE49-F238E27FC236}">
                <a16:creationId xmlns:a16="http://schemas.microsoft.com/office/drawing/2014/main" id="{8A170736-AB5F-6A6C-3EC8-07D36037B2F4}"/>
              </a:ext>
            </a:extLst>
          </p:cNvPr>
          <p:cNvSpPr txBox="1"/>
          <p:nvPr/>
        </p:nvSpPr>
        <p:spPr>
          <a:xfrm>
            <a:off x="872539" y="5170847"/>
            <a:ext cx="9974405" cy="738664"/>
          </a:xfrm>
          <a:prstGeom prst="rect">
            <a:avLst/>
          </a:prstGeom>
          <a:solidFill>
            <a:schemeClr val="tx1">
              <a:lumMod val="85000"/>
              <a:lumOff val="15000"/>
            </a:schemeClr>
          </a:solidFill>
        </p:spPr>
        <p:txBody>
          <a:bodyPr wrap="square">
            <a:spAutoFit/>
          </a:bodyPr>
          <a:lstStyle/>
          <a:p>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a:t>
            </a:r>
            <a:r>
              <a:rPr lang="it-IT" sz="1400" b="0" dirty="0" err="1">
                <a:solidFill>
                  <a:srgbClr val="569CD6"/>
                </a:solidFill>
                <a:effectLst/>
                <a:latin typeface="Consolas" panose="020B0609020204030204" pitchFamily="49" charset="0"/>
              </a:rPr>
              <a:t>void</a:t>
            </a:r>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printName</a:t>
            </a:r>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System.out.println</a:t>
            </a:r>
            <a:r>
              <a:rPr lang="it-IT" sz="1400" b="0" dirty="0">
                <a:solidFill>
                  <a:srgbClr val="D4D4D4"/>
                </a:solidFill>
                <a:effectLst/>
                <a:latin typeface="Consolas" panose="020B0609020204030204" pitchFamily="49" charset="0"/>
              </a:rPr>
              <a:t>(</a:t>
            </a:r>
            <a:r>
              <a:rPr lang="it-IT" sz="1400" b="0" dirty="0">
                <a:solidFill>
                  <a:srgbClr val="569CD6"/>
                </a:solidFill>
                <a:effectLst/>
                <a:latin typeface="Consolas" panose="020B0609020204030204" pitchFamily="49" charset="0"/>
              </a:rPr>
              <a:t>this</a:t>
            </a:r>
            <a:r>
              <a:rPr lang="it-IT" sz="1400" b="0" dirty="0">
                <a:solidFill>
                  <a:srgbClr val="D4D4D4"/>
                </a:solidFill>
                <a:effectLst/>
                <a:latin typeface="Consolas" panose="020B0609020204030204" pitchFamily="49" charset="0"/>
              </a:rPr>
              <a:t>.name)</a:t>
            </a:r>
            <a:r>
              <a:rPr lang="it-IT" sz="1400" b="0" dirty="0">
                <a:solidFill>
                  <a:srgbClr val="569CD6"/>
                </a:solidFill>
                <a:effectLst/>
                <a:latin typeface="Consolas" panose="020B0609020204030204" pitchFamily="49" charset="0"/>
              </a:rPr>
              <a:t>;</a:t>
            </a:r>
            <a:r>
              <a:rPr lang="it-IT" sz="1400" b="0" dirty="0">
                <a:solidFill>
                  <a:srgbClr val="D4D4D4"/>
                </a:solidFill>
                <a:effectLst/>
                <a:latin typeface="Consolas" panose="020B0609020204030204" pitchFamily="49" charset="0"/>
              </a:rPr>
              <a:t> </a:t>
            </a:r>
            <a:r>
              <a:rPr lang="it-IT" sz="1400" b="0" dirty="0">
                <a:solidFill>
                  <a:srgbClr val="6A9955"/>
                </a:solidFill>
                <a:effectLst/>
                <a:latin typeface="Consolas" panose="020B0609020204030204" pitchFamily="49" charset="0"/>
              </a:rPr>
              <a:t>// il campo name viene utilizzato con </a:t>
            </a:r>
            <a:r>
              <a:rPr lang="it-IT" sz="1400" b="0" dirty="0" err="1">
                <a:solidFill>
                  <a:srgbClr val="6A9955"/>
                </a:solidFill>
                <a:effectLst/>
                <a:latin typeface="Consolas" panose="020B0609020204030204" pitchFamily="49" charset="0"/>
              </a:rPr>
              <a:t>this</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00342584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dirty="0"/>
              <a:t>Quando il </a:t>
            </a:r>
            <a:r>
              <a:rPr lang="it-IT" b="1" dirty="0" err="1"/>
              <a:t>this</a:t>
            </a:r>
            <a:r>
              <a:rPr lang="it-IT" b="1" dirty="0"/>
              <a:t> è opzionale e quando no</a:t>
            </a:r>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2862322"/>
          </a:xfrm>
          <a:prstGeom prst="rect">
            <a:avLst/>
          </a:prstGeom>
          <a:noFill/>
        </p:spPr>
        <p:txBody>
          <a:bodyPr wrap="square">
            <a:spAutoFit/>
          </a:bodyPr>
          <a:lstStyle/>
          <a:p>
            <a:r>
              <a:rPr lang="it-IT" i="0" dirty="0">
                <a:solidFill>
                  <a:srgbClr val="050E17"/>
                </a:solidFill>
                <a:effectLst/>
                <a:latin typeface="-apple-system"/>
              </a:rPr>
              <a:t>In Java, quando non viene specificato il </a:t>
            </a:r>
            <a:r>
              <a:rPr lang="it-IT" i="0" dirty="0" err="1">
                <a:solidFill>
                  <a:srgbClr val="050E17"/>
                </a:solidFill>
                <a:effectLst/>
                <a:latin typeface="-apple-system"/>
              </a:rPr>
              <a:t>this</a:t>
            </a:r>
            <a:r>
              <a:rPr lang="it-IT" i="0" dirty="0">
                <a:solidFill>
                  <a:srgbClr val="050E17"/>
                </a:solidFill>
                <a:effectLst/>
                <a:latin typeface="-apple-system"/>
              </a:rPr>
              <a:t> in un metodo, il compilatore cerca una variabile locale con lo stesso nome del campo della classe. Se la variabile locale esiste, il compilatore utilizza quella variabile invece del campo della classe, il che può causare confusione e comportare risultati inattesi.</a:t>
            </a:r>
          </a:p>
          <a:p>
            <a:endParaRPr lang="it-IT" i="0" dirty="0">
              <a:solidFill>
                <a:srgbClr val="050E17"/>
              </a:solidFill>
              <a:effectLst/>
              <a:latin typeface="-apple-system"/>
            </a:endParaRPr>
          </a:p>
          <a:p>
            <a:r>
              <a:rPr lang="it-IT" i="0" dirty="0">
                <a:solidFill>
                  <a:srgbClr val="050E17"/>
                </a:solidFill>
                <a:effectLst/>
                <a:latin typeface="-apple-system"/>
              </a:rPr>
              <a:t>L'uso del </a:t>
            </a:r>
            <a:r>
              <a:rPr lang="it-IT" i="0" dirty="0" err="1">
                <a:solidFill>
                  <a:srgbClr val="050E17"/>
                </a:solidFill>
                <a:effectLst/>
                <a:latin typeface="-apple-system"/>
              </a:rPr>
              <a:t>this</a:t>
            </a:r>
            <a:r>
              <a:rPr lang="it-IT" i="0" dirty="0">
                <a:solidFill>
                  <a:srgbClr val="050E17"/>
                </a:solidFill>
                <a:effectLst/>
                <a:latin typeface="-apple-system"/>
              </a:rPr>
              <a:t> è necessario quando si vuole fare riferimento esplicitamente al campo della classe anziché alla variabile locale con lo stesso nome. In questo modo si evita la confusione e si garantisce che il campo della classe venga utilizzato nel modo desiderato.</a:t>
            </a:r>
          </a:p>
          <a:p>
            <a:endParaRPr lang="it-IT" i="0" dirty="0">
              <a:solidFill>
                <a:srgbClr val="050E17"/>
              </a:solidFill>
              <a:effectLst/>
              <a:latin typeface="-apple-system"/>
            </a:endParaRPr>
          </a:p>
          <a:p>
            <a:r>
              <a:rPr lang="it-IT" i="0" dirty="0">
                <a:solidFill>
                  <a:srgbClr val="050E17"/>
                </a:solidFill>
                <a:effectLst/>
                <a:latin typeface="-apple-system"/>
              </a:rPr>
              <a:t>Ad esempio, se abbiamo un campo della classe name e vogliamo utilizzarlo in un metodo chiamato </a:t>
            </a:r>
            <a:r>
              <a:rPr lang="it-IT" i="0" dirty="0" err="1">
                <a:solidFill>
                  <a:srgbClr val="050E17"/>
                </a:solidFill>
                <a:effectLst/>
                <a:latin typeface="-apple-system"/>
              </a:rPr>
              <a:t>printName</a:t>
            </a:r>
            <a:r>
              <a:rPr lang="it-IT" i="0" dirty="0">
                <a:solidFill>
                  <a:srgbClr val="050E17"/>
                </a:solidFill>
                <a:effectLst/>
                <a:latin typeface="-apple-system"/>
              </a:rPr>
              <a:t>(), possiamo scrivere il metodo in due modi differenti:</a:t>
            </a:r>
          </a:p>
        </p:txBody>
      </p:sp>
      <p:sp>
        <p:nvSpPr>
          <p:cNvPr id="2" name="CasellaDiTesto 1">
            <a:extLst>
              <a:ext uri="{FF2B5EF4-FFF2-40B4-BE49-F238E27FC236}">
                <a16:creationId xmlns:a16="http://schemas.microsoft.com/office/drawing/2014/main" id="{17268E73-3910-5790-9206-DBF79D58F096}"/>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
        <p:nvSpPr>
          <p:cNvPr id="7" name="CasellaDiTesto 6">
            <a:extLst>
              <a:ext uri="{FF2B5EF4-FFF2-40B4-BE49-F238E27FC236}">
                <a16:creationId xmlns:a16="http://schemas.microsoft.com/office/drawing/2014/main" id="{9A7988C5-D5E3-BE40-B004-52F3386F3053}"/>
              </a:ext>
            </a:extLst>
          </p:cNvPr>
          <p:cNvSpPr txBox="1"/>
          <p:nvPr/>
        </p:nvSpPr>
        <p:spPr>
          <a:xfrm>
            <a:off x="872538" y="4322877"/>
            <a:ext cx="9974405" cy="738664"/>
          </a:xfrm>
          <a:prstGeom prst="rect">
            <a:avLst/>
          </a:prstGeom>
          <a:solidFill>
            <a:schemeClr val="tx1">
              <a:lumMod val="85000"/>
              <a:lumOff val="15000"/>
            </a:schemeClr>
          </a:solidFill>
        </p:spPr>
        <p:txBody>
          <a:bodyPr wrap="square">
            <a:spAutoFit/>
          </a:bodyPr>
          <a:lstStyle/>
          <a:p>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a:t>
            </a:r>
            <a:r>
              <a:rPr lang="it-IT" sz="1400" b="0" dirty="0" err="1">
                <a:solidFill>
                  <a:srgbClr val="569CD6"/>
                </a:solidFill>
                <a:effectLst/>
                <a:latin typeface="Consolas" panose="020B0609020204030204" pitchFamily="49" charset="0"/>
              </a:rPr>
              <a:t>void</a:t>
            </a:r>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printName</a:t>
            </a:r>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System.out.println</a:t>
            </a:r>
            <a:r>
              <a:rPr lang="it-IT" sz="1400" b="0" dirty="0">
                <a:solidFill>
                  <a:srgbClr val="D4D4D4"/>
                </a:solidFill>
                <a:effectLst/>
                <a:latin typeface="Consolas" panose="020B0609020204030204" pitchFamily="49" charset="0"/>
              </a:rPr>
              <a:t>(</a:t>
            </a:r>
            <a:r>
              <a:rPr lang="it-IT" sz="1400" b="0" dirty="0">
                <a:solidFill>
                  <a:srgbClr val="569CD6"/>
                </a:solidFill>
                <a:effectLst/>
                <a:latin typeface="Consolas" panose="020B0609020204030204" pitchFamily="49" charset="0"/>
              </a:rPr>
              <a:t>this</a:t>
            </a:r>
            <a:r>
              <a:rPr lang="it-IT" sz="1400" b="0" dirty="0">
                <a:solidFill>
                  <a:srgbClr val="D4D4D4"/>
                </a:solidFill>
                <a:effectLst/>
                <a:latin typeface="Consolas" panose="020B0609020204030204" pitchFamily="49" charset="0"/>
              </a:rPr>
              <a:t>.name)</a:t>
            </a:r>
            <a:r>
              <a:rPr lang="it-IT" sz="1400" b="0" dirty="0">
                <a:solidFill>
                  <a:srgbClr val="569CD6"/>
                </a:solidFill>
                <a:effectLst/>
                <a:latin typeface="Consolas" panose="020B0609020204030204" pitchFamily="49" charset="0"/>
              </a:rPr>
              <a:t>;</a:t>
            </a:r>
            <a:r>
              <a:rPr lang="it-IT" sz="1400" b="0" dirty="0">
                <a:solidFill>
                  <a:srgbClr val="D4D4D4"/>
                </a:solidFill>
                <a:effectLst/>
                <a:latin typeface="Consolas" panose="020B0609020204030204" pitchFamily="49" charset="0"/>
              </a:rPr>
              <a:t> </a:t>
            </a:r>
            <a:r>
              <a:rPr lang="it-IT" sz="1400" b="0" dirty="0">
                <a:solidFill>
                  <a:srgbClr val="6A9955"/>
                </a:solidFill>
                <a:effectLst/>
                <a:latin typeface="Consolas" panose="020B0609020204030204" pitchFamily="49" charset="0"/>
              </a:rPr>
              <a:t>// il campo name viene utilizzato con </a:t>
            </a:r>
            <a:r>
              <a:rPr lang="it-IT" sz="1400" b="0" dirty="0" err="1">
                <a:solidFill>
                  <a:srgbClr val="6A9955"/>
                </a:solidFill>
                <a:effectLst/>
                <a:latin typeface="Consolas" panose="020B0609020204030204" pitchFamily="49" charset="0"/>
              </a:rPr>
              <a:t>this</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a:t>
            </a:r>
          </a:p>
        </p:txBody>
      </p:sp>
      <p:sp>
        <p:nvSpPr>
          <p:cNvPr id="10" name="CasellaDiTesto 9">
            <a:extLst>
              <a:ext uri="{FF2B5EF4-FFF2-40B4-BE49-F238E27FC236}">
                <a16:creationId xmlns:a16="http://schemas.microsoft.com/office/drawing/2014/main" id="{8A170736-AB5F-6A6C-3EC8-07D36037B2F4}"/>
              </a:ext>
            </a:extLst>
          </p:cNvPr>
          <p:cNvSpPr txBox="1"/>
          <p:nvPr/>
        </p:nvSpPr>
        <p:spPr>
          <a:xfrm>
            <a:off x="872539" y="5170847"/>
            <a:ext cx="9974405" cy="738664"/>
          </a:xfrm>
          <a:prstGeom prst="rect">
            <a:avLst/>
          </a:prstGeom>
          <a:solidFill>
            <a:schemeClr val="tx1">
              <a:lumMod val="85000"/>
              <a:lumOff val="15000"/>
            </a:schemeClr>
          </a:solidFill>
        </p:spPr>
        <p:txBody>
          <a:bodyPr wrap="square">
            <a:spAutoFit/>
          </a:bodyPr>
          <a:lstStyle/>
          <a:p>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a:t>
            </a:r>
            <a:r>
              <a:rPr lang="it-IT" sz="1400" b="0" dirty="0" err="1">
                <a:solidFill>
                  <a:srgbClr val="569CD6"/>
                </a:solidFill>
                <a:effectLst/>
                <a:latin typeface="Consolas" panose="020B0609020204030204" pitchFamily="49" charset="0"/>
              </a:rPr>
              <a:t>void</a:t>
            </a:r>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printName</a:t>
            </a:r>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System.out.println</a:t>
            </a:r>
            <a:r>
              <a:rPr lang="it-IT" sz="1400" b="0" dirty="0">
                <a:solidFill>
                  <a:srgbClr val="D4D4D4"/>
                </a:solidFill>
                <a:effectLst/>
                <a:latin typeface="Consolas" panose="020B0609020204030204" pitchFamily="49" charset="0"/>
              </a:rPr>
              <a:t>(</a:t>
            </a:r>
            <a:r>
              <a:rPr lang="it-IT" sz="1400" b="0" dirty="0">
                <a:solidFill>
                  <a:srgbClr val="569CD6"/>
                </a:solidFill>
                <a:effectLst/>
                <a:latin typeface="Consolas" panose="020B0609020204030204" pitchFamily="49" charset="0"/>
              </a:rPr>
              <a:t>this</a:t>
            </a:r>
            <a:r>
              <a:rPr lang="it-IT" sz="1400" b="0" dirty="0">
                <a:solidFill>
                  <a:srgbClr val="D4D4D4"/>
                </a:solidFill>
                <a:effectLst/>
                <a:latin typeface="Consolas" panose="020B0609020204030204" pitchFamily="49" charset="0"/>
              </a:rPr>
              <a:t>.name)</a:t>
            </a:r>
            <a:r>
              <a:rPr lang="it-IT" sz="1400" b="0" dirty="0">
                <a:solidFill>
                  <a:srgbClr val="569CD6"/>
                </a:solidFill>
                <a:effectLst/>
                <a:latin typeface="Consolas" panose="020B0609020204030204" pitchFamily="49" charset="0"/>
              </a:rPr>
              <a:t>;</a:t>
            </a:r>
            <a:r>
              <a:rPr lang="it-IT" sz="1400" b="0" dirty="0">
                <a:solidFill>
                  <a:srgbClr val="D4D4D4"/>
                </a:solidFill>
                <a:effectLst/>
                <a:latin typeface="Consolas" panose="020B0609020204030204" pitchFamily="49" charset="0"/>
              </a:rPr>
              <a:t> </a:t>
            </a:r>
            <a:r>
              <a:rPr lang="it-IT" sz="1400" b="0" dirty="0">
                <a:solidFill>
                  <a:srgbClr val="6A9955"/>
                </a:solidFill>
                <a:effectLst/>
                <a:latin typeface="Consolas" panose="020B0609020204030204" pitchFamily="49" charset="0"/>
              </a:rPr>
              <a:t>// il campo name viene utilizzato con </a:t>
            </a:r>
            <a:r>
              <a:rPr lang="it-IT" sz="1400" b="0" dirty="0" err="1">
                <a:solidFill>
                  <a:srgbClr val="6A9955"/>
                </a:solidFill>
                <a:effectLst/>
                <a:latin typeface="Consolas" panose="020B0609020204030204" pitchFamily="49" charset="0"/>
              </a:rPr>
              <a:t>this</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a:t>
            </a:r>
          </a:p>
        </p:txBody>
      </p:sp>
      <p:sp>
        <p:nvSpPr>
          <p:cNvPr id="11" name="Rectangle 1">
            <a:extLst>
              <a:ext uri="{FF2B5EF4-FFF2-40B4-BE49-F238E27FC236}">
                <a16:creationId xmlns:a16="http://schemas.microsoft.com/office/drawing/2014/main" id="{75BEF3D3-2368-B38D-DB7A-EFBB91DF8267}"/>
              </a:ext>
            </a:extLst>
          </p:cNvPr>
          <p:cNvSpPr>
            <a:spLocks noChangeArrowheads="1"/>
          </p:cNvSpPr>
          <p:nvPr/>
        </p:nvSpPr>
        <p:spPr bwMode="auto">
          <a:xfrm>
            <a:off x="872537" y="6057299"/>
            <a:ext cx="9974405" cy="553998"/>
          </a:xfrm>
          <a:prstGeom prst="rect">
            <a:avLst/>
          </a:prstGeom>
          <a:solidFill>
            <a:srgbClr val="F7F7F8"/>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374151"/>
                </a:solidFill>
                <a:effectLst/>
                <a:latin typeface="Söhne"/>
              </a:rPr>
              <a:t>Entrambi i modi funzionano, ma l'uso del </a:t>
            </a:r>
            <a:r>
              <a:rPr kumimoji="0" lang="it-IT" altLang="it-IT" sz="1500" b="1" i="0" u="none" strike="noStrike" cap="none" normalizeH="0" baseline="0" dirty="0" err="1">
                <a:ln>
                  <a:noFill/>
                </a:ln>
                <a:solidFill>
                  <a:schemeClr val="tx1"/>
                </a:solidFill>
                <a:effectLst/>
                <a:latin typeface="Söhne Mono"/>
              </a:rPr>
              <a:t>this</a:t>
            </a:r>
            <a:r>
              <a:rPr kumimoji="0" lang="it-IT" altLang="it-IT" sz="1500" b="0" i="0" u="none" strike="noStrike" cap="none" normalizeH="0" baseline="0" dirty="0">
                <a:ln>
                  <a:noFill/>
                </a:ln>
                <a:solidFill>
                  <a:srgbClr val="374151"/>
                </a:solidFill>
                <a:effectLst/>
                <a:latin typeface="Söhne"/>
              </a:rPr>
              <a:t> rende più chiaro e esplicito che stiamo facendo riferimento al campo della classe.</a:t>
            </a:r>
            <a:r>
              <a:rPr kumimoji="0" lang="it-IT" altLang="it-IT" sz="1500" b="0" i="0" u="none" strike="noStrike" cap="none" normalizeH="0" baseline="0" dirty="0">
                <a:ln>
                  <a:noFill/>
                </a:ln>
                <a:solidFill>
                  <a:schemeClr val="tx1"/>
                </a:solidFill>
                <a:effectLst/>
              </a:rPr>
              <a:t> </a:t>
            </a: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0888359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dirty="0"/>
              <a:t>Quando il </a:t>
            </a:r>
            <a:r>
              <a:rPr lang="it-IT" b="1" dirty="0" err="1"/>
              <a:t>this</a:t>
            </a:r>
            <a:r>
              <a:rPr lang="it-IT" b="1" dirty="0"/>
              <a:t> è opzionale e quando no</a:t>
            </a:r>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369332"/>
          </a:xfrm>
          <a:prstGeom prst="rect">
            <a:avLst/>
          </a:prstGeom>
          <a:noFill/>
        </p:spPr>
        <p:txBody>
          <a:bodyPr wrap="square">
            <a:spAutoFit/>
          </a:bodyPr>
          <a:lstStyle/>
          <a:p>
            <a:r>
              <a:rPr lang="it-IT" i="0" dirty="0">
                <a:solidFill>
                  <a:srgbClr val="050E17"/>
                </a:solidFill>
                <a:effectLst/>
                <a:latin typeface="-apple-system"/>
              </a:rPr>
              <a:t>Prendiamo questo codice</a:t>
            </a:r>
          </a:p>
        </p:txBody>
      </p:sp>
      <p:sp>
        <p:nvSpPr>
          <p:cNvPr id="2" name="CasellaDiTesto 1">
            <a:extLst>
              <a:ext uri="{FF2B5EF4-FFF2-40B4-BE49-F238E27FC236}">
                <a16:creationId xmlns:a16="http://schemas.microsoft.com/office/drawing/2014/main" id="{17268E73-3910-5790-9206-DBF79D58F096}"/>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Tree>
    <p:extLst>
      <p:ext uri="{BB962C8B-B14F-4D97-AF65-F5344CB8AC3E}">
        <p14:creationId xmlns:p14="http://schemas.microsoft.com/office/powerpoint/2010/main" val="405067160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dirty="0"/>
              <a:t>Quando il </a:t>
            </a:r>
            <a:r>
              <a:rPr lang="it-IT" b="1" dirty="0" err="1"/>
              <a:t>this</a:t>
            </a:r>
            <a:r>
              <a:rPr lang="it-IT" b="1" dirty="0"/>
              <a:t> è opzionale e quando no</a:t>
            </a:r>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369332"/>
          </a:xfrm>
          <a:prstGeom prst="rect">
            <a:avLst/>
          </a:prstGeom>
          <a:noFill/>
        </p:spPr>
        <p:txBody>
          <a:bodyPr wrap="square">
            <a:spAutoFit/>
          </a:bodyPr>
          <a:lstStyle/>
          <a:p>
            <a:r>
              <a:rPr lang="it-IT" i="0" dirty="0">
                <a:solidFill>
                  <a:srgbClr val="050E17"/>
                </a:solidFill>
                <a:effectLst/>
                <a:latin typeface="-apple-system"/>
              </a:rPr>
              <a:t>Prendiamo questo codice</a:t>
            </a:r>
          </a:p>
        </p:txBody>
      </p:sp>
      <p:sp>
        <p:nvSpPr>
          <p:cNvPr id="2" name="CasellaDiTesto 1">
            <a:extLst>
              <a:ext uri="{FF2B5EF4-FFF2-40B4-BE49-F238E27FC236}">
                <a16:creationId xmlns:a16="http://schemas.microsoft.com/office/drawing/2014/main" id="{17268E73-3910-5790-9206-DBF79D58F096}"/>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
        <p:nvSpPr>
          <p:cNvPr id="8" name="CasellaDiTesto 7">
            <a:extLst>
              <a:ext uri="{FF2B5EF4-FFF2-40B4-BE49-F238E27FC236}">
                <a16:creationId xmlns:a16="http://schemas.microsoft.com/office/drawing/2014/main" id="{94F3D538-602A-F9A0-5CD3-1B092B3167F6}"/>
              </a:ext>
            </a:extLst>
          </p:cNvPr>
          <p:cNvSpPr txBox="1"/>
          <p:nvPr/>
        </p:nvSpPr>
        <p:spPr>
          <a:xfrm>
            <a:off x="282040" y="1744534"/>
            <a:ext cx="11622414" cy="2893100"/>
          </a:xfrm>
          <a:prstGeom prst="rect">
            <a:avLst/>
          </a:prstGeom>
          <a:solidFill>
            <a:schemeClr val="tx1">
              <a:lumMod val="85000"/>
              <a:lumOff val="15000"/>
            </a:schemeClr>
          </a:solidFill>
        </p:spPr>
        <p:txBody>
          <a:bodyPr wrap="square">
            <a:spAutoFit/>
          </a:bodyPr>
          <a:lstStyle/>
          <a:p>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class</a:t>
            </a:r>
            <a:r>
              <a:rPr lang="it-IT" sz="1400" b="0" dirty="0">
                <a:solidFill>
                  <a:srgbClr val="D4D4D4"/>
                </a:solidFill>
                <a:effectLst/>
                <a:latin typeface="Consolas" panose="020B0609020204030204" pitchFamily="49" charset="0"/>
              </a:rPr>
              <a:t> Persona {</a:t>
            </a:r>
          </a:p>
          <a:p>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private</a:t>
            </a:r>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String</a:t>
            </a:r>
            <a:r>
              <a:rPr lang="it-IT" sz="1400" b="0" dirty="0">
                <a:solidFill>
                  <a:srgbClr val="D4D4D4"/>
                </a:solidFill>
                <a:effectLst/>
                <a:latin typeface="Consolas" panose="020B0609020204030204" pitchFamily="49" charset="0"/>
              </a:rPr>
              <a:t> nome</a:t>
            </a:r>
            <a:r>
              <a:rPr lang="it-IT" sz="1400" b="0" dirty="0">
                <a:solidFill>
                  <a:srgbClr val="569CD6"/>
                </a:solidFill>
                <a:effectLst/>
                <a:latin typeface="Consolas" panose="020B0609020204030204" pitchFamily="49" charset="0"/>
              </a:rPr>
              <a:t>;</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Persona(</a:t>
            </a:r>
            <a:r>
              <a:rPr lang="it-IT" sz="1400" b="0" dirty="0" err="1">
                <a:solidFill>
                  <a:srgbClr val="D4D4D4"/>
                </a:solidFill>
                <a:effectLst/>
                <a:latin typeface="Consolas" panose="020B0609020204030204" pitchFamily="49" charset="0"/>
              </a:rPr>
              <a:t>String</a:t>
            </a:r>
            <a:r>
              <a:rPr lang="it-IT" sz="1400" b="0" dirty="0">
                <a:solidFill>
                  <a:srgbClr val="D4D4D4"/>
                </a:solidFill>
                <a:effectLst/>
                <a:latin typeface="Consolas" panose="020B0609020204030204" pitchFamily="49" charset="0"/>
              </a:rPr>
              <a:t> nome) {</a:t>
            </a:r>
          </a:p>
          <a:p>
            <a:r>
              <a:rPr lang="it-IT" sz="1400" b="0" dirty="0">
                <a:solidFill>
                  <a:srgbClr val="D4D4D4"/>
                </a:solidFill>
                <a:effectLst/>
                <a:latin typeface="Consolas" panose="020B0609020204030204" pitchFamily="49" charset="0"/>
              </a:rPr>
              <a:t>        </a:t>
            </a:r>
            <a:r>
              <a:rPr lang="it-IT" sz="1400" b="0" dirty="0" err="1">
                <a:solidFill>
                  <a:srgbClr val="569CD6"/>
                </a:solidFill>
                <a:effectLst/>
                <a:latin typeface="Consolas" panose="020B0609020204030204" pitchFamily="49" charset="0"/>
              </a:rPr>
              <a:t>this</a:t>
            </a:r>
            <a:r>
              <a:rPr lang="it-IT" sz="1400" b="0" dirty="0" err="1">
                <a:solidFill>
                  <a:srgbClr val="D4D4D4"/>
                </a:solidFill>
                <a:effectLst/>
                <a:latin typeface="Consolas" panose="020B0609020204030204" pitchFamily="49" charset="0"/>
              </a:rPr>
              <a:t>.nome</a:t>
            </a:r>
            <a:r>
              <a:rPr lang="it-IT" sz="1400" b="0" dirty="0">
                <a:solidFill>
                  <a:srgbClr val="D4D4D4"/>
                </a:solidFill>
                <a:effectLst/>
                <a:latin typeface="Consolas" panose="020B0609020204030204" pitchFamily="49" charset="0"/>
              </a:rPr>
              <a:t> = nome</a:t>
            </a:r>
            <a:r>
              <a:rPr lang="it-IT" sz="1400" b="0" dirty="0">
                <a:solidFill>
                  <a:srgbClr val="569CD6"/>
                </a:solidFill>
                <a:effectLst/>
                <a:latin typeface="Consolas" panose="020B0609020204030204" pitchFamily="49" charset="0"/>
              </a:rPr>
              <a:t>;</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a:t>
            </a:r>
            <a:r>
              <a:rPr lang="it-IT" sz="1400" b="0" dirty="0" err="1">
                <a:solidFill>
                  <a:srgbClr val="569CD6"/>
                </a:solidFill>
                <a:effectLst/>
                <a:latin typeface="Consolas" panose="020B0609020204030204" pitchFamily="49" charset="0"/>
              </a:rPr>
              <a:t>void</a:t>
            </a:r>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stampaNome</a:t>
            </a:r>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String</a:t>
            </a:r>
            <a:r>
              <a:rPr lang="it-IT" sz="1400" b="0" dirty="0">
                <a:solidFill>
                  <a:srgbClr val="D4D4D4"/>
                </a:solidFill>
                <a:effectLst/>
                <a:latin typeface="Consolas" panose="020B0609020204030204" pitchFamily="49" charset="0"/>
              </a:rPr>
              <a:t> nome = </a:t>
            </a:r>
            <a:r>
              <a:rPr lang="it-IT" sz="1400" b="0" dirty="0">
                <a:solidFill>
                  <a:srgbClr val="CE9178"/>
                </a:solidFill>
                <a:effectLst/>
                <a:latin typeface="Consolas" panose="020B0609020204030204" pitchFamily="49" charset="0"/>
              </a:rPr>
              <a:t>"Mario"</a:t>
            </a:r>
            <a:r>
              <a:rPr lang="it-IT" sz="1400" b="0" dirty="0">
                <a:solidFill>
                  <a:srgbClr val="569CD6"/>
                </a:solidFill>
                <a:effectLst/>
                <a:latin typeface="Consolas" panose="020B0609020204030204" pitchFamily="49" charset="0"/>
              </a:rPr>
              <a:t>;</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System.out.println</a:t>
            </a:r>
            <a:r>
              <a:rPr lang="it-IT" sz="1400" b="0" dirty="0">
                <a:solidFill>
                  <a:srgbClr val="D4D4D4"/>
                </a:solidFill>
                <a:effectLst/>
                <a:latin typeface="Consolas" panose="020B0609020204030204" pitchFamily="49" charset="0"/>
              </a:rPr>
              <a:t>(</a:t>
            </a:r>
            <a:r>
              <a:rPr lang="it-IT" sz="1400" b="0" dirty="0">
                <a:solidFill>
                  <a:srgbClr val="CE9178"/>
                </a:solidFill>
                <a:effectLst/>
                <a:latin typeface="Consolas" panose="020B0609020204030204" pitchFamily="49" charset="0"/>
              </a:rPr>
              <a:t>"Il nome è: "</a:t>
            </a:r>
            <a:r>
              <a:rPr lang="it-IT" sz="1400" b="0" dirty="0">
                <a:solidFill>
                  <a:srgbClr val="D4D4D4"/>
                </a:solidFill>
                <a:effectLst/>
                <a:latin typeface="Consolas" panose="020B0609020204030204" pitchFamily="49" charset="0"/>
              </a:rPr>
              <a:t> + nome)</a:t>
            </a:r>
            <a:r>
              <a:rPr lang="it-IT" sz="1400" b="0" dirty="0">
                <a:solidFill>
                  <a:srgbClr val="569CD6"/>
                </a:solidFill>
                <a:effectLst/>
                <a:latin typeface="Consolas" panose="020B0609020204030204" pitchFamily="49" charset="0"/>
              </a:rPr>
              <a:t>;</a:t>
            </a:r>
            <a:r>
              <a:rPr lang="it-IT" sz="1400" b="0" dirty="0">
                <a:solidFill>
                  <a:srgbClr val="D4D4D4"/>
                </a:solidFill>
                <a:effectLst/>
                <a:latin typeface="Consolas" panose="020B0609020204030204" pitchFamily="49" charset="0"/>
              </a:rPr>
              <a:t> </a:t>
            </a:r>
            <a:r>
              <a:rPr lang="it-IT" sz="1400" b="0" dirty="0">
                <a:solidFill>
                  <a:srgbClr val="6A9955"/>
                </a:solidFill>
                <a:effectLst/>
                <a:latin typeface="Consolas" panose="020B0609020204030204" pitchFamily="49" charset="0"/>
              </a:rPr>
              <a:t>// Stampa "Il nome è: Mario"</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System.out.println</a:t>
            </a:r>
            <a:r>
              <a:rPr lang="it-IT" sz="1400" b="0" dirty="0">
                <a:solidFill>
                  <a:srgbClr val="D4D4D4"/>
                </a:solidFill>
                <a:effectLst/>
                <a:latin typeface="Consolas" panose="020B0609020204030204" pitchFamily="49" charset="0"/>
              </a:rPr>
              <a:t>(</a:t>
            </a:r>
            <a:r>
              <a:rPr lang="it-IT" sz="1400" b="0" dirty="0">
                <a:solidFill>
                  <a:srgbClr val="CE9178"/>
                </a:solidFill>
                <a:effectLst/>
                <a:latin typeface="Consolas" panose="020B0609020204030204" pitchFamily="49" charset="0"/>
              </a:rPr>
              <a:t>"Il nome dell'oggetto corrente è: "</a:t>
            </a:r>
            <a:r>
              <a:rPr lang="it-IT" sz="1400" b="0" dirty="0">
                <a:solidFill>
                  <a:srgbClr val="D4D4D4"/>
                </a:solidFill>
                <a:effectLst/>
                <a:latin typeface="Consolas" panose="020B0609020204030204" pitchFamily="49" charset="0"/>
              </a:rPr>
              <a:t> + </a:t>
            </a:r>
            <a:r>
              <a:rPr lang="it-IT" sz="1400" b="0" dirty="0" err="1">
                <a:solidFill>
                  <a:srgbClr val="569CD6"/>
                </a:solidFill>
                <a:effectLst/>
                <a:latin typeface="Consolas" panose="020B0609020204030204" pitchFamily="49" charset="0"/>
              </a:rPr>
              <a:t>this</a:t>
            </a:r>
            <a:r>
              <a:rPr lang="it-IT" sz="1400" b="0" dirty="0" err="1">
                <a:solidFill>
                  <a:srgbClr val="D4D4D4"/>
                </a:solidFill>
                <a:effectLst/>
                <a:latin typeface="Consolas" panose="020B0609020204030204" pitchFamily="49" charset="0"/>
              </a:rPr>
              <a:t>.nome</a:t>
            </a:r>
            <a:r>
              <a:rPr lang="it-IT" sz="1400" b="0" dirty="0">
                <a:solidFill>
                  <a:srgbClr val="D4D4D4"/>
                </a:solidFill>
                <a:effectLst/>
                <a:latin typeface="Consolas" panose="020B0609020204030204" pitchFamily="49" charset="0"/>
              </a:rPr>
              <a:t>)</a:t>
            </a:r>
            <a:r>
              <a:rPr lang="it-IT" sz="1400" b="0" dirty="0">
                <a:solidFill>
                  <a:srgbClr val="569CD6"/>
                </a:solidFill>
                <a:effectLst/>
                <a:latin typeface="Consolas" panose="020B0609020204030204" pitchFamily="49" charset="0"/>
              </a:rPr>
              <a:t>;</a:t>
            </a:r>
            <a:r>
              <a:rPr lang="it-IT" sz="1400" b="0" dirty="0">
                <a:solidFill>
                  <a:srgbClr val="D4D4D4"/>
                </a:solidFill>
                <a:effectLst/>
                <a:latin typeface="Consolas" panose="020B0609020204030204" pitchFamily="49" charset="0"/>
              </a:rPr>
              <a:t> </a:t>
            </a:r>
            <a:r>
              <a:rPr lang="it-IT" sz="1400" b="0" dirty="0">
                <a:solidFill>
                  <a:srgbClr val="6A9955"/>
                </a:solidFill>
                <a:effectLst/>
                <a:latin typeface="Consolas" panose="020B0609020204030204" pitchFamily="49" charset="0"/>
              </a:rPr>
              <a:t>// Stampa il nome dell'oggetto corrente</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3147907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dirty="0"/>
              <a:t>Quando il </a:t>
            </a:r>
            <a:r>
              <a:rPr lang="it-IT" b="1" dirty="0" err="1"/>
              <a:t>this</a:t>
            </a:r>
            <a:r>
              <a:rPr lang="it-IT" b="1" dirty="0"/>
              <a:t> è opzionale e quando no</a:t>
            </a:r>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369332"/>
          </a:xfrm>
          <a:prstGeom prst="rect">
            <a:avLst/>
          </a:prstGeom>
          <a:noFill/>
        </p:spPr>
        <p:txBody>
          <a:bodyPr wrap="square">
            <a:spAutoFit/>
          </a:bodyPr>
          <a:lstStyle/>
          <a:p>
            <a:r>
              <a:rPr lang="it-IT" i="0" dirty="0">
                <a:solidFill>
                  <a:srgbClr val="050E17"/>
                </a:solidFill>
                <a:effectLst/>
                <a:latin typeface="-apple-system"/>
              </a:rPr>
              <a:t>Prendiamo questo codice</a:t>
            </a:r>
          </a:p>
        </p:txBody>
      </p:sp>
      <p:sp>
        <p:nvSpPr>
          <p:cNvPr id="2" name="CasellaDiTesto 1">
            <a:extLst>
              <a:ext uri="{FF2B5EF4-FFF2-40B4-BE49-F238E27FC236}">
                <a16:creationId xmlns:a16="http://schemas.microsoft.com/office/drawing/2014/main" id="{17268E73-3910-5790-9206-DBF79D58F096}"/>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
        <p:nvSpPr>
          <p:cNvPr id="8" name="CasellaDiTesto 7">
            <a:extLst>
              <a:ext uri="{FF2B5EF4-FFF2-40B4-BE49-F238E27FC236}">
                <a16:creationId xmlns:a16="http://schemas.microsoft.com/office/drawing/2014/main" id="{94F3D538-602A-F9A0-5CD3-1B092B3167F6}"/>
              </a:ext>
            </a:extLst>
          </p:cNvPr>
          <p:cNvSpPr txBox="1"/>
          <p:nvPr/>
        </p:nvSpPr>
        <p:spPr>
          <a:xfrm>
            <a:off x="282040" y="1744534"/>
            <a:ext cx="11622414" cy="2893100"/>
          </a:xfrm>
          <a:prstGeom prst="rect">
            <a:avLst/>
          </a:prstGeom>
          <a:solidFill>
            <a:schemeClr val="tx1">
              <a:lumMod val="85000"/>
              <a:lumOff val="15000"/>
            </a:schemeClr>
          </a:solidFill>
        </p:spPr>
        <p:txBody>
          <a:bodyPr wrap="square">
            <a:spAutoFit/>
          </a:bodyPr>
          <a:lstStyle/>
          <a:p>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class</a:t>
            </a:r>
            <a:r>
              <a:rPr lang="it-IT" sz="1400" b="0" dirty="0">
                <a:solidFill>
                  <a:srgbClr val="D4D4D4"/>
                </a:solidFill>
                <a:effectLst/>
                <a:latin typeface="Consolas" panose="020B0609020204030204" pitchFamily="49" charset="0"/>
              </a:rPr>
              <a:t> Persona {</a:t>
            </a:r>
          </a:p>
          <a:p>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private</a:t>
            </a:r>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String</a:t>
            </a:r>
            <a:r>
              <a:rPr lang="it-IT" sz="1400" b="0" dirty="0">
                <a:solidFill>
                  <a:srgbClr val="D4D4D4"/>
                </a:solidFill>
                <a:effectLst/>
                <a:latin typeface="Consolas" panose="020B0609020204030204" pitchFamily="49" charset="0"/>
              </a:rPr>
              <a:t> nome</a:t>
            </a:r>
            <a:r>
              <a:rPr lang="it-IT" sz="1400" b="0" dirty="0">
                <a:solidFill>
                  <a:srgbClr val="569CD6"/>
                </a:solidFill>
                <a:effectLst/>
                <a:latin typeface="Consolas" panose="020B0609020204030204" pitchFamily="49" charset="0"/>
              </a:rPr>
              <a:t>;</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Persona(</a:t>
            </a:r>
            <a:r>
              <a:rPr lang="it-IT" sz="1400" b="0" dirty="0" err="1">
                <a:solidFill>
                  <a:srgbClr val="D4D4D4"/>
                </a:solidFill>
                <a:effectLst/>
                <a:latin typeface="Consolas" panose="020B0609020204030204" pitchFamily="49" charset="0"/>
              </a:rPr>
              <a:t>String</a:t>
            </a:r>
            <a:r>
              <a:rPr lang="it-IT" sz="1400" b="0" dirty="0">
                <a:solidFill>
                  <a:srgbClr val="D4D4D4"/>
                </a:solidFill>
                <a:effectLst/>
                <a:latin typeface="Consolas" panose="020B0609020204030204" pitchFamily="49" charset="0"/>
              </a:rPr>
              <a:t> nome) {</a:t>
            </a:r>
          </a:p>
          <a:p>
            <a:r>
              <a:rPr lang="it-IT" sz="1400" b="0" dirty="0">
                <a:solidFill>
                  <a:srgbClr val="D4D4D4"/>
                </a:solidFill>
                <a:effectLst/>
                <a:latin typeface="Consolas" panose="020B0609020204030204" pitchFamily="49" charset="0"/>
              </a:rPr>
              <a:t>        </a:t>
            </a:r>
            <a:r>
              <a:rPr lang="it-IT" sz="1400" b="0" dirty="0" err="1">
                <a:solidFill>
                  <a:srgbClr val="569CD6"/>
                </a:solidFill>
                <a:effectLst/>
                <a:latin typeface="Consolas" panose="020B0609020204030204" pitchFamily="49" charset="0"/>
              </a:rPr>
              <a:t>this</a:t>
            </a:r>
            <a:r>
              <a:rPr lang="it-IT" sz="1400" b="0" dirty="0" err="1">
                <a:solidFill>
                  <a:srgbClr val="D4D4D4"/>
                </a:solidFill>
                <a:effectLst/>
                <a:latin typeface="Consolas" panose="020B0609020204030204" pitchFamily="49" charset="0"/>
              </a:rPr>
              <a:t>.nome</a:t>
            </a:r>
            <a:r>
              <a:rPr lang="it-IT" sz="1400" b="0" dirty="0">
                <a:solidFill>
                  <a:srgbClr val="D4D4D4"/>
                </a:solidFill>
                <a:effectLst/>
                <a:latin typeface="Consolas" panose="020B0609020204030204" pitchFamily="49" charset="0"/>
              </a:rPr>
              <a:t> = nome</a:t>
            </a:r>
            <a:r>
              <a:rPr lang="it-IT" sz="1400" b="0" dirty="0">
                <a:solidFill>
                  <a:srgbClr val="569CD6"/>
                </a:solidFill>
                <a:effectLst/>
                <a:latin typeface="Consolas" panose="020B0609020204030204" pitchFamily="49" charset="0"/>
              </a:rPr>
              <a:t>;</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a:t>
            </a:r>
            <a:r>
              <a:rPr lang="it-IT" sz="1400" b="0" dirty="0" err="1">
                <a:solidFill>
                  <a:srgbClr val="569CD6"/>
                </a:solidFill>
                <a:effectLst/>
                <a:latin typeface="Consolas" panose="020B0609020204030204" pitchFamily="49" charset="0"/>
              </a:rPr>
              <a:t>void</a:t>
            </a:r>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stampaNome</a:t>
            </a:r>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String</a:t>
            </a:r>
            <a:r>
              <a:rPr lang="it-IT" sz="1400" b="0" dirty="0">
                <a:solidFill>
                  <a:srgbClr val="D4D4D4"/>
                </a:solidFill>
                <a:effectLst/>
                <a:latin typeface="Consolas" panose="020B0609020204030204" pitchFamily="49" charset="0"/>
              </a:rPr>
              <a:t> nome = </a:t>
            </a:r>
            <a:r>
              <a:rPr lang="it-IT" sz="1400" b="0" dirty="0">
                <a:solidFill>
                  <a:srgbClr val="CE9178"/>
                </a:solidFill>
                <a:effectLst/>
                <a:latin typeface="Consolas" panose="020B0609020204030204" pitchFamily="49" charset="0"/>
              </a:rPr>
              <a:t>"Mario"</a:t>
            </a:r>
            <a:r>
              <a:rPr lang="it-IT" sz="1400" b="0" dirty="0">
                <a:solidFill>
                  <a:srgbClr val="569CD6"/>
                </a:solidFill>
                <a:effectLst/>
                <a:latin typeface="Consolas" panose="020B0609020204030204" pitchFamily="49" charset="0"/>
              </a:rPr>
              <a:t>;</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System.out.println</a:t>
            </a:r>
            <a:r>
              <a:rPr lang="it-IT" sz="1400" b="0" dirty="0">
                <a:solidFill>
                  <a:srgbClr val="D4D4D4"/>
                </a:solidFill>
                <a:effectLst/>
                <a:latin typeface="Consolas" panose="020B0609020204030204" pitchFamily="49" charset="0"/>
              </a:rPr>
              <a:t>(</a:t>
            </a:r>
            <a:r>
              <a:rPr lang="it-IT" sz="1400" b="0" dirty="0">
                <a:solidFill>
                  <a:srgbClr val="CE9178"/>
                </a:solidFill>
                <a:effectLst/>
                <a:latin typeface="Consolas" panose="020B0609020204030204" pitchFamily="49" charset="0"/>
              </a:rPr>
              <a:t>"Il nome è: "</a:t>
            </a:r>
            <a:r>
              <a:rPr lang="it-IT" sz="1400" b="0" dirty="0">
                <a:solidFill>
                  <a:srgbClr val="D4D4D4"/>
                </a:solidFill>
                <a:effectLst/>
                <a:latin typeface="Consolas" panose="020B0609020204030204" pitchFamily="49" charset="0"/>
              </a:rPr>
              <a:t> + nome)</a:t>
            </a:r>
            <a:r>
              <a:rPr lang="it-IT" sz="1400" b="0" dirty="0">
                <a:solidFill>
                  <a:srgbClr val="569CD6"/>
                </a:solidFill>
                <a:effectLst/>
                <a:latin typeface="Consolas" panose="020B0609020204030204" pitchFamily="49" charset="0"/>
              </a:rPr>
              <a:t>;</a:t>
            </a:r>
            <a:r>
              <a:rPr lang="it-IT" sz="1400" b="0" dirty="0">
                <a:solidFill>
                  <a:srgbClr val="D4D4D4"/>
                </a:solidFill>
                <a:effectLst/>
                <a:latin typeface="Consolas" panose="020B0609020204030204" pitchFamily="49" charset="0"/>
              </a:rPr>
              <a:t> </a:t>
            </a:r>
            <a:r>
              <a:rPr lang="it-IT" sz="1400" b="0" dirty="0">
                <a:solidFill>
                  <a:srgbClr val="6A9955"/>
                </a:solidFill>
                <a:effectLst/>
                <a:latin typeface="Consolas" panose="020B0609020204030204" pitchFamily="49" charset="0"/>
              </a:rPr>
              <a:t>// Stampa "Il nome è: Mario"</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System.out.println</a:t>
            </a:r>
            <a:r>
              <a:rPr lang="it-IT" sz="1400" b="0" dirty="0">
                <a:solidFill>
                  <a:srgbClr val="D4D4D4"/>
                </a:solidFill>
                <a:effectLst/>
                <a:latin typeface="Consolas" panose="020B0609020204030204" pitchFamily="49" charset="0"/>
              </a:rPr>
              <a:t>(</a:t>
            </a:r>
            <a:r>
              <a:rPr lang="it-IT" sz="1400" b="0" dirty="0">
                <a:solidFill>
                  <a:srgbClr val="CE9178"/>
                </a:solidFill>
                <a:effectLst/>
                <a:latin typeface="Consolas" panose="020B0609020204030204" pitchFamily="49" charset="0"/>
              </a:rPr>
              <a:t>"Il nome dell'oggetto corrente è: "</a:t>
            </a:r>
            <a:r>
              <a:rPr lang="it-IT" sz="1400" b="0" dirty="0">
                <a:solidFill>
                  <a:srgbClr val="D4D4D4"/>
                </a:solidFill>
                <a:effectLst/>
                <a:latin typeface="Consolas" panose="020B0609020204030204" pitchFamily="49" charset="0"/>
              </a:rPr>
              <a:t> + </a:t>
            </a:r>
            <a:r>
              <a:rPr lang="it-IT" sz="1400" b="0" dirty="0" err="1">
                <a:solidFill>
                  <a:srgbClr val="569CD6"/>
                </a:solidFill>
                <a:effectLst/>
                <a:latin typeface="Consolas" panose="020B0609020204030204" pitchFamily="49" charset="0"/>
              </a:rPr>
              <a:t>this</a:t>
            </a:r>
            <a:r>
              <a:rPr lang="it-IT" sz="1400" b="0" dirty="0" err="1">
                <a:solidFill>
                  <a:srgbClr val="D4D4D4"/>
                </a:solidFill>
                <a:effectLst/>
                <a:latin typeface="Consolas" panose="020B0609020204030204" pitchFamily="49" charset="0"/>
              </a:rPr>
              <a:t>.nome</a:t>
            </a:r>
            <a:r>
              <a:rPr lang="it-IT" sz="1400" b="0" dirty="0">
                <a:solidFill>
                  <a:srgbClr val="D4D4D4"/>
                </a:solidFill>
                <a:effectLst/>
                <a:latin typeface="Consolas" panose="020B0609020204030204" pitchFamily="49" charset="0"/>
              </a:rPr>
              <a:t>)</a:t>
            </a:r>
            <a:r>
              <a:rPr lang="it-IT" sz="1400" b="0" dirty="0">
                <a:solidFill>
                  <a:srgbClr val="569CD6"/>
                </a:solidFill>
                <a:effectLst/>
                <a:latin typeface="Consolas" panose="020B0609020204030204" pitchFamily="49" charset="0"/>
              </a:rPr>
              <a:t>;</a:t>
            </a:r>
            <a:r>
              <a:rPr lang="it-IT" sz="1400" b="0" dirty="0">
                <a:solidFill>
                  <a:srgbClr val="D4D4D4"/>
                </a:solidFill>
                <a:effectLst/>
                <a:latin typeface="Consolas" panose="020B0609020204030204" pitchFamily="49" charset="0"/>
              </a:rPr>
              <a:t> </a:t>
            </a:r>
            <a:r>
              <a:rPr lang="it-IT" sz="1400" b="0" dirty="0">
                <a:solidFill>
                  <a:srgbClr val="6A9955"/>
                </a:solidFill>
                <a:effectLst/>
                <a:latin typeface="Consolas" panose="020B0609020204030204" pitchFamily="49" charset="0"/>
              </a:rPr>
              <a:t>// Stampa il nome dell'oggetto corrente</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74188C2A-9B0F-A26A-A517-62AFEDBAB84C}"/>
              </a:ext>
            </a:extLst>
          </p:cNvPr>
          <p:cNvSpPr txBox="1"/>
          <p:nvPr/>
        </p:nvSpPr>
        <p:spPr>
          <a:xfrm>
            <a:off x="191938" y="4806569"/>
            <a:ext cx="11712516" cy="646331"/>
          </a:xfrm>
          <a:prstGeom prst="rect">
            <a:avLst/>
          </a:prstGeom>
          <a:noFill/>
        </p:spPr>
        <p:txBody>
          <a:bodyPr wrap="square">
            <a:spAutoFit/>
          </a:bodyPr>
          <a:lstStyle/>
          <a:p>
            <a:r>
              <a:rPr lang="it-IT" dirty="0"/>
              <a:t>In questo esempio, il costruttore della classe Persona prende come parametro il nome della persona e lo assegna alla variabile nome dell'oggetto corrente.</a:t>
            </a:r>
          </a:p>
        </p:txBody>
      </p:sp>
    </p:spTree>
    <p:extLst>
      <p:ext uri="{BB962C8B-B14F-4D97-AF65-F5344CB8AC3E}">
        <p14:creationId xmlns:p14="http://schemas.microsoft.com/office/powerpoint/2010/main" val="254133400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dirty="0"/>
              <a:t>Quando il </a:t>
            </a:r>
            <a:r>
              <a:rPr lang="it-IT" b="1" dirty="0" err="1"/>
              <a:t>this</a:t>
            </a:r>
            <a:r>
              <a:rPr lang="it-IT" b="1" dirty="0"/>
              <a:t> è opzionale e quando no</a:t>
            </a:r>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369332"/>
          </a:xfrm>
          <a:prstGeom prst="rect">
            <a:avLst/>
          </a:prstGeom>
          <a:noFill/>
        </p:spPr>
        <p:txBody>
          <a:bodyPr wrap="square">
            <a:spAutoFit/>
          </a:bodyPr>
          <a:lstStyle/>
          <a:p>
            <a:r>
              <a:rPr lang="it-IT" i="0" dirty="0">
                <a:solidFill>
                  <a:srgbClr val="050E17"/>
                </a:solidFill>
                <a:effectLst/>
                <a:latin typeface="-apple-system"/>
              </a:rPr>
              <a:t>Prendiamo questo codice</a:t>
            </a:r>
          </a:p>
        </p:txBody>
      </p:sp>
      <p:sp>
        <p:nvSpPr>
          <p:cNvPr id="2" name="CasellaDiTesto 1">
            <a:extLst>
              <a:ext uri="{FF2B5EF4-FFF2-40B4-BE49-F238E27FC236}">
                <a16:creationId xmlns:a16="http://schemas.microsoft.com/office/drawing/2014/main" id="{17268E73-3910-5790-9206-DBF79D58F096}"/>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
        <p:nvSpPr>
          <p:cNvPr id="8" name="CasellaDiTesto 7">
            <a:extLst>
              <a:ext uri="{FF2B5EF4-FFF2-40B4-BE49-F238E27FC236}">
                <a16:creationId xmlns:a16="http://schemas.microsoft.com/office/drawing/2014/main" id="{94F3D538-602A-F9A0-5CD3-1B092B3167F6}"/>
              </a:ext>
            </a:extLst>
          </p:cNvPr>
          <p:cNvSpPr txBox="1"/>
          <p:nvPr/>
        </p:nvSpPr>
        <p:spPr>
          <a:xfrm>
            <a:off x="282040" y="1744534"/>
            <a:ext cx="11622414" cy="2893100"/>
          </a:xfrm>
          <a:prstGeom prst="rect">
            <a:avLst/>
          </a:prstGeom>
          <a:solidFill>
            <a:schemeClr val="tx1">
              <a:lumMod val="85000"/>
              <a:lumOff val="15000"/>
            </a:schemeClr>
          </a:solidFill>
        </p:spPr>
        <p:txBody>
          <a:bodyPr wrap="square">
            <a:spAutoFit/>
          </a:bodyPr>
          <a:lstStyle/>
          <a:p>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class</a:t>
            </a:r>
            <a:r>
              <a:rPr lang="it-IT" sz="1400" b="0" dirty="0">
                <a:solidFill>
                  <a:srgbClr val="D4D4D4"/>
                </a:solidFill>
                <a:effectLst/>
                <a:latin typeface="Consolas" panose="020B0609020204030204" pitchFamily="49" charset="0"/>
              </a:rPr>
              <a:t> Persona {</a:t>
            </a:r>
          </a:p>
          <a:p>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private</a:t>
            </a:r>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String</a:t>
            </a:r>
            <a:r>
              <a:rPr lang="it-IT" sz="1400" b="0" dirty="0">
                <a:solidFill>
                  <a:srgbClr val="D4D4D4"/>
                </a:solidFill>
                <a:effectLst/>
                <a:latin typeface="Consolas" panose="020B0609020204030204" pitchFamily="49" charset="0"/>
              </a:rPr>
              <a:t> nome</a:t>
            </a:r>
            <a:r>
              <a:rPr lang="it-IT" sz="1400" b="0" dirty="0">
                <a:solidFill>
                  <a:srgbClr val="569CD6"/>
                </a:solidFill>
                <a:effectLst/>
                <a:latin typeface="Consolas" panose="020B0609020204030204" pitchFamily="49" charset="0"/>
              </a:rPr>
              <a:t>;</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Persona(</a:t>
            </a:r>
            <a:r>
              <a:rPr lang="it-IT" sz="1400" b="0" dirty="0" err="1">
                <a:solidFill>
                  <a:srgbClr val="D4D4D4"/>
                </a:solidFill>
                <a:effectLst/>
                <a:latin typeface="Consolas" panose="020B0609020204030204" pitchFamily="49" charset="0"/>
              </a:rPr>
              <a:t>String</a:t>
            </a:r>
            <a:r>
              <a:rPr lang="it-IT" sz="1400" b="0" dirty="0">
                <a:solidFill>
                  <a:srgbClr val="D4D4D4"/>
                </a:solidFill>
                <a:effectLst/>
                <a:latin typeface="Consolas" panose="020B0609020204030204" pitchFamily="49" charset="0"/>
              </a:rPr>
              <a:t> nome) {</a:t>
            </a:r>
          </a:p>
          <a:p>
            <a:r>
              <a:rPr lang="it-IT" sz="1400" b="0" dirty="0">
                <a:solidFill>
                  <a:srgbClr val="D4D4D4"/>
                </a:solidFill>
                <a:effectLst/>
                <a:latin typeface="Consolas" panose="020B0609020204030204" pitchFamily="49" charset="0"/>
              </a:rPr>
              <a:t>        </a:t>
            </a:r>
            <a:r>
              <a:rPr lang="it-IT" sz="1400" b="0" dirty="0" err="1">
                <a:solidFill>
                  <a:srgbClr val="569CD6"/>
                </a:solidFill>
                <a:effectLst/>
                <a:latin typeface="Consolas" panose="020B0609020204030204" pitchFamily="49" charset="0"/>
              </a:rPr>
              <a:t>this</a:t>
            </a:r>
            <a:r>
              <a:rPr lang="it-IT" sz="1400" b="0" dirty="0" err="1">
                <a:solidFill>
                  <a:srgbClr val="D4D4D4"/>
                </a:solidFill>
                <a:effectLst/>
                <a:latin typeface="Consolas" panose="020B0609020204030204" pitchFamily="49" charset="0"/>
              </a:rPr>
              <a:t>.nome</a:t>
            </a:r>
            <a:r>
              <a:rPr lang="it-IT" sz="1400" b="0" dirty="0">
                <a:solidFill>
                  <a:srgbClr val="D4D4D4"/>
                </a:solidFill>
                <a:effectLst/>
                <a:latin typeface="Consolas" panose="020B0609020204030204" pitchFamily="49" charset="0"/>
              </a:rPr>
              <a:t> = nome</a:t>
            </a:r>
            <a:r>
              <a:rPr lang="it-IT" sz="1400" b="0" dirty="0">
                <a:solidFill>
                  <a:srgbClr val="569CD6"/>
                </a:solidFill>
                <a:effectLst/>
                <a:latin typeface="Consolas" panose="020B0609020204030204" pitchFamily="49" charset="0"/>
              </a:rPr>
              <a:t>;</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a:t>
            </a:r>
            <a:r>
              <a:rPr lang="it-IT" sz="1400" b="0" dirty="0" err="1">
                <a:solidFill>
                  <a:srgbClr val="569CD6"/>
                </a:solidFill>
                <a:effectLst/>
                <a:latin typeface="Consolas" panose="020B0609020204030204" pitchFamily="49" charset="0"/>
              </a:rPr>
              <a:t>void</a:t>
            </a:r>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stampaNome</a:t>
            </a:r>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String</a:t>
            </a:r>
            <a:r>
              <a:rPr lang="it-IT" sz="1400" b="0" dirty="0">
                <a:solidFill>
                  <a:srgbClr val="D4D4D4"/>
                </a:solidFill>
                <a:effectLst/>
                <a:latin typeface="Consolas" panose="020B0609020204030204" pitchFamily="49" charset="0"/>
              </a:rPr>
              <a:t> nome = </a:t>
            </a:r>
            <a:r>
              <a:rPr lang="it-IT" sz="1400" b="0" dirty="0">
                <a:solidFill>
                  <a:srgbClr val="CE9178"/>
                </a:solidFill>
                <a:effectLst/>
                <a:latin typeface="Consolas" panose="020B0609020204030204" pitchFamily="49" charset="0"/>
              </a:rPr>
              <a:t>"Mario"</a:t>
            </a:r>
            <a:r>
              <a:rPr lang="it-IT" sz="1400" b="0" dirty="0">
                <a:solidFill>
                  <a:srgbClr val="569CD6"/>
                </a:solidFill>
                <a:effectLst/>
                <a:latin typeface="Consolas" panose="020B0609020204030204" pitchFamily="49" charset="0"/>
              </a:rPr>
              <a:t>;</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System.out.println</a:t>
            </a:r>
            <a:r>
              <a:rPr lang="it-IT" sz="1400" b="0" dirty="0">
                <a:solidFill>
                  <a:srgbClr val="D4D4D4"/>
                </a:solidFill>
                <a:effectLst/>
                <a:latin typeface="Consolas" panose="020B0609020204030204" pitchFamily="49" charset="0"/>
              </a:rPr>
              <a:t>(</a:t>
            </a:r>
            <a:r>
              <a:rPr lang="it-IT" sz="1400" b="0" dirty="0">
                <a:solidFill>
                  <a:srgbClr val="CE9178"/>
                </a:solidFill>
                <a:effectLst/>
                <a:latin typeface="Consolas" panose="020B0609020204030204" pitchFamily="49" charset="0"/>
              </a:rPr>
              <a:t>"Il nome è: "</a:t>
            </a:r>
            <a:r>
              <a:rPr lang="it-IT" sz="1400" b="0" dirty="0">
                <a:solidFill>
                  <a:srgbClr val="D4D4D4"/>
                </a:solidFill>
                <a:effectLst/>
                <a:latin typeface="Consolas" panose="020B0609020204030204" pitchFamily="49" charset="0"/>
              </a:rPr>
              <a:t> + nome)</a:t>
            </a:r>
            <a:r>
              <a:rPr lang="it-IT" sz="1400" b="0" dirty="0">
                <a:solidFill>
                  <a:srgbClr val="569CD6"/>
                </a:solidFill>
                <a:effectLst/>
                <a:latin typeface="Consolas" panose="020B0609020204030204" pitchFamily="49" charset="0"/>
              </a:rPr>
              <a:t>;</a:t>
            </a:r>
            <a:r>
              <a:rPr lang="it-IT" sz="1400" b="0" dirty="0">
                <a:solidFill>
                  <a:srgbClr val="D4D4D4"/>
                </a:solidFill>
                <a:effectLst/>
                <a:latin typeface="Consolas" panose="020B0609020204030204" pitchFamily="49" charset="0"/>
              </a:rPr>
              <a:t> </a:t>
            </a:r>
            <a:r>
              <a:rPr lang="it-IT" sz="1400" b="0" dirty="0">
                <a:solidFill>
                  <a:srgbClr val="6A9955"/>
                </a:solidFill>
                <a:effectLst/>
                <a:latin typeface="Consolas" panose="020B0609020204030204" pitchFamily="49" charset="0"/>
              </a:rPr>
              <a:t>// Stampa "Il nome è: Mario"</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System.out.println</a:t>
            </a:r>
            <a:r>
              <a:rPr lang="it-IT" sz="1400" b="0" dirty="0">
                <a:solidFill>
                  <a:srgbClr val="D4D4D4"/>
                </a:solidFill>
                <a:effectLst/>
                <a:latin typeface="Consolas" panose="020B0609020204030204" pitchFamily="49" charset="0"/>
              </a:rPr>
              <a:t>(</a:t>
            </a:r>
            <a:r>
              <a:rPr lang="it-IT" sz="1400" b="0" dirty="0">
                <a:solidFill>
                  <a:srgbClr val="CE9178"/>
                </a:solidFill>
                <a:effectLst/>
                <a:latin typeface="Consolas" panose="020B0609020204030204" pitchFamily="49" charset="0"/>
              </a:rPr>
              <a:t>"Il nome dell'oggetto corrente è: "</a:t>
            </a:r>
            <a:r>
              <a:rPr lang="it-IT" sz="1400" b="0" dirty="0">
                <a:solidFill>
                  <a:srgbClr val="D4D4D4"/>
                </a:solidFill>
                <a:effectLst/>
                <a:latin typeface="Consolas" panose="020B0609020204030204" pitchFamily="49" charset="0"/>
              </a:rPr>
              <a:t> + </a:t>
            </a:r>
            <a:r>
              <a:rPr lang="it-IT" sz="1400" b="0" dirty="0" err="1">
                <a:solidFill>
                  <a:srgbClr val="569CD6"/>
                </a:solidFill>
                <a:effectLst/>
                <a:latin typeface="Consolas" panose="020B0609020204030204" pitchFamily="49" charset="0"/>
              </a:rPr>
              <a:t>this</a:t>
            </a:r>
            <a:r>
              <a:rPr lang="it-IT" sz="1400" b="0" dirty="0" err="1">
                <a:solidFill>
                  <a:srgbClr val="D4D4D4"/>
                </a:solidFill>
                <a:effectLst/>
                <a:latin typeface="Consolas" panose="020B0609020204030204" pitchFamily="49" charset="0"/>
              </a:rPr>
              <a:t>.nome</a:t>
            </a:r>
            <a:r>
              <a:rPr lang="it-IT" sz="1400" b="0" dirty="0">
                <a:solidFill>
                  <a:srgbClr val="D4D4D4"/>
                </a:solidFill>
                <a:effectLst/>
                <a:latin typeface="Consolas" panose="020B0609020204030204" pitchFamily="49" charset="0"/>
              </a:rPr>
              <a:t>)</a:t>
            </a:r>
            <a:r>
              <a:rPr lang="it-IT" sz="1400" b="0" dirty="0">
                <a:solidFill>
                  <a:srgbClr val="569CD6"/>
                </a:solidFill>
                <a:effectLst/>
                <a:latin typeface="Consolas" panose="020B0609020204030204" pitchFamily="49" charset="0"/>
              </a:rPr>
              <a:t>;</a:t>
            </a:r>
            <a:r>
              <a:rPr lang="it-IT" sz="1400" b="0" dirty="0">
                <a:solidFill>
                  <a:srgbClr val="D4D4D4"/>
                </a:solidFill>
                <a:effectLst/>
                <a:latin typeface="Consolas" panose="020B0609020204030204" pitchFamily="49" charset="0"/>
              </a:rPr>
              <a:t> </a:t>
            </a:r>
            <a:r>
              <a:rPr lang="it-IT" sz="1400" b="0" dirty="0">
                <a:solidFill>
                  <a:srgbClr val="6A9955"/>
                </a:solidFill>
                <a:effectLst/>
                <a:latin typeface="Consolas" panose="020B0609020204030204" pitchFamily="49" charset="0"/>
              </a:rPr>
              <a:t>// Stampa il nome dell'oggetto corrente</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74188C2A-9B0F-A26A-A517-62AFEDBAB84C}"/>
              </a:ext>
            </a:extLst>
          </p:cNvPr>
          <p:cNvSpPr txBox="1"/>
          <p:nvPr/>
        </p:nvSpPr>
        <p:spPr>
          <a:xfrm>
            <a:off x="191938" y="4806569"/>
            <a:ext cx="11712516" cy="923330"/>
          </a:xfrm>
          <a:prstGeom prst="rect">
            <a:avLst/>
          </a:prstGeom>
          <a:noFill/>
        </p:spPr>
        <p:txBody>
          <a:bodyPr wrap="square">
            <a:spAutoFit/>
          </a:bodyPr>
          <a:lstStyle/>
          <a:p>
            <a:r>
              <a:rPr lang="it-IT" dirty="0"/>
              <a:t>In questo esempio, il costruttore della classe Persona prende come parametro il nome della persona e lo assegna alla variabile nome dell'oggetto corrente.</a:t>
            </a:r>
          </a:p>
          <a:p>
            <a:r>
              <a:rPr lang="it-IT" dirty="0"/>
              <a:t>Il metodo </a:t>
            </a:r>
            <a:r>
              <a:rPr lang="it-IT" dirty="0" err="1"/>
              <a:t>stampaNome</a:t>
            </a:r>
            <a:r>
              <a:rPr lang="it-IT" dirty="0"/>
              <a:t>() crea invece una variabile locale nome con valore "Mario". </a:t>
            </a:r>
          </a:p>
        </p:txBody>
      </p:sp>
    </p:spTree>
    <p:extLst>
      <p:ext uri="{BB962C8B-B14F-4D97-AF65-F5344CB8AC3E}">
        <p14:creationId xmlns:p14="http://schemas.microsoft.com/office/powerpoint/2010/main" val="422360604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dirty="0"/>
              <a:t>Quando il </a:t>
            </a:r>
            <a:r>
              <a:rPr lang="it-IT" b="1" dirty="0" err="1"/>
              <a:t>this</a:t>
            </a:r>
            <a:r>
              <a:rPr lang="it-IT" b="1" dirty="0"/>
              <a:t> è opzionale e quando no</a:t>
            </a:r>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369332"/>
          </a:xfrm>
          <a:prstGeom prst="rect">
            <a:avLst/>
          </a:prstGeom>
          <a:noFill/>
        </p:spPr>
        <p:txBody>
          <a:bodyPr wrap="square">
            <a:spAutoFit/>
          </a:bodyPr>
          <a:lstStyle/>
          <a:p>
            <a:r>
              <a:rPr lang="it-IT" i="0" dirty="0">
                <a:solidFill>
                  <a:srgbClr val="050E17"/>
                </a:solidFill>
                <a:effectLst/>
                <a:latin typeface="-apple-system"/>
              </a:rPr>
              <a:t>Prendiamo questo codice</a:t>
            </a:r>
          </a:p>
        </p:txBody>
      </p:sp>
      <p:sp>
        <p:nvSpPr>
          <p:cNvPr id="2" name="CasellaDiTesto 1">
            <a:extLst>
              <a:ext uri="{FF2B5EF4-FFF2-40B4-BE49-F238E27FC236}">
                <a16:creationId xmlns:a16="http://schemas.microsoft.com/office/drawing/2014/main" id="{17268E73-3910-5790-9206-DBF79D58F096}"/>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
        <p:nvSpPr>
          <p:cNvPr id="8" name="CasellaDiTesto 7">
            <a:extLst>
              <a:ext uri="{FF2B5EF4-FFF2-40B4-BE49-F238E27FC236}">
                <a16:creationId xmlns:a16="http://schemas.microsoft.com/office/drawing/2014/main" id="{94F3D538-602A-F9A0-5CD3-1B092B3167F6}"/>
              </a:ext>
            </a:extLst>
          </p:cNvPr>
          <p:cNvSpPr txBox="1"/>
          <p:nvPr/>
        </p:nvSpPr>
        <p:spPr>
          <a:xfrm>
            <a:off x="282040" y="1744534"/>
            <a:ext cx="11622414" cy="2893100"/>
          </a:xfrm>
          <a:prstGeom prst="rect">
            <a:avLst/>
          </a:prstGeom>
          <a:solidFill>
            <a:schemeClr val="tx1">
              <a:lumMod val="85000"/>
              <a:lumOff val="15000"/>
            </a:schemeClr>
          </a:solidFill>
        </p:spPr>
        <p:txBody>
          <a:bodyPr wrap="square">
            <a:spAutoFit/>
          </a:bodyPr>
          <a:lstStyle/>
          <a:p>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class</a:t>
            </a:r>
            <a:r>
              <a:rPr lang="it-IT" sz="1400" b="0" dirty="0">
                <a:solidFill>
                  <a:srgbClr val="D4D4D4"/>
                </a:solidFill>
                <a:effectLst/>
                <a:latin typeface="Consolas" panose="020B0609020204030204" pitchFamily="49" charset="0"/>
              </a:rPr>
              <a:t> Persona {</a:t>
            </a:r>
          </a:p>
          <a:p>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private</a:t>
            </a:r>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String</a:t>
            </a:r>
            <a:r>
              <a:rPr lang="it-IT" sz="1400" b="0" dirty="0">
                <a:solidFill>
                  <a:srgbClr val="D4D4D4"/>
                </a:solidFill>
                <a:effectLst/>
                <a:latin typeface="Consolas" panose="020B0609020204030204" pitchFamily="49" charset="0"/>
              </a:rPr>
              <a:t> nome</a:t>
            </a:r>
            <a:r>
              <a:rPr lang="it-IT" sz="1400" b="0" dirty="0">
                <a:solidFill>
                  <a:srgbClr val="569CD6"/>
                </a:solidFill>
                <a:effectLst/>
                <a:latin typeface="Consolas" panose="020B0609020204030204" pitchFamily="49" charset="0"/>
              </a:rPr>
              <a:t>;</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Persona(</a:t>
            </a:r>
            <a:r>
              <a:rPr lang="it-IT" sz="1400" b="0" dirty="0" err="1">
                <a:solidFill>
                  <a:srgbClr val="D4D4D4"/>
                </a:solidFill>
                <a:effectLst/>
                <a:latin typeface="Consolas" panose="020B0609020204030204" pitchFamily="49" charset="0"/>
              </a:rPr>
              <a:t>String</a:t>
            </a:r>
            <a:r>
              <a:rPr lang="it-IT" sz="1400" b="0" dirty="0">
                <a:solidFill>
                  <a:srgbClr val="D4D4D4"/>
                </a:solidFill>
                <a:effectLst/>
                <a:latin typeface="Consolas" panose="020B0609020204030204" pitchFamily="49" charset="0"/>
              </a:rPr>
              <a:t> nome) {</a:t>
            </a:r>
          </a:p>
          <a:p>
            <a:r>
              <a:rPr lang="it-IT" sz="1400" b="0" dirty="0">
                <a:solidFill>
                  <a:srgbClr val="D4D4D4"/>
                </a:solidFill>
                <a:effectLst/>
                <a:latin typeface="Consolas" panose="020B0609020204030204" pitchFamily="49" charset="0"/>
              </a:rPr>
              <a:t>        </a:t>
            </a:r>
            <a:r>
              <a:rPr lang="it-IT" sz="1400" b="0" dirty="0" err="1">
                <a:solidFill>
                  <a:srgbClr val="569CD6"/>
                </a:solidFill>
                <a:effectLst/>
                <a:latin typeface="Consolas" panose="020B0609020204030204" pitchFamily="49" charset="0"/>
              </a:rPr>
              <a:t>this</a:t>
            </a:r>
            <a:r>
              <a:rPr lang="it-IT" sz="1400" b="0" dirty="0" err="1">
                <a:solidFill>
                  <a:srgbClr val="D4D4D4"/>
                </a:solidFill>
                <a:effectLst/>
                <a:latin typeface="Consolas" panose="020B0609020204030204" pitchFamily="49" charset="0"/>
              </a:rPr>
              <a:t>.nome</a:t>
            </a:r>
            <a:r>
              <a:rPr lang="it-IT" sz="1400" b="0" dirty="0">
                <a:solidFill>
                  <a:srgbClr val="D4D4D4"/>
                </a:solidFill>
                <a:effectLst/>
                <a:latin typeface="Consolas" panose="020B0609020204030204" pitchFamily="49" charset="0"/>
              </a:rPr>
              <a:t> = nome</a:t>
            </a:r>
            <a:r>
              <a:rPr lang="it-IT" sz="1400" b="0" dirty="0">
                <a:solidFill>
                  <a:srgbClr val="569CD6"/>
                </a:solidFill>
                <a:effectLst/>
                <a:latin typeface="Consolas" panose="020B0609020204030204" pitchFamily="49" charset="0"/>
              </a:rPr>
              <a:t>;</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a:t>
            </a:r>
            <a:r>
              <a:rPr lang="it-IT" sz="1400" b="0" dirty="0" err="1">
                <a:solidFill>
                  <a:srgbClr val="569CD6"/>
                </a:solidFill>
                <a:effectLst/>
                <a:latin typeface="Consolas" panose="020B0609020204030204" pitchFamily="49" charset="0"/>
              </a:rPr>
              <a:t>void</a:t>
            </a:r>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stampaNome</a:t>
            </a:r>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String</a:t>
            </a:r>
            <a:r>
              <a:rPr lang="it-IT" sz="1400" b="0" dirty="0">
                <a:solidFill>
                  <a:srgbClr val="D4D4D4"/>
                </a:solidFill>
                <a:effectLst/>
                <a:latin typeface="Consolas" panose="020B0609020204030204" pitchFamily="49" charset="0"/>
              </a:rPr>
              <a:t> nome = </a:t>
            </a:r>
            <a:r>
              <a:rPr lang="it-IT" sz="1400" b="0" dirty="0">
                <a:solidFill>
                  <a:srgbClr val="CE9178"/>
                </a:solidFill>
                <a:effectLst/>
                <a:latin typeface="Consolas" panose="020B0609020204030204" pitchFamily="49" charset="0"/>
              </a:rPr>
              <a:t>"Mario"</a:t>
            </a:r>
            <a:r>
              <a:rPr lang="it-IT" sz="1400" b="0" dirty="0">
                <a:solidFill>
                  <a:srgbClr val="569CD6"/>
                </a:solidFill>
                <a:effectLst/>
                <a:latin typeface="Consolas" panose="020B0609020204030204" pitchFamily="49" charset="0"/>
              </a:rPr>
              <a:t>;</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System.out.println</a:t>
            </a:r>
            <a:r>
              <a:rPr lang="it-IT" sz="1400" b="0" dirty="0">
                <a:solidFill>
                  <a:srgbClr val="D4D4D4"/>
                </a:solidFill>
                <a:effectLst/>
                <a:latin typeface="Consolas" panose="020B0609020204030204" pitchFamily="49" charset="0"/>
              </a:rPr>
              <a:t>(</a:t>
            </a:r>
            <a:r>
              <a:rPr lang="it-IT" sz="1400" b="0" dirty="0">
                <a:solidFill>
                  <a:srgbClr val="CE9178"/>
                </a:solidFill>
                <a:effectLst/>
                <a:latin typeface="Consolas" panose="020B0609020204030204" pitchFamily="49" charset="0"/>
              </a:rPr>
              <a:t>"Il nome è: "</a:t>
            </a:r>
            <a:r>
              <a:rPr lang="it-IT" sz="1400" b="0" dirty="0">
                <a:solidFill>
                  <a:srgbClr val="D4D4D4"/>
                </a:solidFill>
                <a:effectLst/>
                <a:latin typeface="Consolas" panose="020B0609020204030204" pitchFamily="49" charset="0"/>
              </a:rPr>
              <a:t> + nome)</a:t>
            </a:r>
            <a:r>
              <a:rPr lang="it-IT" sz="1400" b="0" dirty="0">
                <a:solidFill>
                  <a:srgbClr val="569CD6"/>
                </a:solidFill>
                <a:effectLst/>
                <a:latin typeface="Consolas" panose="020B0609020204030204" pitchFamily="49" charset="0"/>
              </a:rPr>
              <a:t>;</a:t>
            </a:r>
            <a:r>
              <a:rPr lang="it-IT" sz="1400" b="0" dirty="0">
                <a:solidFill>
                  <a:srgbClr val="D4D4D4"/>
                </a:solidFill>
                <a:effectLst/>
                <a:latin typeface="Consolas" panose="020B0609020204030204" pitchFamily="49" charset="0"/>
              </a:rPr>
              <a:t> </a:t>
            </a:r>
            <a:r>
              <a:rPr lang="it-IT" sz="1400" b="0" dirty="0">
                <a:solidFill>
                  <a:srgbClr val="6A9955"/>
                </a:solidFill>
                <a:effectLst/>
                <a:latin typeface="Consolas" panose="020B0609020204030204" pitchFamily="49" charset="0"/>
              </a:rPr>
              <a:t>// Stampa "Il nome è: Mario"</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System.out.println</a:t>
            </a:r>
            <a:r>
              <a:rPr lang="it-IT" sz="1400" b="0" dirty="0">
                <a:solidFill>
                  <a:srgbClr val="D4D4D4"/>
                </a:solidFill>
                <a:effectLst/>
                <a:latin typeface="Consolas" panose="020B0609020204030204" pitchFamily="49" charset="0"/>
              </a:rPr>
              <a:t>(</a:t>
            </a:r>
            <a:r>
              <a:rPr lang="it-IT" sz="1400" b="0" dirty="0">
                <a:solidFill>
                  <a:srgbClr val="CE9178"/>
                </a:solidFill>
                <a:effectLst/>
                <a:latin typeface="Consolas" panose="020B0609020204030204" pitchFamily="49" charset="0"/>
              </a:rPr>
              <a:t>"Il nome dell'oggetto corrente è: "</a:t>
            </a:r>
            <a:r>
              <a:rPr lang="it-IT" sz="1400" b="0" dirty="0">
                <a:solidFill>
                  <a:srgbClr val="D4D4D4"/>
                </a:solidFill>
                <a:effectLst/>
                <a:latin typeface="Consolas" panose="020B0609020204030204" pitchFamily="49" charset="0"/>
              </a:rPr>
              <a:t> + </a:t>
            </a:r>
            <a:r>
              <a:rPr lang="it-IT" sz="1400" b="0" dirty="0" err="1">
                <a:solidFill>
                  <a:srgbClr val="569CD6"/>
                </a:solidFill>
                <a:effectLst/>
                <a:latin typeface="Consolas" panose="020B0609020204030204" pitchFamily="49" charset="0"/>
              </a:rPr>
              <a:t>this</a:t>
            </a:r>
            <a:r>
              <a:rPr lang="it-IT" sz="1400" b="0" dirty="0" err="1">
                <a:solidFill>
                  <a:srgbClr val="D4D4D4"/>
                </a:solidFill>
                <a:effectLst/>
                <a:latin typeface="Consolas" panose="020B0609020204030204" pitchFamily="49" charset="0"/>
              </a:rPr>
              <a:t>.nome</a:t>
            </a:r>
            <a:r>
              <a:rPr lang="it-IT" sz="1400" b="0" dirty="0">
                <a:solidFill>
                  <a:srgbClr val="D4D4D4"/>
                </a:solidFill>
                <a:effectLst/>
                <a:latin typeface="Consolas" panose="020B0609020204030204" pitchFamily="49" charset="0"/>
              </a:rPr>
              <a:t>)</a:t>
            </a:r>
            <a:r>
              <a:rPr lang="it-IT" sz="1400" b="0" dirty="0">
                <a:solidFill>
                  <a:srgbClr val="569CD6"/>
                </a:solidFill>
                <a:effectLst/>
                <a:latin typeface="Consolas" panose="020B0609020204030204" pitchFamily="49" charset="0"/>
              </a:rPr>
              <a:t>;</a:t>
            </a:r>
            <a:r>
              <a:rPr lang="it-IT" sz="1400" b="0" dirty="0">
                <a:solidFill>
                  <a:srgbClr val="D4D4D4"/>
                </a:solidFill>
                <a:effectLst/>
                <a:latin typeface="Consolas" panose="020B0609020204030204" pitchFamily="49" charset="0"/>
              </a:rPr>
              <a:t> </a:t>
            </a:r>
            <a:r>
              <a:rPr lang="it-IT" sz="1400" b="0" dirty="0">
                <a:solidFill>
                  <a:srgbClr val="6A9955"/>
                </a:solidFill>
                <a:effectLst/>
                <a:latin typeface="Consolas" panose="020B0609020204030204" pitchFamily="49" charset="0"/>
              </a:rPr>
              <a:t>// Stampa il nome dell'oggetto corrente</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74188C2A-9B0F-A26A-A517-62AFEDBAB84C}"/>
              </a:ext>
            </a:extLst>
          </p:cNvPr>
          <p:cNvSpPr txBox="1"/>
          <p:nvPr/>
        </p:nvSpPr>
        <p:spPr>
          <a:xfrm>
            <a:off x="191938" y="4806569"/>
            <a:ext cx="11712516" cy="1200329"/>
          </a:xfrm>
          <a:prstGeom prst="rect">
            <a:avLst/>
          </a:prstGeom>
          <a:noFill/>
        </p:spPr>
        <p:txBody>
          <a:bodyPr wrap="square">
            <a:spAutoFit/>
          </a:bodyPr>
          <a:lstStyle/>
          <a:p>
            <a:r>
              <a:rPr lang="it-IT" dirty="0"/>
              <a:t>In questo esempio, il costruttore della classe Persona prende come parametro il nome della persona e lo assegna alla variabile nome dell'oggetto corrente.</a:t>
            </a:r>
          </a:p>
          <a:p>
            <a:r>
              <a:rPr lang="it-IT" dirty="0"/>
              <a:t>Il metodo </a:t>
            </a:r>
            <a:r>
              <a:rPr lang="it-IT" dirty="0" err="1"/>
              <a:t>stampaNome</a:t>
            </a:r>
            <a:r>
              <a:rPr lang="it-IT" dirty="0"/>
              <a:t>() crea invece una variabile locale nome con valore "Mario". Utilizzando il </a:t>
            </a:r>
            <a:r>
              <a:rPr lang="it-IT" dirty="0" err="1"/>
              <a:t>this</a:t>
            </a:r>
            <a:r>
              <a:rPr lang="it-IT" dirty="0"/>
              <a:t>, è possibile fare riferimento alla variabile nome dell'oggetto corrente, anziché alla variabile locale. </a:t>
            </a:r>
          </a:p>
        </p:txBody>
      </p:sp>
    </p:spTree>
    <p:extLst>
      <p:ext uri="{BB962C8B-B14F-4D97-AF65-F5344CB8AC3E}">
        <p14:creationId xmlns:p14="http://schemas.microsoft.com/office/powerpoint/2010/main" val="126881769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dirty="0"/>
              <a:t>Quando il </a:t>
            </a:r>
            <a:r>
              <a:rPr lang="it-IT" b="1" dirty="0" err="1"/>
              <a:t>this</a:t>
            </a:r>
            <a:r>
              <a:rPr lang="it-IT" b="1" dirty="0"/>
              <a:t> è opzionale e quando no</a:t>
            </a:r>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369332"/>
          </a:xfrm>
          <a:prstGeom prst="rect">
            <a:avLst/>
          </a:prstGeom>
          <a:noFill/>
        </p:spPr>
        <p:txBody>
          <a:bodyPr wrap="square">
            <a:spAutoFit/>
          </a:bodyPr>
          <a:lstStyle/>
          <a:p>
            <a:r>
              <a:rPr lang="it-IT" i="0" dirty="0">
                <a:solidFill>
                  <a:srgbClr val="050E17"/>
                </a:solidFill>
                <a:effectLst/>
                <a:latin typeface="-apple-system"/>
              </a:rPr>
              <a:t>Prendiamo questo codice</a:t>
            </a:r>
          </a:p>
        </p:txBody>
      </p:sp>
      <p:sp>
        <p:nvSpPr>
          <p:cNvPr id="2" name="CasellaDiTesto 1">
            <a:extLst>
              <a:ext uri="{FF2B5EF4-FFF2-40B4-BE49-F238E27FC236}">
                <a16:creationId xmlns:a16="http://schemas.microsoft.com/office/drawing/2014/main" id="{17268E73-3910-5790-9206-DBF79D58F096}"/>
              </a:ext>
            </a:extLst>
          </p:cNvPr>
          <p:cNvSpPr txBox="1"/>
          <p:nvPr/>
        </p:nvSpPr>
        <p:spPr>
          <a:xfrm>
            <a:off x="282039" y="939075"/>
            <a:ext cx="3280558" cy="326821"/>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5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interne o proprietà o campi</a:t>
            </a:r>
            <a:endParaRPr lang="it-IT" sz="1500" dirty="0"/>
          </a:p>
        </p:txBody>
      </p:sp>
      <p:sp>
        <p:nvSpPr>
          <p:cNvPr id="8" name="CasellaDiTesto 7">
            <a:extLst>
              <a:ext uri="{FF2B5EF4-FFF2-40B4-BE49-F238E27FC236}">
                <a16:creationId xmlns:a16="http://schemas.microsoft.com/office/drawing/2014/main" id="{94F3D538-602A-F9A0-5CD3-1B092B3167F6}"/>
              </a:ext>
            </a:extLst>
          </p:cNvPr>
          <p:cNvSpPr txBox="1"/>
          <p:nvPr/>
        </p:nvSpPr>
        <p:spPr>
          <a:xfrm>
            <a:off x="282040" y="1744534"/>
            <a:ext cx="11622414" cy="2893100"/>
          </a:xfrm>
          <a:prstGeom prst="rect">
            <a:avLst/>
          </a:prstGeom>
          <a:solidFill>
            <a:schemeClr val="tx1">
              <a:lumMod val="85000"/>
              <a:lumOff val="15000"/>
            </a:schemeClr>
          </a:solidFill>
        </p:spPr>
        <p:txBody>
          <a:bodyPr wrap="square">
            <a:spAutoFit/>
          </a:bodyPr>
          <a:lstStyle/>
          <a:p>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class</a:t>
            </a:r>
            <a:r>
              <a:rPr lang="it-IT" sz="1400" b="0" dirty="0">
                <a:solidFill>
                  <a:srgbClr val="D4D4D4"/>
                </a:solidFill>
                <a:effectLst/>
                <a:latin typeface="Consolas" panose="020B0609020204030204" pitchFamily="49" charset="0"/>
              </a:rPr>
              <a:t> Persona {</a:t>
            </a:r>
          </a:p>
          <a:p>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private</a:t>
            </a:r>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String</a:t>
            </a:r>
            <a:r>
              <a:rPr lang="it-IT" sz="1400" b="0" dirty="0">
                <a:solidFill>
                  <a:srgbClr val="D4D4D4"/>
                </a:solidFill>
                <a:effectLst/>
                <a:latin typeface="Consolas" panose="020B0609020204030204" pitchFamily="49" charset="0"/>
              </a:rPr>
              <a:t> nome</a:t>
            </a:r>
            <a:r>
              <a:rPr lang="it-IT" sz="1400" b="0" dirty="0">
                <a:solidFill>
                  <a:srgbClr val="569CD6"/>
                </a:solidFill>
                <a:effectLst/>
                <a:latin typeface="Consolas" panose="020B0609020204030204" pitchFamily="49" charset="0"/>
              </a:rPr>
              <a:t>;</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Persona(</a:t>
            </a:r>
            <a:r>
              <a:rPr lang="it-IT" sz="1400" b="0" dirty="0" err="1">
                <a:solidFill>
                  <a:srgbClr val="D4D4D4"/>
                </a:solidFill>
                <a:effectLst/>
                <a:latin typeface="Consolas" panose="020B0609020204030204" pitchFamily="49" charset="0"/>
              </a:rPr>
              <a:t>String</a:t>
            </a:r>
            <a:r>
              <a:rPr lang="it-IT" sz="1400" b="0" dirty="0">
                <a:solidFill>
                  <a:srgbClr val="D4D4D4"/>
                </a:solidFill>
                <a:effectLst/>
                <a:latin typeface="Consolas" panose="020B0609020204030204" pitchFamily="49" charset="0"/>
              </a:rPr>
              <a:t> nome) {</a:t>
            </a:r>
          </a:p>
          <a:p>
            <a:r>
              <a:rPr lang="it-IT" sz="1400" b="0" dirty="0">
                <a:solidFill>
                  <a:srgbClr val="D4D4D4"/>
                </a:solidFill>
                <a:effectLst/>
                <a:latin typeface="Consolas" panose="020B0609020204030204" pitchFamily="49" charset="0"/>
              </a:rPr>
              <a:t>        </a:t>
            </a:r>
            <a:r>
              <a:rPr lang="it-IT" sz="1400" b="0" dirty="0" err="1">
                <a:solidFill>
                  <a:srgbClr val="569CD6"/>
                </a:solidFill>
                <a:effectLst/>
                <a:latin typeface="Consolas" panose="020B0609020204030204" pitchFamily="49" charset="0"/>
              </a:rPr>
              <a:t>this</a:t>
            </a:r>
            <a:r>
              <a:rPr lang="it-IT" sz="1400" b="0" dirty="0" err="1">
                <a:solidFill>
                  <a:srgbClr val="D4D4D4"/>
                </a:solidFill>
                <a:effectLst/>
                <a:latin typeface="Consolas" panose="020B0609020204030204" pitchFamily="49" charset="0"/>
              </a:rPr>
              <a:t>.nome</a:t>
            </a:r>
            <a:r>
              <a:rPr lang="it-IT" sz="1400" b="0" dirty="0">
                <a:solidFill>
                  <a:srgbClr val="D4D4D4"/>
                </a:solidFill>
                <a:effectLst/>
                <a:latin typeface="Consolas" panose="020B0609020204030204" pitchFamily="49" charset="0"/>
              </a:rPr>
              <a:t> = nome</a:t>
            </a:r>
            <a:r>
              <a:rPr lang="it-IT" sz="1400" b="0" dirty="0">
                <a:solidFill>
                  <a:srgbClr val="569CD6"/>
                </a:solidFill>
                <a:effectLst/>
                <a:latin typeface="Consolas" panose="020B0609020204030204" pitchFamily="49" charset="0"/>
              </a:rPr>
              <a:t>;</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a:solidFill>
                  <a:srgbClr val="569CD6"/>
                </a:solidFill>
                <a:effectLst/>
                <a:latin typeface="Consolas" panose="020B0609020204030204" pitchFamily="49" charset="0"/>
              </a:rPr>
              <a:t>public</a:t>
            </a:r>
            <a:r>
              <a:rPr lang="it-IT" sz="1400" b="0" dirty="0">
                <a:solidFill>
                  <a:srgbClr val="D4D4D4"/>
                </a:solidFill>
                <a:effectLst/>
                <a:latin typeface="Consolas" panose="020B0609020204030204" pitchFamily="49" charset="0"/>
              </a:rPr>
              <a:t> </a:t>
            </a:r>
            <a:r>
              <a:rPr lang="it-IT" sz="1400" b="0" dirty="0" err="1">
                <a:solidFill>
                  <a:srgbClr val="569CD6"/>
                </a:solidFill>
                <a:effectLst/>
                <a:latin typeface="Consolas" panose="020B0609020204030204" pitchFamily="49" charset="0"/>
              </a:rPr>
              <a:t>void</a:t>
            </a:r>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stampaNome</a:t>
            </a:r>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String</a:t>
            </a:r>
            <a:r>
              <a:rPr lang="it-IT" sz="1400" b="0" dirty="0">
                <a:solidFill>
                  <a:srgbClr val="D4D4D4"/>
                </a:solidFill>
                <a:effectLst/>
                <a:latin typeface="Consolas" panose="020B0609020204030204" pitchFamily="49" charset="0"/>
              </a:rPr>
              <a:t> nome = </a:t>
            </a:r>
            <a:r>
              <a:rPr lang="it-IT" sz="1400" b="0" dirty="0">
                <a:solidFill>
                  <a:srgbClr val="CE9178"/>
                </a:solidFill>
                <a:effectLst/>
                <a:latin typeface="Consolas" panose="020B0609020204030204" pitchFamily="49" charset="0"/>
              </a:rPr>
              <a:t>"Mario"</a:t>
            </a:r>
            <a:r>
              <a:rPr lang="it-IT" sz="1400" b="0" dirty="0">
                <a:solidFill>
                  <a:srgbClr val="569CD6"/>
                </a:solidFill>
                <a:effectLst/>
                <a:latin typeface="Consolas" panose="020B0609020204030204" pitchFamily="49" charset="0"/>
              </a:rPr>
              <a:t>;</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System.out.println</a:t>
            </a:r>
            <a:r>
              <a:rPr lang="it-IT" sz="1400" b="0" dirty="0">
                <a:solidFill>
                  <a:srgbClr val="D4D4D4"/>
                </a:solidFill>
                <a:effectLst/>
                <a:latin typeface="Consolas" panose="020B0609020204030204" pitchFamily="49" charset="0"/>
              </a:rPr>
              <a:t>(</a:t>
            </a:r>
            <a:r>
              <a:rPr lang="it-IT" sz="1400" b="0" dirty="0">
                <a:solidFill>
                  <a:srgbClr val="CE9178"/>
                </a:solidFill>
                <a:effectLst/>
                <a:latin typeface="Consolas" panose="020B0609020204030204" pitchFamily="49" charset="0"/>
              </a:rPr>
              <a:t>"Il nome è: "</a:t>
            </a:r>
            <a:r>
              <a:rPr lang="it-IT" sz="1400" b="0" dirty="0">
                <a:solidFill>
                  <a:srgbClr val="D4D4D4"/>
                </a:solidFill>
                <a:effectLst/>
                <a:latin typeface="Consolas" panose="020B0609020204030204" pitchFamily="49" charset="0"/>
              </a:rPr>
              <a:t> + nome)</a:t>
            </a:r>
            <a:r>
              <a:rPr lang="it-IT" sz="1400" b="0" dirty="0">
                <a:solidFill>
                  <a:srgbClr val="569CD6"/>
                </a:solidFill>
                <a:effectLst/>
                <a:latin typeface="Consolas" panose="020B0609020204030204" pitchFamily="49" charset="0"/>
              </a:rPr>
              <a:t>;</a:t>
            </a:r>
            <a:r>
              <a:rPr lang="it-IT" sz="1400" b="0" dirty="0">
                <a:solidFill>
                  <a:srgbClr val="D4D4D4"/>
                </a:solidFill>
                <a:effectLst/>
                <a:latin typeface="Consolas" panose="020B0609020204030204" pitchFamily="49" charset="0"/>
              </a:rPr>
              <a:t> </a:t>
            </a:r>
            <a:r>
              <a:rPr lang="it-IT" sz="1400" b="0" dirty="0">
                <a:solidFill>
                  <a:srgbClr val="6A9955"/>
                </a:solidFill>
                <a:effectLst/>
                <a:latin typeface="Consolas" panose="020B0609020204030204" pitchFamily="49" charset="0"/>
              </a:rPr>
              <a:t>// Stampa "Il nome è: Mario"</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r>
              <a:rPr lang="it-IT" sz="1400" b="0" dirty="0" err="1">
                <a:solidFill>
                  <a:srgbClr val="D4D4D4"/>
                </a:solidFill>
                <a:effectLst/>
                <a:latin typeface="Consolas" panose="020B0609020204030204" pitchFamily="49" charset="0"/>
              </a:rPr>
              <a:t>System.out.println</a:t>
            </a:r>
            <a:r>
              <a:rPr lang="it-IT" sz="1400" b="0" dirty="0">
                <a:solidFill>
                  <a:srgbClr val="D4D4D4"/>
                </a:solidFill>
                <a:effectLst/>
                <a:latin typeface="Consolas" panose="020B0609020204030204" pitchFamily="49" charset="0"/>
              </a:rPr>
              <a:t>(</a:t>
            </a:r>
            <a:r>
              <a:rPr lang="it-IT" sz="1400" b="0" dirty="0">
                <a:solidFill>
                  <a:srgbClr val="CE9178"/>
                </a:solidFill>
                <a:effectLst/>
                <a:latin typeface="Consolas" panose="020B0609020204030204" pitchFamily="49" charset="0"/>
              </a:rPr>
              <a:t>"Il nome dell'oggetto corrente è: "</a:t>
            </a:r>
            <a:r>
              <a:rPr lang="it-IT" sz="1400" b="0" dirty="0">
                <a:solidFill>
                  <a:srgbClr val="D4D4D4"/>
                </a:solidFill>
                <a:effectLst/>
                <a:latin typeface="Consolas" panose="020B0609020204030204" pitchFamily="49" charset="0"/>
              </a:rPr>
              <a:t> + </a:t>
            </a:r>
            <a:r>
              <a:rPr lang="it-IT" sz="1400" b="0" dirty="0" err="1">
                <a:solidFill>
                  <a:srgbClr val="569CD6"/>
                </a:solidFill>
                <a:effectLst/>
                <a:latin typeface="Consolas" panose="020B0609020204030204" pitchFamily="49" charset="0"/>
              </a:rPr>
              <a:t>this</a:t>
            </a:r>
            <a:r>
              <a:rPr lang="it-IT" sz="1400" b="0" dirty="0" err="1">
                <a:solidFill>
                  <a:srgbClr val="D4D4D4"/>
                </a:solidFill>
                <a:effectLst/>
                <a:latin typeface="Consolas" panose="020B0609020204030204" pitchFamily="49" charset="0"/>
              </a:rPr>
              <a:t>.nome</a:t>
            </a:r>
            <a:r>
              <a:rPr lang="it-IT" sz="1400" b="0" dirty="0">
                <a:solidFill>
                  <a:srgbClr val="D4D4D4"/>
                </a:solidFill>
                <a:effectLst/>
                <a:latin typeface="Consolas" panose="020B0609020204030204" pitchFamily="49" charset="0"/>
              </a:rPr>
              <a:t>)</a:t>
            </a:r>
            <a:r>
              <a:rPr lang="it-IT" sz="1400" b="0" dirty="0">
                <a:solidFill>
                  <a:srgbClr val="569CD6"/>
                </a:solidFill>
                <a:effectLst/>
                <a:latin typeface="Consolas" panose="020B0609020204030204" pitchFamily="49" charset="0"/>
              </a:rPr>
              <a:t>;</a:t>
            </a:r>
            <a:r>
              <a:rPr lang="it-IT" sz="1400" b="0" dirty="0">
                <a:solidFill>
                  <a:srgbClr val="D4D4D4"/>
                </a:solidFill>
                <a:effectLst/>
                <a:latin typeface="Consolas" panose="020B0609020204030204" pitchFamily="49" charset="0"/>
              </a:rPr>
              <a:t> </a:t>
            </a:r>
            <a:r>
              <a:rPr lang="it-IT" sz="1400" b="0" dirty="0">
                <a:solidFill>
                  <a:srgbClr val="6A9955"/>
                </a:solidFill>
                <a:effectLst/>
                <a:latin typeface="Consolas" panose="020B0609020204030204" pitchFamily="49" charset="0"/>
              </a:rPr>
              <a:t>// Stampa il nome dell'oggetto corrente</a:t>
            </a:r>
            <a:endParaRPr lang="it-IT" sz="1400" b="0" dirty="0">
              <a:solidFill>
                <a:srgbClr val="D4D4D4"/>
              </a:solidFill>
              <a:effectLst/>
              <a:latin typeface="Consolas" panose="020B0609020204030204" pitchFamily="49" charset="0"/>
            </a:endParaRPr>
          </a:p>
          <a:p>
            <a:r>
              <a:rPr lang="it-IT" sz="1400" b="0" dirty="0">
                <a:solidFill>
                  <a:srgbClr val="D4D4D4"/>
                </a:solidFill>
                <a:effectLst/>
                <a:latin typeface="Consolas" panose="020B0609020204030204" pitchFamily="49" charset="0"/>
              </a:rPr>
              <a:t>    }</a:t>
            </a:r>
          </a:p>
          <a:p>
            <a:r>
              <a:rPr lang="it-IT" sz="1400" b="0" dirty="0">
                <a:solidFill>
                  <a:srgbClr val="D4D4D4"/>
                </a:solidFill>
                <a:effectLst/>
                <a:latin typeface="Consolas" panose="020B0609020204030204" pitchFamily="49" charset="0"/>
              </a:rPr>
              <a:t>}</a:t>
            </a:r>
          </a:p>
        </p:txBody>
      </p:sp>
      <p:sp>
        <p:nvSpPr>
          <p:cNvPr id="13" name="CasellaDiTesto 12">
            <a:extLst>
              <a:ext uri="{FF2B5EF4-FFF2-40B4-BE49-F238E27FC236}">
                <a16:creationId xmlns:a16="http://schemas.microsoft.com/office/drawing/2014/main" id="{74188C2A-9B0F-A26A-A517-62AFEDBAB84C}"/>
              </a:ext>
            </a:extLst>
          </p:cNvPr>
          <p:cNvSpPr txBox="1"/>
          <p:nvPr/>
        </p:nvSpPr>
        <p:spPr>
          <a:xfrm>
            <a:off x="191938" y="4806569"/>
            <a:ext cx="11712516" cy="1477328"/>
          </a:xfrm>
          <a:prstGeom prst="rect">
            <a:avLst/>
          </a:prstGeom>
          <a:noFill/>
        </p:spPr>
        <p:txBody>
          <a:bodyPr wrap="square">
            <a:spAutoFit/>
          </a:bodyPr>
          <a:lstStyle/>
          <a:p>
            <a:r>
              <a:rPr lang="it-IT" dirty="0"/>
              <a:t>In questo esempio, il costruttore della classe Persona prende come parametro il nome della persona e lo assegna alla variabile nome dell'oggetto corrente.</a:t>
            </a:r>
          </a:p>
          <a:p>
            <a:r>
              <a:rPr lang="it-IT" dirty="0"/>
              <a:t>Il metodo </a:t>
            </a:r>
            <a:r>
              <a:rPr lang="it-IT" dirty="0" err="1"/>
              <a:t>stampaNome</a:t>
            </a:r>
            <a:r>
              <a:rPr lang="it-IT" dirty="0"/>
              <a:t>() crea invece una variabile locale nome con valore "Mario". Utilizzando il </a:t>
            </a:r>
            <a:r>
              <a:rPr lang="it-IT" dirty="0" err="1"/>
              <a:t>this</a:t>
            </a:r>
            <a:r>
              <a:rPr lang="it-IT" dirty="0"/>
              <a:t>, è possibile fare riferimento alla variabile nome dell'oggetto corrente, anziché alla variabile locale. In questo modo, si evita di confondere le due variabili omonime e si fa riferimento correttamente alla variabile desiderata.</a:t>
            </a:r>
          </a:p>
        </p:txBody>
      </p:sp>
    </p:spTree>
    <p:extLst>
      <p:ext uri="{BB962C8B-B14F-4D97-AF65-F5344CB8AC3E}">
        <p14:creationId xmlns:p14="http://schemas.microsoft.com/office/powerpoint/2010/main" val="285803793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Il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void</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Un piccolo approfondimento sui metodi VOID</a:t>
            </a:r>
            <a:endParaRPr lang="it-IT" b="1" dirty="0"/>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646331"/>
          </a:xfrm>
          <a:prstGeom prst="rect">
            <a:avLst/>
          </a:prstGeom>
          <a:noFill/>
        </p:spPr>
        <p:txBody>
          <a:bodyPr wrap="square">
            <a:spAutoFit/>
          </a:bodyPr>
          <a:lstStyle/>
          <a:p>
            <a:r>
              <a:rPr lang="it-IT" i="0" dirty="0">
                <a:solidFill>
                  <a:srgbClr val="050E17"/>
                </a:solidFill>
                <a:effectLst/>
                <a:latin typeface="-apple-system"/>
              </a:rPr>
              <a:t>Ogni metodo, che sia progettato o meno per restituire un valore deve essere strutturato per poter restituire un valore.</a:t>
            </a:r>
          </a:p>
        </p:txBody>
      </p:sp>
    </p:spTree>
    <p:extLst>
      <p:ext uri="{BB962C8B-B14F-4D97-AF65-F5344CB8AC3E}">
        <p14:creationId xmlns:p14="http://schemas.microsoft.com/office/powerpoint/2010/main" val="172113604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Il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void</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Un piccolo approfondimento sui metodi VOID</a:t>
            </a:r>
            <a:endParaRPr lang="it-IT" b="1" dirty="0"/>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923330"/>
          </a:xfrm>
          <a:prstGeom prst="rect">
            <a:avLst/>
          </a:prstGeom>
          <a:noFill/>
        </p:spPr>
        <p:txBody>
          <a:bodyPr wrap="square">
            <a:spAutoFit/>
          </a:bodyPr>
          <a:lstStyle/>
          <a:p>
            <a:r>
              <a:rPr lang="it-IT" i="0" dirty="0">
                <a:solidFill>
                  <a:srgbClr val="050E17"/>
                </a:solidFill>
                <a:effectLst/>
                <a:latin typeface="-apple-system"/>
              </a:rPr>
              <a:t>Ogni metodo, che sia progettato o meno per restituire un valore deve essere strutturato per poter restituire un valore.</a:t>
            </a:r>
          </a:p>
          <a:p>
            <a:r>
              <a:rPr lang="it-IT" dirty="0">
                <a:solidFill>
                  <a:srgbClr val="050E17"/>
                </a:solidFill>
                <a:latin typeface="-apple-system"/>
              </a:rPr>
              <a:t>Se non è previsto che il metodo restituisca valori deve essere dichiarato </a:t>
            </a:r>
            <a:r>
              <a:rPr lang="it-IT" dirty="0" err="1">
                <a:solidFill>
                  <a:srgbClr val="050E17"/>
                </a:solidFill>
                <a:latin typeface="-apple-system"/>
              </a:rPr>
              <a:t>void</a:t>
            </a:r>
            <a:r>
              <a:rPr lang="it-IT" dirty="0">
                <a:solidFill>
                  <a:srgbClr val="050E17"/>
                </a:solidFill>
                <a:latin typeface="-apple-system"/>
              </a:rPr>
              <a:t>:</a:t>
            </a:r>
          </a:p>
        </p:txBody>
      </p:sp>
    </p:spTree>
    <p:extLst>
      <p:ext uri="{BB962C8B-B14F-4D97-AF65-F5344CB8AC3E}">
        <p14:creationId xmlns:p14="http://schemas.microsoft.com/office/powerpoint/2010/main" val="240878475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Il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void</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Un piccolo approfondimento sui metodi VOID</a:t>
            </a:r>
            <a:endParaRPr lang="it-IT" b="1" dirty="0"/>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2031325"/>
          </a:xfrm>
          <a:prstGeom prst="rect">
            <a:avLst/>
          </a:prstGeom>
          <a:noFill/>
        </p:spPr>
        <p:txBody>
          <a:bodyPr wrap="square">
            <a:spAutoFit/>
          </a:bodyPr>
          <a:lstStyle/>
          <a:p>
            <a:r>
              <a:rPr lang="it-IT" i="0" dirty="0">
                <a:solidFill>
                  <a:srgbClr val="050E17"/>
                </a:solidFill>
                <a:effectLst/>
                <a:latin typeface="-apple-system"/>
              </a:rPr>
              <a:t>Ogni metodo, che sia progettato o meno per restituire un valore deve essere strutturato per poter restituire un valore.</a:t>
            </a:r>
          </a:p>
          <a:p>
            <a:r>
              <a:rPr lang="it-IT" dirty="0">
                <a:solidFill>
                  <a:srgbClr val="050E17"/>
                </a:solidFill>
                <a:latin typeface="-apple-system"/>
              </a:rPr>
              <a:t>Se non è previsto che il metodo restituisca valori deve essere dichiarato </a:t>
            </a:r>
            <a:r>
              <a:rPr lang="it-IT" dirty="0" err="1">
                <a:solidFill>
                  <a:srgbClr val="050E17"/>
                </a:solidFill>
                <a:latin typeface="-apple-system"/>
              </a:rPr>
              <a:t>void</a:t>
            </a:r>
            <a:r>
              <a:rPr lang="it-IT" dirty="0">
                <a:solidFill>
                  <a:srgbClr val="050E17"/>
                </a:solidFill>
                <a:latin typeface="-apple-system"/>
              </a:rPr>
              <a:t>:</a:t>
            </a:r>
          </a:p>
          <a:p>
            <a:endParaRPr lang="it-IT" dirty="0">
              <a:solidFill>
                <a:srgbClr val="050E17"/>
              </a:solidFill>
              <a:latin typeface="-apple-system"/>
            </a:endParaRPr>
          </a:p>
          <a:p>
            <a:r>
              <a:rPr lang="it-IT" dirty="0">
                <a:solidFill>
                  <a:srgbClr val="050E17"/>
                </a:solidFill>
                <a:latin typeface="-apple-system"/>
              </a:rPr>
              <a:t>public </a:t>
            </a:r>
            <a:r>
              <a:rPr lang="it-IT" dirty="0" err="1">
                <a:solidFill>
                  <a:srgbClr val="050E17"/>
                </a:solidFill>
                <a:latin typeface="-apple-system"/>
              </a:rPr>
              <a:t>void</a:t>
            </a:r>
            <a:r>
              <a:rPr lang="it-IT" dirty="0">
                <a:solidFill>
                  <a:srgbClr val="050E17"/>
                </a:solidFill>
                <a:latin typeface="-apple-system"/>
              </a:rPr>
              <a:t> Scrivi(</a:t>
            </a:r>
            <a:r>
              <a:rPr lang="it-IT" dirty="0" err="1">
                <a:solidFill>
                  <a:srgbClr val="050E17"/>
                </a:solidFill>
                <a:latin typeface="-apple-system"/>
              </a:rPr>
              <a:t>String</a:t>
            </a:r>
            <a:r>
              <a:rPr lang="it-IT" dirty="0">
                <a:solidFill>
                  <a:srgbClr val="050E17"/>
                </a:solidFill>
                <a:latin typeface="-apple-system"/>
              </a:rPr>
              <a:t> testo)</a:t>
            </a:r>
          </a:p>
          <a:p>
            <a:r>
              <a:rPr lang="it-IT" dirty="0">
                <a:solidFill>
                  <a:srgbClr val="050E17"/>
                </a:solidFill>
                <a:latin typeface="-apple-system"/>
              </a:rPr>
              <a:t>{</a:t>
            </a:r>
          </a:p>
          <a:p>
            <a:r>
              <a:rPr lang="it-IT" dirty="0">
                <a:solidFill>
                  <a:srgbClr val="050E17"/>
                </a:solidFill>
                <a:latin typeface="-apple-system"/>
              </a:rPr>
              <a:t>}</a:t>
            </a:r>
          </a:p>
        </p:txBody>
      </p:sp>
    </p:spTree>
    <p:extLst>
      <p:ext uri="{BB962C8B-B14F-4D97-AF65-F5344CB8AC3E}">
        <p14:creationId xmlns:p14="http://schemas.microsoft.com/office/powerpoint/2010/main" val="195343403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Il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void</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Un piccolo approfondimento sui metodi VOID</a:t>
            </a:r>
            <a:endParaRPr lang="it-IT" b="1" dirty="0"/>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2585323"/>
          </a:xfrm>
          <a:prstGeom prst="rect">
            <a:avLst/>
          </a:prstGeom>
          <a:noFill/>
        </p:spPr>
        <p:txBody>
          <a:bodyPr wrap="square">
            <a:spAutoFit/>
          </a:bodyPr>
          <a:lstStyle/>
          <a:p>
            <a:r>
              <a:rPr lang="it-IT" i="0" dirty="0">
                <a:solidFill>
                  <a:srgbClr val="050E17"/>
                </a:solidFill>
                <a:effectLst/>
                <a:latin typeface="-apple-system"/>
              </a:rPr>
              <a:t>Ogni metodo, che sia progettato o meno per restituire un valore deve essere strutturato per poter restituire un valore.</a:t>
            </a:r>
          </a:p>
          <a:p>
            <a:r>
              <a:rPr lang="it-IT" dirty="0">
                <a:solidFill>
                  <a:srgbClr val="050E17"/>
                </a:solidFill>
                <a:latin typeface="-apple-system"/>
              </a:rPr>
              <a:t>Se non è previsto che il metodo restituisca valori deve essere dichiarato </a:t>
            </a:r>
            <a:r>
              <a:rPr lang="it-IT" dirty="0" err="1">
                <a:solidFill>
                  <a:srgbClr val="050E17"/>
                </a:solidFill>
                <a:latin typeface="-apple-system"/>
              </a:rPr>
              <a:t>void</a:t>
            </a:r>
            <a:r>
              <a:rPr lang="it-IT" dirty="0">
                <a:solidFill>
                  <a:srgbClr val="050E17"/>
                </a:solidFill>
                <a:latin typeface="-apple-system"/>
              </a:rPr>
              <a:t>:</a:t>
            </a:r>
          </a:p>
          <a:p>
            <a:endParaRPr lang="it-IT" dirty="0">
              <a:solidFill>
                <a:srgbClr val="050E17"/>
              </a:solidFill>
              <a:latin typeface="-apple-system"/>
            </a:endParaRPr>
          </a:p>
          <a:p>
            <a:r>
              <a:rPr lang="it-IT" dirty="0">
                <a:solidFill>
                  <a:srgbClr val="050E17"/>
                </a:solidFill>
                <a:latin typeface="-apple-system"/>
              </a:rPr>
              <a:t>public </a:t>
            </a:r>
            <a:r>
              <a:rPr lang="it-IT" dirty="0" err="1">
                <a:solidFill>
                  <a:srgbClr val="050E17"/>
                </a:solidFill>
                <a:latin typeface="-apple-system"/>
              </a:rPr>
              <a:t>void</a:t>
            </a:r>
            <a:r>
              <a:rPr lang="it-IT" dirty="0">
                <a:solidFill>
                  <a:srgbClr val="050E17"/>
                </a:solidFill>
                <a:latin typeface="-apple-system"/>
              </a:rPr>
              <a:t> Scrivi(</a:t>
            </a:r>
            <a:r>
              <a:rPr lang="it-IT" dirty="0" err="1">
                <a:solidFill>
                  <a:srgbClr val="050E17"/>
                </a:solidFill>
                <a:latin typeface="-apple-system"/>
              </a:rPr>
              <a:t>String</a:t>
            </a:r>
            <a:r>
              <a:rPr lang="it-IT" dirty="0">
                <a:solidFill>
                  <a:srgbClr val="050E17"/>
                </a:solidFill>
                <a:latin typeface="-apple-system"/>
              </a:rPr>
              <a:t> testo)</a:t>
            </a:r>
          </a:p>
          <a:p>
            <a:r>
              <a:rPr lang="it-IT" dirty="0">
                <a:solidFill>
                  <a:srgbClr val="050E17"/>
                </a:solidFill>
                <a:latin typeface="-apple-system"/>
              </a:rPr>
              <a:t>{</a:t>
            </a:r>
          </a:p>
          <a:p>
            <a:r>
              <a:rPr lang="it-IT" dirty="0">
                <a:solidFill>
                  <a:srgbClr val="050E17"/>
                </a:solidFill>
                <a:latin typeface="-apple-system"/>
              </a:rPr>
              <a:t>}</a:t>
            </a:r>
          </a:p>
          <a:p>
            <a:endParaRPr lang="it-IT" dirty="0">
              <a:solidFill>
                <a:srgbClr val="050E17"/>
              </a:solidFill>
              <a:latin typeface="-apple-system"/>
            </a:endParaRPr>
          </a:p>
          <a:p>
            <a:r>
              <a:rPr lang="it-IT" dirty="0" err="1">
                <a:solidFill>
                  <a:srgbClr val="050E17"/>
                </a:solidFill>
                <a:latin typeface="-apple-system"/>
              </a:rPr>
              <a:t>void</a:t>
            </a:r>
            <a:r>
              <a:rPr lang="it-IT" dirty="0">
                <a:solidFill>
                  <a:srgbClr val="050E17"/>
                </a:solidFill>
                <a:latin typeface="-apple-system"/>
              </a:rPr>
              <a:t> significa letteralmente vuoto ed indica, per l’appunto, l’assenza di un valore</a:t>
            </a:r>
          </a:p>
        </p:txBody>
      </p:sp>
    </p:spTree>
    <p:extLst>
      <p:ext uri="{BB962C8B-B14F-4D97-AF65-F5344CB8AC3E}">
        <p14:creationId xmlns:p14="http://schemas.microsoft.com/office/powerpoint/2010/main" val="352623208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p>
        </p:txBody>
      </p:sp>
      <p:sp>
        <p:nvSpPr>
          <p:cNvPr id="8" name="CasellaDiTesto 7">
            <a:extLst>
              <a:ext uri="{FF2B5EF4-FFF2-40B4-BE49-F238E27FC236}">
                <a16:creationId xmlns:a16="http://schemas.microsoft.com/office/drawing/2014/main" id="{488E7683-D079-8086-B32C-59D20AE68C3D}"/>
              </a:ext>
            </a:extLst>
          </p:cNvPr>
          <p:cNvSpPr txBox="1"/>
          <p:nvPr/>
        </p:nvSpPr>
        <p:spPr>
          <a:xfrm>
            <a:off x="282039" y="939075"/>
            <a:ext cx="3280558" cy="373692"/>
          </a:xfrm>
          <a:prstGeom prst="rect">
            <a:avLst/>
          </a:prstGeom>
          <a:solidFill>
            <a:schemeClr val="tx2">
              <a:lumMod val="20000"/>
              <a:lumOff val="80000"/>
            </a:schemeClr>
          </a:solidFill>
        </p:spPr>
        <p:txBody>
          <a:bodyPr wrap="square">
            <a:spAutoFit/>
          </a:bodyPr>
          <a:lstStyle/>
          <a:p>
            <a:pPr lvl="0">
              <a:lnSpc>
                <a:spcPct val="107000"/>
              </a:lnSpc>
              <a:spcAft>
                <a:spcPts val="800"/>
              </a:spcAft>
              <a:buSzPts val="1000"/>
              <a:tabLst>
                <a:tab pos="449580" algn="l"/>
              </a:tabLst>
            </a:pPr>
            <a:r>
              <a:rPr lang="it-IT"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Il </a:t>
            </a:r>
            <a:r>
              <a:rPr lang="it-IT" sz="18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void</a:t>
            </a:r>
            <a:endParaRPr lang="it-IT" dirty="0"/>
          </a:p>
        </p:txBody>
      </p:sp>
      <p:sp>
        <p:nvSpPr>
          <p:cNvPr id="5" name="CasellaDiTesto 4">
            <a:extLst>
              <a:ext uri="{FF2B5EF4-FFF2-40B4-BE49-F238E27FC236}">
                <a16:creationId xmlns:a16="http://schemas.microsoft.com/office/drawing/2014/main" id="{45C0F2B6-8559-4527-3F74-E18DF49F3441}"/>
              </a:ext>
            </a:extLst>
          </p:cNvPr>
          <p:cNvSpPr txBox="1"/>
          <p:nvPr/>
        </p:nvSpPr>
        <p:spPr>
          <a:xfrm>
            <a:off x="3789442" y="464797"/>
            <a:ext cx="5621257" cy="369332"/>
          </a:xfrm>
          <a:prstGeom prst="rect">
            <a:avLst/>
          </a:prstGeom>
          <a:noFill/>
        </p:spPr>
        <p:txBody>
          <a:bodyPr wrap="square">
            <a:spAutoFit/>
          </a:bodyPr>
          <a:lstStyle/>
          <a:p>
            <a:r>
              <a:rPr lang="it-IT" b="1" i="0" dirty="0">
                <a:solidFill>
                  <a:srgbClr val="050E17"/>
                </a:solidFill>
                <a:effectLst/>
                <a:latin typeface="-apple-system"/>
              </a:rPr>
              <a:t>Un piccolo approfondimento sui metodi VOID</a:t>
            </a:r>
            <a:endParaRPr lang="it-IT" b="1" dirty="0"/>
          </a:p>
        </p:txBody>
      </p:sp>
      <p:sp>
        <p:nvSpPr>
          <p:cNvPr id="3" name="CasellaDiTesto 2">
            <a:extLst>
              <a:ext uri="{FF2B5EF4-FFF2-40B4-BE49-F238E27FC236}">
                <a16:creationId xmlns:a16="http://schemas.microsoft.com/office/drawing/2014/main" id="{98D626F8-B88A-5180-F171-48BD1DB34D69}"/>
              </a:ext>
            </a:extLst>
          </p:cNvPr>
          <p:cNvSpPr txBox="1"/>
          <p:nvPr/>
        </p:nvSpPr>
        <p:spPr>
          <a:xfrm>
            <a:off x="282039" y="1312767"/>
            <a:ext cx="10682135" cy="3139321"/>
          </a:xfrm>
          <a:prstGeom prst="rect">
            <a:avLst/>
          </a:prstGeom>
          <a:noFill/>
        </p:spPr>
        <p:txBody>
          <a:bodyPr wrap="square">
            <a:spAutoFit/>
          </a:bodyPr>
          <a:lstStyle/>
          <a:p>
            <a:r>
              <a:rPr lang="it-IT" i="0" dirty="0">
                <a:solidFill>
                  <a:srgbClr val="050E17"/>
                </a:solidFill>
                <a:effectLst/>
                <a:latin typeface="-apple-system"/>
              </a:rPr>
              <a:t>Ogni metodo, che sia progettato o meno per restituire un valore deve essere strutturato per poter restituire un valore.</a:t>
            </a:r>
          </a:p>
          <a:p>
            <a:r>
              <a:rPr lang="it-IT" dirty="0">
                <a:solidFill>
                  <a:srgbClr val="050E17"/>
                </a:solidFill>
                <a:latin typeface="-apple-system"/>
              </a:rPr>
              <a:t>Se non è previsto che il metodo restituisca valori deve essere dichiarato </a:t>
            </a:r>
            <a:r>
              <a:rPr lang="it-IT" dirty="0" err="1">
                <a:solidFill>
                  <a:srgbClr val="050E17"/>
                </a:solidFill>
                <a:latin typeface="-apple-system"/>
              </a:rPr>
              <a:t>void</a:t>
            </a:r>
            <a:r>
              <a:rPr lang="it-IT" dirty="0">
                <a:solidFill>
                  <a:srgbClr val="050E17"/>
                </a:solidFill>
                <a:latin typeface="-apple-system"/>
              </a:rPr>
              <a:t>:</a:t>
            </a:r>
          </a:p>
          <a:p>
            <a:endParaRPr lang="it-IT" dirty="0">
              <a:solidFill>
                <a:srgbClr val="050E17"/>
              </a:solidFill>
              <a:latin typeface="-apple-system"/>
            </a:endParaRPr>
          </a:p>
          <a:p>
            <a:r>
              <a:rPr lang="it-IT" dirty="0">
                <a:solidFill>
                  <a:srgbClr val="050E17"/>
                </a:solidFill>
                <a:latin typeface="-apple-system"/>
              </a:rPr>
              <a:t>public </a:t>
            </a:r>
            <a:r>
              <a:rPr lang="it-IT" dirty="0" err="1">
                <a:solidFill>
                  <a:srgbClr val="050E17"/>
                </a:solidFill>
                <a:latin typeface="-apple-system"/>
              </a:rPr>
              <a:t>void</a:t>
            </a:r>
            <a:r>
              <a:rPr lang="it-IT" dirty="0">
                <a:solidFill>
                  <a:srgbClr val="050E17"/>
                </a:solidFill>
                <a:latin typeface="-apple-system"/>
              </a:rPr>
              <a:t> Scrivi(</a:t>
            </a:r>
            <a:r>
              <a:rPr lang="it-IT" dirty="0" err="1">
                <a:solidFill>
                  <a:srgbClr val="050E17"/>
                </a:solidFill>
                <a:latin typeface="-apple-system"/>
              </a:rPr>
              <a:t>String</a:t>
            </a:r>
            <a:r>
              <a:rPr lang="it-IT" dirty="0">
                <a:solidFill>
                  <a:srgbClr val="050E17"/>
                </a:solidFill>
                <a:latin typeface="-apple-system"/>
              </a:rPr>
              <a:t> testo)</a:t>
            </a:r>
          </a:p>
          <a:p>
            <a:r>
              <a:rPr lang="it-IT" dirty="0">
                <a:solidFill>
                  <a:srgbClr val="050E17"/>
                </a:solidFill>
                <a:latin typeface="-apple-system"/>
              </a:rPr>
              <a:t>{</a:t>
            </a:r>
          </a:p>
          <a:p>
            <a:r>
              <a:rPr lang="it-IT" dirty="0">
                <a:solidFill>
                  <a:srgbClr val="050E17"/>
                </a:solidFill>
                <a:latin typeface="-apple-system"/>
              </a:rPr>
              <a:t>}</a:t>
            </a:r>
          </a:p>
          <a:p>
            <a:endParaRPr lang="it-IT" dirty="0">
              <a:solidFill>
                <a:srgbClr val="050E17"/>
              </a:solidFill>
              <a:latin typeface="-apple-system"/>
            </a:endParaRPr>
          </a:p>
          <a:p>
            <a:r>
              <a:rPr lang="it-IT" dirty="0" err="1">
                <a:solidFill>
                  <a:srgbClr val="050E17"/>
                </a:solidFill>
                <a:latin typeface="-apple-system"/>
              </a:rPr>
              <a:t>void</a:t>
            </a:r>
            <a:r>
              <a:rPr lang="it-IT" dirty="0">
                <a:solidFill>
                  <a:srgbClr val="050E17"/>
                </a:solidFill>
                <a:latin typeface="-apple-system"/>
              </a:rPr>
              <a:t> significa letteralmente vuoto ed indica, per l’appunto, l’assenza di un valore</a:t>
            </a:r>
          </a:p>
          <a:p>
            <a:endParaRPr lang="it-IT" dirty="0">
              <a:solidFill>
                <a:srgbClr val="050E17"/>
              </a:solidFill>
              <a:latin typeface="-apple-system"/>
            </a:endParaRPr>
          </a:p>
          <a:p>
            <a:r>
              <a:rPr lang="it-IT" dirty="0">
                <a:solidFill>
                  <a:srgbClr val="050E17"/>
                </a:solidFill>
                <a:latin typeface="-apple-system"/>
              </a:rPr>
              <a:t>Pertanto un metodo dichiarato </a:t>
            </a:r>
            <a:r>
              <a:rPr lang="it-IT" dirty="0" err="1">
                <a:solidFill>
                  <a:srgbClr val="050E17"/>
                </a:solidFill>
                <a:latin typeface="-apple-system"/>
              </a:rPr>
              <a:t>void</a:t>
            </a:r>
            <a:r>
              <a:rPr lang="it-IT" dirty="0">
                <a:solidFill>
                  <a:srgbClr val="050E17"/>
                </a:solidFill>
                <a:latin typeface="-apple-system"/>
              </a:rPr>
              <a:t> non è tenuto a restituire valori</a:t>
            </a:r>
            <a:endParaRPr lang="it-IT" dirty="0"/>
          </a:p>
        </p:txBody>
      </p:sp>
    </p:spTree>
    <p:extLst>
      <p:ext uri="{BB962C8B-B14F-4D97-AF65-F5344CB8AC3E}">
        <p14:creationId xmlns:p14="http://schemas.microsoft.com/office/powerpoint/2010/main" val="96565804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139</Slides>
  <Notes>0</Notes>
  <HiddenSlides>0</HiddenSlides>
  <MMClips>0</MMClips>
  <ScaleCrop>false</ScaleCrop>
  <HeadingPairs>
    <vt:vector size="4" baseType="variant">
      <vt:variant>
        <vt:lpstr>Tema</vt:lpstr>
      </vt:variant>
      <vt:variant>
        <vt:i4>2</vt:i4>
      </vt:variant>
      <vt:variant>
        <vt:lpstr>Titoli diapositive</vt:lpstr>
      </vt:variant>
      <vt:variant>
        <vt:i4>139</vt:i4>
      </vt:variant>
    </vt:vector>
  </HeadingPairs>
  <TitlesOfParts>
    <vt:vector size="141" baseType="lpstr">
      <vt:lpstr>Tema di Office</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
  <cp:lastModifiedBy>Vincenzo Piccolo</cp:lastModifiedBy>
  <cp:revision>22</cp:revision>
  <dcterms:created xsi:type="dcterms:W3CDTF">2023-08-23T12:51:20Z</dcterms:created>
  <dcterms:modified xsi:type="dcterms:W3CDTF">2026-03-27T16:52:27Z</dcterms:modified>
</cp:coreProperties>
</file>